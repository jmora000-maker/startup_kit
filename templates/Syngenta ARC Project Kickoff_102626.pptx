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5.xml"/>
  <Override ContentType="application/vnd.openxmlformats-officedocument.presentationml.comments+xml" PartName="/ppt/comments/comment6.xml"/>
  <Override ContentType="application/vnd.openxmlformats-officedocument.presentationml.comments+xml" PartName="/ppt/comments/comment4.xml"/>
  <Override ContentType="application/vnd.openxmlformats-officedocument.presentationml.comments+xml" PartName="/ppt/comments/comment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6"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y="5143500" cx="9144000"/>
  <p:notesSz cx="6858000" cy="9144000"/>
  <p:embeddedFontLst>
    <p:embeddedFont>
      <p:font typeface="Proxima Nova"/>
      <p:regular r:id="rId22"/>
      <p:bold r:id="rId23"/>
      <p:italic r:id="rId24"/>
      <p:boldItalic r:id="rId25"/>
    </p:embeddedFont>
    <p:embeddedFont>
      <p:font typeface="Montserrat"/>
      <p:bold r:id="rId26"/>
      <p:boldItalic r:id="rId27"/>
    </p:embeddedFont>
    <p:embeddedFont>
      <p:font typeface="Proxima Nova Semibold"/>
      <p:regular r:id="rId28"/>
      <p:bold r:id="rId29"/>
      <p:boldItalic r:id="rId30"/>
    </p:embeddedFont>
    <p:embeddedFont>
      <p:font typeface="Open Sans"/>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555">
          <p15:clr>
            <a:srgbClr val="747775"/>
          </p15:clr>
        </p15:guide>
        <p15:guide id="2" orient="horz" pos="864">
          <p15:clr>
            <a:srgbClr val="747775"/>
          </p15:clr>
        </p15:guide>
        <p15:guide id="3" orient="horz" pos="998">
          <p15:clr>
            <a:srgbClr val="747775"/>
          </p15:clr>
        </p15:guide>
        <p15:guide id="4" pos="420">
          <p15:clr>
            <a:srgbClr val="747775"/>
          </p15:clr>
        </p15:guide>
        <p15:guide id="5" orient="horz" pos="764">
          <p15:clr>
            <a:srgbClr val="747775"/>
          </p15:clr>
        </p15:guide>
        <p15:guide id="6" orient="horz" pos="1173">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7" name="Saadia Iqbal"/>
  <p:cmAuthor clrIdx="1" id="1" initials="" lastIdx="6" name="Rodney deJong"/>
  <p:cmAuthor clrIdx="2" id="2" initials="" lastIdx="7" name="Matheus El Batti"/>
  <p:cmAuthor clrIdx="3" id="3" initials="" lastIdx="8" name="James Mora"/>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F0B0797-281F-49EA-B600-308178625C52}">
  <a:tblStyle styleId="{9F0B0797-281F-49EA-B600-308178625C52}"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555" orient="horz"/>
        <p:guide pos="864" orient="horz"/>
        <p:guide pos="998" orient="horz"/>
        <p:guide pos="420"/>
        <p:guide pos="764" orient="horz"/>
        <p:guide pos="1173"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font" Target="fonts/ProximaNova-regular.fntdata"/><Relationship Id="rId21" Type="http://schemas.openxmlformats.org/officeDocument/2006/relationships/slide" Target="slides/slide14.xml"/><Relationship Id="rId24" Type="http://schemas.openxmlformats.org/officeDocument/2006/relationships/font" Target="fonts/ProximaNova-italic.fntdata"/><Relationship Id="rId23" Type="http://schemas.openxmlformats.org/officeDocument/2006/relationships/font" Target="fonts/ProximaNova-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font" Target="fonts/Montserrat-bold.fntdata"/><Relationship Id="rId25" Type="http://schemas.openxmlformats.org/officeDocument/2006/relationships/font" Target="fonts/ProximaNova-boldItalic.fntdata"/><Relationship Id="rId28" Type="http://schemas.openxmlformats.org/officeDocument/2006/relationships/font" Target="fonts/ProximaNovaSemibold-regular.fntdata"/><Relationship Id="rId27" Type="http://schemas.openxmlformats.org/officeDocument/2006/relationships/font" Target="fonts/Montserrat-boldItalic.fntdata"/><Relationship Id="rId5" Type="http://schemas.openxmlformats.org/officeDocument/2006/relationships/commentAuthors" Target="commentAuthors.xml"/><Relationship Id="rId6" Type="http://schemas.openxmlformats.org/officeDocument/2006/relationships/slideMaster" Target="slideMasters/slideMaster1.xml"/><Relationship Id="rId29" Type="http://schemas.openxmlformats.org/officeDocument/2006/relationships/font" Target="fonts/ProximaNovaSemibold-bold.fntdata"/><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OpenSans-regular.fntdata"/><Relationship Id="rId30" Type="http://schemas.openxmlformats.org/officeDocument/2006/relationships/font" Target="fonts/ProximaNovaSemibold-boldItalic.fntdata"/><Relationship Id="rId11" Type="http://schemas.openxmlformats.org/officeDocument/2006/relationships/slide" Target="slides/slide4.xml"/><Relationship Id="rId33" Type="http://schemas.openxmlformats.org/officeDocument/2006/relationships/font" Target="fonts/OpenSans-italic.fntdata"/><Relationship Id="rId10" Type="http://schemas.openxmlformats.org/officeDocument/2006/relationships/slide" Target="slides/slide3.xml"/><Relationship Id="rId32" Type="http://schemas.openxmlformats.org/officeDocument/2006/relationships/font" Target="fonts/OpenSans-bold.fntdata"/><Relationship Id="rId13" Type="http://schemas.openxmlformats.org/officeDocument/2006/relationships/slide" Target="slides/slide6.xml"/><Relationship Id="rId12" Type="http://schemas.openxmlformats.org/officeDocument/2006/relationships/slide" Target="slides/slide5.xml"/><Relationship Id="rId34" Type="http://schemas.openxmlformats.org/officeDocument/2006/relationships/font" Target="fonts/OpenSans-boldItalic.fntdata"/><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10-09T17:16:32.960">
    <p:pos x="302" y="267"/>
    <p:text>@rodney.dejong@toptal.com are you comfortable with presenting this?
_Reassigned to Rodney deJong_</p:text>
  </p:cm>
  <p:cm authorId="1" idx="1" dt="2026-10-09T16:52:50.444">
    <p:pos x="302" y="267"/>
    <p:text>Looks good! No worries I can present</p:text>
  </p:cm>
  <p:cm authorId="2" idx="1" dt="2026-10-09T17:16:32.960">
    <p:pos x="302" y="267"/>
    <p:text>@saadia.iqbal@toptal.com this looks good! It´s just not clear to me exactly what the MTA Store is. It is probably those 5 different sources together with different trait names, correct? I believe there might be difficulties in doing SQL JOINS and such from these many sources. But the overall idea seems clear to me.</p:text>
  </p:cm>
  <p:cm authorId="1" idx="2" dt="2026-10-13T15:25:33.540">
    <p:pos x="864" y="1259"/>
    <p:text>@james.mora@toptal.com  can we use the term "decommissioned" - also is this within our scope?
_Reassigned to you_</p:text>
  </p:cm>
  <p:cm authorId="3" idx="1" dt="2026-10-13T15:25:33.540">
    <p:pos x="864" y="1259"/>
    <p:text>out of scope</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6-10-09T17:25:18.847">
    <p:pos x="302" y="267"/>
    <p:text>@matheus.elbatti@toptal.com how comfortable are you with presenting this?
_Reassigned to Matheus El Batti_</p:text>
  </p:cm>
  <p:cm authorId="2" idx="2" dt="2026-10-09T16:34:39.760">
    <p:pos x="302" y="267"/>
    <p:text>Pretty comfortable, I can do it.</p:text>
  </p:cm>
  <p:cm authorId="2" idx="3" dt="2026-10-09T17:25:18.847">
    <p:pos x="302" y="267"/>
    <p:text>@saadia.iqbal@toptal.com of course this architecture has already been defined by someone (e.g. what the nomenclature service means, how the detail view will be visually, what the MTA Store parity will serve us, etc...). But I can present it, all items make some sense to me and everything seems achievable within a single workstream.
So this is not me agreeing to the architecture and that this solves Syngenta's problem optimally, but I can comfortably present it if these work items have already been agreed to between Syngenta and Toptal.</p:text>
  </p:cm>
  <p:cm authorId="2" idx="4" dt="2026-10-13T12:29:46.989">
    <p:pos x="253" y="1737"/>
    <p:text>OpenGWAS*?</p:text>
  </p:cm>
  <p:cm authorId="2" idx="5" dt="2026-10-13T13:24:53.558">
    <p:pos x="1717" y="1580"/>
    <p:text>OpenGWAS*?</p:text>
  </p:cm>
  <p:cm authorId="3" idx="2" dt="2026-10-13T13:24:53.558">
    <p:pos x="1717" y="1580"/>
    <p:text>that's what is says in the sow but I see your point, we should clarify @saadia.iqbal@toptal.com when we send the deck to Syngenta</p:text>
  </p:cm>
  <p:cm authorId="1" idx="3" dt="2026-10-13T23:22:32.323">
    <p:pos x="3998" y="2435"/>
    <p:text>Are we responsible for decom of legacy system? @saadia.iqbal@toptal.com
_Reassigned to Saadia Iqbal_</p:text>
  </p:cm>
  <p:cm authorId="1" idx="4" dt="2026-10-13T23:22:32.323">
    <p:pos x="3998" y="2435"/>
    <p:text>Here is OOS according to the SOW 
. OUT OF SCOPE
The following are excluded from Toptal's Work under this Exhibit A. Except where noted, each item is
performed by Client. Toptal's QA test automation for these items, where listed in Section 3, remains in
scope.
● Platform infrastructure and DevOps, including environment and IaC strategy, Terraform modules,
CI/CD pipelines, monitoring and alerting, and shell telemetry and observability (HS-4766, HS-4767,
HS-4768, HS-4769, HS-4764).
● Security design, threat modeling, platform hardening, and RBAC/secrets implementation (HS-4936,
HS-4937).
● Architecture and design stories, including the shell architecture and onboarding contract, ARC
frontend component architecture, API design and OpenAPI contract, OneGWAS output contract,
nomenclature service interface design, haplotype search/visualization design, and backend
haplotype support design (HS-4761, HS-4771, HS-4776, HS-4802, HS-4792, HS-4808, HS-4812).
● Snowflake data model design, schema DDL, schema extensions for haplotypes, and data
governance design and controls (HS-4780, HS-4781, HS-4814, HS-4939, HS-4940).
● Data ingestion and migration build, including MTA Store migration design and scripts, GWAS Atlas
ETL, PubMed/literature ingestion, PHG/GATSBY haplotype ingestion, and trait taxonomy definition
(HS-4783, HS-4784, HS-4795, HS-4796, HS-4798, HS-4799, HS-4805, HS-4806, HS-4789, HS
4790).
● Integration test plan (HS-4824) and UAT coordination and sign-off (HS-4827).
● Go-live planning and operational runbook handover, production deployment, MTA Store
decommission planning, and legacy infrastructure teardown and redirects (HS-4830, HS-4831, HS
4786, HS-4787).
● Client's hypercare and post-go-live support (HS-4944), including monitoring, alerting, on-call
coverage, and any service levels; post-launch support beyond the four-week Hypercare Period; and
any post-launch maintenance phase.
● Service level agreements of any kind, including response-time, resolution-time, availability, or
uptime commit</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 dt="2026-10-09T17:56:24.496">
    <p:pos x="302" y="462"/>
    <p:text>@james.mora@toptal.com would you be able to talk through this slide since this would be something PMO is doing?
_Reassigned to you_</p:text>
  </p:cm>
  <p:cm authorId="3" idx="3" dt="2026-10-09T17:18:09.099">
    <p:pos x="302" y="462"/>
    <p:text>These 6 steps are project steps that the PM @rodney.dejong@toptal.com will be managing to prove that the deliverables meet the acceptance criteria for each deliverable. Once this is done, we (you/me) will follow up with formal signatory acceptance. If you are not comfortable with the slide Rodney, I can do it.
1 total reaction
Matheus El Batti reacted with 👍 at 10/09/2026, 5:27 PM UTC
_Reassigned to Rodney deJong_</p:text>
  </p:cm>
  <p:cm authorId="1" idx="5" dt="2026-10-09T17:56:24.496">
    <p:pos x="302" y="462"/>
    <p:text>Got it!</p:text>
  </p:cm>
</p:cmLst>
</file>

<file path=ppt/comments/comment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2" idx="6" dt="2026-10-09T20:50:57.163">
    <p:pos x="302" y="952"/>
    <p:text>@saadia.iqbal@toptal.com This seems good. Another risk I would address is that we must have the technical requirement documentation to start building (e.g. what APIs does the Nomenclature Service expose, what is the business logic behind it, etc...). This is not on this slide but I see it as a risk if something is not done yet or if there are ambiguities in these documents.
_Reassigned to Saadia Iqbal_</p:text>
  </p:cm>
  <p:cm authorId="0" idx="4" dt="2026-10-09T17:38:02.248">
    <p:pos x="302" y="952"/>
    <p:text>@matheus.elbatti@toptal.com just to confirm - you are looking for a technical requirements document? Regarding the business logic behind this - does that "why we are doing this" on slide 6 give any visibility on that question? If there is something I can ask the client for ahead of time, I am happy to do that.
_Reassigned to Matheus El Batti_</p:text>
  </p:cm>
  <p:cm authorId="2" idx="7" dt="2026-10-09T17:44:17.240">
    <p:pos x="302" y="952"/>
    <p:text>@saadia.iqbal@toptal.com Yes, but from "business logic" I mean...
Someone has already thought of an "MTA Store Parity", for example, which I assume is a correlation between names from older sources to a standard in our new ARC source. We need a document to that, outlining these correlations, so we don't have to make it up. We follow their "business rules" that model their agriculture business that only they know about, let's say.
If we don't have that document, for example, this is a risk for completion/development of the solution.
Another thing we need is the design of the frontend screens. Of course I can do the design myself, but that's just my common sense guessing what would feel like a good UX for the users. If they have a design doc to be followed while developing the frontend, that's better.
And so on and so forth.
_Reassigned to Saadia Iqbal_</p:text>
  </p:cm>
  <p:cm authorId="3" idx="4" dt="2026-10-09T20:50:57.163">
    <p:pos x="302" y="952"/>
    <p:text>We need to make sure risks are in @rodney.dejong@toptal.com RAID log. I'm going a seed a document and send to Rodney to get started and then he can start capturing and managing those with you all.</p:text>
  </p:cm>
  <p:cm authorId="0" idx="5" dt="2026-10-09T20:55:23.665">
    <p:pos x="302" y="1052"/>
    <p:text>@james.mora@toptal.com I'm not sure what this is?
_Reassigned to you_</p:text>
  </p:cm>
  <p:cm authorId="3" idx="5" dt="2026-10-09T20:55:23.665">
    <p:pos x="302" y="1052"/>
    <p:text>Meeting the certification and latency targets can depend on Syngenta's data tier so we will have to be able to carefully disposition which is which so we don't get caught not being able  meet a milestone because of a Syngenta issue</p:text>
  </p:cm>
</p:cmLst>
</file>

<file path=ppt/comments/comment5.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6" dt="2026-10-09T20:55:51.589">
    <p:pos x="302" y="462"/>
    <p:text>@james.mora@toptal.com PMO to cover. It will be good to let them know exactly what they will be seeing in this report and HOW they will be getting it.
_Reassigned to you_</p:text>
  </p:cm>
  <p:cm authorId="3" idx="6" dt="2026-10-09T20:55:51.589">
    <p:pos x="302" y="462"/>
    <p:text>Will do</p:text>
  </p:cm>
</p:cmLst>
</file>

<file path=ppt/comments/comment6.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7" dt="2026-10-09T20:56:29.402">
    <p:pos x="302" y="462"/>
    <p:text>@james.mora@toptal.com this is where we need to discuss technical orientation and how we want to handle that. The plan for next week while the talent access is still being worked on.
1 total reaction
Matheus El Batti reacted with 👍 at 10/09/2026, 5:31 PM UTC
_Reassigned to you_</p:text>
  </p:cm>
  <p:cm authorId="3" idx="7" dt="2026-10-09T17:21:12.059">
    <p:pos x="302" y="462"/>
    <p:text>yes, that right. If there is something missing feel free to add it</p:text>
  </p:cm>
  <p:cm authorId="3" idx="8" dt="2026-10-09T20:56:29.402">
    <p:pos x="302" y="462"/>
    <p:text>@saadia.iqbal@toptal.com is there something that is missing?</p:text>
  </p:cm>
  <p:cm authorId="1" idx="6" dt="2026-10-13T14:28:33.781">
    <p:pos x="414" y="1101"/>
    <p:text>@saadia.iqbal@toptal.com  do we want this to be a date?
_Assigned to Saadia Iqbal_</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2f2dc226b82_0_46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2f2dc226b82_0_46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f03aceb63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f03aceb63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Table Slides</a:t>
            </a:r>
            <a:endParaRPr/>
          </a:p>
          <a:p>
            <a:pPr indent="-298450" lvl="1" marL="914400" rtl="0" algn="l">
              <a:spcBef>
                <a:spcPts val="0"/>
              </a:spcBef>
              <a:spcAft>
                <a:spcPts val="0"/>
              </a:spcAft>
              <a:buSzPts val="1100"/>
              <a:buChar char="○"/>
            </a:pPr>
            <a:r>
              <a:rPr lang="en"/>
              <a:t>Severity</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he6cb8db020babbc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he6cb8db020babbc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Table Slides</a:t>
            </a:r>
            <a:endParaRPr/>
          </a:p>
          <a:p>
            <a:pPr indent="-298450" lvl="1" marL="914400" rtl="0" algn="l">
              <a:spcBef>
                <a:spcPts val="0"/>
              </a:spcBef>
              <a:spcAft>
                <a:spcPts val="0"/>
              </a:spcAft>
              <a:buSzPts val="1100"/>
              <a:buChar char="○"/>
            </a:pPr>
            <a:r>
              <a:rPr lang="en"/>
              <a:t>Severity</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011b280258_0_25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011b280258_0_25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f4bdcfafbd_0_271:notes"/>
          <p:cNvSpPr/>
          <p:nvPr>
            <p:ph idx="2" type="sldImg"/>
          </p:nvPr>
        </p:nvSpPr>
        <p:spPr>
          <a:xfrm>
            <a:off x="685727" y="857273"/>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5" name="Google Shape;175;g3f4bdcfafbd_0_271:notes"/>
          <p:cNvSpPr txBox="1"/>
          <p:nvPr>
            <p:ph idx="1" type="body"/>
          </p:nvPr>
        </p:nvSpPr>
        <p:spPr>
          <a:xfrm>
            <a:off x="685800" y="3300500"/>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Walk each answer aloud and ask the client to confirm or correct. Capture changes live. This is where alignment actually happens — do not rush it. Anything that shifts scope, timeline, or the exclusions gets logged; the PM codifies the final wording with the sponsor after kickoff and secures approval before Discovery.</a:t>
            </a:r>
            <a:endParaRPr/>
          </a:p>
        </p:txBody>
      </p:sp>
      <p:sp>
        <p:nvSpPr>
          <p:cNvPr id="176" name="Google Shape;176;g3f4bdcfafbd_0_271:notes"/>
          <p:cNvSpPr txBox="1"/>
          <p:nvPr>
            <p:ph idx="12" type="sldNum"/>
          </p:nvPr>
        </p:nvSpPr>
        <p:spPr>
          <a:xfrm>
            <a:off x="3884613" y="6514083"/>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f4bdcfafbd_0_3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f4bdcfafbd_0_3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Certification Acceptance</a:t>
            </a:r>
            <a:r>
              <a:rPr lang="en"/>
              <a:t> - measures a component </a:t>
            </a:r>
            <a:r>
              <a:rPr lang="en"/>
              <a:t>built</a:t>
            </a:r>
            <a:r>
              <a:rPr lang="en"/>
              <a:t> by Syngenta </a:t>
            </a:r>
            <a:r>
              <a:rPr lang="en"/>
              <a:t>using</a:t>
            </a:r>
            <a:r>
              <a:rPr lang="en"/>
              <a:t> test </a:t>
            </a:r>
            <a:r>
              <a:rPr lang="en"/>
              <a:t>scripts</a:t>
            </a:r>
            <a:r>
              <a:rPr lang="en"/>
              <a:t> and issuance of defect report</a:t>
            </a:r>
            <a:endParaRPr/>
          </a:p>
          <a:p>
            <a:pPr indent="0" lvl="0" marL="0" rtl="0" algn="l">
              <a:spcBef>
                <a:spcPts val="0"/>
              </a:spcBef>
              <a:spcAft>
                <a:spcPts val="0"/>
              </a:spcAft>
              <a:buNone/>
            </a:pPr>
            <a:r>
              <a:rPr b="1" lang="en"/>
              <a:t>Latency Acceptance</a:t>
            </a:r>
            <a:r>
              <a:rPr lang="en"/>
              <a:t> - Latency and render-time Acceptance Criteria measure Toptal-built components running on Syngenta platform components.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h91606af35947b14_0_2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h91606af35947b14_0_2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en" sz="1300">
                <a:solidFill>
                  <a:schemeClr val="dk1"/>
                </a:solidFill>
              </a:rPr>
              <a:t>Main track</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Inputs ready (Client deps met).</a:t>
            </a:r>
            <a:r>
              <a:rPr lang="en">
                <a:solidFill>
                  <a:schemeClr val="dk1"/>
                </a:solidFill>
              </a:rPr>
              <a:t> The Client’s work must be done before the Toptal work that depends on it can start. That covers Client-owned stories and code dependencies, the dev, staging and production environments, design system access, and people like the scientist UAT groups and the identity provider team. If any of it is late, it’s treated as a delayed Client dependency, and a change order can adjust schedule and fees. (Exhibit A §6–7)</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Execution (sprints, demos).</a:t>
            </a:r>
            <a:r>
              <a:rPr lang="en">
                <a:solidFill>
                  <a:schemeClr val="dk1"/>
                </a:solidFill>
              </a:rPr>
              <a:t> Toptal builds the Toptal-built components and writes and runs the automated test scripts, including those for Client-built “Certification” items. It follows the §5.1 cadence: kickoff, biweekly sprint demos, daily standups with the Client team, and a Weekly Status Report. (SOW)</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Package (10-day clock).</a:t>
            </a:r>
            <a:r>
              <a:rPr lang="en">
                <a:solidFill>
                  <a:schemeClr val="dk1"/>
                </a:solidFill>
              </a:rPr>
              <a:t> Toptal gives notice that the milestone’s Work Output is complete, and the Client’s 10-business-day acceptance period starts (§7). The notice is in the SOW. Bundling it with evidence as a formal package is your process.</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UAT track (gray, parallel)</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UAT support (up to 2 runs).</a:t>
            </a:r>
            <a:r>
              <a:rPr lang="en">
                <a:solidFill>
                  <a:schemeClr val="dk1"/>
                </a:solidFill>
              </a:rPr>
              <a:t> Scientist groups test from a user’s point of view. UAT is included in the fixed price, capped at 2 runs per milestone, and covers all UAT, not only Toptal-built work. The Client coordinates and signs off on UAT (HS-4827), so Toptal takes part and tracks defects. Only Milestone 4 gives UAT a Work Output (HS-4828). It feeds Review as findings, but the SOW doesn’t say that, and that link is your process.</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Review and sorting</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Review (vs. section 4).</a:t>
            </a:r>
            <a:r>
              <a:rPr lang="en">
                <a:solidFill>
                  <a:schemeClr val="dk1"/>
                </a:solidFill>
              </a:rPr>
              <a:t> This is the Milestone Acceptance Review from Exhibit A §5.1. It compares the Work Output to each story’s Acceptance Criteria in §4, using the “materially conforms” test from §7. It takes two inputs: evidence from the Package and findings from UAT. (SOW for the review and the test; the two-input design is yours)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Triage (sorts findings).</a:t>
            </a:r>
            <a:r>
              <a:rPr lang="en">
                <a:solidFill>
                  <a:schemeClr val="dk1"/>
                </a:solidFill>
              </a:rPr>
              <a:t> This is your process, and it carries the most weight. Each finding goes one of four ways:</a:t>
            </a:r>
            <a:endParaRPr>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b="1" lang="en">
                <a:solidFill>
                  <a:schemeClr val="dk1"/>
                </a:solidFill>
              </a:rPr>
              <a:t>Conforms.</a:t>
            </a:r>
            <a:r>
              <a:rPr lang="en">
                <a:solidFill>
                  <a:schemeClr val="dk1"/>
                </a:solidFill>
              </a:rPr>
              <a:t> It goes to Sign-off.</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A Toptal-built failure against a stated criterion.</a:t>
            </a:r>
            <a:r>
              <a:rPr lang="en">
                <a:solidFill>
                  <a:schemeClr val="dk1"/>
                </a:solidFill>
              </a:rPr>
              <a:t> It goes to Client notice and the rework loop.</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A failure in a Client-built or Client-owned component.</a:t>
            </a:r>
            <a:r>
              <a:rPr lang="en">
                <a:solidFill>
                  <a:schemeClr val="dk1"/>
                </a:solidFill>
              </a:rPr>
              <a:t> It goes to the Defect report. For Latency and Certification criteria the SOW says this doesn’t count against Toptal’s Work Output.</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An enhancement or new requirement.</a:t>
            </a:r>
            <a:r>
              <a:rPr lang="en">
                <a:solidFill>
                  <a:schemeClr val="dk1"/>
                </a:solidFill>
              </a:rPr>
              <a:t> It goes to Change order. The SOW says changes to requirements aren’t defects (§8, Exhibit A §2.5).</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Accepted path</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Sign-off (Client signs).</a:t>
            </a:r>
            <a:r>
              <a:rPr lang="en">
                <a:solidFill>
                  <a:schemeClr val="dk1"/>
                </a:solidFill>
              </a:rPr>
              <a:t> The Client signs and delivers a certification of milestone acceptance through its designated approvers (§7). Toptal prepares the document under your process.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Next gate (per dependency).</a:t>
            </a:r>
            <a:r>
              <a:rPr lang="en">
                <a:solidFill>
                  <a:schemeClr val="dk1"/>
                </a:solidFill>
              </a:rPr>
              <a:t> The next milestone can start, with a different trigger for each:</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P2a starts when HS-4781, a Client-owned story, is complete.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P2b starts when P2a is accepted.</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P3 starts when P2b is accepted.</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Hypercare starts on the later of production go-live and M4 acceptance.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Deemed accepted (dashed arrow from Review).</a:t>
            </a:r>
            <a:r>
              <a:rPr lang="en">
                <a:solidFill>
                  <a:schemeClr val="dk1"/>
                </a:solidFill>
              </a:rPr>
              <a:t> If the Client sends no written notice of failure within the 10 days, or starts using the output in production or commercially, the milestone is deemed accepted. It skips Sign-off and goes straight to Next gate.</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Rework path (coral)</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Client notice (Toptal-built gap).</a:t>
            </a:r>
            <a:r>
              <a:rPr lang="en">
                <a:solidFill>
                  <a:schemeClr val="dk1"/>
                </a:solidFill>
              </a:rPr>
              <a:t> The Client states in writing how the output fails to conform and what changes would bring it into conformance (§7).</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Remediate (Toptal fixes).</a:t>
            </a:r>
            <a:r>
              <a:rPr lang="en">
                <a:solidFill>
                  <a:schemeClr val="dk1"/>
                </a:solidFill>
              </a:rPr>
              <a:t> Toptal makes commercially reasonable efforts to fix the issue under the same milestone and resubmits. The loop back to Review is your process, since the SOW only says Toptal resubmits for acceptance.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Cap reached (Client may end).</a:t>
            </a:r>
            <a:r>
              <a:rPr lang="en">
                <a:solidFill>
                  <a:schemeClr val="dk1"/>
                </a:solidFill>
              </a:rPr>
              <a:t> After 3 unsuccessful attempts, the Client may terminate under the Agreement. It’s the Client’s option, not automatic, and the Client pays amounts due or accrued through the termination date.</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Toptal-run steps outside the review loop (purple)</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Defect report (Toptal logs).</a:t>
            </a:r>
            <a:r>
              <a:rPr lang="en">
                <a:solidFill>
                  <a:schemeClr val="dk1"/>
                </a:solidFill>
              </a:rPr>
              <a:t> Toptal produces and maintains the report. It records Client-owned failures and Latency misses traced to Client components. The Client remediates them. (§3–4)</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Change order (Toptal drafts).</a:t>
            </a:r>
            <a:r>
              <a:rPr lang="en">
                <a:solidFill>
                  <a:schemeClr val="dk1"/>
                </a:solidFill>
              </a:rPr>
              <a:t> The SOW has both parties negotiate in good faith and mutually agree (§8). It doesn’t say who drafts. Toptal drafting is your process.</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Exception</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Milestone 5, hypercare.</a:t>
            </a:r>
            <a:r>
              <a:rPr lang="en">
                <a:solidFill>
                  <a:schemeClr val="dk1"/>
                </a:solidFill>
              </a:rPr>
              <a:t> It has no review loop. It’s accepted by making capacity available: 160 hours each for a Full-Stack Developer and a QA Engineer over 4 weeks.</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f4bdcfafbd_0_5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3f4bdcfafbd_0_5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f4bdcfafbd_0_1196: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g3f4bdcfafbd_0_11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f4bdcfafbd_0_689:notes"/>
          <p:cNvSpPr/>
          <p:nvPr>
            <p:ph idx="2" type="sldImg"/>
          </p:nvPr>
        </p:nvSpPr>
        <p:spPr>
          <a:xfrm>
            <a:off x="685727" y="857273"/>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4" name="Google Shape;264;g3f4bdcfafbd_0_689:notes"/>
          <p:cNvSpPr txBox="1"/>
          <p:nvPr>
            <p:ph idx="1" type="body"/>
          </p:nvPr>
        </p:nvSpPr>
        <p:spPr>
          <a:xfrm>
            <a:off x="685800" y="3300500"/>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Walk each answer aloud and ask the client to confirm or correct. Capture changes live. This is where alignment actually happens — do not rush it. Anything that shifts scope, timeline, or the exclusions gets logged; the PM codifies the final wording with the sponsor after kickoff and secures approval before Discovery.</a:t>
            </a:r>
            <a:endParaRPr/>
          </a:p>
        </p:txBody>
      </p:sp>
      <p:sp>
        <p:nvSpPr>
          <p:cNvPr id="265" name="Google Shape;265;g3f4bdcfafbd_0_689:notes"/>
          <p:cNvSpPr txBox="1"/>
          <p:nvPr>
            <p:ph idx="12" type="sldNum"/>
          </p:nvPr>
        </p:nvSpPr>
        <p:spPr>
          <a:xfrm>
            <a:off x="3884613" y="6514083"/>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f4bdcfafbd_0_723:notes"/>
          <p:cNvSpPr/>
          <p:nvPr>
            <p:ph idx="2" type="sldImg"/>
          </p:nvPr>
        </p:nvSpPr>
        <p:spPr>
          <a:xfrm>
            <a:off x="685727" y="857273"/>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3" name="Google Shape;273;g3f4bdcfafbd_0_723:notes"/>
          <p:cNvSpPr txBox="1"/>
          <p:nvPr>
            <p:ph idx="1" type="body"/>
          </p:nvPr>
        </p:nvSpPr>
        <p:spPr>
          <a:xfrm>
            <a:off x="685800" y="3300500"/>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Walk each answer aloud and ask the client to confirm or correct. Capture changes live. This is where alignment actually happens — do not rush it. Anything that shifts scope, timeline, or the exclusions gets logged; the PM codifies the final wording with the sponsor after kickoff and secures approval before Discovery.</a:t>
            </a:r>
            <a:endParaRPr/>
          </a:p>
        </p:txBody>
      </p:sp>
      <p:sp>
        <p:nvSpPr>
          <p:cNvPr id="274" name="Google Shape;274;g3f4bdcfafbd_0_723:notes"/>
          <p:cNvSpPr txBox="1"/>
          <p:nvPr>
            <p:ph idx="12" type="sldNum"/>
          </p:nvPr>
        </p:nvSpPr>
        <p:spPr>
          <a:xfrm>
            <a:off x="3884613" y="6514083"/>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f4bdcfafbd_0_6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3f4bdcfafbd_0_6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f4bdcfafbd_0_615:notes"/>
          <p:cNvSpPr/>
          <p:nvPr>
            <p:ph idx="2" type="sldImg"/>
          </p:nvPr>
        </p:nvSpPr>
        <p:spPr>
          <a:xfrm>
            <a:off x="685727" y="857273"/>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7" name="Google Shape;297;g3f4bdcfafbd_0_615:notes"/>
          <p:cNvSpPr txBox="1"/>
          <p:nvPr>
            <p:ph idx="1" type="body"/>
          </p:nvPr>
        </p:nvSpPr>
        <p:spPr>
          <a:xfrm>
            <a:off x="685800" y="3300500"/>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Walk each answer aloud and ask the client to confirm or correct. Capture changes live. This is where alignment actually happens — do not rush it. Anything that shifts scope, timeline, or the exclusions gets logged; the PM codifies the final wording with the sponsor after kickoff and secures approval before Discovery.</a:t>
            </a:r>
            <a:endParaRPr/>
          </a:p>
        </p:txBody>
      </p:sp>
      <p:sp>
        <p:nvSpPr>
          <p:cNvPr id="298" name="Google Shape;298;g3f4bdcfafbd_0_615:notes"/>
          <p:cNvSpPr txBox="1"/>
          <p:nvPr>
            <p:ph idx="12" type="sldNum"/>
          </p:nvPr>
        </p:nvSpPr>
        <p:spPr>
          <a:xfrm>
            <a:off x="3884613" y="6514083"/>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f4bdcfafbd_0_9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3f4bdcfafbd_0_9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Title Slide ">
  <p:cSld name="24_Title Slide">
    <p:spTree>
      <p:nvGrpSpPr>
        <p:cNvPr id="11" name="Shape 11"/>
        <p:cNvGrpSpPr/>
        <p:nvPr/>
      </p:nvGrpSpPr>
      <p:grpSpPr>
        <a:xfrm>
          <a:off x="0" y="0"/>
          <a:ext cx="0" cy="0"/>
          <a:chOff x="0" y="0"/>
          <a:chExt cx="0" cy="0"/>
        </a:xfrm>
      </p:grpSpPr>
      <p:sp>
        <p:nvSpPr>
          <p:cNvPr id="12" name="Google Shape;12;p2"/>
          <p:cNvSpPr txBox="1"/>
          <p:nvPr>
            <p:ph idx="12" type="sldNum"/>
          </p:nvPr>
        </p:nvSpPr>
        <p:spPr>
          <a:xfrm>
            <a:off x="109835" y="4754928"/>
            <a:ext cx="285900" cy="273900"/>
          </a:xfrm>
          <a:prstGeom prst="rect">
            <a:avLst/>
          </a:prstGeom>
          <a:noFill/>
          <a:ln>
            <a:noFill/>
          </a:ln>
        </p:spPr>
        <p:txBody>
          <a:bodyPr anchorCtr="0" anchor="ctr" bIns="0" lIns="0" spcFirstLastPara="1" rIns="0" wrap="square" tIns="0">
            <a:noAutofit/>
          </a:bodyPr>
          <a:lstStyle>
            <a:lvl1pPr indent="0" lvl="0" marL="0" rtl="0" algn="ctr">
              <a:spcBef>
                <a:spcPts val="0"/>
              </a:spcBef>
              <a:buNone/>
              <a:defRPr b="1" i="0" sz="1100" u="none" cap="none" strike="noStrike">
                <a:solidFill>
                  <a:srgbClr val="FFFFFF"/>
                </a:solidFill>
                <a:latin typeface="Proxima Nova"/>
                <a:ea typeface="Proxima Nova"/>
                <a:cs typeface="Proxima Nova"/>
                <a:sym typeface="Proxima Nova"/>
              </a:defRPr>
            </a:lvl1pPr>
            <a:lvl2pPr indent="0" lvl="1" marL="0" rtl="0" algn="ctr">
              <a:spcBef>
                <a:spcPts val="0"/>
              </a:spcBef>
              <a:buNone/>
              <a:defRPr b="1" i="0" sz="1100" u="none" cap="none" strike="noStrike">
                <a:solidFill>
                  <a:srgbClr val="FFFFFF"/>
                </a:solidFill>
                <a:latin typeface="Proxima Nova"/>
                <a:ea typeface="Proxima Nova"/>
                <a:cs typeface="Proxima Nova"/>
                <a:sym typeface="Proxima Nova"/>
              </a:defRPr>
            </a:lvl2pPr>
            <a:lvl3pPr indent="0" lvl="2" marL="0" rtl="0" algn="ctr">
              <a:spcBef>
                <a:spcPts val="0"/>
              </a:spcBef>
              <a:buNone/>
              <a:defRPr b="1" i="0" sz="1100" u="none" cap="none" strike="noStrike">
                <a:solidFill>
                  <a:srgbClr val="FFFFFF"/>
                </a:solidFill>
                <a:latin typeface="Proxima Nova"/>
                <a:ea typeface="Proxima Nova"/>
                <a:cs typeface="Proxima Nova"/>
                <a:sym typeface="Proxima Nova"/>
              </a:defRPr>
            </a:lvl3pPr>
            <a:lvl4pPr indent="0" lvl="3" marL="0" rtl="0" algn="ctr">
              <a:spcBef>
                <a:spcPts val="0"/>
              </a:spcBef>
              <a:buNone/>
              <a:defRPr b="1" i="0" sz="1100" u="none" cap="none" strike="noStrike">
                <a:solidFill>
                  <a:srgbClr val="FFFFFF"/>
                </a:solidFill>
                <a:latin typeface="Proxima Nova"/>
                <a:ea typeface="Proxima Nova"/>
                <a:cs typeface="Proxima Nova"/>
                <a:sym typeface="Proxima Nova"/>
              </a:defRPr>
            </a:lvl4pPr>
            <a:lvl5pPr indent="0" lvl="4" marL="0" rtl="0" algn="ctr">
              <a:spcBef>
                <a:spcPts val="0"/>
              </a:spcBef>
              <a:buNone/>
              <a:defRPr b="1" i="0" sz="1100" u="none" cap="none" strike="noStrike">
                <a:solidFill>
                  <a:srgbClr val="FFFFFF"/>
                </a:solidFill>
                <a:latin typeface="Proxima Nova"/>
                <a:ea typeface="Proxima Nova"/>
                <a:cs typeface="Proxima Nova"/>
                <a:sym typeface="Proxima Nova"/>
              </a:defRPr>
            </a:lvl5pPr>
            <a:lvl6pPr indent="0" lvl="5" marL="0" rtl="0" algn="ctr">
              <a:spcBef>
                <a:spcPts val="0"/>
              </a:spcBef>
              <a:buNone/>
              <a:defRPr b="1" i="0" sz="1100" u="none" cap="none" strike="noStrike">
                <a:solidFill>
                  <a:srgbClr val="FFFFFF"/>
                </a:solidFill>
                <a:latin typeface="Proxima Nova"/>
                <a:ea typeface="Proxima Nova"/>
                <a:cs typeface="Proxima Nova"/>
                <a:sym typeface="Proxima Nova"/>
              </a:defRPr>
            </a:lvl6pPr>
            <a:lvl7pPr indent="0" lvl="6" marL="0" rtl="0" algn="ctr">
              <a:spcBef>
                <a:spcPts val="0"/>
              </a:spcBef>
              <a:buNone/>
              <a:defRPr b="1" i="0" sz="1100" u="none" cap="none" strike="noStrike">
                <a:solidFill>
                  <a:srgbClr val="FFFFFF"/>
                </a:solidFill>
                <a:latin typeface="Proxima Nova"/>
                <a:ea typeface="Proxima Nova"/>
                <a:cs typeface="Proxima Nova"/>
                <a:sym typeface="Proxima Nova"/>
              </a:defRPr>
            </a:lvl7pPr>
            <a:lvl8pPr indent="0" lvl="7" marL="0" rtl="0" algn="ctr">
              <a:spcBef>
                <a:spcPts val="0"/>
              </a:spcBef>
              <a:buNone/>
              <a:defRPr b="1" i="0" sz="1100" u="none" cap="none" strike="noStrike">
                <a:solidFill>
                  <a:srgbClr val="FFFFFF"/>
                </a:solidFill>
                <a:latin typeface="Proxima Nova"/>
                <a:ea typeface="Proxima Nova"/>
                <a:cs typeface="Proxima Nova"/>
                <a:sym typeface="Proxima Nova"/>
              </a:defRPr>
            </a:lvl8pPr>
            <a:lvl9pPr indent="0" lvl="8" marL="0" rtl="0" algn="ctr">
              <a:spcBef>
                <a:spcPts val="0"/>
              </a:spcBef>
              <a:buNone/>
              <a:defRPr b="1" i="0" sz="1100" u="none" cap="none" strike="noStrike">
                <a:solidFill>
                  <a:srgbClr val="FFFFFF"/>
                </a:solidFill>
                <a:latin typeface="Proxima Nova"/>
                <a:ea typeface="Proxima Nova"/>
                <a:cs typeface="Proxima Nova"/>
                <a:sym typeface="Proxima Nova"/>
              </a:defRPr>
            </a:lvl9pPr>
          </a:lstStyle>
          <a:p>
            <a:pPr indent="0" lvl="0" marL="0" rtl="0" algn="ctr">
              <a:spcBef>
                <a:spcPts val="0"/>
              </a:spcBef>
              <a:spcAft>
                <a:spcPts val="0"/>
              </a:spcAft>
              <a:buNone/>
            </a:pPr>
            <a:fld id="{00000000-1234-1234-1234-123412341234}" type="slidenum">
              <a:rPr lang="en"/>
              <a:t>‹#›</a:t>
            </a:fld>
            <a:endParaRPr/>
          </a:p>
        </p:txBody>
      </p:sp>
      <p:pic>
        <p:nvPicPr>
          <p:cNvPr id="13" name="Google Shape;13;p2"/>
          <p:cNvPicPr preferRelativeResize="0"/>
          <p:nvPr/>
        </p:nvPicPr>
        <p:blipFill>
          <a:blip r:embed="rId2">
            <a:alphaModFix/>
          </a:blip>
          <a:stretch>
            <a:fillRect/>
          </a:stretch>
        </p:blipFill>
        <p:spPr>
          <a:xfrm>
            <a:off x="0" y="1255"/>
            <a:ext cx="9144001" cy="5140990"/>
          </a:xfrm>
          <a:prstGeom prst="rect">
            <a:avLst/>
          </a:prstGeom>
          <a:noFill/>
          <a:ln>
            <a:noFill/>
          </a:ln>
        </p:spPr>
      </p:pic>
      <p:pic>
        <p:nvPicPr>
          <p:cNvPr id="14" name="Google Shape;14;p2"/>
          <p:cNvPicPr preferRelativeResize="0"/>
          <p:nvPr/>
        </p:nvPicPr>
        <p:blipFill>
          <a:blip r:embed="rId3">
            <a:alphaModFix/>
          </a:blip>
          <a:stretch>
            <a:fillRect/>
          </a:stretch>
        </p:blipFill>
        <p:spPr>
          <a:xfrm>
            <a:off x="343675" y="419000"/>
            <a:ext cx="1180749" cy="335551"/>
          </a:xfrm>
          <a:prstGeom prst="rect">
            <a:avLst/>
          </a:prstGeom>
          <a:noFill/>
          <a:ln>
            <a:noFill/>
          </a:ln>
        </p:spPr>
      </p:pic>
      <p:sp>
        <p:nvSpPr>
          <p:cNvPr id="15" name="Google Shape;15;p2"/>
          <p:cNvSpPr txBox="1"/>
          <p:nvPr>
            <p:ph type="title"/>
          </p:nvPr>
        </p:nvSpPr>
        <p:spPr>
          <a:xfrm>
            <a:off x="343675" y="2907450"/>
            <a:ext cx="3016200" cy="819300"/>
          </a:xfrm>
          <a:prstGeom prst="rect">
            <a:avLst/>
          </a:prstGeom>
        </p:spPr>
        <p:txBody>
          <a:bodyPr anchorCtr="0" anchor="t" bIns="34275" lIns="68575" spcFirstLastPara="1" rIns="68575" wrap="square" tIns="34275">
            <a:normAutofit/>
          </a:bodyPr>
          <a:lstStyle>
            <a:lvl1pPr lvl="0" rtl="0">
              <a:spcBef>
                <a:spcPts val="0"/>
              </a:spcBef>
              <a:spcAft>
                <a:spcPts val="0"/>
              </a:spcAft>
              <a:buClr>
                <a:schemeClr val="lt1"/>
              </a:buClr>
              <a:buSzPts val="2600"/>
              <a:buFont typeface="Proxima Nova"/>
              <a:buNone/>
              <a:defRPr sz="2600">
                <a:solidFill>
                  <a:schemeClr val="lt1"/>
                </a:solidFill>
                <a:latin typeface="Proxima Nova"/>
                <a:ea typeface="Proxima Nova"/>
                <a:cs typeface="Proxima Nova"/>
                <a:sym typeface="Proxima Nova"/>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16" name="Google Shape;16;p2"/>
          <p:cNvSpPr txBox="1"/>
          <p:nvPr>
            <p:ph idx="1" type="subTitle"/>
          </p:nvPr>
        </p:nvSpPr>
        <p:spPr>
          <a:xfrm>
            <a:off x="351170" y="2571750"/>
            <a:ext cx="3016200" cy="335700"/>
          </a:xfrm>
          <a:prstGeom prst="rect">
            <a:avLst/>
          </a:prstGeom>
        </p:spPr>
        <p:txBody>
          <a:bodyPr anchorCtr="0" anchor="t" bIns="34275" lIns="68575" spcFirstLastPara="1" rIns="68575" wrap="square" tIns="34275">
            <a:normAutofit/>
          </a:bodyPr>
          <a:lstStyle>
            <a:lvl1pPr lvl="0" rtl="0">
              <a:spcBef>
                <a:spcPts val="800"/>
              </a:spcBef>
              <a:spcAft>
                <a:spcPts val="0"/>
              </a:spcAft>
              <a:buClr>
                <a:schemeClr val="lt1"/>
              </a:buClr>
              <a:buSzPts val="1300"/>
              <a:buFont typeface="Proxima Nova"/>
              <a:buNone/>
              <a:defRPr sz="1300">
                <a:solidFill>
                  <a:schemeClr val="lt1"/>
                </a:solidFill>
              </a:defRPr>
            </a:lvl1pPr>
            <a:lvl2pPr lvl="1" rtl="0">
              <a:spcBef>
                <a:spcPts val="400"/>
              </a:spcBef>
              <a:spcAft>
                <a:spcPts val="0"/>
              </a:spcAft>
              <a:buClr>
                <a:schemeClr val="lt1"/>
              </a:buClr>
              <a:buSzPts val="1100"/>
              <a:buNone/>
              <a:defRPr>
                <a:solidFill>
                  <a:schemeClr val="lt1"/>
                </a:solidFill>
              </a:defRPr>
            </a:lvl2pPr>
            <a:lvl3pPr lvl="2" rtl="0">
              <a:spcBef>
                <a:spcPts val="400"/>
              </a:spcBef>
              <a:spcAft>
                <a:spcPts val="0"/>
              </a:spcAft>
              <a:buClr>
                <a:schemeClr val="lt1"/>
              </a:buClr>
              <a:buSzPts val="900"/>
              <a:buNone/>
              <a:defRPr>
                <a:solidFill>
                  <a:schemeClr val="lt1"/>
                </a:solidFill>
              </a:defRPr>
            </a:lvl3pPr>
            <a:lvl4pPr lvl="3" rtl="0">
              <a:spcBef>
                <a:spcPts val="400"/>
              </a:spcBef>
              <a:spcAft>
                <a:spcPts val="0"/>
              </a:spcAft>
              <a:buClr>
                <a:schemeClr val="lt1"/>
              </a:buClr>
              <a:buSzPts val="800"/>
              <a:buNone/>
              <a:defRPr>
                <a:solidFill>
                  <a:schemeClr val="lt1"/>
                </a:solidFill>
              </a:defRPr>
            </a:lvl4pPr>
            <a:lvl5pPr lvl="4" rtl="0">
              <a:spcBef>
                <a:spcPts val="400"/>
              </a:spcBef>
              <a:spcAft>
                <a:spcPts val="0"/>
              </a:spcAft>
              <a:buClr>
                <a:schemeClr val="lt1"/>
              </a:buClr>
              <a:buSzPts val="600"/>
              <a:buNone/>
              <a:defRPr>
                <a:solidFill>
                  <a:schemeClr val="lt1"/>
                </a:solidFill>
              </a:defRPr>
            </a:lvl5pPr>
            <a:lvl6pPr lvl="5" rtl="0">
              <a:spcBef>
                <a:spcPts val="400"/>
              </a:spcBef>
              <a:spcAft>
                <a:spcPts val="0"/>
              </a:spcAft>
              <a:buClr>
                <a:schemeClr val="lt1"/>
              </a:buClr>
              <a:buSzPts val="1400"/>
              <a:buNone/>
              <a:defRPr>
                <a:solidFill>
                  <a:schemeClr val="lt1"/>
                </a:solidFill>
              </a:defRPr>
            </a:lvl6pPr>
            <a:lvl7pPr lvl="6" rtl="0">
              <a:spcBef>
                <a:spcPts val="400"/>
              </a:spcBef>
              <a:spcAft>
                <a:spcPts val="0"/>
              </a:spcAft>
              <a:buClr>
                <a:schemeClr val="lt1"/>
              </a:buClr>
              <a:buSzPts val="1400"/>
              <a:buNone/>
              <a:defRPr>
                <a:solidFill>
                  <a:schemeClr val="lt1"/>
                </a:solidFill>
              </a:defRPr>
            </a:lvl7pPr>
            <a:lvl8pPr lvl="7" rtl="0">
              <a:spcBef>
                <a:spcPts val="400"/>
              </a:spcBef>
              <a:spcAft>
                <a:spcPts val="0"/>
              </a:spcAft>
              <a:buClr>
                <a:schemeClr val="lt1"/>
              </a:buClr>
              <a:buSzPts val="1400"/>
              <a:buNone/>
              <a:defRPr>
                <a:solidFill>
                  <a:schemeClr val="lt1"/>
                </a:solidFill>
              </a:defRPr>
            </a:lvl8pPr>
            <a:lvl9pPr lvl="8" rtl="0">
              <a:spcBef>
                <a:spcPts val="400"/>
              </a:spcBef>
              <a:spcAft>
                <a:spcPts val="0"/>
              </a:spcAft>
              <a:buClr>
                <a:schemeClr val="lt1"/>
              </a:buClr>
              <a:buSzPts val="1400"/>
              <a:buNone/>
              <a:defRPr>
                <a:solidFill>
                  <a:schemeClr val="lt1"/>
                </a:solidFill>
              </a:defRPr>
            </a:lvl9pPr>
          </a:lstStyle>
          <a:p/>
        </p:txBody>
      </p:sp>
      <p:cxnSp>
        <p:nvCxnSpPr>
          <p:cNvPr id="17" name="Google Shape;17;p2"/>
          <p:cNvCxnSpPr/>
          <p:nvPr/>
        </p:nvCxnSpPr>
        <p:spPr>
          <a:xfrm>
            <a:off x="443130" y="4044275"/>
            <a:ext cx="891900" cy="0"/>
          </a:xfrm>
          <a:prstGeom prst="straightConnector1">
            <a:avLst/>
          </a:prstGeom>
          <a:noFill/>
          <a:ln cap="flat" cmpd="sng" w="9525">
            <a:solidFill>
              <a:schemeClr val="lt1"/>
            </a:solidFill>
            <a:prstDash val="solid"/>
            <a:round/>
            <a:headEnd len="med" w="med" type="none"/>
            <a:tailEnd len="med" w="med" type="none"/>
          </a:ln>
        </p:spPr>
      </p:cxnSp>
      <p:sp>
        <p:nvSpPr>
          <p:cNvPr id="18" name="Google Shape;18;p2"/>
          <p:cNvSpPr txBox="1"/>
          <p:nvPr>
            <p:ph idx="2" type="subTitle"/>
          </p:nvPr>
        </p:nvSpPr>
        <p:spPr>
          <a:xfrm>
            <a:off x="366160" y="4153150"/>
            <a:ext cx="3016200" cy="335700"/>
          </a:xfrm>
          <a:prstGeom prst="rect">
            <a:avLst/>
          </a:prstGeom>
        </p:spPr>
        <p:txBody>
          <a:bodyPr anchorCtr="0" anchor="t" bIns="34275" lIns="68575" spcFirstLastPara="1" rIns="68575" wrap="square" tIns="34275">
            <a:normAutofit/>
          </a:bodyPr>
          <a:lstStyle>
            <a:lvl1pPr lvl="0" rtl="0">
              <a:spcBef>
                <a:spcPts val="800"/>
              </a:spcBef>
              <a:spcAft>
                <a:spcPts val="0"/>
              </a:spcAft>
              <a:buClr>
                <a:schemeClr val="accent4"/>
              </a:buClr>
              <a:buSzPts val="1300"/>
              <a:buFont typeface="Proxima Nova"/>
              <a:buNone/>
              <a:defRPr b="1" sz="1300">
                <a:solidFill>
                  <a:schemeClr val="accent4"/>
                </a:solidFill>
                <a:latin typeface="Proxima Nova"/>
                <a:ea typeface="Proxima Nova"/>
                <a:cs typeface="Proxima Nova"/>
                <a:sym typeface="Proxima Nova"/>
              </a:defRPr>
            </a:lvl1pPr>
            <a:lvl2pPr lvl="1" rtl="0">
              <a:spcBef>
                <a:spcPts val="400"/>
              </a:spcBef>
              <a:spcAft>
                <a:spcPts val="0"/>
              </a:spcAft>
              <a:buClr>
                <a:schemeClr val="accent4"/>
              </a:buClr>
              <a:buSzPts val="1100"/>
              <a:buNone/>
              <a:defRPr>
                <a:solidFill>
                  <a:schemeClr val="accent4"/>
                </a:solidFill>
              </a:defRPr>
            </a:lvl2pPr>
            <a:lvl3pPr lvl="2" rtl="0">
              <a:spcBef>
                <a:spcPts val="400"/>
              </a:spcBef>
              <a:spcAft>
                <a:spcPts val="0"/>
              </a:spcAft>
              <a:buClr>
                <a:schemeClr val="accent4"/>
              </a:buClr>
              <a:buSzPts val="900"/>
              <a:buNone/>
              <a:defRPr>
                <a:solidFill>
                  <a:schemeClr val="accent4"/>
                </a:solidFill>
              </a:defRPr>
            </a:lvl3pPr>
            <a:lvl4pPr lvl="3" rtl="0">
              <a:spcBef>
                <a:spcPts val="400"/>
              </a:spcBef>
              <a:spcAft>
                <a:spcPts val="0"/>
              </a:spcAft>
              <a:buClr>
                <a:schemeClr val="accent4"/>
              </a:buClr>
              <a:buSzPts val="800"/>
              <a:buNone/>
              <a:defRPr>
                <a:solidFill>
                  <a:schemeClr val="accent4"/>
                </a:solidFill>
              </a:defRPr>
            </a:lvl4pPr>
            <a:lvl5pPr lvl="4" rtl="0">
              <a:spcBef>
                <a:spcPts val="400"/>
              </a:spcBef>
              <a:spcAft>
                <a:spcPts val="0"/>
              </a:spcAft>
              <a:buClr>
                <a:schemeClr val="accent4"/>
              </a:buClr>
              <a:buSzPts val="600"/>
              <a:buNone/>
              <a:defRPr>
                <a:solidFill>
                  <a:schemeClr val="accent4"/>
                </a:solidFill>
              </a:defRPr>
            </a:lvl5pPr>
            <a:lvl6pPr lvl="5" rtl="0">
              <a:spcBef>
                <a:spcPts val="400"/>
              </a:spcBef>
              <a:spcAft>
                <a:spcPts val="0"/>
              </a:spcAft>
              <a:buClr>
                <a:schemeClr val="accent4"/>
              </a:buClr>
              <a:buSzPts val="1400"/>
              <a:buNone/>
              <a:defRPr>
                <a:solidFill>
                  <a:schemeClr val="accent4"/>
                </a:solidFill>
              </a:defRPr>
            </a:lvl6pPr>
            <a:lvl7pPr lvl="6" rtl="0">
              <a:spcBef>
                <a:spcPts val="400"/>
              </a:spcBef>
              <a:spcAft>
                <a:spcPts val="0"/>
              </a:spcAft>
              <a:buClr>
                <a:schemeClr val="accent4"/>
              </a:buClr>
              <a:buSzPts val="1400"/>
              <a:buNone/>
              <a:defRPr>
                <a:solidFill>
                  <a:schemeClr val="accent4"/>
                </a:solidFill>
              </a:defRPr>
            </a:lvl7pPr>
            <a:lvl8pPr lvl="7" rtl="0">
              <a:spcBef>
                <a:spcPts val="400"/>
              </a:spcBef>
              <a:spcAft>
                <a:spcPts val="0"/>
              </a:spcAft>
              <a:buClr>
                <a:schemeClr val="accent4"/>
              </a:buClr>
              <a:buSzPts val="1400"/>
              <a:buNone/>
              <a:defRPr>
                <a:solidFill>
                  <a:schemeClr val="accent4"/>
                </a:solidFill>
              </a:defRPr>
            </a:lvl8pPr>
            <a:lvl9pPr lvl="8" rtl="0">
              <a:spcBef>
                <a:spcPts val="400"/>
              </a:spcBef>
              <a:spcAft>
                <a:spcPts val="0"/>
              </a:spcAft>
              <a:buClr>
                <a:schemeClr val="accent4"/>
              </a:buClr>
              <a:buSzPts val="1400"/>
              <a:buNone/>
              <a:defRPr>
                <a:solidFill>
                  <a:schemeClr val="accent4"/>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Title Slide-Var 1">
  <p:cSld name="24_Title Slide_1">
    <p:spTree>
      <p:nvGrpSpPr>
        <p:cNvPr id="19" name="Shape 19"/>
        <p:cNvGrpSpPr/>
        <p:nvPr/>
      </p:nvGrpSpPr>
      <p:grpSpPr>
        <a:xfrm>
          <a:off x="0" y="0"/>
          <a:ext cx="0" cy="0"/>
          <a:chOff x="0" y="0"/>
          <a:chExt cx="0" cy="0"/>
        </a:xfrm>
      </p:grpSpPr>
      <p:pic>
        <p:nvPicPr>
          <p:cNvPr id="20" name="Google Shape;20;p3"/>
          <p:cNvPicPr preferRelativeResize="0"/>
          <p:nvPr/>
        </p:nvPicPr>
        <p:blipFill rotWithShape="1">
          <a:blip r:embed="rId2">
            <a:alphaModFix/>
          </a:blip>
          <a:srcRect b="0" l="367" r="367" t="0"/>
          <a:stretch/>
        </p:blipFill>
        <p:spPr>
          <a:xfrm>
            <a:off x="0" y="-38100"/>
            <a:ext cx="9144005" cy="5181600"/>
          </a:xfrm>
          <a:prstGeom prst="rect">
            <a:avLst/>
          </a:prstGeom>
          <a:noFill/>
          <a:ln>
            <a:noFill/>
          </a:ln>
        </p:spPr>
      </p:pic>
      <p:pic>
        <p:nvPicPr>
          <p:cNvPr id="21" name="Google Shape;21;p3"/>
          <p:cNvPicPr preferRelativeResize="0"/>
          <p:nvPr/>
        </p:nvPicPr>
        <p:blipFill>
          <a:blip r:embed="rId3">
            <a:alphaModFix/>
          </a:blip>
          <a:stretch>
            <a:fillRect/>
          </a:stretch>
        </p:blipFill>
        <p:spPr>
          <a:xfrm>
            <a:off x="343675" y="419000"/>
            <a:ext cx="1180749" cy="335551"/>
          </a:xfrm>
          <a:prstGeom prst="rect">
            <a:avLst/>
          </a:prstGeom>
          <a:noFill/>
          <a:ln>
            <a:noFill/>
          </a:ln>
        </p:spPr>
      </p:pic>
      <p:sp>
        <p:nvSpPr>
          <p:cNvPr id="22" name="Google Shape;22;p3"/>
          <p:cNvSpPr txBox="1"/>
          <p:nvPr>
            <p:ph type="title"/>
          </p:nvPr>
        </p:nvSpPr>
        <p:spPr>
          <a:xfrm>
            <a:off x="343675" y="2907450"/>
            <a:ext cx="3016200" cy="819300"/>
          </a:xfrm>
          <a:prstGeom prst="rect">
            <a:avLst/>
          </a:prstGeom>
        </p:spPr>
        <p:txBody>
          <a:bodyPr anchorCtr="0" anchor="t" bIns="34275" lIns="68575" spcFirstLastPara="1" rIns="68575" wrap="square" tIns="34275">
            <a:normAutofit/>
          </a:bodyPr>
          <a:lstStyle>
            <a:lvl1pPr lvl="0" rtl="0">
              <a:spcBef>
                <a:spcPts val="0"/>
              </a:spcBef>
              <a:spcAft>
                <a:spcPts val="0"/>
              </a:spcAft>
              <a:buClr>
                <a:schemeClr val="lt1"/>
              </a:buClr>
              <a:buSzPts val="2600"/>
              <a:buFont typeface="Proxima Nova"/>
              <a:buNone/>
              <a:defRPr sz="2600">
                <a:solidFill>
                  <a:schemeClr val="lt1"/>
                </a:solidFill>
                <a:latin typeface="Proxima Nova"/>
                <a:ea typeface="Proxima Nova"/>
                <a:cs typeface="Proxima Nova"/>
                <a:sym typeface="Proxima Nova"/>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23" name="Google Shape;23;p3"/>
          <p:cNvSpPr txBox="1"/>
          <p:nvPr>
            <p:ph idx="1" type="subTitle"/>
          </p:nvPr>
        </p:nvSpPr>
        <p:spPr>
          <a:xfrm>
            <a:off x="351170" y="2571750"/>
            <a:ext cx="3016200" cy="335700"/>
          </a:xfrm>
          <a:prstGeom prst="rect">
            <a:avLst/>
          </a:prstGeom>
        </p:spPr>
        <p:txBody>
          <a:bodyPr anchorCtr="0" anchor="t" bIns="34275" lIns="68575" spcFirstLastPara="1" rIns="68575" wrap="square" tIns="34275">
            <a:normAutofit/>
          </a:bodyPr>
          <a:lstStyle>
            <a:lvl1pPr lvl="0" rtl="0">
              <a:spcBef>
                <a:spcPts val="800"/>
              </a:spcBef>
              <a:spcAft>
                <a:spcPts val="0"/>
              </a:spcAft>
              <a:buClr>
                <a:schemeClr val="lt1"/>
              </a:buClr>
              <a:buSzPts val="1300"/>
              <a:buFont typeface="Proxima Nova"/>
              <a:buNone/>
              <a:defRPr sz="1300">
                <a:solidFill>
                  <a:schemeClr val="lt1"/>
                </a:solidFill>
              </a:defRPr>
            </a:lvl1pPr>
            <a:lvl2pPr lvl="1" rtl="0">
              <a:spcBef>
                <a:spcPts val="400"/>
              </a:spcBef>
              <a:spcAft>
                <a:spcPts val="0"/>
              </a:spcAft>
              <a:buClr>
                <a:schemeClr val="lt1"/>
              </a:buClr>
              <a:buSzPts val="1100"/>
              <a:buNone/>
              <a:defRPr>
                <a:solidFill>
                  <a:schemeClr val="lt1"/>
                </a:solidFill>
              </a:defRPr>
            </a:lvl2pPr>
            <a:lvl3pPr lvl="2" rtl="0">
              <a:spcBef>
                <a:spcPts val="400"/>
              </a:spcBef>
              <a:spcAft>
                <a:spcPts val="0"/>
              </a:spcAft>
              <a:buClr>
                <a:schemeClr val="lt1"/>
              </a:buClr>
              <a:buSzPts val="900"/>
              <a:buNone/>
              <a:defRPr>
                <a:solidFill>
                  <a:schemeClr val="lt1"/>
                </a:solidFill>
              </a:defRPr>
            </a:lvl3pPr>
            <a:lvl4pPr lvl="3" rtl="0">
              <a:spcBef>
                <a:spcPts val="400"/>
              </a:spcBef>
              <a:spcAft>
                <a:spcPts val="0"/>
              </a:spcAft>
              <a:buClr>
                <a:schemeClr val="lt1"/>
              </a:buClr>
              <a:buSzPts val="800"/>
              <a:buNone/>
              <a:defRPr>
                <a:solidFill>
                  <a:schemeClr val="lt1"/>
                </a:solidFill>
              </a:defRPr>
            </a:lvl4pPr>
            <a:lvl5pPr lvl="4" rtl="0">
              <a:spcBef>
                <a:spcPts val="400"/>
              </a:spcBef>
              <a:spcAft>
                <a:spcPts val="0"/>
              </a:spcAft>
              <a:buClr>
                <a:schemeClr val="lt1"/>
              </a:buClr>
              <a:buSzPts val="600"/>
              <a:buNone/>
              <a:defRPr>
                <a:solidFill>
                  <a:schemeClr val="lt1"/>
                </a:solidFill>
              </a:defRPr>
            </a:lvl5pPr>
            <a:lvl6pPr lvl="5" rtl="0">
              <a:spcBef>
                <a:spcPts val="400"/>
              </a:spcBef>
              <a:spcAft>
                <a:spcPts val="0"/>
              </a:spcAft>
              <a:buClr>
                <a:schemeClr val="lt1"/>
              </a:buClr>
              <a:buSzPts val="1400"/>
              <a:buNone/>
              <a:defRPr>
                <a:solidFill>
                  <a:schemeClr val="lt1"/>
                </a:solidFill>
              </a:defRPr>
            </a:lvl6pPr>
            <a:lvl7pPr lvl="6" rtl="0">
              <a:spcBef>
                <a:spcPts val="400"/>
              </a:spcBef>
              <a:spcAft>
                <a:spcPts val="0"/>
              </a:spcAft>
              <a:buClr>
                <a:schemeClr val="lt1"/>
              </a:buClr>
              <a:buSzPts val="1400"/>
              <a:buNone/>
              <a:defRPr>
                <a:solidFill>
                  <a:schemeClr val="lt1"/>
                </a:solidFill>
              </a:defRPr>
            </a:lvl7pPr>
            <a:lvl8pPr lvl="7" rtl="0">
              <a:spcBef>
                <a:spcPts val="400"/>
              </a:spcBef>
              <a:spcAft>
                <a:spcPts val="0"/>
              </a:spcAft>
              <a:buClr>
                <a:schemeClr val="lt1"/>
              </a:buClr>
              <a:buSzPts val="1400"/>
              <a:buNone/>
              <a:defRPr>
                <a:solidFill>
                  <a:schemeClr val="lt1"/>
                </a:solidFill>
              </a:defRPr>
            </a:lvl8pPr>
            <a:lvl9pPr lvl="8" rtl="0">
              <a:spcBef>
                <a:spcPts val="400"/>
              </a:spcBef>
              <a:spcAft>
                <a:spcPts val="0"/>
              </a:spcAft>
              <a:buClr>
                <a:schemeClr val="lt1"/>
              </a:buClr>
              <a:buSzPts val="1400"/>
              <a:buNone/>
              <a:defRPr>
                <a:solidFill>
                  <a:schemeClr val="lt1"/>
                </a:solidFill>
              </a:defRPr>
            </a:lvl9pPr>
          </a:lstStyle>
          <a:p/>
        </p:txBody>
      </p:sp>
      <p:cxnSp>
        <p:nvCxnSpPr>
          <p:cNvPr id="24" name="Google Shape;24;p3"/>
          <p:cNvCxnSpPr/>
          <p:nvPr/>
        </p:nvCxnSpPr>
        <p:spPr>
          <a:xfrm>
            <a:off x="443130" y="4044275"/>
            <a:ext cx="891900" cy="0"/>
          </a:xfrm>
          <a:prstGeom prst="straightConnector1">
            <a:avLst/>
          </a:prstGeom>
          <a:noFill/>
          <a:ln cap="flat" cmpd="sng" w="9525">
            <a:solidFill>
              <a:schemeClr val="lt1"/>
            </a:solidFill>
            <a:prstDash val="solid"/>
            <a:round/>
            <a:headEnd len="med" w="med" type="none"/>
            <a:tailEnd len="med" w="med" type="none"/>
          </a:ln>
        </p:spPr>
      </p:cxnSp>
      <p:sp>
        <p:nvSpPr>
          <p:cNvPr id="25" name="Google Shape;25;p3"/>
          <p:cNvSpPr txBox="1"/>
          <p:nvPr>
            <p:ph idx="2" type="subTitle"/>
          </p:nvPr>
        </p:nvSpPr>
        <p:spPr>
          <a:xfrm>
            <a:off x="366160" y="4153150"/>
            <a:ext cx="3016200" cy="335700"/>
          </a:xfrm>
          <a:prstGeom prst="rect">
            <a:avLst/>
          </a:prstGeom>
        </p:spPr>
        <p:txBody>
          <a:bodyPr anchorCtr="0" anchor="t" bIns="34275" lIns="68575" spcFirstLastPara="1" rIns="68575" wrap="square" tIns="34275">
            <a:normAutofit/>
          </a:bodyPr>
          <a:lstStyle>
            <a:lvl1pPr lvl="0" rtl="0">
              <a:spcBef>
                <a:spcPts val="800"/>
              </a:spcBef>
              <a:spcAft>
                <a:spcPts val="0"/>
              </a:spcAft>
              <a:buClr>
                <a:schemeClr val="accent4"/>
              </a:buClr>
              <a:buSzPts val="1300"/>
              <a:buFont typeface="Proxima Nova"/>
              <a:buNone/>
              <a:defRPr b="1" sz="1300">
                <a:solidFill>
                  <a:schemeClr val="accent4"/>
                </a:solidFill>
                <a:latin typeface="Proxima Nova"/>
                <a:ea typeface="Proxima Nova"/>
                <a:cs typeface="Proxima Nova"/>
                <a:sym typeface="Proxima Nova"/>
              </a:defRPr>
            </a:lvl1pPr>
            <a:lvl2pPr lvl="1" rtl="0">
              <a:spcBef>
                <a:spcPts val="400"/>
              </a:spcBef>
              <a:spcAft>
                <a:spcPts val="0"/>
              </a:spcAft>
              <a:buClr>
                <a:schemeClr val="accent4"/>
              </a:buClr>
              <a:buSzPts val="1100"/>
              <a:buNone/>
              <a:defRPr>
                <a:solidFill>
                  <a:schemeClr val="accent4"/>
                </a:solidFill>
              </a:defRPr>
            </a:lvl2pPr>
            <a:lvl3pPr lvl="2" rtl="0">
              <a:spcBef>
                <a:spcPts val="400"/>
              </a:spcBef>
              <a:spcAft>
                <a:spcPts val="0"/>
              </a:spcAft>
              <a:buClr>
                <a:schemeClr val="accent4"/>
              </a:buClr>
              <a:buSzPts val="900"/>
              <a:buNone/>
              <a:defRPr>
                <a:solidFill>
                  <a:schemeClr val="accent4"/>
                </a:solidFill>
              </a:defRPr>
            </a:lvl3pPr>
            <a:lvl4pPr lvl="3" rtl="0">
              <a:spcBef>
                <a:spcPts val="400"/>
              </a:spcBef>
              <a:spcAft>
                <a:spcPts val="0"/>
              </a:spcAft>
              <a:buClr>
                <a:schemeClr val="accent4"/>
              </a:buClr>
              <a:buSzPts val="800"/>
              <a:buNone/>
              <a:defRPr>
                <a:solidFill>
                  <a:schemeClr val="accent4"/>
                </a:solidFill>
              </a:defRPr>
            </a:lvl4pPr>
            <a:lvl5pPr lvl="4" rtl="0">
              <a:spcBef>
                <a:spcPts val="400"/>
              </a:spcBef>
              <a:spcAft>
                <a:spcPts val="0"/>
              </a:spcAft>
              <a:buClr>
                <a:schemeClr val="accent4"/>
              </a:buClr>
              <a:buSzPts val="600"/>
              <a:buNone/>
              <a:defRPr>
                <a:solidFill>
                  <a:schemeClr val="accent4"/>
                </a:solidFill>
              </a:defRPr>
            </a:lvl5pPr>
            <a:lvl6pPr lvl="5" rtl="0">
              <a:spcBef>
                <a:spcPts val="400"/>
              </a:spcBef>
              <a:spcAft>
                <a:spcPts val="0"/>
              </a:spcAft>
              <a:buClr>
                <a:schemeClr val="accent4"/>
              </a:buClr>
              <a:buSzPts val="1400"/>
              <a:buNone/>
              <a:defRPr>
                <a:solidFill>
                  <a:schemeClr val="accent4"/>
                </a:solidFill>
              </a:defRPr>
            </a:lvl6pPr>
            <a:lvl7pPr lvl="6" rtl="0">
              <a:spcBef>
                <a:spcPts val="400"/>
              </a:spcBef>
              <a:spcAft>
                <a:spcPts val="0"/>
              </a:spcAft>
              <a:buClr>
                <a:schemeClr val="accent4"/>
              </a:buClr>
              <a:buSzPts val="1400"/>
              <a:buNone/>
              <a:defRPr>
                <a:solidFill>
                  <a:schemeClr val="accent4"/>
                </a:solidFill>
              </a:defRPr>
            </a:lvl7pPr>
            <a:lvl8pPr lvl="7" rtl="0">
              <a:spcBef>
                <a:spcPts val="400"/>
              </a:spcBef>
              <a:spcAft>
                <a:spcPts val="0"/>
              </a:spcAft>
              <a:buClr>
                <a:schemeClr val="accent4"/>
              </a:buClr>
              <a:buSzPts val="1400"/>
              <a:buNone/>
              <a:defRPr>
                <a:solidFill>
                  <a:schemeClr val="accent4"/>
                </a:solidFill>
              </a:defRPr>
            </a:lvl8pPr>
            <a:lvl9pPr lvl="8" rtl="0">
              <a:spcBef>
                <a:spcPts val="400"/>
              </a:spcBef>
              <a:spcAft>
                <a:spcPts val="0"/>
              </a:spcAft>
              <a:buClr>
                <a:schemeClr val="accent4"/>
              </a:buClr>
              <a:buSzPts val="1400"/>
              <a:buNone/>
              <a:defRPr>
                <a:solidFill>
                  <a:schemeClr val="accent4"/>
                </a:solidFil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Template">
  <p:cSld name="Approach">
    <p:spTree>
      <p:nvGrpSpPr>
        <p:cNvPr id="26" name="Shape 26"/>
        <p:cNvGrpSpPr/>
        <p:nvPr/>
      </p:nvGrpSpPr>
      <p:grpSpPr>
        <a:xfrm>
          <a:off x="0" y="0"/>
          <a:ext cx="0" cy="0"/>
          <a:chOff x="0" y="0"/>
          <a:chExt cx="0" cy="0"/>
        </a:xfrm>
      </p:grpSpPr>
      <p:sp>
        <p:nvSpPr>
          <p:cNvPr id="27" name="Google Shape;27;p4"/>
          <p:cNvSpPr txBox="1"/>
          <p:nvPr>
            <p:ph type="ctrTitle"/>
          </p:nvPr>
        </p:nvSpPr>
        <p:spPr>
          <a:xfrm>
            <a:off x="1200150" y="1103700"/>
            <a:ext cx="5649300" cy="757200"/>
          </a:xfrm>
          <a:prstGeom prst="rect">
            <a:avLst/>
          </a:prstGeom>
          <a:noFill/>
          <a:ln>
            <a:noFill/>
          </a:ln>
        </p:spPr>
        <p:txBody>
          <a:bodyPr anchorCtr="0" anchor="t" bIns="0" lIns="0" spcFirstLastPara="1" rIns="0" wrap="square" tIns="0">
            <a:normAutofit/>
          </a:bodyPr>
          <a:lstStyle>
            <a:lvl1pPr lvl="0" rtl="0" algn="l">
              <a:lnSpc>
                <a:spcPct val="90000"/>
              </a:lnSpc>
              <a:spcBef>
                <a:spcPts val="0"/>
              </a:spcBef>
              <a:spcAft>
                <a:spcPts val="0"/>
              </a:spcAft>
              <a:buClr>
                <a:schemeClr val="dk1"/>
              </a:buClr>
              <a:buSzPts val="2400"/>
              <a:buNone/>
              <a:defRPr sz="2400"/>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400"/>
                                  </p:stCondLst>
                                  <p:childTnLst>
                                    <p:set>
                                      <p:cBhvr>
                                        <p:cTn dur="1" fill="hold">
                                          <p:stCondLst>
                                            <p:cond delay="0"/>
                                          </p:stCondLst>
                                        </p:cTn>
                                        <p:tgtEl>
                                          <p:spTgt spid="27"/>
                                        </p:tgtEl>
                                        <p:attrNameLst>
                                          <p:attrName>style.visibility</p:attrName>
                                        </p:attrNameLst>
                                      </p:cBhvr>
                                      <p:to>
                                        <p:strVal val="visible"/>
                                      </p:to>
                                    </p:set>
                                    <p:animEffect filter="fade" transition="in">
                                      <p:cBhvr>
                                        <p:cTn dur="750"/>
                                        <p:tgtEl>
                                          <p:spTgt spid="2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Title Slide">
  <p:cSld name="10_Title Slide">
    <p:spTree>
      <p:nvGrpSpPr>
        <p:cNvPr id="28" name="Shape 28"/>
        <p:cNvGrpSpPr/>
        <p:nvPr/>
      </p:nvGrpSpPr>
      <p:grpSpPr>
        <a:xfrm>
          <a:off x="0" y="0"/>
          <a:ext cx="0" cy="0"/>
          <a:chOff x="0" y="0"/>
          <a:chExt cx="0" cy="0"/>
        </a:xfrm>
      </p:grpSpPr>
      <p:sp>
        <p:nvSpPr>
          <p:cNvPr id="29" name="Google Shape;29;p5"/>
          <p:cNvSpPr/>
          <p:nvPr>
            <p:ph idx="2" type="pic"/>
          </p:nvPr>
        </p:nvSpPr>
        <p:spPr>
          <a:xfrm>
            <a:off x="284356" y="0"/>
            <a:ext cx="8859600" cy="5143500"/>
          </a:xfrm>
          <a:prstGeom prst="rect">
            <a:avLst/>
          </a:prstGeom>
          <a:solidFill>
            <a:srgbClr val="CFD9F7"/>
          </a:solidFill>
          <a:ln>
            <a:noFill/>
          </a:ln>
        </p:spPr>
      </p:sp>
      <p:sp>
        <p:nvSpPr>
          <p:cNvPr id="30" name="Google Shape;30;p5"/>
          <p:cNvSpPr txBox="1"/>
          <p:nvPr>
            <p:ph type="ctrTitle"/>
          </p:nvPr>
        </p:nvSpPr>
        <p:spPr>
          <a:xfrm>
            <a:off x="1200150" y="2023849"/>
            <a:ext cx="4681800" cy="1095900"/>
          </a:xfrm>
          <a:prstGeom prst="rect">
            <a:avLst/>
          </a:prstGeom>
          <a:noFill/>
          <a:ln>
            <a:noFill/>
          </a:ln>
        </p:spPr>
        <p:txBody>
          <a:bodyPr anchorCtr="0" anchor="t" bIns="0" lIns="0" spcFirstLastPara="1" rIns="0" wrap="square" tIns="0">
            <a:normAutofit/>
          </a:bodyPr>
          <a:lstStyle>
            <a:lvl1pPr lvl="0" rtl="0" algn="l">
              <a:lnSpc>
                <a:spcPct val="90000"/>
              </a:lnSpc>
              <a:spcBef>
                <a:spcPts val="0"/>
              </a:spcBef>
              <a:spcAft>
                <a:spcPts val="0"/>
              </a:spcAft>
              <a:buClr>
                <a:srgbClr val="FFFFFF"/>
              </a:buClr>
              <a:buSzPts val="3300"/>
              <a:buFont typeface="Montserrat"/>
              <a:buNone/>
              <a:defRPr b="1" sz="3300">
                <a:solidFill>
                  <a:srgbClr val="FFFFFF"/>
                </a:solidFill>
                <a:latin typeface="Montserrat"/>
                <a:ea typeface="Montserrat"/>
                <a:cs typeface="Montserrat"/>
                <a:sym typeface="Montserrat"/>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9"/>
                                        </p:tgtEl>
                                        <p:attrNameLst>
                                          <p:attrName>style.visibility</p:attrName>
                                        </p:attrNameLst>
                                      </p:cBhvr>
                                      <p:to>
                                        <p:strVal val="visible"/>
                                      </p:to>
                                    </p:set>
                                    <p:animEffect filter="fade" transition="in">
                                      <p:cBhvr>
                                        <p:cTn dur="500"/>
                                        <p:tgtEl>
                                          <p:spTgt spid="2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1_Title Slide">
  <p:cSld name="111_Title Slide">
    <p:spTree>
      <p:nvGrpSpPr>
        <p:cNvPr id="31" name="Shape 31"/>
        <p:cNvGrpSpPr/>
        <p:nvPr/>
      </p:nvGrpSpPr>
      <p:grpSpPr>
        <a:xfrm>
          <a:off x="0" y="0"/>
          <a:ext cx="0" cy="0"/>
          <a:chOff x="0" y="0"/>
          <a:chExt cx="0" cy="0"/>
        </a:xfrm>
      </p:grpSpPr>
      <p:grpSp>
        <p:nvGrpSpPr>
          <p:cNvPr id="32" name="Google Shape;32;p6"/>
          <p:cNvGrpSpPr/>
          <p:nvPr/>
        </p:nvGrpSpPr>
        <p:grpSpPr>
          <a:xfrm>
            <a:off x="3190559" y="0"/>
            <a:ext cx="5953432" cy="5143500"/>
            <a:chOff x="4254079" y="0"/>
            <a:chExt cx="7937909" cy="6858000"/>
          </a:xfrm>
        </p:grpSpPr>
        <p:sp>
          <p:nvSpPr>
            <p:cNvPr id="33" name="Google Shape;33;p6"/>
            <p:cNvSpPr/>
            <p:nvPr/>
          </p:nvSpPr>
          <p:spPr>
            <a:xfrm>
              <a:off x="4590288" y="0"/>
              <a:ext cx="7601700" cy="68580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1" sz="4800">
                <a:solidFill>
                  <a:srgbClr val="FFFFFF"/>
                </a:solidFill>
                <a:latin typeface="Montserrat"/>
                <a:ea typeface="Montserrat"/>
                <a:cs typeface="Montserrat"/>
                <a:sym typeface="Montserrat"/>
              </a:endParaRPr>
            </a:p>
          </p:txBody>
        </p:sp>
        <p:sp>
          <p:nvSpPr>
            <p:cNvPr id="34" name="Google Shape;34;p6"/>
            <p:cNvSpPr/>
            <p:nvPr/>
          </p:nvSpPr>
          <p:spPr>
            <a:xfrm>
              <a:off x="4254079" y="2574262"/>
              <a:ext cx="672300" cy="672300"/>
            </a:xfrm>
            <a:prstGeom prst="diamond">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2">
                                  <p:stCondLst>
                                    <p:cond delay="0"/>
                                  </p:stCondLst>
                                  <p:childTnLst>
                                    <p:set>
                                      <p:cBhvr>
                                        <p:cTn dur="1" fill="hold">
                                          <p:stCondLst>
                                            <p:cond delay="0"/>
                                          </p:stCondLst>
                                        </p:cTn>
                                        <p:tgtEl>
                                          <p:spTgt spid="32"/>
                                        </p:tgtEl>
                                        <p:attrNameLst>
                                          <p:attrName>style.visibility</p:attrName>
                                        </p:attrNameLst>
                                      </p:cBhvr>
                                      <p:to>
                                        <p:strVal val="visible"/>
                                      </p:to>
                                    </p:set>
                                    <p:anim calcmode="lin" valueType="num">
                                      <p:cBhvr additive="base">
                                        <p:cTn dur="750"/>
                                        <p:tgtEl>
                                          <p:spTgt spid="32"/>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0_Title Slide 1">
  <p:cSld name="111_Title Slide_1">
    <p:spTree>
      <p:nvGrpSpPr>
        <p:cNvPr id="35" name="Shape 35"/>
        <p:cNvGrpSpPr/>
        <p:nvPr/>
      </p:nvGrpSpPr>
      <p:grpSpPr>
        <a:xfrm>
          <a:off x="0" y="0"/>
          <a:ext cx="0" cy="0"/>
          <a:chOff x="0" y="0"/>
          <a:chExt cx="0" cy="0"/>
        </a:xfrm>
      </p:grpSpPr>
      <p:grpSp>
        <p:nvGrpSpPr>
          <p:cNvPr id="36" name="Google Shape;36;p7"/>
          <p:cNvGrpSpPr/>
          <p:nvPr/>
        </p:nvGrpSpPr>
        <p:grpSpPr>
          <a:xfrm>
            <a:off x="4977122" y="0"/>
            <a:ext cx="4166950" cy="5143500"/>
            <a:chOff x="6636162" y="0"/>
            <a:chExt cx="5555934" cy="6858000"/>
          </a:xfrm>
        </p:grpSpPr>
        <p:sp>
          <p:nvSpPr>
            <p:cNvPr id="37" name="Google Shape;37;p7"/>
            <p:cNvSpPr/>
            <p:nvPr/>
          </p:nvSpPr>
          <p:spPr>
            <a:xfrm>
              <a:off x="6972396" y="0"/>
              <a:ext cx="5219700" cy="68580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1" sz="4800">
                <a:solidFill>
                  <a:srgbClr val="FFFFFF"/>
                </a:solidFill>
                <a:latin typeface="Montserrat"/>
                <a:ea typeface="Montserrat"/>
                <a:cs typeface="Montserrat"/>
                <a:sym typeface="Montserrat"/>
              </a:endParaRPr>
            </a:p>
          </p:txBody>
        </p:sp>
        <p:sp>
          <p:nvSpPr>
            <p:cNvPr id="38" name="Google Shape;38;p7"/>
            <p:cNvSpPr/>
            <p:nvPr/>
          </p:nvSpPr>
          <p:spPr>
            <a:xfrm>
              <a:off x="6636162" y="2574262"/>
              <a:ext cx="672300" cy="672300"/>
            </a:xfrm>
            <a:prstGeom prst="diamond">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2">
                                  <p:stCondLst>
                                    <p:cond delay="0"/>
                                  </p:stCondLst>
                                  <p:childTnLst>
                                    <p:set>
                                      <p:cBhvr>
                                        <p:cTn dur="1" fill="hold">
                                          <p:stCondLst>
                                            <p:cond delay="0"/>
                                          </p:stCondLst>
                                        </p:cTn>
                                        <p:tgtEl>
                                          <p:spTgt spid="36"/>
                                        </p:tgtEl>
                                        <p:attrNameLst>
                                          <p:attrName>style.visibility</p:attrName>
                                        </p:attrNameLst>
                                      </p:cBhvr>
                                      <p:to>
                                        <p:strVal val="visible"/>
                                      </p:to>
                                    </p:set>
                                    <p:anim calcmode="lin" valueType="num">
                                      <p:cBhvr additive="base">
                                        <p:cTn dur="750"/>
                                        <p:tgtEl>
                                          <p:spTgt spid="36"/>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3_Title Slide">
  <p:cSld name="133_Title Slide">
    <p:spTree>
      <p:nvGrpSpPr>
        <p:cNvPr id="39" name="Shape 39"/>
        <p:cNvGrpSpPr/>
        <p:nvPr/>
      </p:nvGrpSpPr>
      <p:grpSpPr>
        <a:xfrm>
          <a:off x="0" y="0"/>
          <a:ext cx="0" cy="0"/>
          <a:chOff x="0" y="0"/>
          <a:chExt cx="0" cy="0"/>
        </a:xfrm>
      </p:grpSpPr>
      <p:sp>
        <p:nvSpPr>
          <p:cNvPr id="40" name="Google Shape;40;p8"/>
          <p:cNvSpPr/>
          <p:nvPr/>
        </p:nvSpPr>
        <p:spPr>
          <a:xfrm>
            <a:off x="3442716" y="0"/>
            <a:ext cx="5701200" cy="51435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1" sz="4800">
              <a:solidFill>
                <a:srgbClr val="FFFFFF"/>
              </a:solidFill>
              <a:latin typeface="Montserrat"/>
              <a:ea typeface="Montserrat"/>
              <a:cs typeface="Montserrat"/>
              <a:sym typeface="Montserra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Team-2">
  <p:cSld name="29_Title Slide_1_3_1_1">
    <p:spTree>
      <p:nvGrpSpPr>
        <p:cNvPr id="41" name="Shape 41"/>
        <p:cNvGrpSpPr/>
        <p:nvPr/>
      </p:nvGrpSpPr>
      <p:grpSpPr>
        <a:xfrm>
          <a:off x="0" y="0"/>
          <a:ext cx="0" cy="0"/>
          <a:chOff x="0" y="0"/>
          <a:chExt cx="0" cy="0"/>
        </a:xfrm>
      </p:grpSpPr>
      <p:sp>
        <p:nvSpPr>
          <p:cNvPr id="42" name="Google Shape;42;p9"/>
          <p:cNvSpPr txBox="1"/>
          <p:nvPr>
            <p:ph type="ctrTitle"/>
          </p:nvPr>
        </p:nvSpPr>
        <p:spPr>
          <a:xfrm>
            <a:off x="1200150" y="1200149"/>
            <a:ext cx="2424900" cy="757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400"/>
              <a:buFont typeface="Montserrat"/>
              <a:buNone/>
              <a:defRPr b="1" sz="2400">
                <a:latin typeface="Montserrat"/>
                <a:ea typeface="Montserrat"/>
                <a:cs typeface="Montserrat"/>
                <a:sym typeface="Montserrat"/>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3" name="Google Shape;43;p9"/>
          <p:cNvSpPr/>
          <p:nvPr>
            <p:ph idx="2" type="pic"/>
          </p:nvPr>
        </p:nvSpPr>
        <p:spPr>
          <a:xfrm>
            <a:off x="4461374" y="1200150"/>
            <a:ext cx="1816500" cy="1816500"/>
          </a:xfrm>
          <a:prstGeom prst="rect">
            <a:avLst/>
          </a:prstGeom>
          <a:noFill/>
          <a:ln>
            <a:noFill/>
          </a:ln>
        </p:spPr>
      </p:sp>
      <p:sp>
        <p:nvSpPr>
          <p:cNvPr id="44" name="Google Shape;44;p9"/>
          <p:cNvSpPr/>
          <p:nvPr>
            <p:ph idx="3" type="pic"/>
          </p:nvPr>
        </p:nvSpPr>
        <p:spPr>
          <a:xfrm>
            <a:off x="6503606" y="1200150"/>
            <a:ext cx="1816500" cy="1816500"/>
          </a:xfrm>
          <a:prstGeom prst="rect">
            <a:avLst/>
          </a:prstGeom>
          <a:noFill/>
          <a:ln>
            <a:noFill/>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300"/>
                                  </p:stCondLst>
                                  <p:childTnLst>
                                    <p:set>
                                      <p:cBhvr>
                                        <p:cTn dur="1" fill="hold">
                                          <p:stCondLst>
                                            <p:cond delay="0"/>
                                          </p:stCondLst>
                                        </p:cTn>
                                        <p:tgtEl>
                                          <p:spTgt spid="42"/>
                                        </p:tgtEl>
                                        <p:attrNameLst>
                                          <p:attrName>style.visibility</p:attrName>
                                        </p:attrNameLst>
                                      </p:cBhvr>
                                      <p:to>
                                        <p:strVal val="visible"/>
                                      </p:to>
                                    </p:set>
                                    <p:animEffect filter="fade" transition="in">
                                      <p:cBhvr>
                                        <p:cTn dur="500"/>
                                        <p:tgtEl>
                                          <p:spTgt spid="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Team-3">
  <p:cSld name="29_Title Slide_1_3_1_2">
    <p:spTree>
      <p:nvGrpSpPr>
        <p:cNvPr id="45" name="Shape 45"/>
        <p:cNvGrpSpPr/>
        <p:nvPr/>
      </p:nvGrpSpPr>
      <p:grpSpPr>
        <a:xfrm>
          <a:off x="0" y="0"/>
          <a:ext cx="0" cy="0"/>
          <a:chOff x="0" y="0"/>
          <a:chExt cx="0" cy="0"/>
        </a:xfrm>
      </p:grpSpPr>
      <p:sp>
        <p:nvSpPr>
          <p:cNvPr id="46" name="Google Shape;46;p10"/>
          <p:cNvSpPr txBox="1"/>
          <p:nvPr>
            <p:ph type="ctrTitle"/>
          </p:nvPr>
        </p:nvSpPr>
        <p:spPr>
          <a:xfrm>
            <a:off x="1200150" y="1200149"/>
            <a:ext cx="2424900" cy="757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400"/>
              <a:buFont typeface="Montserrat"/>
              <a:buNone/>
              <a:defRPr b="1" sz="2400">
                <a:latin typeface="Montserrat"/>
                <a:ea typeface="Montserrat"/>
                <a:cs typeface="Montserrat"/>
                <a:sym typeface="Montserrat"/>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Google Shape;47;p10"/>
          <p:cNvSpPr/>
          <p:nvPr>
            <p:ph idx="2" type="pic"/>
          </p:nvPr>
        </p:nvSpPr>
        <p:spPr>
          <a:xfrm>
            <a:off x="4009850" y="1200150"/>
            <a:ext cx="1418100" cy="1418100"/>
          </a:xfrm>
          <a:prstGeom prst="rect">
            <a:avLst/>
          </a:prstGeom>
          <a:noFill/>
          <a:ln>
            <a:noFill/>
          </a:ln>
        </p:spPr>
      </p:sp>
      <p:sp>
        <p:nvSpPr>
          <p:cNvPr id="48" name="Google Shape;48;p10"/>
          <p:cNvSpPr/>
          <p:nvPr>
            <p:ph idx="3" type="pic"/>
          </p:nvPr>
        </p:nvSpPr>
        <p:spPr>
          <a:xfrm>
            <a:off x="5604202" y="1200150"/>
            <a:ext cx="1418100" cy="1418100"/>
          </a:xfrm>
          <a:prstGeom prst="rect">
            <a:avLst/>
          </a:prstGeom>
          <a:noFill/>
          <a:ln>
            <a:noFill/>
          </a:ln>
        </p:spPr>
      </p:sp>
      <p:sp>
        <p:nvSpPr>
          <p:cNvPr id="49" name="Google Shape;49;p10"/>
          <p:cNvSpPr/>
          <p:nvPr>
            <p:ph idx="4" type="pic"/>
          </p:nvPr>
        </p:nvSpPr>
        <p:spPr>
          <a:xfrm>
            <a:off x="7198553" y="1200150"/>
            <a:ext cx="1418100" cy="1418100"/>
          </a:xfrm>
          <a:prstGeom prst="rect">
            <a:avLst/>
          </a:prstGeom>
          <a:noFill/>
          <a:ln>
            <a:noFill/>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300"/>
                                  </p:stCondLst>
                                  <p:childTnLst>
                                    <p:set>
                                      <p:cBhvr>
                                        <p:cTn dur="1" fill="hold">
                                          <p:stCondLst>
                                            <p:cond delay="0"/>
                                          </p:stCondLst>
                                        </p:cTn>
                                        <p:tgtEl>
                                          <p:spTgt spid="46"/>
                                        </p:tgtEl>
                                        <p:attrNameLst>
                                          <p:attrName>style.visibility</p:attrName>
                                        </p:attrNameLst>
                                      </p:cBhvr>
                                      <p:to>
                                        <p:strVal val="visible"/>
                                      </p:to>
                                    </p:set>
                                    <p:animEffect filter="fade" transition="in">
                                      <p:cBhvr>
                                        <p:cTn dur="500"/>
                                        <p:tgtEl>
                                          <p:spTgt spid="4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Team-4">
  <p:cSld name="29_Title Slide_1_4">
    <p:spTree>
      <p:nvGrpSpPr>
        <p:cNvPr id="50" name="Shape 50"/>
        <p:cNvGrpSpPr/>
        <p:nvPr/>
      </p:nvGrpSpPr>
      <p:grpSpPr>
        <a:xfrm>
          <a:off x="0" y="0"/>
          <a:ext cx="0" cy="0"/>
          <a:chOff x="0" y="0"/>
          <a:chExt cx="0" cy="0"/>
        </a:xfrm>
      </p:grpSpPr>
      <p:sp>
        <p:nvSpPr>
          <p:cNvPr id="51" name="Google Shape;51;p11"/>
          <p:cNvSpPr txBox="1"/>
          <p:nvPr>
            <p:ph type="ctrTitle"/>
          </p:nvPr>
        </p:nvSpPr>
        <p:spPr>
          <a:xfrm>
            <a:off x="1200150" y="1200149"/>
            <a:ext cx="2424900" cy="757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400"/>
              <a:buFont typeface="Montserrat"/>
              <a:buNone/>
              <a:defRPr b="1" sz="2400">
                <a:latin typeface="Montserrat"/>
                <a:ea typeface="Montserrat"/>
                <a:cs typeface="Montserrat"/>
                <a:sym typeface="Montserrat"/>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2" name="Google Shape;52;p11"/>
          <p:cNvSpPr/>
          <p:nvPr>
            <p:ph idx="2" type="pic"/>
          </p:nvPr>
        </p:nvSpPr>
        <p:spPr>
          <a:xfrm>
            <a:off x="4857225" y="698300"/>
            <a:ext cx="1377000" cy="1377000"/>
          </a:xfrm>
          <a:prstGeom prst="rect">
            <a:avLst/>
          </a:prstGeom>
          <a:noFill/>
          <a:ln>
            <a:noFill/>
          </a:ln>
        </p:spPr>
      </p:sp>
      <p:sp>
        <p:nvSpPr>
          <p:cNvPr id="53" name="Google Shape;53;p11"/>
          <p:cNvSpPr/>
          <p:nvPr>
            <p:ph idx="3" type="pic"/>
          </p:nvPr>
        </p:nvSpPr>
        <p:spPr>
          <a:xfrm>
            <a:off x="6571189" y="698300"/>
            <a:ext cx="1377000" cy="1377000"/>
          </a:xfrm>
          <a:prstGeom prst="rect">
            <a:avLst/>
          </a:prstGeom>
          <a:noFill/>
          <a:ln>
            <a:noFill/>
          </a:ln>
        </p:spPr>
      </p:sp>
      <p:sp>
        <p:nvSpPr>
          <p:cNvPr id="54" name="Google Shape;54;p11"/>
          <p:cNvSpPr/>
          <p:nvPr>
            <p:ph idx="4" type="pic"/>
          </p:nvPr>
        </p:nvSpPr>
        <p:spPr>
          <a:xfrm>
            <a:off x="4857225" y="2819943"/>
            <a:ext cx="1377000" cy="1377000"/>
          </a:xfrm>
          <a:prstGeom prst="rect">
            <a:avLst/>
          </a:prstGeom>
          <a:noFill/>
          <a:ln>
            <a:noFill/>
          </a:ln>
        </p:spPr>
      </p:sp>
      <p:sp>
        <p:nvSpPr>
          <p:cNvPr id="55" name="Google Shape;55;p11"/>
          <p:cNvSpPr/>
          <p:nvPr>
            <p:ph idx="5" type="pic"/>
          </p:nvPr>
        </p:nvSpPr>
        <p:spPr>
          <a:xfrm>
            <a:off x="6571189" y="2819943"/>
            <a:ext cx="1377000" cy="1377000"/>
          </a:xfrm>
          <a:prstGeom prst="rect">
            <a:avLst/>
          </a:prstGeom>
          <a:noFill/>
          <a:ln>
            <a:noFill/>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300"/>
                                  </p:stCondLst>
                                  <p:childTnLst>
                                    <p:set>
                                      <p:cBhvr>
                                        <p:cTn dur="1" fill="hold">
                                          <p:stCondLst>
                                            <p:cond delay="0"/>
                                          </p:stCondLst>
                                        </p:cTn>
                                        <p:tgtEl>
                                          <p:spTgt spid="51"/>
                                        </p:tgtEl>
                                        <p:attrNameLst>
                                          <p:attrName>style.visibility</p:attrName>
                                        </p:attrNameLst>
                                      </p:cBhvr>
                                      <p:to>
                                        <p:strVal val="visible"/>
                                      </p:to>
                                    </p:set>
                                    <p:animEffect filter="fade" transition="in">
                                      <p:cBhvr>
                                        <p:cTn dur="500"/>
                                        <p:tgtEl>
                                          <p:spTgt spid="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Team-5">
  <p:cSld name="29_Title Slide_1_3">
    <p:spTree>
      <p:nvGrpSpPr>
        <p:cNvPr id="56" name="Shape 56"/>
        <p:cNvGrpSpPr/>
        <p:nvPr/>
      </p:nvGrpSpPr>
      <p:grpSpPr>
        <a:xfrm>
          <a:off x="0" y="0"/>
          <a:ext cx="0" cy="0"/>
          <a:chOff x="0" y="0"/>
          <a:chExt cx="0" cy="0"/>
        </a:xfrm>
      </p:grpSpPr>
      <p:sp>
        <p:nvSpPr>
          <p:cNvPr id="57" name="Google Shape;57;p12"/>
          <p:cNvSpPr txBox="1"/>
          <p:nvPr>
            <p:ph type="ctrTitle"/>
          </p:nvPr>
        </p:nvSpPr>
        <p:spPr>
          <a:xfrm>
            <a:off x="1200150" y="1200149"/>
            <a:ext cx="2424900" cy="757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400"/>
              <a:buFont typeface="Montserrat"/>
              <a:buNone/>
              <a:defRPr b="1" sz="2400">
                <a:latin typeface="Montserrat"/>
                <a:ea typeface="Montserrat"/>
                <a:cs typeface="Montserrat"/>
                <a:sym typeface="Montserrat"/>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8" name="Google Shape;58;p12"/>
          <p:cNvSpPr/>
          <p:nvPr>
            <p:ph idx="2" type="pic"/>
          </p:nvPr>
        </p:nvSpPr>
        <p:spPr>
          <a:xfrm>
            <a:off x="4213225" y="698300"/>
            <a:ext cx="1266600" cy="1266600"/>
          </a:xfrm>
          <a:prstGeom prst="rect">
            <a:avLst/>
          </a:prstGeom>
          <a:noFill/>
          <a:ln>
            <a:noFill/>
          </a:ln>
        </p:spPr>
      </p:sp>
      <p:sp>
        <p:nvSpPr>
          <p:cNvPr id="59" name="Google Shape;59;p12"/>
          <p:cNvSpPr/>
          <p:nvPr>
            <p:ph idx="3" type="pic"/>
          </p:nvPr>
        </p:nvSpPr>
        <p:spPr>
          <a:xfrm>
            <a:off x="5637150" y="698300"/>
            <a:ext cx="1266600" cy="1266600"/>
          </a:xfrm>
          <a:prstGeom prst="rect">
            <a:avLst/>
          </a:prstGeom>
          <a:noFill/>
          <a:ln>
            <a:noFill/>
          </a:ln>
        </p:spPr>
      </p:sp>
      <p:sp>
        <p:nvSpPr>
          <p:cNvPr id="60" name="Google Shape;60;p12"/>
          <p:cNvSpPr/>
          <p:nvPr>
            <p:ph idx="4" type="pic"/>
          </p:nvPr>
        </p:nvSpPr>
        <p:spPr>
          <a:xfrm>
            <a:off x="7061075" y="698300"/>
            <a:ext cx="1266600" cy="1266600"/>
          </a:xfrm>
          <a:prstGeom prst="rect">
            <a:avLst/>
          </a:prstGeom>
          <a:noFill/>
          <a:ln>
            <a:noFill/>
          </a:ln>
        </p:spPr>
      </p:sp>
      <p:sp>
        <p:nvSpPr>
          <p:cNvPr id="61" name="Google Shape;61;p12"/>
          <p:cNvSpPr/>
          <p:nvPr>
            <p:ph idx="5" type="pic"/>
          </p:nvPr>
        </p:nvSpPr>
        <p:spPr>
          <a:xfrm>
            <a:off x="4925188" y="2649725"/>
            <a:ext cx="1266600" cy="1266600"/>
          </a:xfrm>
          <a:prstGeom prst="rect">
            <a:avLst/>
          </a:prstGeom>
          <a:noFill/>
          <a:ln>
            <a:noFill/>
          </a:ln>
        </p:spPr>
      </p:sp>
      <p:sp>
        <p:nvSpPr>
          <p:cNvPr id="62" name="Google Shape;62;p12"/>
          <p:cNvSpPr/>
          <p:nvPr>
            <p:ph idx="6" type="pic"/>
          </p:nvPr>
        </p:nvSpPr>
        <p:spPr>
          <a:xfrm>
            <a:off x="6349113" y="2649725"/>
            <a:ext cx="1266600" cy="1266600"/>
          </a:xfrm>
          <a:prstGeom prst="rect">
            <a:avLst/>
          </a:prstGeom>
          <a:noFill/>
          <a:ln>
            <a:noFill/>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300"/>
                                  </p:stCondLst>
                                  <p:childTnLst>
                                    <p:set>
                                      <p:cBhvr>
                                        <p:cTn dur="1" fill="hold">
                                          <p:stCondLst>
                                            <p:cond delay="0"/>
                                          </p:stCondLst>
                                        </p:cTn>
                                        <p:tgtEl>
                                          <p:spTgt spid="57"/>
                                        </p:tgtEl>
                                        <p:attrNameLst>
                                          <p:attrName>style.visibility</p:attrName>
                                        </p:attrNameLst>
                                      </p:cBhvr>
                                      <p:to>
                                        <p:strVal val="visible"/>
                                      </p:to>
                                    </p:set>
                                    <p:animEffect filter="fade" transition="in">
                                      <p:cBhvr>
                                        <p:cTn dur="500"/>
                                        <p:tgtEl>
                                          <p:spTgt spid="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Team-6 ">
  <p:cSld name="29_Title Slide_1_5">
    <p:spTree>
      <p:nvGrpSpPr>
        <p:cNvPr id="63" name="Shape 63"/>
        <p:cNvGrpSpPr/>
        <p:nvPr/>
      </p:nvGrpSpPr>
      <p:grpSpPr>
        <a:xfrm>
          <a:off x="0" y="0"/>
          <a:ext cx="0" cy="0"/>
          <a:chOff x="0" y="0"/>
          <a:chExt cx="0" cy="0"/>
        </a:xfrm>
      </p:grpSpPr>
      <p:sp>
        <p:nvSpPr>
          <p:cNvPr id="64" name="Google Shape;64;p13"/>
          <p:cNvSpPr txBox="1"/>
          <p:nvPr>
            <p:ph type="ctrTitle"/>
          </p:nvPr>
        </p:nvSpPr>
        <p:spPr>
          <a:xfrm>
            <a:off x="1200150" y="1200149"/>
            <a:ext cx="2424900" cy="757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400"/>
              <a:buFont typeface="Montserrat"/>
              <a:buNone/>
              <a:defRPr b="1" sz="2400">
                <a:latin typeface="Montserrat"/>
                <a:ea typeface="Montserrat"/>
                <a:cs typeface="Montserrat"/>
                <a:sym typeface="Montserrat"/>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5" name="Google Shape;65;p13"/>
          <p:cNvSpPr/>
          <p:nvPr>
            <p:ph idx="2" type="pic"/>
          </p:nvPr>
        </p:nvSpPr>
        <p:spPr>
          <a:xfrm>
            <a:off x="4213225" y="698300"/>
            <a:ext cx="1266600" cy="1266600"/>
          </a:xfrm>
          <a:prstGeom prst="rect">
            <a:avLst/>
          </a:prstGeom>
          <a:noFill/>
          <a:ln>
            <a:noFill/>
          </a:ln>
        </p:spPr>
      </p:sp>
      <p:sp>
        <p:nvSpPr>
          <p:cNvPr id="66" name="Google Shape;66;p13"/>
          <p:cNvSpPr/>
          <p:nvPr>
            <p:ph idx="3" type="pic"/>
          </p:nvPr>
        </p:nvSpPr>
        <p:spPr>
          <a:xfrm>
            <a:off x="5637150" y="698300"/>
            <a:ext cx="1266600" cy="1266600"/>
          </a:xfrm>
          <a:prstGeom prst="rect">
            <a:avLst/>
          </a:prstGeom>
          <a:noFill/>
          <a:ln>
            <a:noFill/>
          </a:ln>
        </p:spPr>
      </p:sp>
      <p:sp>
        <p:nvSpPr>
          <p:cNvPr id="67" name="Google Shape;67;p13"/>
          <p:cNvSpPr/>
          <p:nvPr>
            <p:ph idx="4" type="pic"/>
          </p:nvPr>
        </p:nvSpPr>
        <p:spPr>
          <a:xfrm>
            <a:off x="7061075" y="698300"/>
            <a:ext cx="1266600" cy="1266600"/>
          </a:xfrm>
          <a:prstGeom prst="rect">
            <a:avLst/>
          </a:prstGeom>
          <a:noFill/>
          <a:ln>
            <a:noFill/>
          </a:ln>
        </p:spPr>
      </p:sp>
      <p:sp>
        <p:nvSpPr>
          <p:cNvPr id="68" name="Google Shape;68;p13"/>
          <p:cNvSpPr/>
          <p:nvPr>
            <p:ph idx="5" type="pic"/>
          </p:nvPr>
        </p:nvSpPr>
        <p:spPr>
          <a:xfrm>
            <a:off x="4213225" y="2649725"/>
            <a:ext cx="1266600" cy="1266600"/>
          </a:xfrm>
          <a:prstGeom prst="rect">
            <a:avLst/>
          </a:prstGeom>
          <a:noFill/>
          <a:ln>
            <a:noFill/>
          </a:ln>
        </p:spPr>
      </p:sp>
      <p:sp>
        <p:nvSpPr>
          <p:cNvPr id="69" name="Google Shape;69;p13"/>
          <p:cNvSpPr/>
          <p:nvPr>
            <p:ph idx="6" type="pic"/>
          </p:nvPr>
        </p:nvSpPr>
        <p:spPr>
          <a:xfrm>
            <a:off x="5637150" y="2649725"/>
            <a:ext cx="1266600" cy="1266600"/>
          </a:xfrm>
          <a:prstGeom prst="rect">
            <a:avLst/>
          </a:prstGeom>
          <a:noFill/>
          <a:ln>
            <a:noFill/>
          </a:ln>
        </p:spPr>
      </p:sp>
      <p:sp>
        <p:nvSpPr>
          <p:cNvPr id="70" name="Google Shape;70;p13"/>
          <p:cNvSpPr/>
          <p:nvPr>
            <p:ph idx="7" type="pic"/>
          </p:nvPr>
        </p:nvSpPr>
        <p:spPr>
          <a:xfrm>
            <a:off x="7061075" y="2649725"/>
            <a:ext cx="1266600" cy="1266600"/>
          </a:xfrm>
          <a:prstGeom prst="rect">
            <a:avLst/>
          </a:prstGeom>
          <a:noFill/>
          <a:ln>
            <a:noFill/>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300"/>
                                  </p:stCondLst>
                                  <p:childTnLst>
                                    <p:set>
                                      <p:cBhvr>
                                        <p:cTn dur="1" fill="hold">
                                          <p:stCondLst>
                                            <p:cond delay="0"/>
                                          </p:stCondLst>
                                        </p:cTn>
                                        <p:tgtEl>
                                          <p:spTgt spid="64"/>
                                        </p:tgtEl>
                                        <p:attrNameLst>
                                          <p:attrName>style.visibility</p:attrName>
                                        </p:attrNameLst>
                                      </p:cBhvr>
                                      <p:to>
                                        <p:strVal val="visible"/>
                                      </p:to>
                                    </p:set>
                                    <p:animEffect filter="fade" transition="in">
                                      <p:cBhvr>
                                        <p:cTn dur="500"/>
                                        <p:tgtEl>
                                          <p:spTgt spid="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Template 1">
  <p:cSld name="148_Title Slide">
    <p:spTree>
      <p:nvGrpSpPr>
        <p:cNvPr id="71" name="Shape 71"/>
        <p:cNvGrpSpPr/>
        <p:nvPr/>
      </p:nvGrpSpPr>
      <p:grpSpPr>
        <a:xfrm>
          <a:off x="0" y="0"/>
          <a:ext cx="0" cy="0"/>
          <a:chOff x="0" y="0"/>
          <a:chExt cx="0" cy="0"/>
        </a:xfrm>
      </p:grpSpPr>
      <p:sp>
        <p:nvSpPr>
          <p:cNvPr id="72" name="Google Shape;72;p14"/>
          <p:cNvSpPr txBox="1"/>
          <p:nvPr>
            <p:ph type="ctrTitle"/>
          </p:nvPr>
        </p:nvSpPr>
        <p:spPr>
          <a:xfrm>
            <a:off x="1200150" y="1116824"/>
            <a:ext cx="7161300" cy="757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400"/>
              <a:buNone/>
              <a:defRPr sz="2400"/>
            </a:lvl1pPr>
            <a:lvl2pPr lvl="1">
              <a:spcBef>
                <a:spcPts val="0"/>
              </a:spcBef>
              <a:spcAft>
                <a:spcPts val="0"/>
              </a:spcAft>
              <a:buSzPts val="1100"/>
              <a:buFont typeface="Proxima Nova"/>
              <a:buNone/>
              <a:defRPr>
                <a:latin typeface="Proxima Nova"/>
                <a:ea typeface="Proxima Nova"/>
                <a:cs typeface="Proxima Nova"/>
                <a:sym typeface="Proxima Nova"/>
              </a:defRPr>
            </a:lvl2pPr>
            <a:lvl3pPr lvl="2">
              <a:spcBef>
                <a:spcPts val="0"/>
              </a:spcBef>
              <a:spcAft>
                <a:spcPts val="0"/>
              </a:spcAft>
              <a:buSzPts val="1100"/>
              <a:buFont typeface="Proxima Nova"/>
              <a:buNone/>
              <a:defRPr>
                <a:latin typeface="Proxima Nova"/>
                <a:ea typeface="Proxima Nova"/>
                <a:cs typeface="Proxima Nova"/>
                <a:sym typeface="Proxima Nova"/>
              </a:defRPr>
            </a:lvl3pPr>
            <a:lvl4pPr lvl="3">
              <a:spcBef>
                <a:spcPts val="0"/>
              </a:spcBef>
              <a:spcAft>
                <a:spcPts val="0"/>
              </a:spcAft>
              <a:buSzPts val="1100"/>
              <a:buFont typeface="Proxima Nova"/>
              <a:buNone/>
              <a:defRPr>
                <a:latin typeface="Proxima Nova"/>
                <a:ea typeface="Proxima Nova"/>
                <a:cs typeface="Proxima Nova"/>
                <a:sym typeface="Proxima Nova"/>
              </a:defRPr>
            </a:lvl4pPr>
            <a:lvl5pPr lvl="4">
              <a:spcBef>
                <a:spcPts val="0"/>
              </a:spcBef>
              <a:spcAft>
                <a:spcPts val="0"/>
              </a:spcAft>
              <a:buSzPts val="1100"/>
              <a:buFont typeface="Proxima Nova"/>
              <a:buNone/>
              <a:defRPr>
                <a:latin typeface="Proxima Nova"/>
                <a:ea typeface="Proxima Nova"/>
                <a:cs typeface="Proxima Nova"/>
                <a:sym typeface="Proxima Nova"/>
              </a:defRPr>
            </a:lvl5pPr>
            <a:lvl6pPr lvl="5">
              <a:spcBef>
                <a:spcPts val="0"/>
              </a:spcBef>
              <a:spcAft>
                <a:spcPts val="0"/>
              </a:spcAft>
              <a:buSzPts val="1100"/>
              <a:buFont typeface="Proxima Nova"/>
              <a:buNone/>
              <a:defRPr>
                <a:latin typeface="Proxima Nova"/>
                <a:ea typeface="Proxima Nova"/>
                <a:cs typeface="Proxima Nova"/>
                <a:sym typeface="Proxima Nova"/>
              </a:defRPr>
            </a:lvl6pPr>
            <a:lvl7pPr lvl="6">
              <a:spcBef>
                <a:spcPts val="0"/>
              </a:spcBef>
              <a:spcAft>
                <a:spcPts val="0"/>
              </a:spcAft>
              <a:buSzPts val="1100"/>
              <a:buFont typeface="Proxima Nova"/>
              <a:buNone/>
              <a:defRPr>
                <a:latin typeface="Proxima Nova"/>
                <a:ea typeface="Proxima Nova"/>
                <a:cs typeface="Proxima Nova"/>
                <a:sym typeface="Proxima Nova"/>
              </a:defRPr>
            </a:lvl7pPr>
            <a:lvl8pPr lvl="7">
              <a:spcBef>
                <a:spcPts val="0"/>
              </a:spcBef>
              <a:spcAft>
                <a:spcPts val="0"/>
              </a:spcAft>
              <a:buSzPts val="1100"/>
              <a:buFont typeface="Proxima Nova"/>
              <a:buNone/>
              <a:defRPr>
                <a:latin typeface="Proxima Nova"/>
                <a:ea typeface="Proxima Nova"/>
                <a:cs typeface="Proxima Nova"/>
                <a:sym typeface="Proxima Nova"/>
              </a:defRPr>
            </a:lvl8pPr>
            <a:lvl9pPr lvl="8">
              <a:spcBef>
                <a:spcPts val="0"/>
              </a:spcBef>
              <a:spcAft>
                <a:spcPts val="0"/>
              </a:spcAft>
              <a:buSzPts val="1100"/>
              <a:buFont typeface="Proxima Nova"/>
              <a:buNone/>
              <a:defRPr>
                <a:latin typeface="Proxima Nova"/>
                <a:ea typeface="Proxima Nova"/>
                <a:cs typeface="Proxima Nova"/>
                <a:sym typeface="Proxima Nova"/>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400"/>
                                  </p:stCondLst>
                                  <p:childTnLst>
                                    <p:set>
                                      <p:cBhvr>
                                        <p:cTn dur="1" fill="hold">
                                          <p:stCondLst>
                                            <p:cond delay="0"/>
                                          </p:stCondLst>
                                        </p:cTn>
                                        <p:tgtEl>
                                          <p:spTgt spid="72"/>
                                        </p:tgtEl>
                                        <p:attrNameLst>
                                          <p:attrName>style.visibility</p:attrName>
                                        </p:attrNameLst>
                                      </p:cBhvr>
                                      <p:to>
                                        <p:strVal val="visible"/>
                                      </p:to>
                                    </p:set>
                                    <p:animEffect filter="fade" transition="in">
                                      <p:cBhvr>
                                        <p:cTn dur="750"/>
                                        <p:tgtEl>
                                          <p:spTgt spid="7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Team-4 1">
  <p:cSld name="29_Title Slide_1_4_1">
    <p:spTree>
      <p:nvGrpSpPr>
        <p:cNvPr id="73" name="Shape 73"/>
        <p:cNvGrpSpPr/>
        <p:nvPr/>
      </p:nvGrpSpPr>
      <p:grpSpPr>
        <a:xfrm>
          <a:off x="0" y="0"/>
          <a:ext cx="0" cy="0"/>
          <a:chOff x="0" y="0"/>
          <a:chExt cx="0" cy="0"/>
        </a:xfrm>
      </p:grpSpPr>
      <p:sp>
        <p:nvSpPr>
          <p:cNvPr id="74" name="Google Shape;74;p15"/>
          <p:cNvSpPr txBox="1"/>
          <p:nvPr>
            <p:ph type="ctrTitle"/>
          </p:nvPr>
        </p:nvSpPr>
        <p:spPr>
          <a:xfrm>
            <a:off x="1200150" y="1200149"/>
            <a:ext cx="2424900" cy="757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400"/>
              <a:buFont typeface="Montserrat"/>
              <a:buNone/>
              <a:defRPr b="1" sz="2400">
                <a:latin typeface="Montserrat"/>
                <a:ea typeface="Montserrat"/>
                <a:cs typeface="Montserrat"/>
                <a:sym typeface="Montserrat"/>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5" name="Google Shape;75;p15"/>
          <p:cNvSpPr/>
          <p:nvPr>
            <p:ph idx="2" type="pic"/>
          </p:nvPr>
        </p:nvSpPr>
        <p:spPr>
          <a:xfrm>
            <a:off x="4857225" y="698300"/>
            <a:ext cx="1377000" cy="1377000"/>
          </a:xfrm>
          <a:prstGeom prst="rect">
            <a:avLst/>
          </a:prstGeom>
          <a:noFill/>
          <a:ln>
            <a:noFill/>
          </a:ln>
        </p:spPr>
      </p:sp>
      <p:sp>
        <p:nvSpPr>
          <p:cNvPr id="76" name="Google Shape;76;p15"/>
          <p:cNvSpPr/>
          <p:nvPr>
            <p:ph idx="3" type="pic"/>
          </p:nvPr>
        </p:nvSpPr>
        <p:spPr>
          <a:xfrm>
            <a:off x="6571189" y="698300"/>
            <a:ext cx="1377000" cy="1377000"/>
          </a:xfrm>
          <a:prstGeom prst="rect">
            <a:avLst/>
          </a:prstGeom>
          <a:noFill/>
          <a:ln>
            <a:noFill/>
          </a:ln>
        </p:spPr>
      </p:sp>
      <p:sp>
        <p:nvSpPr>
          <p:cNvPr id="77" name="Google Shape;77;p15"/>
          <p:cNvSpPr/>
          <p:nvPr>
            <p:ph idx="4" type="pic"/>
          </p:nvPr>
        </p:nvSpPr>
        <p:spPr>
          <a:xfrm>
            <a:off x="4857225" y="2819943"/>
            <a:ext cx="1377000" cy="1377000"/>
          </a:xfrm>
          <a:prstGeom prst="rect">
            <a:avLst/>
          </a:prstGeom>
          <a:noFill/>
          <a:ln>
            <a:noFill/>
          </a:ln>
        </p:spPr>
      </p:sp>
      <p:sp>
        <p:nvSpPr>
          <p:cNvPr id="78" name="Google Shape;78;p15"/>
          <p:cNvSpPr/>
          <p:nvPr>
            <p:ph idx="5" type="pic"/>
          </p:nvPr>
        </p:nvSpPr>
        <p:spPr>
          <a:xfrm>
            <a:off x="6571189" y="2819943"/>
            <a:ext cx="1377000" cy="1377000"/>
          </a:xfrm>
          <a:prstGeom prst="rect">
            <a:avLst/>
          </a:prstGeom>
          <a:noFill/>
          <a:ln>
            <a:noFill/>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300"/>
                                  </p:stCondLst>
                                  <p:childTnLst>
                                    <p:set>
                                      <p:cBhvr>
                                        <p:cTn dur="1" fill="hold">
                                          <p:stCondLst>
                                            <p:cond delay="0"/>
                                          </p:stCondLst>
                                        </p:cTn>
                                        <p:tgtEl>
                                          <p:spTgt spid="74"/>
                                        </p:tgtEl>
                                        <p:attrNameLst>
                                          <p:attrName>style.visibility</p:attrName>
                                        </p:attrNameLst>
                                      </p:cBhvr>
                                      <p:to>
                                        <p:strVal val="visible"/>
                                      </p:to>
                                    </p:set>
                                    <p:animEffect filter="fade" transition="in">
                                      <p:cBhvr>
                                        <p:cTn dur="500"/>
                                        <p:tgtEl>
                                          <p:spTgt spid="7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79" name="Shape 79"/>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3_Title Slide 1">
  <p:cSld name="133_Title Slide_1">
    <p:spTree>
      <p:nvGrpSpPr>
        <p:cNvPr id="80" name="Shape 80"/>
        <p:cNvGrpSpPr/>
        <p:nvPr/>
      </p:nvGrpSpPr>
      <p:grpSpPr>
        <a:xfrm>
          <a:off x="0" y="0"/>
          <a:ext cx="0" cy="0"/>
          <a:chOff x="0" y="0"/>
          <a:chExt cx="0" cy="0"/>
        </a:xfrm>
      </p:grpSpPr>
      <p:sp>
        <p:nvSpPr>
          <p:cNvPr id="81" name="Google Shape;81;p17"/>
          <p:cNvSpPr/>
          <p:nvPr/>
        </p:nvSpPr>
        <p:spPr>
          <a:xfrm>
            <a:off x="6167767" y="0"/>
            <a:ext cx="2976000" cy="5143500"/>
          </a:xfrm>
          <a:prstGeom prst="rect">
            <a:avLst/>
          </a:prstGeom>
          <a:solidFill>
            <a:schemeClr val="accen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1" sz="4800">
              <a:solidFill>
                <a:srgbClr val="FFFFFF"/>
              </a:solidFill>
              <a:latin typeface="Montserrat"/>
              <a:ea typeface="Montserrat"/>
              <a:cs typeface="Montserrat"/>
              <a:sym typeface="Montserrat"/>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 – End Slide – Blue">
  <p:cSld name="CUSTOM_1_2_1_2">
    <p:bg>
      <p:bgPr>
        <a:solidFill>
          <a:srgbClr val="183A9E"/>
        </a:solidFill>
      </p:bgPr>
    </p:bg>
    <p:spTree>
      <p:nvGrpSpPr>
        <p:cNvPr id="82" name="Shape 82"/>
        <p:cNvGrpSpPr/>
        <p:nvPr/>
      </p:nvGrpSpPr>
      <p:grpSpPr>
        <a:xfrm>
          <a:off x="0" y="0"/>
          <a:ext cx="0" cy="0"/>
          <a:chOff x="0" y="0"/>
          <a:chExt cx="0" cy="0"/>
        </a:xfrm>
      </p:grpSpPr>
      <p:sp>
        <p:nvSpPr>
          <p:cNvPr id="83" name="Google Shape;83;p18"/>
          <p:cNvSpPr/>
          <p:nvPr/>
        </p:nvSpPr>
        <p:spPr>
          <a:xfrm>
            <a:off x="0" y="0"/>
            <a:ext cx="9144000" cy="5143500"/>
          </a:xfrm>
          <a:prstGeom prst="rect">
            <a:avLst/>
          </a:prstGeom>
          <a:solidFill>
            <a:srgbClr val="204EC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4" name="Google Shape;84;p18"/>
          <p:cNvPicPr preferRelativeResize="0"/>
          <p:nvPr/>
        </p:nvPicPr>
        <p:blipFill>
          <a:blip r:embed="rId2">
            <a:alphaModFix/>
          </a:blip>
          <a:stretch>
            <a:fillRect/>
          </a:stretch>
        </p:blipFill>
        <p:spPr>
          <a:xfrm>
            <a:off x="3227875" y="2200201"/>
            <a:ext cx="2688249" cy="74310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 – End Slide – Dark Blue">
  <p:cSld name="CUSTOM_1_2_1_3">
    <p:bg>
      <p:bgPr>
        <a:solidFill>
          <a:srgbClr val="183A9E"/>
        </a:solidFill>
      </p:bgPr>
    </p:bg>
    <p:spTree>
      <p:nvGrpSpPr>
        <p:cNvPr id="85" name="Shape 85"/>
        <p:cNvGrpSpPr/>
        <p:nvPr/>
      </p:nvGrpSpPr>
      <p:grpSpPr>
        <a:xfrm>
          <a:off x="0" y="0"/>
          <a:ext cx="0" cy="0"/>
          <a:chOff x="0" y="0"/>
          <a:chExt cx="0" cy="0"/>
        </a:xfrm>
      </p:grpSpPr>
      <p:sp>
        <p:nvSpPr>
          <p:cNvPr id="86" name="Google Shape;86;p19"/>
          <p:cNvSpPr/>
          <p:nvPr/>
        </p:nvSpPr>
        <p:spPr>
          <a:xfrm>
            <a:off x="0" y="0"/>
            <a:ext cx="9144000" cy="5143500"/>
          </a:xfrm>
          <a:prstGeom prst="rect">
            <a:avLst/>
          </a:prstGeom>
          <a:solidFill>
            <a:srgbClr val="0F2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7" name="Google Shape;87;p19"/>
          <p:cNvPicPr preferRelativeResize="0"/>
          <p:nvPr/>
        </p:nvPicPr>
        <p:blipFill>
          <a:blip r:embed="rId2">
            <a:alphaModFix/>
          </a:blip>
          <a:stretch>
            <a:fillRect/>
          </a:stretch>
        </p:blipFill>
        <p:spPr>
          <a:xfrm>
            <a:off x="3227875" y="2200201"/>
            <a:ext cx="2688249" cy="74310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theme" Target="../theme/theme1.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slideLayout" Target="../slideLayouts/slideLayout18.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p:nvPr/>
        </p:nvSpPr>
        <p:spPr>
          <a:xfrm>
            <a:off x="0" y="0"/>
            <a:ext cx="217200" cy="5143500"/>
          </a:xfrm>
          <a:prstGeom prst="rect">
            <a:avLst/>
          </a:prstGeom>
          <a:solidFill>
            <a:srgbClr val="204EC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FFFFFF"/>
              </a:solidFill>
              <a:latin typeface="Open Sans"/>
              <a:ea typeface="Open Sans"/>
              <a:cs typeface="Open Sans"/>
              <a:sym typeface="Open Sans"/>
            </a:endParaRPr>
          </a:p>
        </p:txBody>
      </p:sp>
      <p:sp>
        <p:nvSpPr>
          <p:cNvPr id="7" name="Google Shape;7;p1"/>
          <p:cNvSpPr txBox="1"/>
          <p:nvPr>
            <p:ph type="title"/>
          </p:nvPr>
        </p:nvSpPr>
        <p:spPr>
          <a:xfrm>
            <a:off x="1200149" y="273844"/>
            <a:ext cx="7315200" cy="994200"/>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2100"/>
              <a:buFont typeface="Proxima Nova"/>
              <a:buNone/>
              <a:defRPr b="1" i="0" sz="2100" u="none" cap="none" strike="noStrike">
                <a:solidFill>
                  <a:schemeClr val="dk1"/>
                </a:solidFill>
                <a:latin typeface="Proxima Nova"/>
                <a:ea typeface="Proxima Nova"/>
                <a:cs typeface="Proxima Nova"/>
                <a:sym typeface="Proxima Nova"/>
              </a:defRPr>
            </a:lvl1pPr>
            <a:lvl2pPr lvl="1" rtl="0">
              <a:spcBef>
                <a:spcPts val="0"/>
              </a:spcBef>
              <a:spcAft>
                <a:spcPts val="0"/>
              </a:spcAft>
              <a:buSzPts val="1100"/>
              <a:buNone/>
              <a:defRPr sz="1400"/>
            </a:lvl2pPr>
            <a:lvl3pPr lvl="2" rtl="0">
              <a:spcBef>
                <a:spcPts val="0"/>
              </a:spcBef>
              <a:spcAft>
                <a:spcPts val="0"/>
              </a:spcAft>
              <a:buSzPts val="1100"/>
              <a:buNone/>
              <a:defRPr sz="1400"/>
            </a:lvl3pPr>
            <a:lvl4pPr lvl="3" rtl="0">
              <a:spcBef>
                <a:spcPts val="0"/>
              </a:spcBef>
              <a:spcAft>
                <a:spcPts val="0"/>
              </a:spcAft>
              <a:buSzPts val="1100"/>
              <a:buNone/>
              <a:defRPr sz="1400"/>
            </a:lvl4pPr>
            <a:lvl5pPr lvl="4" rtl="0">
              <a:spcBef>
                <a:spcPts val="0"/>
              </a:spcBef>
              <a:spcAft>
                <a:spcPts val="0"/>
              </a:spcAft>
              <a:buSzPts val="1100"/>
              <a:buNone/>
              <a:defRPr sz="1400"/>
            </a:lvl5pPr>
            <a:lvl6pPr lvl="5" rtl="0">
              <a:spcBef>
                <a:spcPts val="0"/>
              </a:spcBef>
              <a:spcAft>
                <a:spcPts val="0"/>
              </a:spcAft>
              <a:buSzPts val="1100"/>
              <a:buNone/>
              <a:defRPr sz="1400"/>
            </a:lvl6pPr>
            <a:lvl7pPr lvl="6" rtl="0">
              <a:spcBef>
                <a:spcPts val="0"/>
              </a:spcBef>
              <a:spcAft>
                <a:spcPts val="0"/>
              </a:spcAft>
              <a:buSzPts val="1100"/>
              <a:buNone/>
              <a:defRPr sz="1400"/>
            </a:lvl7pPr>
            <a:lvl8pPr lvl="7" rtl="0">
              <a:spcBef>
                <a:spcPts val="0"/>
              </a:spcBef>
              <a:spcAft>
                <a:spcPts val="0"/>
              </a:spcAft>
              <a:buSzPts val="1100"/>
              <a:buNone/>
              <a:defRPr sz="1400"/>
            </a:lvl8pPr>
            <a:lvl9pPr lvl="8" rtl="0">
              <a:spcBef>
                <a:spcPts val="0"/>
              </a:spcBef>
              <a:spcAft>
                <a:spcPts val="0"/>
              </a:spcAft>
              <a:buSzPts val="1100"/>
              <a:buNone/>
              <a:defRPr sz="1400"/>
            </a:lvl9pPr>
          </a:lstStyle>
          <a:p/>
        </p:txBody>
      </p:sp>
      <p:sp>
        <p:nvSpPr>
          <p:cNvPr id="8" name="Google Shape;8;p1"/>
          <p:cNvSpPr txBox="1"/>
          <p:nvPr>
            <p:ph idx="1" type="body"/>
          </p:nvPr>
        </p:nvSpPr>
        <p:spPr>
          <a:xfrm>
            <a:off x="1200150" y="1369219"/>
            <a:ext cx="7315200" cy="3263400"/>
          </a:xfrm>
          <a:prstGeom prst="rect">
            <a:avLst/>
          </a:prstGeom>
          <a:noFill/>
          <a:ln>
            <a:noFill/>
          </a:ln>
        </p:spPr>
        <p:txBody>
          <a:bodyPr anchorCtr="0" anchor="t" bIns="34275" lIns="68575" spcFirstLastPara="1" rIns="68575" wrap="square" tIns="34275">
            <a:normAutofit/>
          </a:bodyPr>
          <a:lstStyle>
            <a:lvl1pPr indent="-317500" lvl="0" marL="457200" marR="0" rtl="0" algn="l">
              <a:lnSpc>
                <a:spcPct val="90000"/>
              </a:lnSpc>
              <a:spcBef>
                <a:spcPts val="800"/>
              </a:spcBef>
              <a:spcAft>
                <a:spcPts val="0"/>
              </a:spcAft>
              <a:buClr>
                <a:schemeClr val="dk2"/>
              </a:buClr>
              <a:buSzPts val="1400"/>
              <a:buFont typeface="Arial"/>
              <a:buChar char="•"/>
              <a:defRPr b="0" i="0" sz="1400" u="none" cap="none" strike="noStrike">
                <a:solidFill>
                  <a:schemeClr val="dk2"/>
                </a:solidFill>
                <a:latin typeface="Proxima Nova"/>
                <a:ea typeface="Proxima Nova"/>
                <a:cs typeface="Proxima Nova"/>
                <a:sym typeface="Proxima Nova"/>
              </a:defRPr>
            </a:lvl1pPr>
            <a:lvl2pPr indent="-298450" lvl="1" marL="914400" marR="0" rtl="0" algn="l">
              <a:lnSpc>
                <a:spcPct val="90000"/>
              </a:lnSpc>
              <a:spcBef>
                <a:spcPts val="400"/>
              </a:spcBef>
              <a:spcAft>
                <a:spcPts val="0"/>
              </a:spcAft>
              <a:buClr>
                <a:schemeClr val="dk2"/>
              </a:buClr>
              <a:buSzPts val="1100"/>
              <a:buFont typeface="Arial"/>
              <a:buChar char="•"/>
              <a:defRPr b="0" i="0" sz="1100" u="none" cap="none" strike="noStrike">
                <a:solidFill>
                  <a:schemeClr val="dk2"/>
                </a:solidFill>
                <a:latin typeface="Proxima Nova"/>
                <a:ea typeface="Proxima Nova"/>
                <a:cs typeface="Proxima Nova"/>
                <a:sym typeface="Proxima Nova"/>
              </a:defRPr>
            </a:lvl2pPr>
            <a:lvl3pPr indent="-285750" lvl="2" marL="1371600" marR="0" rtl="0" algn="l">
              <a:lnSpc>
                <a:spcPct val="90000"/>
              </a:lnSpc>
              <a:spcBef>
                <a:spcPts val="400"/>
              </a:spcBef>
              <a:spcAft>
                <a:spcPts val="0"/>
              </a:spcAft>
              <a:buClr>
                <a:schemeClr val="dk2"/>
              </a:buClr>
              <a:buSzPts val="900"/>
              <a:buFont typeface="Arial"/>
              <a:buChar char="•"/>
              <a:defRPr b="0" i="0" sz="900" u="none" cap="none" strike="noStrike">
                <a:solidFill>
                  <a:schemeClr val="dk2"/>
                </a:solidFill>
                <a:latin typeface="Proxima Nova"/>
                <a:ea typeface="Proxima Nova"/>
                <a:cs typeface="Proxima Nova"/>
                <a:sym typeface="Proxima Nova"/>
              </a:defRPr>
            </a:lvl3pPr>
            <a:lvl4pPr indent="-279400" lvl="3" marL="1828800" marR="0" rtl="0" algn="l">
              <a:lnSpc>
                <a:spcPct val="90000"/>
              </a:lnSpc>
              <a:spcBef>
                <a:spcPts val="400"/>
              </a:spcBef>
              <a:spcAft>
                <a:spcPts val="0"/>
              </a:spcAft>
              <a:buClr>
                <a:schemeClr val="dk2"/>
              </a:buClr>
              <a:buSzPts val="800"/>
              <a:buFont typeface="Arial"/>
              <a:buChar char="•"/>
              <a:defRPr b="0" i="0" sz="800" u="none" cap="none" strike="noStrike">
                <a:solidFill>
                  <a:schemeClr val="dk2"/>
                </a:solidFill>
                <a:latin typeface="Proxima Nova"/>
                <a:ea typeface="Proxima Nova"/>
                <a:cs typeface="Proxima Nova"/>
                <a:sym typeface="Proxima Nova"/>
              </a:defRPr>
            </a:lvl4pPr>
            <a:lvl5pPr indent="-266700" lvl="4" marL="2286000" marR="0" rtl="0" algn="l">
              <a:lnSpc>
                <a:spcPct val="90000"/>
              </a:lnSpc>
              <a:spcBef>
                <a:spcPts val="400"/>
              </a:spcBef>
              <a:spcAft>
                <a:spcPts val="0"/>
              </a:spcAft>
              <a:buClr>
                <a:schemeClr val="dk2"/>
              </a:buClr>
              <a:buSzPts val="600"/>
              <a:buFont typeface="Arial"/>
              <a:buChar char="•"/>
              <a:defRPr b="0" i="0" sz="600" u="none" cap="none" strike="noStrike">
                <a:solidFill>
                  <a:schemeClr val="dk2"/>
                </a:solidFill>
                <a:latin typeface="Proxima Nova"/>
                <a:ea typeface="Proxima Nova"/>
                <a:cs typeface="Proxima Nova"/>
                <a:sym typeface="Proxima Nova"/>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9pPr>
          </a:lstStyle>
          <a:p/>
        </p:txBody>
      </p:sp>
      <p:sp>
        <p:nvSpPr>
          <p:cNvPr id="9" name="Google Shape;9;p1"/>
          <p:cNvSpPr txBox="1"/>
          <p:nvPr/>
        </p:nvSpPr>
        <p:spPr>
          <a:xfrm>
            <a:off x="7578175" y="4767750"/>
            <a:ext cx="1367700" cy="174600"/>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r>
              <a:rPr lang="en" sz="800">
                <a:solidFill>
                  <a:srgbClr val="204ECF"/>
                </a:solidFill>
                <a:latin typeface="Proxima Nova"/>
                <a:ea typeface="Proxima Nova"/>
                <a:cs typeface="Proxima Nova"/>
                <a:sym typeface="Proxima Nova"/>
              </a:rPr>
              <a:t> </a:t>
            </a:r>
            <a:r>
              <a:rPr lang="en" sz="600">
                <a:solidFill>
                  <a:srgbClr val="204ECF"/>
                </a:solidFill>
                <a:latin typeface="Proxima Nova"/>
                <a:ea typeface="Proxima Nova"/>
                <a:cs typeface="Proxima Nova"/>
                <a:sym typeface="Proxima Nova"/>
              </a:rPr>
              <a:t>Confidential </a:t>
            </a:r>
            <a:r>
              <a:rPr lang="en" sz="800">
                <a:solidFill>
                  <a:srgbClr val="204ECF"/>
                </a:solidFill>
                <a:latin typeface="Proxima Nova"/>
                <a:ea typeface="Proxima Nova"/>
                <a:cs typeface="Proxima Nova"/>
                <a:sym typeface="Proxima Nova"/>
              </a:rPr>
              <a:t> | </a:t>
            </a:r>
            <a:fld id="{00000000-1234-1234-1234-123412341234}" type="slidenum">
              <a:rPr lang="en" sz="800">
                <a:solidFill>
                  <a:srgbClr val="204ECF"/>
                </a:solidFill>
                <a:latin typeface="Proxima Nova"/>
                <a:ea typeface="Proxima Nova"/>
                <a:cs typeface="Proxima Nova"/>
                <a:sym typeface="Proxima Nova"/>
              </a:rPr>
              <a:t>‹#›</a:t>
            </a:fld>
            <a:endParaRPr sz="800">
              <a:solidFill>
                <a:srgbClr val="204ECF"/>
              </a:solidFill>
              <a:latin typeface="Proxima Nova"/>
              <a:ea typeface="Proxima Nova"/>
              <a:cs typeface="Proxima Nova"/>
              <a:sym typeface="Proxima Nova"/>
            </a:endParaRPr>
          </a:p>
        </p:txBody>
      </p:sp>
      <p:pic>
        <p:nvPicPr>
          <p:cNvPr id="10" name="Google Shape;10;p1"/>
          <p:cNvPicPr preferRelativeResize="0"/>
          <p:nvPr/>
        </p:nvPicPr>
        <p:blipFill rotWithShape="1">
          <a:blip r:embed="rId1">
            <a:alphaModFix/>
          </a:blip>
          <a:srcRect b="0" l="0" r="0" t="0"/>
          <a:stretch/>
        </p:blipFill>
        <p:spPr>
          <a:xfrm>
            <a:off x="54287" y="69900"/>
            <a:ext cx="108625" cy="153976"/>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756">
          <p15:clr>
            <a:srgbClr val="F26B43"/>
          </p15:clr>
        </p15:guide>
        <p15:guide id="2" pos="329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9.png"/><Relationship Id="rId6" Type="http://schemas.openxmlformats.org/officeDocument/2006/relationships/image" Target="../media/image8.png"/></Relationships>
</file>

<file path=ppt/slides/_rels/slide3.xml.rels><?xml version="1.0" encoding="UTF-8" standalone="yes"?><Relationships xmlns="http://schemas.openxmlformats.org/package/2006/relationships"><Relationship Id="rId11" Type="http://schemas.openxmlformats.org/officeDocument/2006/relationships/image" Target="../media/image18.png"/><Relationship Id="rId10" Type="http://schemas.openxmlformats.org/officeDocument/2006/relationships/image" Target="../media/image14.png"/><Relationship Id="rId12" Type="http://schemas.openxmlformats.org/officeDocument/2006/relationships/image" Target="../media/image15.png"/><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4.png"/><Relationship Id="rId9" Type="http://schemas.openxmlformats.org/officeDocument/2006/relationships/image" Target="../media/image25.png"/><Relationship Id="rId5" Type="http://schemas.openxmlformats.org/officeDocument/2006/relationships/image" Target="../media/image16.png"/><Relationship Id="rId6" Type="http://schemas.openxmlformats.org/officeDocument/2006/relationships/image" Target="../media/image20.png"/><Relationship Id="rId7" Type="http://schemas.openxmlformats.org/officeDocument/2006/relationships/image" Target="../media/image24.png"/><Relationship Id="rId8"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 Id="rId3" Type="http://schemas.openxmlformats.org/officeDocument/2006/relationships/comments" Target="../comments/comment1.xml"/><Relationship Id="rId4" Type="http://schemas.openxmlformats.org/officeDocument/2006/relationships/image" Target="../media/image6.png"/><Relationship Id="rId5" Type="http://schemas.openxmlformats.org/officeDocument/2006/relationships/image" Target="../media/image17.png"/><Relationship Id="rId6"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xml"/><Relationship Id="rId3" Type="http://schemas.openxmlformats.org/officeDocument/2006/relationships/comments" Target="../comments/commen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 Id="rId3" Type="http://schemas.openxmlformats.org/officeDocument/2006/relationships/comments" Target="../comments/comment3.xml"/><Relationship Id="rId4" Type="http://schemas.openxmlformats.org/officeDocument/2006/relationships/image" Target="../media/image22.png"/><Relationship Id="rId5" Type="http://schemas.openxmlformats.org/officeDocument/2006/relationships/image" Target="../media/image1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 Id="rId3" Type="http://schemas.openxmlformats.org/officeDocument/2006/relationships/comments" Target="../comments/commen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1.xml"/><Relationship Id="rId3" Type="http://schemas.openxmlformats.org/officeDocument/2006/relationships/comments" Target="../comments/comment5.xml"/><Relationship Id="rId4" Type="http://schemas.openxmlformats.org/officeDocument/2006/relationships/image" Target="../media/image21.png"/><Relationship Id="rId5" Type="http://schemas.openxmlformats.org/officeDocument/2006/relationships/image" Target="../media/image2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 Id="rId3" Type="http://schemas.openxmlformats.org/officeDocument/2006/relationships/comments" Target="../comments/commen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20"/>
          <p:cNvSpPr txBox="1"/>
          <p:nvPr>
            <p:ph type="title"/>
          </p:nvPr>
        </p:nvSpPr>
        <p:spPr>
          <a:xfrm>
            <a:off x="343675" y="2712225"/>
            <a:ext cx="5505000" cy="819300"/>
          </a:xfrm>
          <a:prstGeom prst="rect">
            <a:avLst/>
          </a:prstGeom>
        </p:spPr>
        <p:txBody>
          <a:bodyPr anchorCtr="0" anchor="t" bIns="34275" lIns="68575" spcFirstLastPara="1" rIns="68575" wrap="square" tIns="34275">
            <a:normAutofit fontScale="90000"/>
          </a:bodyPr>
          <a:lstStyle/>
          <a:p>
            <a:pPr indent="0" lvl="0" marL="0" rtl="0" algn="l">
              <a:lnSpc>
                <a:spcPct val="115000"/>
              </a:lnSpc>
              <a:spcBef>
                <a:spcPts val="0"/>
              </a:spcBef>
              <a:spcAft>
                <a:spcPts val="0"/>
              </a:spcAft>
              <a:buNone/>
            </a:pPr>
            <a:r>
              <a:rPr lang="en">
                <a:solidFill>
                  <a:srgbClr val="204ECF"/>
                </a:solidFill>
              </a:rPr>
              <a:t>Syngenta Crop Protection, LLC</a:t>
            </a:r>
            <a:endParaRPr>
              <a:solidFill>
                <a:srgbClr val="204ECF"/>
              </a:solidFill>
            </a:endParaRPr>
          </a:p>
          <a:p>
            <a:pPr indent="0" lvl="0" marL="0" rtl="0" algn="l">
              <a:lnSpc>
                <a:spcPct val="115000"/>
              </a:lnSpc>
              <a:spcBef>
                <a:spcPts val="0"/>
              </a:spcBef>
              <a:spcAft>
                <a:spcPts val="0"/>
              </a:spcAft>
              <a:buNone/>
            </a:pPr>
            <a:r>
              <a:rPr lang="en"/>
              <a:t>ARC Application Implementation</a:t>
            </a:r>
            <a:r>
              <a:rPr lang="en"/>
              <a:t> </a:t>
            </a:r>
            <a:r>
              <a:rPr lang="en"/>
              <a:t>Kickoff </a:t>
            </a:r>
            <a:endParaRPr/>
          </a:p>
        </p:txBody>
      </p:sp>
      <p:sp>
        <p:nvSpPr>
          <p:cNvPr id="93" name="Google Shape;93;p20"/>
          <p:cNvSpPr txBox="1"/>
          <p:nvPr>
            <p:ph idx="2" type="subTitle"/>
          </p:nvPr>
        </p:nvSpPr>
        <p:spPr>
          <a:xfrm>
            <a:off x="366142" y="4153150"/>
            <a:ext cx="5339400" cy="3357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en"/>
              <a:t>Aligning on outcomes, team, and how we’ll deliver.</a:t>
            </a:r>
            <a:endParaRPr/>
          </a:p>
        </p:txBody>
      </p:sp>
      <p:sp>
        <p:nvSpPr>
          <p:cNvPr id="94" name="Google Shape;94;p20"/>
          <p:cNvSpPr txBox="1"/>
          <p:nvPr/>
        </p:nvSpPr>
        <p:spPr>
          <a:xfrm>
            <a:off x="7880050" y="4629925"/>
            <a:ext cx="1094400" cy="335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chemeClr val="lt1"/>
                </a:solidFill>
                <a:latin typeface="Proxima Nova"/>
                <a:ea typeface="Proxima Nova"/>
                <a:cs typeface="Proxima Nova"/>
                <a:sym typeface="Proxima Nova"/>
              </a:rPr>
              <a:t>10/26/2026</a:t>
            </a:r>
            <a:endParaRPr sz="1000">
              <a:solidFill>
                <a:schemeClr val="lt1"/>
              </a:solidFill>
              <a:latin typeface="Proxima Nova"/>
              <a:ea typeface="Proxima Nova"/>
              <a:cs typeface="Proxima Nova"/>
              <a:sym typeface="Proxima Nov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1"/>
          <p:cNvSpPr txBox="1"/>
          <p:nvPr>
            <p:ph type="ctrTitle"/>
          </p:nvPr>
        </p:nvSpPr>
        <p:spPr>
          <a:xfrm>
            <a:off x="633776" y="880400"/>
            <a:ext cx="8023800" cy="3324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1"/>
              </a:buClr>
              <a:buSzPts val="2400"/>
              <a:buFont typeface="Montserrat"/>
              <a:buNone/>
            </a:pPr>
            <a:r>
              <a:rPr lang="en"/>
              <a:t>What we’ll accomplish together</a:t>
            </a:r>
            <a:endParaRPr sz="2400">
              <a:latin typeface="Proxima Nova"/>
              <a:ea typeface="Proxima Nova"/>
              <a:cs typeface="Proxima Nova"/>
              <a:sym typeface="Proxima Nova"/>
            </a:endParaRPr>
          </a:p>
        </p:txBody>
      </p:sp>
      <p:sp>
        <p:nvSpPr>
          <p:cNvPr id="100" name="Google Shape;100;p21"/>
          <p:cNvSpPr txBox="1"/>
          <p:nvPr/>
        </p:nvSpPr>
        <p:spPr>
          <a:xfrm>
            <a:off x="1544275" y="2293022"/>
            <a:ext cx="7146300" cy="393900"/>
          </a:xfrm>
          <a:prstGeom prst="rect">
            <a:avLst/>
          </a:prstGeom>
          <a:noFill/>
          <a:ln>
            <a:noFill/>
          </a:ln>
        </p:spPr>
        <p:txBody>
          <a:bodyPr anchorCtr="0" anchor="t" bIns="0" lIns="0" spcFirstLastPara="1" rIns="0" wrap="square" tIns="0">
            <a:spAutoFit/>
          </a:bodyPr>
          <a:lstStyle/>
          <a:p>
            <a:pPr indent="0" lvl="0" marL="0" rtl="0" algn="l">
              <a:lnSpc>
                <a:spcPct val="130000"/>
              </a:lnSpc>
              <a:spcBef>
                <a:spcPts val="0"/>
              </a:spcBef>
              <a:spcAft>
                <a:spcPts val="0"/>
              </a:spcAft>
              <a:buNone/>
            </a:pPr>
            <a:r>
              <a:rPr b="1" lang="en" sz="1200">
                <a:solidFill>
                  <a:schemeClr val="dk1"/>
                </a:solidFill>
                <a:latin typeface="Proxima Nova"/>
                <a:ea typeface="Proxima Nova"/>
                <a:cs typeface="Proxima Nova"/>
                <a:sym typeface="Proxima Nova"/>
              </a:rPr>
              <a:t>Align on success</a:t>
            </a:r>
            <a:br>
              <a:rPr b="1" lang="en" sz="1200">
                <a:solidFill>
                  <a:schemeClr val="dk1"/>
                </a:solidFill>
                <a:latin typeface="Proxima Nova"/>
                <a:ea typeface="Proxima Nova"/>
                <a:cs typeface="Proxima Nova"/>
                <a:sym typeface="Proxima Nova"/>
              </a:rPr>
            </a:br>
            <a:r>
              <a:rPr lang="en" sz="1000">
                <a:solidFill>
                  <a:schemeClr val="dk1"/>
                </a:solidFill>
                <a:latin typeface="Proxima Nova"/>
                <a:ea typeface="Proxima Nova"/>
                <a:cs typeface="Proxima Nova"/>
                <a:sym typeface="Proxima Nova"/>
              </a:rPr>
              <a:t>Confirm why we’re doing this project and what a successful outcome looks like in your words</a:t>
            </a:r>
            <a:r>
              <a:rPr lang="en" sz="1000">
                <a:solidFill>
                  <a:schemeClr val="dk1"/>
                </a:solidFill>
                <a:latin typeface="Proxima Nova"/>
                <a:ea typeface="Proxima Nova"/>
                <a:cs typeface="Proxima Nova"/>
                <a:sym typeface="Proxima Nova"/>
              </a:rPr>
              <a:t>. </a:t>
            </a:r>
            <a:endParaRPr b="1" sz="1300">
              <a:solidFill>
                <a:schemeClr val="dk1"/>
              </a:solidFill>
              <a:latin typeface="Proxima Nova"/>
              <a:ea typeface="Proxima Nova"/>
              <a:cs typeface="Proxima Nova"/>
              <a:sym typeface="Proxima Nova"/>
            </a:endParaRPr>
          </a:p>
        </p:txBody>
      </p:sp>
      <p:cxnSp>
        <p:nvCxnSpPr>
          <p:cNvPr id="101" name="Google Shape;101;p21"/>
          <p:cNvCxnSpPr/>
          <p:nvPr/>
        </p:nvCxnSpPr>
        <p:spPr>
          <a:xfrm>
            <a:off x="1544270" y="2092122"/>
            <a:ext cx="7028100" cy="0"/>
          </a:xfrm>
          <a:prstGeom prst="straightConnector1">
            <a:avLst/>
          </a:prstGeom>
          <a:noFill/>
          <a:ln cap="flat" cmpd="sng" w="12700">
            <a:solidFill>
              <a:srgbClr val="D3DCEC"/>
            </a:solidFill>
            <a:prstDash val="solid"/>
            <a:round/>
            <a:headEnd len="sm" w="sm" type="none"/>
            <a:tailEnd len="sm" w="sm" type="none"/>
          </a:ln>
        </p:spPr>
      </p:cxnSp>
      <p:sp>
        <p:nvSpPr>
          <p:cNvPr id="102" name="Google Shape;102;p21"/>
          <p:cNvSpPr txBox="1"/>
          <p:nvPr/>
        </p:nvSpPr>
        <p:spPr>
          <a:xfrm>
            <a:off x="1544275" y="1484846"/>
            <a:ext cx="7146300" cy="393900"/>
          </a:xfrm>
          <a:prstGeom prst="rect">
            <a:avLst/>
          </a:prstGeom>
          <a:noFill/>
          <a:ln>
            <a:noFill/>
          </a:ln>
        </p:spPr>
        <p:txBody>
          <a:bodyPr anchorCtr="0" anchor="t" bIns="0" lIns="0" spcFirstLastPara="1" rIns="0" wrap="square" tIns="0">
            <a:spAutoFit/>
          </a:bodyPr>
          <a:lstStyle/>
          <a:p>
            <a:pPr indent="0" lvl="0" marL="0" rtl="0" algn="l">
              <a:lnSpc>
                <a:spcPct val="130000"/>
              </a:lnSpc>
              <a:spcBef>
                <a:spcPts val="0"/>
              </a:spcBef>
              <a:spcAft>
                <a:spcPts val="0"/>
              </a:spcAft>
              <a:buNone/>
            </a:pPr>
            <a:r>
              <a:rPr b="1" lang="en" sz="1200">
                <a:solidFill>
                  <a:schemeClr val="dk1"/>
                </a:solidFill>
                <a:latin typeface="Proxima Nova"/>
                <a:ea typeface="Proxima Nova"/>
                <a:cs typeface="Proxima Nova"/>
                <a:sym typeface="Proxima Nova"/>
              </a:rPr>
              <a:t>Meet your team</a:t>
            </a:r>
            <a:br>
              <a:rPr b="1" lang="en" sz="1200">
                <a:solidFill>
                  <a:schemeClr val="dk1"/>
                </a:solidFill>
                <a:latin typeface="Proxima Nova"/>
                <a:ea typeface="Proxima Nova"/>
                <a:cs typeface="Proxima Nova"/>
                <a:sym typeface="Proxima Nova"/>
              </a:rPr>
            </a:br>
            <a:r>
              <a:rPr lang="en" sz="1000">
                <a:solidFill>
                  <a:schemeClr val="dk1"/>
                </a:solidFill>
                <a:latin typeface="Proxima Nova"/>
                <a:ea typeface="Proxima Nova"/>
                <a:cs typeface="Proxima Nova"/>
                <a:sym typeface="Proxima Nova"/>
              </a:rPr>
              <a:t>The people delivering your project, their roles, and your single point of contact</a:t>
            </a:r>
            <a:r>
              <a:rPr lang="en" sz="1000">
                <a:solidFill>
                  <a:schemeClr val="dk1"/>
                </a:solidFill>
                <a:latin typeface="Proxima Nova"/>
                <a:ea typeface="Proxima Nova"/>
                <a:cs typeface="Proxima Nova"/>
                <a:sym typeface="Proxima Nova"/>
              </a:rPr>
              <a:t>. </a:t>
            </a:r>
            <a:endParaRPr b="1" sz="1300">
              <a:solidFill>
                <a:schemeClr val="dk1"/>
              </a:solidFill>
              <a:latin typeface="Proxima Nova"/>
              <a:ea typeface="Proxima Nova"/>
              <a:cs typeface="Proxima Nova"/>
              <a:sym typeface="Proxima Nova"/>
            </a:endParaRPr>
          </a:p>
        </p:txBody>
      </p:sp>
      <p:cxnSp>
        <p:nvCxnSpPr>
          <p:cNvPr id="103" name="Google Shape;103;p21"/>
          <p:cNvCxnSpPr/>
          <p:nvPr/>
        </p:nvCxnSpPr>
        <p:spPr>
          <a:xfrm>
            <a:off x="1544270" y="2875385"/>
            <a:ext cx="7028100" cy="0"/>
          </a:xfrm>
          <a:prstGeom prst="straightConnector1">
            <a:avLst/>
          </a:prstGeom>
          <a:noFill/>
          <a:ln cap="flat" cmpd="sng" w="12700">
            <a:solidFill>
              <a:srgbClr val="D3DCEC"/>
            </a:solidFill>
            <a:prstDash val="solid"/>
            <a:round/>
            <a:headEnd len="sm" w="sm" type="none"/>
            <a:tailEnd len="sm" w="sm" type="none"/>
          </a:ln>
        </p:spPr>
      </p:cxnSp>
      <p:sp>
        <p:nvSpPr>
          <p:cNvPr id="104" name="Google Shape;104;p21"/>
          <p:cNvSpPr txBox="1"/>
          <p:nvPr/>
        </p:nvSpPr>
        <p:spPr>
          <a:xfrm>
            <a:off x="1544275" y="3101199"/>
            <a:ext cx="7146300" cy="393900"/>
          </a:xfrm>
          <a:prstGeom prst="rect">
            <a:avLst/>
          </a:prstGeom>
          <a:noFill/>
          <a:ln>
            <a:noFill/>
          </a:ln>
        </p:spPr>
        <p:txBody>
          <a:bodyPr anchorCtr="0" anchor="t" bIns="0" lIns="0" spcFirstLastPara="1" rIns="0" wrap="square" tIns="0">
            <a:spAutoFit/>
          </a:bodyPr>
          <a:lstStyle/>
          <a:p>
            <a:pPr indent="0" lvl="0" marL="0" rtl="0" algn="l">
              <a:lnSpc>
                <a:spcPct val="130000"/>
              </a:lnSpc>
              <a:spcBef>
                <a:spcPts val="0"/>
              </a:spcBef>
              <a:spcAft>
                <a:spcPts val="0"/>
              </a:spcAft>
              <a:buNone/>
            </a:pPr>
            <a:r>
              <a:rPr b="1" lang="en" sz="1200">
                <a:solidFill>
                  <a:schemeClr val="dk1"/>
                </a:solidFill>
                <a:latin typeface="Proxima Nova"/>
                <a:ea typeface="Proxima Nova"/>
                <a:cs typeface="Proxima Nova"/>
                <a:sym typeface="Proxima Nova"/>
              </a:rPr>
              <a:t>Agree how we’ll work</a:t>
            </a:r>
            <a:br>
              <a:rPr b="1" lang="en" sz="1200">
                <a:solidFill>
                  <a:schemeClr val="dk1"/>
                </a:solidFill>
                <a:latin typeface="Proxima Nova"/>
                <a:ea typeface="Proxima Nova"/>
                <a:cs typeface="Proxima Nova"/>
                <a:sym typeface="Proxima Nova"/>
              </a:rPr>
            </a:br>
            <a:r>
              <a:rPr lang="en" sz="1000">
                <a:solidFill>
                  <a:schemeClr val="dk1"/>
                </a:solidFill>
                <a:latin typeface="Proxima Nova"/>
                <a:ea typeface="Proxima Nova"/>
                <a:cs typeface="Proxima Nova"/>
                <a:sym typeface="Proxima Nova"/>
              </a:rPr>
              <a:t>Cadence, communication, transparency, and how we handle change and escalation</a:t>
            </a:r>
            <a:r>
              <a:rPr lang="en" sz="1000">
                <a:solidFill>
                  <a:schemeClr val="dk1"/>
                </a:solidFill>
                <a:latin typeface="Proxima Nova"/>
                <a:ea typeface="Proxima Nova"/>
                <a:cs typeface="Proxima Nova"/>
                <a:sym typeface="Proxima Nova"/>
              </a:rPr>
              <a:t>. </a:t>
            </a:r>
            <a:endParaRPr b="1" sz="1300">
              <a:solidFill>
                <a:schemeClr val="dk1"/>
              </a:solidFill>
              <a:latin typeface="Proxima Nova"/>
              <a:ea typeface="Proxima Nova"/>
              <a:cs typeface="Proxima Nova"/>
              <a:sym typeface="Proxima Nova"/>
            </a:endParaRPr>
          </a:p>
        </p:txBody>
      </p:sp>
      <p:cxnSp>
        <p:nvCxnSpPr>
          <p:cNvPr id="105" name="Google Shape;105;p21"/>
          <p:cNvCxnSpPr/>
          <p:nvPr/>
        </p:nvCxnSpPr>
        <p:spPr>
          <a:xfrm>
            <a:off x="1544270" y="3695997"/>
            <a:ext cx="7028100" cy="0"/>
          </a:xfrm>
          <a:prstGeom prst="straightConnector1">
            <a:avLst/>
          </a:prstGeom>
          <a:noFill/>
          <a:ln cap="flat" cmpd="sng" w="12700">
            <a:solidFill>
              <a:srgbClr val="D3DCEC"/>
            </a:solidFill>
            <a:prstDash val="solid"/>
            <a:round/>
            <a:headEnd len="sm" w="sm" type="none"/>
            <a:tailEnd len="sm" w="sm" type="none"/>
          </a:ln>
        </p:spPr>
      </p:cxnSp>
      <p:sp>
        <p:nvSpPr>
          <p:cNvPr id="106" name="Google Shape;106;p21"/>
          <p:cNvSpPr txBox="1"/>
          <p:nvPr/>
        </p:nvSpPr>
        <p:spPr>
          <a:xfrm>
            <a:off x="1544275" y="3909375"/>
            <a:ext cx="7146300" cy="393900"/>
          </a:xfrm>
          <a:prstGeom prst="rect">
            <a:avLst/>
          </a:prstGeom>
          <a:noFill/>
          <a:ln>
            <a:noFill/>
          </a:ln>
        </p:spPr>
        <p:txBody>
          <a:bodyPr anchorCtr="0" anchor="t" bIns="0" lIns="0" spcFirstLastPara="1" rIns="0" wrap="square" tIns="0">
            <a:spAutoFit/>
          </a:bodyPr>
          <a:lstStyle/>
          <a:p>
            <a:pPr indent="0" lvl="0" marL="0" rtl="0" algn="l">
              <a:lnSpc>
                <a:spcPct val="130000"/>
              </a:lnSpc>
              <a:spcBef>
                <a:spcPts val="0"/>
              </a:spcBef>
              <a:spcAft>
                <a:spcPts val="0"/>
              </a:spcAft>
              <a:buNone/>
            </a:pPr>
            <a:r>
              <a:rPr b="1" lang="en" sz="1200">
                <a:solidFill>
                  <a:schemeClr val="dk1"/>
                </a:solidFill>
                <a:latin typeface="Proxima Nova"/>
                <a:ea typeface="Proxima Nova"/>
                <a:cs typeface="Proxima Nova"/>
                <a:sym typeface="Proxima Nova"/>
              </a:rPr>
              <a:t>Confirm next steps</a:t>
            </a:r>
            <a:br>
              <a:rPr b="1" lang="en" sz="1200">
                <a:solidFill>
                  <a:schemeClr val="dk1"/>
                </a:solidFill>
                <a:latin typeface="Proxima Nova"/>
                <a:ea typeface="Proxima Nova"/>
                <a:cs typeface="Proxima Nova"/>
                <a:sym typeface="Proxima Nova"/>
              </a:rPr>
            </a:br>
            <a:r>
              <a:rPr lang="en" sz="1000">
                <a:solidFill>
                  <a:schemeClr val="dk1"/>
                </a:solidFill>
                <a:latin typeface="Proxima Nova"/>
                <a:ea typeface="Proxima Nova"/>
                <a:cs typeface="Proxima Nova"/>
                <a:sym typeface="Proxima Nova"/>
              </a:rPr>
              <a:t>What happens in the next week, and what we’ll each own.</a:t>
            </a:r>
            <a:r>
              <a:rPr lang="en" sz="1000">
                <a:solidFill>
                  <a:schemeClr val="dk1"/>
                </a:solidFill>
                <a:latin typeface="Proxima Nova"/>
                <a:ea typeface="Proxima Nova"/>
                <a:cs typeface="Proxima Nova"/>
                <a:sym typeface="Proxima Nova"/>
              </a:rPr>
              <a:t> </a:t>
            </a:r>
            <a:endParaRPr b="1" sz="1300">
              <a:solidFill>
                <a:schemeClr val="dk1"/>
              </a:solidFill>
              <a:latin typeface="Proxima Nova"/>
              <a:ea typeface="Proxima Nova"/>
              <a:cs typeface="Proxima Nova"/>
              <a:sym typeface="Proxima Nova"/>
            </a:endParaRPr>
          </a:p>
        </p:txBody>
      </p:sp>
      <p:cxnSp>
        <p:nvCxnSpPr>
          <p:cNvPr id="107" name="Google Shape;107;p21"/>
          <p:cNvCxnSpPr/>
          <p:nvPr/>
        </p:nvCxnSpPr>
        <p:spPr>
          <a:xfrm>
            <a:off x="1544270" y="4516647"/>
            <a:ext cx="7028100" cy="0"/>
          </a:xfrm>
          <a:prstGeom prst="straightConnector1">
            <a:avLst/>
          </a:prstGeom>
          <a:noFill/>
          <a:ln cap="flat" cmpd="sng" w="12700">
            <a:solidFill>
              <a:srgbClr val="D3DCEC"/>
            </a:solidFill>
            <a:prstDash val="solid"/>
            <a:round/>
            <a:headEnd len="sm" w="sm" type="none"/>
            <a:tailEnd len="sm" w="sm" type="none"/>
          </a:ln>
        </p:spPr>
      </p:cxnSp>
      <p:pic>
        <p:nvPicPr>
          <p:cNvPr id="108" name="Google Shape;108;p21"/>
          <p:cNvPicPr preferRelativeResize="0"/>
          <p:nvPr/>
        </p:nvPicPr>
        <p:blipFill>
          <a:blip r:embed="rId3">
            <a:alphaModFix/>
          </a:blip>
          <a:stretch>
            <a:fillRect/>
          </a:stretch>
        </p:blipFill>
        <p:spPr>
          <a:xfrm>
            <a:off x="942048" y="2307857"/>
            <a:ext cx="317978" cy="317978"/>
          </a:xfrm>
          <a:prstGeom prst="rect">
            <a:avLst/>
          </a:prstGeom>
          <a:noFill/>
          <a:ln>
            <a:noFill/>
          </a:ln>
        </p:spPr>
      </p:pic>
      <p:pic>
        <p:nvPicPr>
          <p:cNvPr id="109" name="Google Shape;109;p21"/>
          <p:cNvPicPr preferRelativeResize="0"/>
          <p:nvPr/>
        </p:nvPicPr>
        <p:blipFill>
          <a:blip r:embed="rId4">
            <a:alphaModFix/>
          </a:blip>
          <a:stretch>
            <a:fillRect/>
          </a:stretch>
        </p:blipFill>
        <p:spPr>
          <a:xfrm>
            <a:off x="939563" y="1484848"/>
            <a:ext cx="322946" cy="322946"/>
          </a:xfrm>
          <a:prstGeom prst="rect">
            <a:avLst/>
          </a:prstGeom>
          <a:noFill/>
          <a:ln>
            <a:noFill/>
          </a:ln>
        </p:spPr>
      </p:pic>
      <p:pic>
        <p:nvPicPr>
          <p:cNvPr id="110" name="Google Shape;110;p21"/>
          <p:cNvPicPr preferRelativeResize="0"/>
          <p:nvPr/>
        </p:nvPicPr>
        <p:blipFill>
          <a:blip r:embed="rId5">
            <a:alphaModFix/>
          </a:blip>
          <a:stretch>
            <a:fillRect/>
          </a:stretch>
        </p:blipFill>
        <p:spPr>
          <a:xfrm flipH="1">
            <a:off x="941615" y="3125898"/>
            <a:ext cx="318844" cy="318843"/>
          </a:xfrm>
          <a:prstGeom prst="rect">
            <a:avLst/>
          </a:prstGeom>
          <a:noFill/>
          <a:ln>
            <a:noFill/>
          </a:ln>
        </p:spPr>
      </p:pic>
      <p:pic>
        <p:nvPicPr>
          <p:cNvPr id="111" name="Google Shape;111;p21"/>
          <p:cNvPicPr preferRelativeResize="0"/>
          <p:nvPr/>
        </p:nvPicPr>
        <p:blipFill>
          <a:blip r:embed="rId6">
            <a:alphaModFix/>
          </a:blip>
          <a:stretch>
            <a:fillRect/>
          </a:stretch>
        </p:blipFill>
        <p:spPr>
          <a:xfrm>
            <a:off x="942048" y="3944804"/>
            <a:ext cx="317978" cy="317978"/>
          </a:xfrm>
          <a:prstGeom prst="rect">
            <a:avLst/>
          </a:prstGeom>
          <a:noFill/>
          <a:ln>
            <a:noFill/>
          </a:ln>
        </p:spPr>
      </p:pic>
      <p:sp>
        <p:nvSpPr>
          <p:cNvPr id="112" name="Google Shape;112;p21"/>
          <p:cNvSpPr/>
          <p:nvPr/>
        </p:nvSpPr>
        <p:spPr>
          <a:xfrm>
            <a:off x="633776" y="356650"/>
            <a:ext cx="8023800" cy="251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5AAC"/>
              </a:buClr>
              <a:buSzPts val="1200"/>
              <a:buFont typeface="Calibri"/>
              <a:buNone/>
            </a:pPr>
            <a:r>
              <a:rPr b="1" i="0" lang="en" sz="900" u="none" cap="none" strike="noStrike">
                <a:solidFill>
                  <a:srgbClr val="2E5AAC"/>
                </a:solidFill>
                <a:latin typeface="Proxima Nova"/>
                <a:ea typeface="Proxima Nova"/>
                <a:cs typeface="Proxima Nova"/>
                <a:sym typeface="Proxima Nova"/>
              </a:rPr>
              <a:t>WHY WE'RE HERE TODAY</a:t>
            </a:r>
            <a:endParaRPr i="0" sz="900" u="none" cap="none" strike="noStrike">
              <a:solidFill>
                <a:srgbClr val="000000"/>
              </a:solidFill>
              <a:latin typeface="Proxima Nova"/>
              <a:ea typeface="Proxima Nova"/>
              <a:cs typeface="Proxima Nova"/>
              <a:sym typeface="Proxima Nov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2"/>
          <p:cNvSpPr txBox="1"/>
          <p:nvPr>
            <p:ph type="ctrTitle"/>
          </p:nvPr>
        </p:nvSpPr>
        <p:spPr>
          <a:xfrm>
            <a:off x="633776" y="880400"/>
            <a:ext cx="8023800" cy="3324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1"/>
              </a:buClr>
              <a:buSzPts val="2400"/>
              <a:buFont typeface="Montserrat"/>
              <a:buNone/>
            </a:pPr>
            <a:r>
              <a:rPr lang="en"/>
              <a:t>The people delivering your project</a:t>
            </a:r>
            <a:endParaRPr sz="2400">
              <a:latin typeface="Proxima Nova"/>
              <a:ea typeface="Proxima Nova"/>
              <a:cs typeface="Proxima Nova"/>
              <a:sym typeface="Proxima Nova"/>
            </a:endParaRPr>
          </a:p>
        </p:txBody>
      </p:sp>
      <p:sp>
        <p:nvSpPr>
          <p:cNvPr id="118" name="Google Shape;118;p22"/>
          <p:cNvSpPr/>
          <p:nvPr/>
        </p:nvSpPr>
        <p:spPr>
          <a:xfrm>
            <a:off x="633776" y="356650"/>
            <a:ext cx="8023800" cy="251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5AAC"/>
              </a:buClr>
              <a:buSzPts val="1200"/>
              <a:buFont typeface="Calibri"/>
              <a:buNone/>
            </a:pPr>
            <a:r>
              <a:rPr b="1" lang="en" sz="900">
                <a:solidFill>
                  <a:srgbClr val="2E5AAC"/>
                </a:solidFill>
                <a:latin typeface="Proxima Nova"/>
                <a:ea typeface="Proxima Nova"/>
                <a:cs typeface="Proxima Nova"/>
                <a:sym typeface="Proxima Nova"/>
              </a:rPr>
              <a:t>YOUR TEAM</a:t>
            </a:r>
            <a:endParaRPr i="0" sz="900" u="none" cap="none" strike="noStrike">
              <a:solidFill>
                <a:srgbClr val="000000"/>
              </a:solidFill>
              <a:latin typeface="Proxima Nova"/>
              <a:ea typeface="Proxima Nova"/>
              <a:cs typeface="Proxima Nova"/>
              <a:sym typeface="Proxima Nova"/>
            </a:endParaRPr>
          </a:p>
        </p:txBody>
      </p:sp>
      <p:sp>
        <p:nvSpPr>
          <p:cNvPr id="119" name="Google Shape;119;p22"/>
          <p:cNvSpPr txBox="1"/>
          <p:nvPr/>
        </p:nvSpPr>
        <p:spPr>
          <a:xfrm>
            <a:off x="4737224" y="1656805"/>
            <a:ext cx="1335900" cy="406500"/>
          </a:xfrm>
          <a:prstGeom prst="rect">
            <a:avLst/>
          </a:prstGeom>
          <a:noFill/>
          <a:ln>
            <a:noFill/>
          </a:ln>
        </p:spPr>
        <p:txBody>
          <a:bodyPr anchorCtr="0" anchor="t" bIns="0" lIns="0" spcFirstLastPara="1" rIns="0" wrap="square" tIns="0">
            <a:spAutoFit/>
          </a:bodyPr>
          <a:lstStyle/>
          <a:p>
            <a:pPr indent="0" lvl="0" marL="0" rtl="0" algn="l">
              <a:lnSpc>
                <a:spcPct val="120000"/>
              </a:lnSpc>
              <a:spcBef>
                <a:spcPts val="500"/>
              </a:spcBef>
              <a:spcAft>
                <a:spcPts val="0"/>
              </a:spcAft>
              <a:buNone/>
            </a:pPr>
            <a:r>
              <a:rPr b="1" lang="en" sz="1200">
                <a:solidFill>
                  <a:srgbClr val="204ECF"/>
                </a:solidFill>
                <a:latin typeface="Proxima Nova"/>
                <a:ea typeface="Proxima Nova"/>
                <a:cs typeface="Proxima Nova"/>
                <a:sym typeface="Proxima Nova"/>
              </a:rPr>
              <a:t>Matheus Mansour El Batti</a:t>
            </a:r>
            <a:endParaRPr b="1" sz="1200">
              <a:solidFill>
                <a:srgbClr val="204ECF"/>
              </a:solidFill>
              <a:latin typeface="Proxima Nova"/>
              <a:ea typeface="Proxima Nova"/>
              <a:cs typeface="Proxima Nova"/>
              <a:sym typeface="Proxima Nova"/>
            </a:endParaRPr>
          </a:p>
        </p:txBody>
      </p:sp>
      <p:pic>
        <p:nvPicPr>
          <p:cNvPr id="120" name="Google Shape;120;p22"/>
          <p:cNvPicPr preferRelativeResize="0"/>
          <p:nvPr/>
        </p:nvPicPr>
        <p:blipFill>
          <a:blip r:embed="rId3">
            <a:alphaModFix/>
          </a:blip>
          <a:stretch>
            <a:fillRect/>
          </a:stretch>
        </p:blipFill>
        <p:spPr>
          <a:xfrm>
            <a:off x="4737220" y="2098185"/>
            <a:ext cx="91214" cy="114017"/>
          </a:xfrm>
          <a:prstGeom prst="rect">
            <a:avLst/>
          </a:prstGeom>
          <a:noFill/>
          <a:ln>
            <a:noFill/>
          </a:ln>
        </p:spPr>
      </p:pic>
      <p:sp>
        <p:nvSpPr>
          <p:cNvPr id="121" name="Google Shape;121;p22"/>
          <p:cNvSpPr txBox="1"/>
          <p:nvPr/>
        </p:nvSpPr>
        <p:spPr>
          <a:xfrm>
            <a:off x="4856748" y="2090357"/>
            <a:ext cx="1157400" cy="123000"/>
          </a:xfrm>
          <a:prstGeom prst="rect">
            <a:avLst/>
          </a:prstGeom>
          <a:noFill/>
          <a:ln>
            <a:noFill/>
          </a:ln>
        </p:spPr>
        <p:txBody>
          <a:bodyPr anchorCtr="0" anchor="t" bIns="0" lIns="0" spcFirstLastPara="1" rIns="0" wrap="square" tIns="0">
            <a:spAutoFit/>
          </a:bodyPr>
          <a:lstStyle/>
          <a:p>
            <a:pPr indent="0" lvl="0" marL="0" rtl="0" algn="l">
              <a:lnSpc>
                <a:spcPct val="120000"/>
              </a:lnSpc>
              <a:spcBef>
                <a:spcPts val="500"/>
              </a:spcBef>
              <a:spcAft>
                <a:spcPts val="0"/>
              </a:spcAft>
              <a:buNone/>
            </a:pPr>
            <a:r>
              <a:rPr b="1" lang="en" sz="800">
                <a:solidFill>
                  <a:srgbClr val="07947C"/>
                </a:solidFill>
                <a:latin typeface="Proxima Nova"/>
                <a:ea typeface="Proxima Nova"/>
                <a:cs typeface="Proxima Nova"/>
                <a:sym typeface="Proxima Nova"/>
              </a:rPr>
              <a:t>Full Stack Developer</a:t>
            </a:r>
            <a:endParaRPr sz="800">
              <a:solidFill>
                <a:srgbClr val="07947C"/>
              </a:solidFill>
              <a:latin typeface="Proxima Nova"/>
              <a:ea typeface="Proxima Nova"/>
              <a:cs typeface="Proxima Nova"/>
              <a:sym typeface="Proxima Nova"/>
            </a:endParaRPr>
          </a:p>
        </p:txBody>
      </p:sp>
      <p:sp>
        <p:nvSpPr>
          <p:cNvPr id="122" name="Google Shape;122;p22"/>
          <p:cNvSpPr txBox="1"/>
          <p:nvPr/>
        </p:nvSpPr>
        <p:spPr>
          <a:xfrm>
            <a:off x="4856750" y="2250982"/>
            <a:ext cx="1157400" cy="123000"/>
          </a:xfrm>
          <a:prstGeom prst="rect">
            <a:avLst/>
          </a:prstGeom>
          <a:noFill/>
          <a:ln>
            <a:noFill/>
          </a:ln>
        </p:spPr>
        <p:txBody>
          <a:bodyPr anchorCtr="0" anchor="t" bIns="0" lIns="0" spcFirstLastPara="1" rIns="0" wrap="square" tIns="0">
            <a:spAutoFit/>
          </a:bodyPr>
          <a:lstStyle/>
          <a:p>
            <a:pPr indent="0" lvl="0" marL="0" rtl="0" algn="l">
              <a:lnSpc>
                <a:spcPct val="120000"/>
              </a:lnSpc>
              <a:spcBef>
                <a:spcPts val="500"/>
              </a:spcBef>
              <a:spcAft>
                <a:spcPts val="0"/>
              </a:spcAft>
              <a:buNone/>
            </a:pPr>
            <a:r>
              <a:rPr b="1" lang="en" sz="800">
                <a:solidFill>
                  <a:srgbClr val="455065"/>
                </a:solidFill>
                <a:latin typeface="Proxima Nova"/>
                <a:ea typeface="Proxima Nova"/>
                <a:cs typeface="Proxima Nova"/>
                <a:sym typeface="Proxima Nova"/>
              </a:rPr>
              <a:t>America - Sao Paulo</a:t>
            </a:r>
            <a:endParaRPr sz="800">
              <a:solidFill>
                <a:srgbClr val="455065"/>
              </a:solidFill>
              <a:latin typeface="Proxima Nova"/>
              <a:ea typeface="Proxima Nova"/>
              <a:cs typeface="Proxima Nova"/>
              <a:sym typeface="Proxima Nova"/>
            </a:endParaRPr>
          </a:p>
        </p:txBody>
      </p:sp>
      <p:pic>
        <p:nvPicPr>
          <p:cNvPr id="123" name="Google Shape;123;p22"/>
          <p:cNvPicPr preferRelativeResize="0"/>
          <p:nvPr/>
        </p:nvPicPr>
        <p:blipFill>
          <a:blip r:embed="rId4">
            <a:alphaModFix/>
          </a:blip>
          <a:stretch>
            <a:fillRect/>
          </a:stretch>
        </p:blipFill>
        <p:spPr>
          <a:xfrm>
            <a:off x="4737220" y="2263132"/>
            <a:ext cx="91214" cy="91209"/>
          </a:xfrm>
          <a:prstGeom prst="rect">
            <a:avLst/>
          </a:prstGeom>
          <a:noFill/>
          <a:ln>
            <a:noFill/>
          </a:ln>
        </p:spPr>
      </p:pic>
      <p:sp>
        <p:nvSpPr>
          <p:cNvPr id="124" name="Google Shape;124;p22"/>
          <p:cNvSpPr txBox="1"/>
          <p:nvPr/>
        </p:nvSpPr>
        <p:spPr>
          <a:xfrm>
            <a:off x="1871473" y="1656805"/>
            <a:ext cx="1203600" cy="184800"/>
          </a:xfrm>
          <a:prstGeom prst="rect">
            <a:avLst/>
          </a:prstGeom>
          <a:noFill/>
          <a:ln>
            <a:noFill/>
          </a:ln>
        </p:spPr>
        <p:txBody>
          <a:bodyPr anchorCtr="0" anchor="t" bIns="0" lIns="0" spcFirstLastPara="1" rIns="0" wrap="square" tIns="0">
            <a:spAutoFit/>
          </a:bodyPr>
          <a:lstStyle/>
          <a:p>
            <a:pPr indent="0" lvl="0" marL="0" rtl="0" algn="l">
              <a:lnSpc>
                <a:spcPct val="120000"/>
              </a:lnSpc>
              <a:spcBef>
                <a:spcPts val="500"/>
              </a:spcBef>
              <a:spcAft>
                <a:spcPts val="0"/>
              </a:spcAft>
              <a:buNone/>
            </a:pPr>
            <a:r>
              <a:rPr b="1" lang="en" sz="1200">
                <a:solidFill>
                  <a:srgbClr val="204ECF"/>
                </a:solidFill>
                <a:latin typeface="Proxima Nova"/>
                <a:ea typeface="Proxima Nova"/>
                <a:cs typeface="Proxima Nova"/>
                <a:sym typeface="Proxima Nova"/>
              </a:rPr>
              <a:t>Rodney deJong</a:t>
            </a:r>
            <a:endParaRPr b="1" sz="1200">
              <a:solidFill>
                <a:srgbClr val="204ECF"/>
              </a:solidFill>
              <a:latin typeface="Proxima Nova"/>
              <a:ea typeface="Proxima Nova"/>
              <a:cs typeface="Proxima Nova"/>
              <a:sym typeface="Proxima Nova"/>
            </a:endParaRPr>
          </a:p>
        </p:txBody>
      </p:sp>
      <p:pic>
        <p:nvPicPr>
          <p:cNvPr id="125" name="Google Shape;125;p22"/>
          <p:cNvPicPr preferRelativeResize="0"/>
          <p:nvPr/>
        </p:nvPicPr>
        <p:blipFill>
          <a:blip r:embed="rId3">
            <a:alphaModFix/>
          </a:blip>
          <a:stretch>
            <a:fillRect/>
          </a:stretch>
        </p:blipFill>
        <p:spPr>
          <a:xfrm>
            <a:off x="1871470" y="1904283"/>
            <a:ext cx="91214" cy="114017"/>
          </a:xfrm>
          <a:prstGeom prst="rect">
            <a:avLst/>
          </a:prstGeom>
          <a:noFill/>
          <a:ln>
            <a:noFill/>
          </a:ln>
        </p:spPr>
      </p:pic>
      <p:sp>
        <p:nvSpPr>
          <p:cNvPr id="126" name="Google Shape;126;p22"/>
          <p:cNvSpPr txBox="1"/>
          <p:nvPr/>
        </p:nvSpPr>
        <p:spPr>
          <a:xfrm>
            <a:off x="1991000" y="1896455"/>
            <a:ext cx="1339500" cy="123000"/>
          </a:xfrm>
          <a:prstGeom prst="rect">
            <a:avLst/>
          </a:prstGeom>
          <a:noFill/>
          <a:ln>
            <a:noFill/>
          </a:ln>
        </p:spPr>
        <p:txBody>
          <a:bodyPr anchorCtr="0" anchor="t" bIns="0" lIns="0" spcFirstLastPara="1" rIns="0" wrap="square" tIns="0">
            <a:spAutoFit/>
          </a:bodyPr>
          <a:lstStyle/>
          <a:p>
            <a:pPr indent="0" lvl="0" marL="0" rtl="0" algn="l">
              <a:lnSpc>
                <a:spcPct val="120000"/>
              </a:lnSpc>
              <a:spcBef>
                <a:spcPts val="500"/>
              </a:spcBef>
              <a:spcAft>
                <a:spcPts val="0"/>
              </a:spcAft>
              <a:buNone/>
            </a:pPr>
            <a:r>
              <a:rPr b="1" lang="en" sz="800">
                <a:solidFill>
                  <a:srgbClr val="07947C"/>
                </a:solidFill>
                <a:latin typeface="Proxima Nova"/>
                <a:ea typeface="Proxima Nova"/>
                <a:cs typeface="Proxima Nova"/>
                <a:sym typeface="Proxima Nova"/>
              </a:rPr>
              <a:t>Project Manager</a:t>
            </a:r>
            <a:endParaRPr sz="800">
              <a:solidFill>
                <a:srgbClr val="07947C"/>
              </a:solidFill>
              <a:latin typeface="Proxima Nova"/>
              <a:ea typeface="Proxima Nova"/>
              <a:cs typeface="Proxima Nova"/>
              <a:sym typeface="Proxima Nova"/>
            </a:endParaRPr>
          </a:p>
        </p:txBody>
      </p:sp>
      <p:sp>
        <p:nvSpPr>
          <p:cNvPr id="127" name="Google Shape;127;p22"/>
          <p:cNvSpPr txBox="1"/>
          <p:nvPr/>
        </p:nvSpPr>
        <p:spPr>
          <a:xfrm>
            <a:off x="1990997" y="2057080"/>
            <a:ext cx="1038000" cy="123000"/>
          </a:xfrm>
          <a:prstGeom prst="rect">
            <a:avLst/>
          </a:prstGeom>
          <a:noFill/>
          <a:ln>
            <a:noFill/>
          </a:ln>
        </p:spPr>
        <p:txBody>
          <a:bodyPr anchorCtr="0" anchor="t" bIns="0" lIns="0" spcFirstLastPara="1" rIns="0" wrap="square" tIns="0">
            <a:spAutoFit/>
          </a:bodyPr>
          <a:lstStyle/>
          <a:p>
            <a:pPr indent="0" lvl="0" marL="0" rtl="0" algn="l">
              <a:lnSpc>
                <a:spcPct val="120000"/>
              </a:lnSpc>
              <a:spcBef>
                <a:spcPts val="500"/>
              </a:spcBef>
              <a:spcAft>
                <a:spcPts val="0"/>
              </a:spcAft>
              <a:buNone/>
            </a:pPr>
            <a:r>
              <a:rPr b="1" lang="en" sz="800">
                <a:solidFill>
                  <a:srgbClr val="455065"/>
                </a:solidFill>
                <a:latin typeface="Proxima Nova"/>
                <a:ea typeface="Proxima Nova"/>
                <a:cs typeface="Proxima Nova"/>
                <a:sym typeface="Proxima Nova"/>
              </a:rPr>
              <a:t>America - Vancouver</a:t>
            </a:r>
            <a:endParaRPr sz="800">
              <a:solidFill>
                <a:srgbClr val="455065"/>
              </a:solidFill>
              <a:latin typeface="Proxima Nova"/>
              <a:ea typeface="Proxima Nova"/>
              <a:cs typeface="Proxima Nova"/>
              <a:sym typeface="Proxima Nova"/>
            </a:endParaRPr>
          </a:p>
        </p:txBody>
      </p:sp>
      <p:pic>
        <p:nvPicPr>
          <p:cNvPr id="128" name="Google Shape;128;p22"/>
          <p:cNvPicPr preferRelativeResize="0"/>
          <p:nvPr/>
        </p:nvPicPr>
        <p:blipFill>
          <a:blip r:embed="rId4">
            <a:alphaModFix/>
          </a:blip>
          <a:stretch>
            <a:fillRect/>
          </a:stretch>
        </p:blipFill>
        <p:spPr>
          <a:xfrm>
            <a:off x="1871470" y="2069230"/>
            <a:ext cx="91214" cy="91209"/>
          </a:xfrm>
          <a:prstGeom prst="rect">
            <a:avLst/>
          </a:prstGeom>
          <a:noFill/>
          <a:ln>
            <a:noFill/>
          </a:ln>
        </p:spPr>
      </p:pic>
      <p:sp>
        <p:nvSpPr>
          <p:cNvPr id="129" name="Google Shape;129;p22"/>
          <p:cNvSpPr txBox="1"/>
          <p:nvPr/>
        </p:nvSpPr>
        <p:spPr>
          <a:xfrm>
            <a:off x="7558999" y="1656805"/>
            <a:ext cx="1335900" cy="184800"/>
          </a:xfrm>
          <a:prstGeom prst="rect">
            <a:avLst/>
          </a:prstGeom>
          <a:noFill/>
          <a:ln>
            <a:noFill/>
          </a:ln>
        </p:spPr>
        <p:txBody>
          <a:bodyPr anchorCtr="0" anchor="t" bIns="0" lIns="0" spcFirstLastPara="1" rIns="0" wrap="square" tIns="0">
            <a:spAutoFit/>
          </a:bodyPr>
          <a:lstStyle/>
          <a:p>
            <a:pPr indent="0" lvl="0" marL="0" rtl="0" algn="l">
              <a:lnSpc>
                <a:spcPct val="120000"/>
              </a:lnSpc>
              <a:spcBef>
                <a:spcPts val="500"/>
              </a:spcBef>
              <a:spcAft>
                <a:spcPts val="0"/>
              </a:spcAft>
              <a:buNone/>
            </a:pPr>
            <a:r>
              <a:rPr b="1" lang="en" sz="1200">
                <a:solidFill>
                  <a:srgbClr val="204ECF"/>
                </a:solidFill>
                <a:latin typeface="Proxima Nova"/>
                <a:ea typeface="Proxima Nova"/>
                <a:cs typeface="Proxima Nova"/>
                <a:sym typeface="Proxima Nova"/>
              </a:rPr>
              <a:t>Kranth Kumar</a:t>
            </a:r>
            <a:endParaRPr b="1" sz="1200">
              <a:solidFill>
                <a:srgbClr val="204ECF"/>
              </a:solidFill>
              <a:latin typeface="Proxima Nova"/>
              <a:ea typeface="Proxima Nova"/>
              <a:cs typeface="Proxima Nova"/>
              <a:sym typeface="Proxima Nova"/>
            </a:endParaRPr>
          </a:p>
        </p:txBody>
      </p:sp>
      <p:pic>
        <p:nvPicPr>
          <p:cNvPr id="130" name="Google Shape;130;p22"/>
          <p:cNvPicPr preferRelativeResize="0"/>
          <p:nvPr/>
        </p:nvPicPr>
        <p:blipFill>
          <a:blip r:embed="rId3">
            <a:alphaModFix/>
          </a:blip>
          <a:stretch>
            <a:fillRect/>
          </a:stretch>
        </p:blipFill>
        <p:spPr>
          <a:xfrm>
            <a:off x="7558995" y="1919733"/>
            <a:ext cx="91214" cy="114017"/>
          </a:xfrm>
          <a:prstGeom prst="rect">
            <a:avLst/>
          </a:prstGeom>
          <a:noFill/>
          <a:ln>
            <a:noFill/>
          </a:ln>
        </p:spPr>
      </p:pic>
      <p:sp>
        <p:nvSpPr>
          <p:cNvPr id="131" name="Google Shape;131;p22"/>
          <p:cNvSpPr txBox="1"/>
          <p:nvPr/>
        </p:nvSpPr>
        <p:spPr>
          <a:xfrm>
            <a:off x="7678523" y="1911905"/>
            <a:ext cx="1157400" cy="123000"/>
          </a:xfrm>
          <a:prstGeom prst="rect">
            <a:avLst/>
          </a:prstGeom>
          <a:noFill/>
          <a:ln>
            <a:noFill/>
          </a:ln>
        </p:spPr>
        <p:txBody>
          <a:bodyPr anchorCtr="0" anchor="t" bIns="0" lIns="0" spcFirstLastPara="1" rIns="0" wrap="square" tIns="0">
            <a:spAutoFit/>
          </a:bodyPr>
          <a:lstStyle/>
          <a:p>
            <a:pPr indent="0" lvl="0" marL="0" rtl="0" algn="l">
              <a:lnSpc>
                <a:spcPct val="120000"/>
              </a:lnSpc>
              <a:spcBef>
                <a:spcPts val="500"/>
              </a:spcBef>
              <a:spcAft>
                <a:spcPts val="0"/>
              </a:spcAft>
              <a:buNone/>
            </a:pPr>
            <a:r>
              <a:rPr b="1" lang="en" sz="800">
                <a:solidFill>
                  <a:srgbClr val="07947C"/>
                </a:solidFill>
                <a:latin typeface="Proxima Nova"/>
                <a:ea typeface="Proxima Nova"/>
                <a:cs typeface="Proxima Nova"/>
                <a:sym typeface="Proxima Nova"/>
              </a:rPr>
              <a:t>QA Engineer</a:t>
            </a:r>
            <a:endParaRPr sz="800">
              <a:solidFill>
                <a:srgbClr val="07947C"/>
              </a:solidFill>
              <a:latin typeface="Proxima Nova"/>
              <a:ea typeface="Proxima Nova"/>
              <a:cs typeface="Proxima Nova"/>
              <a:sym typeface="Proxima Nova"/>
            </a:endParaRPr>
          </a:p>
        </p:txBody>
      </p:sp>
      <p:sp>
        <p:nvSpPr>
          <p:cNvPr id="132" name="Google Shape;132;p22"/>
          <p:cNvSpPr txBox="1"/>
          <p:nvPr/>
        </p:nvSpPr>
        <p:spPr>
          <a:xfrm>
            <a:off x="7678525" y="2072530"/>
            <a:ext cx="1157400" cy="123000"/>
          </a:xfrm>
          <a:prstGeom prst="rect">
            <a:avLst/>
          </a:prstGeom>
          <a:noFill/>
          <a:ln>
            <a:noFill/>
          </a:ln>
        </p:spPr>
        <p:txBody>
          <a:bodyPr anchorCtr="0" anchor="t" bIns="0" lIns="0" spcFirstLastPara="1" rIns="0" wrap="square" tIns="0">
            <a:spAutoFit/>
          </a:bodyPr>
          <a:lstStyle/>
          <a:p>
            <a:pPr indent="0" lvl="0" marL="0" rtl="0" algn="l">
              <a:lnSpc>
                <a:spcPct val="120000"/>
              </a:lnSpc>
              <a:spcBef>
                <a:spcPts val="500"/>
              </a:spcBef>
              <a:spcAft>
                <a:spcPts val="0"/>
              </a:spcAft>
              <a:buNone/>
            </a:pPr>
            <a:r>
              <a:rPr b="1" lang="en" sz="800">
                <a:solidFill>
                  <a:srgbClr val="455065"/>
                </a:solidFill>
                <a:latin typeface="Proxima Nova"/>
                <a:ea typeface="Proxima Nova"/>
                <a:cs typeface="Proxima Nova"/>
                <a:sym typeface="Proxima Nova"/>
              </a:rPr>
              <a:t>Asia - Kolkata</a:t>
            </a:r>
            <a:endParaRPr sz="800">
              <a:solidFill>
                <a:srgbClr val="455065"/>
              </a:solidFill>
              <a:latin typeface="Proxima Nova"/>
              <a:ea typeface="Proxima Nova"/>
              <a:cs typeface="Proxima Nova"/>
              <a:sym typeface="Proxima Nova"/>
            </a:endParaRPr>
          </a:p>
        </p:txBody>
      </p:sp>
      <p:pic>
        <p:nvPicPr>
          <p:cNvPr id="133" name="Google Shape;133;p22"/>
          <p:cNvPicPr preferRelativeResize="0"/>
          <p:nvPr/>
        </p:nvPicPr>
        <p:blipFill>
          <a:blip r:embed="rId4">
            <a:alphaModFix/>
          </a:blip>
          <a:stretch>
            <a:fillRect/>
          </a:stretch>
        </p:blipFill>
        <p:spPr>
          <a:xfrm>
            <a:off x="7558995" y="2084680"/>
            <a:ext cx="91214" cy="91209"/>
          </a:xfrm>
          <a:prstGeom prst="rect">
            <a:avLst/>
          </a:prstGeom>
          <a:noFill/>
          <a:ln>
            <a:noFill/>
          </a:ln>
        </p:spPr>
      </p:pic>
      <p:sp>
        <p:nvSpPr>
          <p:cNvPr id="134" name="Google Shape;134;p22"/>
          <p:cNvSpPr txBox="1"/>
          <p:nvPr/>
        </p:nvSpPr>
        <p:spPr>
          <a:xfrm>
            <a:off x="1831499" y="2984160"/>
            <a:ext cx="1335900" cy="184800"/>
          </a:xfrm>
          <a:prstGeom prst="rect">
            <a:avLst/>
          </a:prstGeom>
          <a:noFill/>
          <a:ln>
            <a:noFill/>
          </a:ln>
        </p:spPr>
        <p:txBody>
          <a:bodyPr anchorCtr="0" anchor="t" bIns="0" lIns="0" spcFirstLastPara="1" rIns="0" wrap="square" tIns="0">
            <a:spAutoFit/>
          </a:bodyPr>
          <a:lstStyle/>
          <a:p>
            <a:pPr indent="0" lvl="0" marL="0" rtl="0" algn="l">
              <a:lnSpc>
                <a:spcPct val="120000"/>
              </a:lnSpc>
              <a:spcBef>
                <a:spcPts val="500"/>
              </a:spcBef>
              <a:spcAft>
                <a:spcPts val="0"/>
              </a:spcAft>
              <a:buNone/>
            </a:pPr>
            <a:r>
              <a:rPr b="1" lang="en" sz="1200">
                <a:solidFill>
                  <a:srgbClr val="204ECF"/>
                </a:solidFill>
                <a:latin typeface="Proxima Nova"/>
                <a:ea typeface="Proxima Nova"/>
                <a:cs typeface="Proxima Nova"/>
                <a:sym typeface="Proxima Nova"/>
              </a:rPr>
              <a:t>Lindsey Kanturek</a:t>
            </a:r>
            <a:endParaRPr b="1" sz="1200">
              <a:solidFill>
                <a:srgbClr val="204ECF"/>
              </a:solidFill>
              <a:latin typeface="Proxima Nova"/>
              <a:ea typeface="Proxima Nova"/>
              <a:cs typeface="Proxima Nova"/>
              <a:sym typeface="Proxima Nova"/>
            </a:endParaRPr>
          </a:p>
        </p:txBody>
      </p:sp>
      <p:pic>
        <p:nvPicPr>
          <p:cNvPr id="135" name="Google Shape;135;p22"/>
          <p:cNvPicPr preferRelativeResize="0"/>
          <p:nvPr/>
        </p:nvPicPr>
        <p:blipFill>
          <a:blip r:embed="rId3">
            <a:alphaModFix/>
          </a:blip>
          <a:stretch>
            <a:fillRect/>
          </a:stretch>
        </p:blipFill>
        <p:spPr>
          <a:xfrm>
            <a:off x="1831495" y="3231638"/>
            <a:ext cx="91214" cy="114017"/>
          </a:xfrm>
          <a:prstGeom prst="rect">
            <a:avLst/>
          </a:prstGeom>
          <a:noFill/>
          <a:ln>
            <a:noFill/>
          </a:ln>
        </p:spPr>
      </p:pic>
      <p:sp>
        <p:nvSpPr>
          <p:cNvPr id="136" name="Google Shape;136;p22"/>
          <p:cNvSpPr txBox="1"/>
          <p:nvPr/>
        </p:nvSpPr>
        <p:spPr>
          <a:xfrm>
            <a:off x="1951023" y="3223810"/>
            <a:ext cx="1157400" cy="123000"/>
          </a:xfrm>
          <a:prstGeom prst="rect">
            <a:avLst/>
          </a:prstGeom>
          <a:noFill/>
          <a:ln>
            <a:noFill/>
          </a:ln>
        </p:spPr>
        <p:txBody>
          <a:bodyPr anchorCtr="0" anchor="t" bIns="0" lIns="0" spcFirstLastPara="1" rIns="0" wrap="square" tIns="0">
            <a:spAutoFit/>
          </a:bodyPr>
          <a:lstStyle/>
          <a:p>
            <a:pPr indent="0" lvl="0" marL="0" rtl="0" algn="l">
              <a:lnSpc>
                <a:spcPct val="120000"/>
              </a:lnSpc>
              <a:spcBef>
                <a:spcPts val="500"/>
              </a:spcBef>
              <a:spcAft>
                <a:spcPts val="0"/>
              </a:spcAft>
              <a:buNone/>
            </a:pPr>
            <a:r>
              <a:rPr b="1" lang="en" sz="800">
                <a:solidFill>
                  <a:srgbClr val="07947C"/>
                </a:solidFill>
                <a:latin typeface="Proxima Nova"/>
                <a:ea typeface="Proxima Nova"/>
                <a:cs typeface="Proxima Nova"/>
                <a:sym typeface="Proxima Nova"/>
              </a:rPr>
              <a:t>Senior Client Partner</a:t>
            </a:r>
            <a:endParaRPr sz="800">
              <a:solidFill>
                <a:srgbClr val="07947C"/>
              </a:solidFill>
              <a:latin typeface="Proxima Nova"/>
              <a:ea typeface="Proxima Nova"/>
              <a:cs typeface="Proxima Nova"/>
              <a:sym typeface="Proxima Nova"/>
            </a:endParaRPr>
          </a:p>
        </p:txBody>
      </p:sp>
      <p:sp>
        <p:nvSpPr>
          <p:cNvPr id="137" name="Google Shape;137;p22"/>
          <p:cNvSpPr txBox="1"/>
          <p:nvPr/>
        </p:nvSpPr>
        <p:spPr>
          <a:xfrm>
            <a:off x="1951025" y="3384435"/>
            <a:ext cx="1157400" cy="123000"/>
          </a:xfrm>
          <a:prstGeom prst="rect">
            <a:avLst/>
          </a:prstGeom>
          <a:noFill/>
          <a:ln>
            <a:noFill/>
          </a:ln>
        </p:spPr>
        <p:txBody>
          <a:bodyPr anchorCtr="0" anchor="t" bIns="0" lIns="0" spcFirstLastPara="1" rIns="0" wrap="square" tIns="0">
            <a:spAutoFit/>
          </a:bodyPr>
          <a:lstStyle/>
          <a:p>
            <a:pPr indent="0" lvl="0" marL="0" rtl="0" algn="l">
              <a:lnSpc>
                <a:spcPct val="120000"/>
              </a:lnSpc>
              <a:spcBef>
                <a:spcPts val="500"/>
              </a:spcBef>
              <a:spcAft>
                <a:spcPts val="0"/>
              </a:spcAft>
              <a:buNone/>
            </a:pPr>
            <a:r>
              <a:rPr b="1" lang="en" sz="800">
                <a:solidFill>
                  <a:srgbClr val="455065"/>
                </a:solidFill>
                <a:latin typeface="Proxima Nova"/>
                <a:ea typeface="Proxima Nova"/>
                <a:cs typeface="Proxima Nova"/>
                <a:sym typeface="Proxima Nova"/>
              </a:rPr>
              <a:t>America - Chicago</a:t>
            </a:r>
            <a:endParaRPr sz="800">
              <a:solidFill>
                <a:srgbClr val="455065"/>
              </a:solidFill>
              <a:latin typeface="Proxima Nova"/>
              <a:ea typeface="Proxima Nova"/>
              <a:cs typeface="Proxima Nova"/>
              <a:sym typeface="Proxima Nova"/>
            </a:endParaRPr>
          </a:p>
        </p:txBody>
      </p:sp>
      <p:pic>
        <p:nvPicPr>
          <p:cNvPr id="138" name="Google Shape;138;p22"/>
          <p:cNvPicPr preferRelativeResize="0"/>
          <p:nvPr/>
        </p:nvPicPr>
        <p:blipFill>
          <a:blip r:embed="rId4">
            <a:alphaModFix/>
          </a:blip>
          <a:stretch>
            <a:fillRect/>
          </a:stretch>
        </p:blipFill>
        <p:spPr>
          <a:xfrm>
            <a:off x="1831495" y="3396584"/>
            <a:ext cx="91214" cy="91209"/>
          </a:xfrm>
          <a:prstGeom prst="rect">
            <a:avLst/>
          </a:prstGeom>
          <a:noFill/>
          <a:ln>
            <a:noFill/>
          </a:ln>
        </p:spPr>
      </p:pic>
      <p:sp>
        <p:nvSpPr>
          <p:cNvPr id="139" name="Google Shape;139;p22"/>
          <p:cNvSpPr txBox="1"/>
          <p:nvPr/>
        </p:nvSpPr>
        <p:spPr>
          <a:xfrm>
            <a:off x="4755799" y="2984160"/>
            <a:ext cx="1335900" cy="184800"/>
          </a:xfrm>
          <a:prstGeom prst="rect">
            <a:avLst/>
          </a:prstGeom>
          <a:noFill/>
          <a:ln>
            <a:noFill/>
          </a:ln>
        </p:spPr>
        <p:txBody>
          <a:bodyPr anchorCtr="0" anchor="t" bIns="0" lIns="0" spcFirstLastPara="1" rIns="0" wrap="square" tIns="0">
            <a:spAutoFit/>
          </a:bodyPr>
          <a:lstStyle/>
          <a:p>
            <a:pPr indent="0" lvl="0" marL="0" rtl="0" algn="l">
              <a:lnSpc>
                <a:spcPct val="120000"/>
              </a:lnSpc>
              <a:spcBef>
                <a:spcPts val="500"/>
              </a:spcBef>
              <a:spcAft>
                <a:spcPts val="0"/>
              </a:spcAft>
              <a:buNone/>
            </a:pPr>
            <a:r>
              <a:rPr b="1" lang="en" sz="1200">
                <a:solidFill>
                  <a:srgbClr val="204ECF"/>
                </a:solidFill>
                <a:latin typeface="Proxima Nova"/>
                <a:ea typeface="Proxima Nova"/>
                <a:cs typeface="Proxima Nova"/>
                <a:sym typeface="Proxima Nova"/>
              </a:rPr>
              <a:t>Ryan Gramm</a:t>
            </a:r>
            <a:endParaRPr b="1" sz="1200">
              <a:solidFill>
                <a:srgbClr val="204ECF"/>
              </a:solidFill>
              <a:latin typeface="Proxima Nova"/>
              <a:ea typeface="Proxima Nova"/>
              <a:cs typeface="Proxima Nova"/>
              <a:sym typeface="Proxima Nova"/>
            </a:endParaRPr>
          </a:p>
        </p:txBody>
      </p:sp>
      <p:pic>
        <p:nvPicPr>
          <p:cNvPr id="140" name="Google Shape;140;p22"/>
          <p:cNvPicPr preferRelativeResize="0"/>
          <p:nvPr/>
        </p:nvPicPr>
        <p:blipFill>
          <a:blip r:embed="rId3">
            <a:alphaModFix/>
          </a:blip>
          <a:stretch>
            <a:fillRect/>
          </a:stretch>
        </p:blipFill>
        <p:spPr>
          <a:xfrm>
            <a:off x="4755795" y="3231638"/>
            <a:ext cx="91214" cy="114017"/>
          </a:xfrm>
          <a:prstGeom prst="rect">
            <a:avLst/>
          </a:prstGeom>
          <a:noFill/>
          <a:ln>
            <a:noFill/>
          </a:ln>
        </p:spPr>
      </p:pic>
      <p:sp>
        <p:nvSpPr>
          <p:cNvPr id="141" name="Google Shape;141;p22"/>
          <p:cNvSpPr txBox="1"/>
          <p:nvPr/>
        </p:nvSpPr>
        <p:spPr>
          <a:xfrm>
            <a:off x="4875323" y="3223810"/>
            <a:ext cx="1157400" cy="123000"/>
          </a:xfrm>
          <a:prstGeom prst="rect">
            <a:avLst/>
          </a:prstGeom>
          <a:noFill/>
          <a:ln>
            <a:noFill/>
          </a:ln>
        </p:spPr>
        <p:txBody>
          <a:bodyPr anchorCtr="0" anchor="t" bIns="0" lIns="0" spcFirstLastPara="1" rIns="0" wrap="square" tIns="0">
            <a:spAutoFit/>
          </a:bodyPr>
          <a:lstStyle/>
          <a:p>
            <a:pPr indent="0" lvl="0" marL="0" rtl="0" algn="l">
              <a:lnSpc>
                <a:spcPct val="120000"/>
              </a:lnSpc>
              <a:spcBef>
                <a:spcPts val="500"/>
              </a:spcBef>
              <a:spcAft>
                <a:spcPts val="0"/>
              </a:spcAft>
              <a:buNone/>
            </a:pPr>
            <a:r>
              <a:rPr b="1" lang="en" sz="800">
                <a:solidFill>
                  <a:srgbClr val="07947C"/>
                </a:solidFill>
                <a:latin typeface="Proxima Nova"/>
                <a:ea typeface="Proxima Nova"/>
                <a:cs typeface="Proxima Nova"/>
                <a:sym typeface="Proxima Nova"/>
              </a:rPr>
              <a:t>Senior Sales Executive</a:t>
            </a:r>
            <a:endParaRPr sz="800">
              <a:solidFill>
                <a:srgbClr val="07947C"/>
              </a:solidFill>
              <a:latin typeface="Proxima Nova"/>
              <a:ea typeface="Proxima Nova"/>
              <a:cs typeface="Proxima Nova"/>
              <a:sym typeface="Proxima Nova"/>
            </a:endParaRPr>
          </a:p>
        </p:txBody>
      </p:sp>
      <p:sp>
        <p:nvSpPr>
          <p:cNvPr id="142" name="Google Shape;142;p22"/>
          <p:cNvSpPr txBox="1"/>
          <p:nvPr/>
        </p:nvSpPr>
        <p:spPr>
          <a:xfrm>
            <a:off x="4875325" y="3384435"/>
            <a:ext cx="1157400" cy="123000"/>
          </a:xfrm>
          <a:prstGeom prst="rect">
            <a:avLst/>
          </a:prstGeom>
          <a:noFill/>
          <a:ln>
            <a:noFill/>
          </a:ln>
        </p:spPr>
        <p:txBody>
          <a:bodyPr anchorCtr="0" anchor="t" bIns="0" lIns="0" spcFirstLastPara="1" rIns="0" wrap="square" tIns="0">
            <a:spAutoFit/>
          </a:bodyPr>
          <a:lstStyle/>
          <a:p>
            <a:pPr indent="0" lvl="0" marL="0" rtl="0" algn="l">
              <a:lnSpc>
                <a:spcPct val="120000"/>
              </a:lnSpc>
              <a:spcBef>
                <a:spcPts val="500"/>
              </a:spcBef>
              <a:spcAft>
                <a:spcPts val="0"/>
              </a:spcAft>
              <a:buNone/>
            </a:pPr>
            <a:r>
              <a:rPr b="1" lang="en" sz="800">
                <a:solidFill>
                  <a:srgbClr val="455065"/>
                </a:solidFill>
                <a:latin typeface="Proxima Nova"/>
                <a:ea typeface="Proxima Nova"/>
                <a:cs typeface="Proxima Nova"/>
                <a:sym typeface="Proxima Nova"/>
              </a:rPr>
              <a:t>America - Phoenix</a:t>
            </a:r>
            <a:endParaRPr sz="800">
              <a:solidFill>
                <a:srgbClr val="455065"/>
              </a:solidFill>
              <a:latin typeface="Proxima Nova"/>
              <a:ea typeface="Proxima Nova"/>
              <a:cs typeface="Proxima Nova"/>
              <a:sym typeface="Proxima Nova"/>
            </a:endParaRPr>
          </a:p>
        </p:txBody>
      </p:sp>
      <p:pic>
        <p:nvPicPr>
          <p:cNvPr id="143" name="Google Shape;143;p22"/>
          <p:cNvPicPr preferRelativeResize="0"/>
          <p:nvPr/>
        </p:nvPicPr>
        <p:blipFill>
          <a:blip r:embed="rId4">
            <a:alphaModFix/>
          </a:blip>
          <a:stretch>
            <a:fillRect/>
          </a:stretch>
        </p:blipFill>
        <p:spPr>
          <a:xfrm>
            <a:off x="4755795" y="3396584"/>
            <a:ext cx="91214" cy="91209"/>
          </a:xfrm>
          <a:prstGeom prst="rect">
            <a:avLst/>
          </a:prstGeom>
          <a:noFill/>
          <a:ln>
            <a:noFill/>
          </a:ln>
        </p:spPr>
      </p:pic>
      <p:sp>
        <p:nvSpPr>
          <p:cNvPr id="144" name="Google Shape;144;p22"/>
          <p:cNvSpPr txBox="1"/>
          <p:nvPr/>
        </p:nvSpPr>
        <p:spPr>
          <a:xfrm>
            <a:off x="7558999" y="2984160"/>
            <a:ext cx="1335900" cy="184800"/>
          </a:xfrm>
          <a:prstGeom prst="rect">
            <a:avLst/>
          </a:prstGeom>
          <a:noFill/>
          <a:ln>
            <a:noFill/>
          </a:ln>
        </p:spPr>
        <p:txBody>
          <a:bodyPr anchorCtr="0" anchor="t" bIns="0" lIns="0" spcFirstLastPara="1" rIns="0" wrap="square" tIns="0">
            <a:spAutoFit/>
          </a:bodyPr>
          <a:lstStyle/>
          <a:p>
            <a:pPr indent="0" lvl="0" marL="0" rtl="0" algn="l">
              <a:lnSpc>
                <a:spcPct val="120000"/>
              </a:lnSpc>
              <a:spcBef>
                <a:spcPts val="500"/>
              </a:spcBef>
              <a:spcAft>
                <a:spcPts val="0"/>
              </a:spcAft>
              <a:buNone/>
            </a:pPr>
            <a:r>
              <a:rPr b="1" lang="en" sz="1200">
                <a:solidFill>
                  <a:srgbClr val="204ECF"/>
                </a:solidFill>
                <a:latin typeface="Proxima Nova"/>
                <a:ea typeface="Proxima Nova"/>
                <a:cs typeface="Proxima Nova"/>
                <a:sym typeface="Proxima Nova"/>
              </a:rPr>
              <a:t>Saadia Iqbal</a:t>
            </a:r>
            <a:endParaRPr b="1" sz="1200">
              <a:solidFill>
                <a:srgbClr val="204ECF"/>
              </a:solidFill>
              <a:latin typeface="Proxima Nova"/>
              <a:ea typeface="Proxima Nova"/>
              <a:cs typeface="Proxima Nova"/>
              <a:sym typeface="Proxima Nova"/>
            </a:endParaRPr>
          </a:p>
        </p:txBody>
      </p:sp>
      <p:pic>
        <p:nvPicPr>
          <p:cNvPr id="145" name="Google Shape;145;p22"/>
          <p:cNvPicPr preferRelativeResize="0"/>
          <p:nvPr/>
        </p:nvPicPr>
        <p:blipFill>
          <a:blip r:embed="rId3">
            <a:alphaModFix/>
          </a:blip>
          <a:stretch>
            <a:fillRect/>
          </a:stretch>
        </p:blipFill>
        <p:spPr>
          <a:xfrm>
            <a:off x="7558995" y="3231638"/>
            <a:ext cx="91214" cy="114017"/>
          </a:xfrm>
          <a:prstGeom prst="rect">
            <a:avLst/>
          </a:prstGeom>
          <a:noFill/>
          <a:ln>
            <a:noFill/>
          </a:ln>
        </p:spPr>
      </p:pic>
      <p:sp>
        <p:nvSpPr>
          <p:cNvPr id="146" name="Google Shape;146;p22"/>
          <p:cNvSpPr txBox="1"/>
          <p:nvPr/>
        </p:nvSpPr>
        <p:spPr>
          <a:xfrm>
            <a:off x="7678523" y="3223810"/>
            <a:ext cx="1157400" cy="123000"/>
          </a:xfrm>
          <a:prstGeom prst="rect">
            <a:avLst/>
          </a:prstGeom>
          <a:noFill/>
          <a:ln>
            <a:noFill/>
          </a:ln>
        </p:spPr>
        <p:txBody>
          <a:bodyPr anchorCtr="0" anchor="t" bIns="0" lIns="0" spcFirstLastPara="1" rIns="0" wrap="square" tIns="0">
            <a:spAutoFit/>
          </a:bodyPr>
          <a:lstStyle/>
          <a:p>
            <a:pPr indent="0" lvl="0" marL="0" rtl="0" algn="l">
              <a:lnSpc>
                <a:spcPct val="120000"/>
              </a:lnSpc>
              <a:spcBef>
                <a:spcPts val="500"/>
              </a:spcBef>
              <a:spcAft>
                <a:spcPts val="0"/>
              </a:spcAft>
              <a:buNone/>
            </a:pPr>
            <a:r>
              <a:rPr b="1" lang="en" sz="800">
                <a:solidFill>
                  <a:srgbClr val="07947C"/>
                </a:solidFill>
                <a:latin typeface="Proxima Nova"/>
                <a:ea typeface="Proxima Nova"/>
                <a:cs typeface="Proxima Nova"/>
                <a:sym typeface="Proxima Nova"/>
              </a:rPr>
              <a:t>Delivery Manager</a:t>
            </a:r>
            <a:endParaRPr sz="800">
              <a:solidFill>
                <a:srgbClr val="07947C"/>
              </a:solidFill>
              <a:latin typeface="Proxima Nova"/>
              <a:ea typeface="Proxima Nova"/>
              <a:cs typeface="Proxima Nova"/>
              <a:sym typeface="Proxima Nova"/>
            </a:endParaRPr>
          </a:p>
        </p:txBody>
      </p:sp>
      <p:sp>
        <p:nvSpPr>
          <p:cNvPr id="147" name="Google Shape;147;p22"/>
          <p:cNvSpPr txBox="1"/>
          <p:nvPr/>
        </p:nvSpPr>
        <p:spPr>
          <a:xfrm>
            <a:off x="7678525" y="3384435"/>
            <a:ext cx="1157400" cy="123000"/>
          </a:xfrm>
          <a:prstGeom prst="rect">
            <a:avLst/>
          </a:prstGeom>
          <a:noFill/>
          <a:ln>
            <a:noFill/>
          </a:ln>
        </p:spPr>
        <p:txBody>
          <a:bodyPr anchorCtr="0" anchor="t" bIns="0" lIns="0" spcFirstLastPara="1" rIns="0" wrap="square" tIns="0">
            <a:spAutoFit/>
          </a:bodyPr>
          <a:lstStyle/>
          <a:p>
            <a:pPr indent="0" lvl="0" marL="0" rtl="0" algn="l">
              <a:lnSpc>
                <a:spcPct val="120000"/>
              </a:lnSpc>
              <a:spcBef>
                <a:spcPts val="500"/>
              </a:spcBef>
              <a:spcAft>
                <a:spcPts val="0"/>
              </a:spcAft>
              <a:buNone/>
            </a:pPr>
            <a:r>
              <a:rPr b="1" lang="en" sz="800">
                <a:solidFill>
                  <a:srgbClr val="455065"/>
                </a:solidFill>
                <a:latin typeface="Proxima Nova"/>
                <a:ea typeface="Proxima Nova"/>
                <a:cs typeface="Proxima Nova"/>
                <a:sym typeface="Proxima Nova"/>
              </a:rPr>
              <a:t>America - Dallas</a:t>
            </a:r>
            <a:endParaRPr sz="800">
              <a:solidFill>
                <a:srgbClr val="455065"/>
              </a:solidFill>
              <a:latin typeface="Proxima Nova"/>
              <a:ea typeface="Proxima Nova"/>
              <a:cs typeface="Proxima Nova"/>
              <a:sym typeface="Proxima Nova"/>
            </a:endParaRPr>
          </a:p>
        </p:txBody>
      </p:sp>
      <p:pic>
        <p:nvPicPr>
          <p:cNvPr id="148" name="Google Shape;148;p22"/>
          <p:cNvPicPr preferRelativeResize="0"/>
          <p:nvPr/>
        </p:nvPicPr>
        <p:blipFill>
          <a:blip r:embed="rId4">
            <a:alphaModFix/>
          </a:blip>
          <a:stretch>
            <a:fillRect/>
          </a:stretch>
        </p:blipFill>
        <p:spPr>
          <a:xfrm>
            <a:off x="7558995" y="3396584"/>
            <a:ext cx="91214" cy="91209"/>
          </a:xfrm>
          <a:prstGeom prst="rect">
            <a:avLst/>
          </a:prstGeom>
          <a:noFill/>
          <a:ln>
            <a:noFill/>
          </a:ln>
        </p:spPr>
      </p:pic>
      <p:pic>
        <p:nvPicPr>
          <p:cNvPr id="149" name="Google Shape;149;p22"/>
          <p:cNvPicPr preferRelativeResize="0"/>
          <p:nvPr/>
        </p:nvPicPr>
        <p:blipFill rotWithShape="1">
          <a:blip r:embed="rId5">
            <a:alphaModFix/>
          </a:blip>
          <a:srcRect b="0" l="0" r="0" t="0"/>
          <a:stretch/>
        </p:blipFill>
        <p:spPr>
          <a:xfrm>
            <a:off x="633773" y="1420507"/>
            <a:ext cx="885600" cy="885600"/>
          </a:xfrm>
          <a:prstGeom prst="rect">
            <a:avLst/>
          </a:prstGeom>
          <a:noFill/>
          <a:ln>
            <a:noFill/>
          </a:ln>
        </p:spPr>
      </p:pic>
      <p:pic>
        <p:nvPicPr>
          <p:cNvPr id="150" name="Google Shape;150;p22"/>
          <p:cNvPicPr preferRelativeResize="0"/>
          <p:nvPr/>
        </p:nvPicPr>
        <p:blipFill rotWithShape="1">
          <a:blip r:embed="rId6">
            <a:alphaModFix/>
          </a:blip>
          <a:srcRect b="0" l="0" r="0" t="0"/>
          <a:stretch/>
        </p:blipFill>
        <p:spPr>
          <a:xfrm>
            <a:off x="3609623" y="1420507"/>
            <a:ext cx="885600" cy="885600"/>
          </a:xfrm>
          <a:prstGeom prst="rect">
            <a:avLst/>
          </a:prstGeom>
          <a:noFill/>
          <a:ln>
            <a:noFill/>
          </a:ln>
        </p:spPr>
      </p:pic>
      <p:pic>
        <p:nvPicPr>
          <p:cNvPr id="151" name="Google Shape;151;p22"/>
          <p:cNvPicPr preferRelativeResize="0"/>
          <p:nvPr/>
        </p:nvPicPr>
        <p:blipFill rotWithShape="1">
          <a:blip r:embed="rId7">
            <a:alphaModFix/>
          </a:blip>
          <a:srcRect b="0" l="0" r="0" t="0"/>
          <a:stretch/>
        </p:blipFill>
        <p:spPr>
          <a:xfrm>
            <a:off x="6412821" y="1420507"/>
            <a:ext cx="885600" cy="885600"/>
          </a:xfrm>
          <a:prstGeom prst="rect">
            <a:avLst/>
          </a:prstGeom>
          <a:noFill/>
          <a:ln>
            <a:noFill/>
          </a:ln>
        </p:spPr>
      </p:pic>
      <p:sp>
        <p:nvSpPr>
          <p:cNvPr id="152" name="Google Shape;152;p22"/>
          <p:cNvSpPr txBox="1"/>
          <p:nvPr/>
        </p:nvSpPr>
        <p:spPr>
          <a:xfrm>
            <a:off x="1739974" y="4269280"/>
            <a:ext cx="1335900" cy="184800"/>
          </a:xfrm>
          <a:prstGeom prst="rect">
            <a:avLst/>
          </a:prstGeom>
          <a:noFill/>
          <a:ln>
            <a:noFill/>
          </a:ln>
        </p:spPr>
        <p:txBody>
          <a:bodyPr anchorCtr="0" anchor="t" bIns="0" lIns="0" spcFirstLastPara="1" rIns="0" wrap="square" tIns="0">
            <a:spAutoFit/>
          </a:bodyPr>
          <a:lstStyle/>
          <a:p>
            <a:pPr indent="0" lvl="0" marL="0" rtl="0" algn="l">
              <a:lnSpc>
                <a:spcPct val="120000"/>
              </a:lnSpc>
              <a:spcBef>
                <a:spcPts val="500"/>
              </a:spcBef>
              <a:spcAft>
                <a:spcPts val="0"/>
              </a:spcAft>
              <a:buNone/>
            </a:pPr>
            <a:r>
              <a:rPr b="1" lang="en" sz="1200">
                <a:solidFill>
                  <a:srgbClr val="204ECF"/>
                </a:solidFill>
                <a:latin typeface="Proxima Nova"/>
                <a:ea typeface="Proxima Nova"/>
                <a:cs typeface="Proxima Nova"/>
                <a:sym typeface="Proxima Nova"/>
              </a:rPr>
              <a:t>James Mora</a:t>
            </a:r>
            <a:endParaRPr b="1" sz="1200">
              <a:solidFill>
                <a:srgbClr val="204ECF"/>
              </a:solidFill>
              <a:latin typeface="Proxima Nova"/>
              <a:ea typeface="Proxima Nova"/>
              <a:cs typeface="Proxima Nova"/>
              <a:sym typeface="Proxima Nova"/>
            </a:endParaRPr>
          </a:p>
        </p:txBody>
      </p:sp>
      <p:pic>
        <p:nvPicPr>
          <p:cNvPr id="153" name="Google Shape;153;p22"/>
          <p:cNvPicPr preferRelativeResize="0"/>
          <p:nvPr/>
        </p:nvPicPr>
        <p:blipFill>
          <a:blip r:embed="rId3">
            <a:alphaModFix/>
          </a:blip>
          <a:stretch>
            <a:fillRect/>
          </a:stretch>
        </p:blipFill>
        <p:spPr>
          <a:xfrm>
            <a:off x="1739970" y="4526836"/>
            <a:ext cx="91214" cy="114017"/>
          </a:xfrm>
          <a:prstGeom prst="rect">
            <a:avLst/>
          </a:prstGeom>
          <a:noFill/>
          <a:ln>
            <a:noFill/>
          </a:ln>
        </p:spPr>
      </p:pic>
      <p:sp>
        <p:nvSpPr>
          <p:cNvPr id="154" name="Google Shape;154;p22"/>
          <p:cNvSpPr txBox="1"/>
          <p:nvPr/>
        </p:nvSpPr>
        <p:spPr>
          <a:xfrm>
            <a:off x="1859501" y="4522345"/>
            <a:ext cx="1643700" cy="123000"/>
          </a:xfrm>
          <a:prstGeom prst="rect">
            <a:avLst/>
          </a:prstGeom>
          <a:noFill/>
          <a:ln>
            <a:noFill/>
          </a:ln>
        </p:spPr>
        <p:txBody>
          <a:bodyPr anchorCtr="0" anchor="t" bIns="0" lIns="0" spcFirstLastPara="1" rIns="0" wrap="square" tIns="0">
            <a:spAutoFit/>
          </a:bodyPr>
          <a:lstStyle/>
          <a:p>
            <a:pPr indent="0" lvl="0" marL="0" rtl="0" algn="l">
              <a:lnSpc>
                <a:spcPct val="120000"/>
              </a:lnSpc>
              <a:spcBef>
                <a:spcPts val="500"/>
              </a:spcBef>
              <a:spcAft>
                <a:spcPts val="0"/>
              </a:spcAft>
              <a:buNone/>
            </a:pPr>
            <a:r>
              <a:rPr b="1" lang="en" sz="800">
                <a:solidFill>
                  <a:srgbClr val="07947C"/>
                </a:solidFill>
                <a:latin typeface="Proxima Nova"/>
                <a:ea typeface="Proxima Nova"/>
                <a:cs typeface="Proxima Nova"/>
                <a:sym typeface="Proxima Nova"/>
              </a:rPr>
              <a:t>PMO Portfolio Lead</a:t>
            </a:r>
            <a:endParaRPr sz="800">
              <a:solidFill>
                <a:srgbClr val="07947C"/>
              </a:solidFill>
              <a:latin typeface="Proxima Nova"/>
              <a:ea typeface="Proxima Nova"/>
              <a:cs typeface="Proxima Nova"/>
              <a:sym typeface="Proxima Nova"/>
            </a:endParaRPr>
          </a:p>
        </p:txBody>
      </p:sp>
      <p:sp>
        <p:nvSpPr>
          <p:cNvPr id="155" name="Google Shape;155;p22"/>
          <p:cNvSpPr txBox="1"/>
          <p:nvPr/>
        </p:nvSpPr>
        <p:spPr>
          <a:xfrm>
            <a:off x="1859500" y="4687135"/>
            <a:ext cx="1157400" cy="123000"/>
          </a:xfrm>
          <a:prstGeom prst="rect">
            <a:avLst/>
          </a:prstGeom>
          <a:noFill/>
          <a:ln>
            <a:noFill/>
          </a:ln>
        </p:spPr>
        <p:txBody>
          <a:bodyPr anchorCtr="0" anchor="t" bIns="0" lIns="0" spcFirstLastPara="1" rIns="0" wrap="square" tIns="0">
            <a:spAutoFit/>
          </a:bodyPr>
          <a:lstStyle/>
          <a:p>
            <a:pPr indent="0" lvl="0" marL="0" rtl="0" algn="l">
              <a:lnSpc>
                <a:spcPct val="120000"/>
              </a:lnSpc>
              <a:spcBef>
                <a:spcPts val="500"/>
              </a:spcBef>
              <a:spcAft>
                <a:spcPts val="0"/>
              </a:spcAft>
              <a:buNone/>
            </a:pPr>
            <a:r>
              <a:rPr b="1" lang="en" sz="800">
                <a:solidFill>
                  <a:srgbClr val="455065"/>
                </a:solidFill>
                <a:latin typeface="Proxima Nova"/>
                <a:ea typeface="Proxima Nova"/>
                <a:cs typeface="Proxima Nova"/>
                <a:sym typeface="Proxima Nova"/>
              </a:rPr>
              <a:t>America - Philadelphia</a:t>
            </a:r>
            <a:endParaRPr sz="800">
              <a:solidFill>
                <a:srgbClr val="455065"/>
              </a:solidFill>
              <a:latin typeface="Proxima Nova"/>
              <a:ea typeface="Proxima Nova"/>
              <a:cs typeface="Proxima Nova"/>
              <a:sym typeface="Proxima Nova"/>
            </a:endParaRPr>
          </a:p>
        </p:txBody>
      </p:sp>
      <p:pic>
        <p:nvPicPr>
          <p:cNvPr id="156" name="Google Shape;156;p22"/>
          <p:cNvPicPr preferRelativeResize="0"/>
          <p:nvPr/>
        </p:nvPicPr>
        <p:blipFill>
          <a:blip r:embed="rId4">
            <a:alphaModFix/>
          </a:blip>
          <a:stretch>
            <a:fillRect/>
          </a:stretch>
        </p:blipFill>
        <p:spPr>
          <a:xfrm>
            <a:off x="1739970" y="4703030"/>
            <a:ext cx="91214" cy="91209"/>
          </a:xfrm>
          <a:prstGeom prst="rect">
            <a:avLst/>
          </a:prstGeom>
          <a:noFill/>
          <a:ln>
            <a:noFill/>
          </a:ln>
        </p:spPr>
      </p:pic>
      <p:pic>
        <p:nvPicPr>
          <p:cNvPr id="157" name="Google Shape;157;p22"/>
          <p:cNvPicPr preferRelativeResize="0"/>
          <p:nvPr/>
        </p:nvPicPr>
        <p:blipFill rotWithShape="1">
          <a:blip r:embed="rId8">
            <a:alphaModFix/>
          </a:blip>
          <a:srcRect b="0" l="0" r="0" t="0"/>
          <a:stretch/>
        </p:blipFill>
        <p:spPr>
          <a:xfrm>
            <a:off x="6412821" y="2714053"/>
            <a:ext cx="885600" cy="885600"/>
          </a:xfrm>
          <a:prstGeom prst="rect">
            <a:avLst/>
          </a:prstGeom>
          <a:noFill/>
          <a:ln>
            <a:noFill/>
          </a:ln>
        </p:spPr>
      </p:pic>
      <p:pic>
        <p:nvPicPr>
          <p:cNvPr id="158" name="Google Shape;158;p22"/>
          <p:cNvPicPr preferRelativeResize="0"/>
          <p:nvPr/>
        </p:nvPicPr>
        <p:blipFill rotWithShape="1">
          <a:blip r:embed="rId9">
            <a:alphaModFix/>
          </a:blip>
          <a:srcRect b="0" l="0" r="0" t="0"/>
          <a:stretch/>
        </p:blipFill>
        <p:spPr>
          <a:xfrm>
            <a:off x="3609623" y="2714053"/>
            <a:ext cx="885600" cy="885600"/>
          </a:xfrm>
          <a:prstGeom prst="rect">
            <a:avLst/>
          </a:prstGeom>
          <a:noFill/>
          <a:ln>
            <a:noFill/>
          </a:ln>
        </p:spPr>
      </p:pic>
      <p:pic>
        <p:nvPicPr>
          <p:cNvPr id="159" name="Google Shape;159;p22"/>
          <p:cNvPicPr preferRelativeResize="0"/>
          <p:nvPr/>
        </p:nvPicPr>
        <p:blipFill rotWithShape="1">
          <a:blip r:embed="rId10">
            <a:alphaModFix/>
          </a:blip>
          <a:srcRect b="0" l="0" r="0" t="0"/>
          <a:stretch/>
        </p:blipFill>
        <p:spPr>
          <a:xfrm>
            <a:off x="633773" y="4014865"/>
            <a:ext cx="885600" cy="885600"/>
          </a:xfrm>
          <a:prstGeom prst="rect">
            <a:avLst/>
          </a:prstGeom>
          <a:noFill/>
          <a:ln>
            <a:noFill/>
          </a:ln>
        </p:spPr>
      </p:pic>
      <p:sp>
        <p:nvSpPr>
          <p:cNvPr id="160" name="Google Shape;160;p22"/>
          <p:cNvSpPr txBox="1"/>
          <p:nvPr/>
        </p:nvSpPr>
        <p:spPr>
          <a:xfrm>
            <a:off x="4715824" y="4269280"/>
            <a:ext cx="1335900" cy="184800"/>
          </a:xfrm>
          <a:prstGeom prst="rect">
            <a:avLst/>
          </a:prstGeom>
          <a:noFill/>
          <a:ln>
            <a:noFill/>
          </a:ln>
        </p:spPr>
        <p:txBody>
          <a:bodyPr anchorCtr="0" anchor="t" bIns="0" lIns="0" spcFirstLastPara="1" rIns="0" wrap="square" tIns="0">
            <a:spAutoFit/>
          </a:bodyPr>
          <a:lstStyle/>
          <a:p>
            <a:pPr indent="0" lvl="0" marL="0" rtl="0" algn="l">
              <a:lnSpc>
                <a:spcPct val="120000"/>
              </a:lnSpc>
              <a:spcBef>
                <a:spcPts val="500"/>
              </a:spcBef>
              <a:spcAft>
                <a:spcPts val="0"/>
              </a:spcAft>
              <a:buNone/>
            </a:pPr>
            <a:r>
              <a:rPr b="1" lang="en" sz="1200">
                <a:solidFill>
                  <a:srgbClr val="204ECF"/>
                </a:solidFill>
                <a:latin typeface="Proxima Nova"/>
                <a:ea typeface="Proxima Nova"/>
                <a:cs typeface="Proxima Nova"/>
                <a:sym typeface="Proxima Nova"/>
              </a:rPr>
              <a:t>Gustavo Granados</a:t>
            </a:r>
            <a:endParaRPr b="1" sz="1200">
              <a:solidFill>
                <a:srgbClr val="204ECF"/>
              </a:solidFill>
              <a:latin typeface="Proxima Nova"/>
              <a:ea typeface="Proxima Nova"/>
              <a:cs typeface="Proxima Nova"/>
              <a:sym typeface="Proxima Nova"/>
            </a:endParaRPr>
          </a:p>
        </p:txBody>
      </p:sp>
      <p:pic>
        <p:nvPicPr>
          <p:cNvPr id="161" name="Google Shape;161;p22"/>
          <p:cNvPicPr preferRelativeResize="0"/>
          <p:nvPr/>
        </p:nvPicPr>
        <p:blipFill>
          <a:blip r:embed="rId3">
            <a:alphaModFix/>
          </a:blip>
          <a:stretch>
            <a:fillRect/>
          </a:stretch>
        </p:blipFill>
        <p:spPr>
          <a:xfrm>
            <a:off x="4715820" y="4526836"/>
            <a:ext cx="91214" cy="114017"/>
          </a:xfrm>
          <a:prstGeom prst="rect">
            <a:avLst/>
          </a:prstGeom>
          <a:noFill/>
          <a:ln>
            <a:noFill/>
          </a:ln>
        </p:spPr>
      </p:pic>
      <p:sp>
        <p:nvSpPr>
          <p:cNvPr id="162" name="Google Shape;162;p22"/>
          <p:cNvSpPr txBox="1"/>
          <p:nvPr/>
        </p:nvSpPr>
        <p:spPr>
          <a:xfrm>
            <a:off x="4835351" y="4522345"/>
            <a:ext cx="1643700" cy="123000"/>
          </a:xfrm>
          <a:prstGeom prst="rect">
            <a:avLst/>
          </a:prstGeom>
          <a:noFill/>
          <a:ln>
            <a:noFill/>
          </a:ln>
        </p:spPr>
        <p:txBody>
          <a:bodyPr anchorCtr="0" anchor="t" bIns="0" lIns="0" spcFirstLastPara="1" rIns="0" wrap="square" tIns="0">
            <a:spAutoFit/>
          </a:bodyPr>
          <a:lstStyle/>
          <a:p>
            <a:pPr indent="0" lvl="0" marL="0" rtl="0" algn="l">
              <a:lnSpc>
                <a:spcPct val="120000"/>
              </a:lnSpc>
              <a:spcBef>
                <a:spcPts val="500"/>
              </a:spcBef>
              <a:spcAft>
                <a:spcPts val="0"/>
              </a:spcAft>
              <a:buNone/>
            </a:pPr>
            <a:r>
              <a:rPr b="1" lang="en" sz="800">
                <a:solidFill>
                  <a:srgbClr val="07947C"/>
                </a:solidFill>
                <a:latin typeface="Proxima Nova"/>
                <a:ea typeface="Proxima Nova"/>
                <a:cs typeface="Proxima Nova"/>
                <a:sym typeface="Proxima Nova"/>
              </a:rPr>
              <a:t>Enterprise Account Manager</a:t>
            </a:r>
            <a:endParaRPr sz="800">
              <a:solidFill>
                <a:srgbClr val="07947C"/>
              </a:solidFill>
              <a:latin typeface="Proxima Nova"/>
              <a:ea typeface="Proxima Nova"/>
              <a:cs typeface="Proxima Nova"/>
              <a:sym typeface="Proxima Nova"/>
            </a:endParaRPr>
          </a:p>
        </p:txBody>
      </p:sp>
      <p:sp>
        <p:nvSpPr>
          <p:cNvPr id="163" name="Google Shape;163;p22"/>
          <p:cNvSpPr txBox="1"/>
          <p:nvPr/>
        </p:nvSpPr>
        <p:spPr>
          <a:xfrm>
            <a:off x="4835350" y="4687135"/>
            <a:ext cx="1157400" cy="123000"/>
          </a:xfrm>
          <a:prstGeom prst="rect">
            <a:avLst/>
          </a:prstGeom>
          <a:noFill/>
          <a:ln>
            <a:noFill/>
          </a:ln>
        </p:spPr>
        <p:txBody>
          <a:bodyPr anchorCtr="0" anchor="t" bIns="0" lIns="0" spcFirstLastPara="1" rIns="0" wrap="square" tIns="0">
            <a:spAutoFit/>
          </a:bodyPr>
          <a:lstStyle/>
          <a:p>
            <a:pPr indent="0" lvl="0" marL="0" rtl="0" algn="l">
              <a:lnSpc>
                <a:spcPct val="120000"/>
              </a:lnSpc>
              <a:spcBef>
                <a:spcPts val="500"/>
              </a:spcBef>
              <a:spcAft>
                <a:spcPts val="0"/>
              </a:spcAft>
              <a:buNone/>
            </a:pPr>
            <a:r>
              <a:rPr b="1" lang="en" sz="800">
                <a:solidFill>
                  <a:srgbClr val="455065"/>
                </a:solidFill>
                <a:latin typeface="Proxima Nova"/>
                <a:ea typeface="Proxima Nova"/>
                <a:cs typeface="Proxima Nova"/>
                <a:sym typeface="Proxima Nova"/>
              </a:rPr>
              <a:t>America - San Jose</a:t>
            </a:r>
            <a:endParaRPr sz="800">
              <a:solidFill>
                <a:srgbClr val="455065"/>
              </a:solidFill>
              <a:latin typeface="Proxima Nova"/>
              <a:ea typeface="Proxima Nova"/>
              <a:cs typeface="Proxima Nova"/>
              <a:sym typeface="Proxima Nova"/>
            </a:endParaRPr>
          </a:p>
        </p:txBody>
      </p:sp>
      <p:pic>
        <p:nvPicPr>
          <p:cNvPr id="164" name="Google Shape;164;p22"/>
          <p:cNvPicPr preferRelativeResize="0"/>
          <p:nvPr/>
        </p:nvPicPr>
        <p:blipFill>
          <a:blip r:embed="rId4">
            <a:alphaModFix/>
          </a:blip>
          <a:stretch>
            <a:fillRect/>
          </a:stretch>
        </p:blipFill>
        <p:spPr>
          <a:xfrm>
            <a:off x="4715820" y="4703030"/>
            <a:ext cx="91214" cy="91209"/>
          </a:xfrm>
          <a:prstGeom prst="rect">
            <a:avLst/>
          </a:prstGeom>
          <a:noFill/>
          <a:ln>
            <a:noFill/>
          </a:ln>
        </p:spPr>
      </p:pic>
      <p:pic>
        <p:nvPicPr>
          <p:cNvPr id="165" name="Google Shape;165;p22"/>
          <p:cNvPicPr preferRelativeResize="0"/>
          <p:nvPr/>
        </p:nvPicPr>
        <p:blipFill rotWithShape="1">
          <a:blip r:embed="rId11">
            <a:alphaModFix/>
          </a:blip>
          <a:srcRect b="0" l="0" r="0" t="0"/>
          <a:stretch/>
        </p:blipFill>
        <p:spPr>
          <a:xfrm>
            <a:off x="3609623" y="4014865"/>
            <a:ext cx="885600" cy="885600"/>
          </a:xfrm>
          <a:prstGeom prst="rect">
            <a:avLst/>
          </a:prstGeom>
          <a:noFill/>
          <a:ln>
            <a:noFill/>
          </a:ln>
        </p:spPr>
      </p:pic>
      <p:pic>
        <p:nvPicPr>
          <p:cNvPr id="166" name="Google Shape;166;p22"/>
          <p:cNvPicPr preferRelativeResize="0"/>
          <p:nvPr/>
        </p:nvPicPr>
        <p:blipFill>
          <a:blip r:embed="rId12">
            <a:alphaModFix/>
          </a:blip>
          <a:stretch>
            <a:fillRect/>
          </a:stretch>
        </p:blipFill>
        <p:spPr>
          <a:xfrm>
            <a:off x="633773" y="2714053"/>
            <a:ext cx="886968" cy="886968"/>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3"/>
          <p:cNvSpPr/>
          <p:nvPr/>
        </p:nvSpPr>
        <p:spPr>
          <a:xfrm>
            <a:off x="214100" y="0"/>
            <a:ext cx="8929800" cy="5143500"/>
          </a:xfrm>
          <a:prstGeom prst="rect">
            <a:avLst/>
          </a:prstGeom>
          <a:solidFill>
            <a:schemeClr val="accent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en">
                <a:solidFill>
                  <a:schemeClr val="lt1"/>
                </a:solidFill>
                <a:latin typeface="Open Sans"/>
                <a:ea typeface="Open Sans"/>
                <a:cs typeface="Open Sans"/>
                <a:sym typeface="Open Sans"/>
              </a:rPr>
              <a:t> </a:t>
            </a:r>
            <a:endParaRPr sz="1400">
              <a:solidFill>
                <a:schemeClr val="lt1"/>
              </a:solidFill>
              <a:latin typeface="Open Sans"/>
              <a:ea typeface="Open Sans"/>
              <a:cs typeface="Open Sans"/>
              <a:sym typeface="Open Sans"/>
            </a:endParaRPr>
          </a:p>
        </p:txBody>
      </p:sp>
      <p:sp>
        <p:nvSpPr>
          <p:cNvPr id="172" name="Google Shape;172;p23"/>
          <p:cNvSpPr txBox="1"/>
          <p:nvPr>
            <p:ph type="ctrTitle"/>
          </p:nvPr>
        </p:nvSpPr>
        <p:spPr>
          <a:xfrm>
            <a:off x="666750" y="1001575"/>
            <a:ext cx="5575500" cy="1167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latin typeface="Proxima Nova"/>
                <a:ea typeface="Proxima Nova"/>
                <a:cs typeface="Proxima Nova"/>
                <a:sym typeface="Proxima Nova"/>
              </a:rPr>
              <a:t>Alignment</a:t>
            </a:r>
            <a:endParaRPr sz="1800">
              <a:solidFill>
                <a:schemeClr val="accent4"/>
              </a:solidFill>
              <a:latin typeface="Proxima Nova"/>
              <a:ea typeface="Proxima Nova"/>
              <a:cs typeface="Proxima Nova"/>
              <a:sym typeface="Proxima Nov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7" name="Shape 177"/>
        <p:cNvGrpSpPr/>
        <p:nvPr/>
      </p:nvGrpSpPr>
      <p:grpSpPr>
        <a:xfrm>
          <a:off x="0" y="0"/>
          <a:ext cx="0" cy="0"/>
          <a:chOff x="0" y="0"/>
          <a:chExt cx="0" cy="0"/>
        </a:xfrm>
      </p:grpSpPr>
      <p:sp>
        <p:nvSpPr>
          <p:cNvPr id="178" name="Google Shape;178;p24"/>
          <p:cNvSpPr/>
          <p:nvPr/>
        </p:nvSpPr>
        <p:spPr>
          <a:xfrm>
            <a:off x="480073" y="425196"/>
            <a:ext cx="68583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5AAC"/>
              </a:buClr>
              <a:buSzPts val="900"/>
              <a:buFont typeface="Calibri"/>
              <a:buNone/>
            </a:pPr>
            <a:r>
              <a:rPr b="1" lang="en" sz="900">
                <a:solidFill>
                  <a:srgbClr val="2E5AAC"/>
                </a:solidFill>
                <a:latin typeface="Proxima Nova"/>
                <a:ea typeface="Proxima Nova"/>
                <a:cs typeface="Proxima Nova"/>
                <a:sym typeface="Proxima Nova"/>
              </a:rPr>
              <a:t>PROJECT SUCCESS AGREEMENT</a:t>
            </a:r>
            <a:endParaRPr b="0" i="0" sz="900" u="none" cap="none" strike="noStrike">
              <a:solidFill>
                <a:schemeClr val="dk1"/>
              </a:solidFill>
              <a:latin typeface="Calibri"/>
              <a:ea typeface="Calibri"/>
              <a:cs typeface="Calibri"/>
              <a:sym typeface="Calibri"/>
            </a:endParaRPr>
          </a:p>
        </p:txBody>
      </p:sp>
      <p:sp>
        <p:nvSpPr>
          <p:cNvPr id="179" name="Google Shape;179;p24"/>
          <p:cNvSpPr/>
          <p:nvPr/>
        </p:nvSpPr>
        <p:spPr>
          <a:xfrm>
            <a:off x="480073" y="1234440"/>
            <a:ext cx="6858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890"/>
              </a:buClr>
              <a:buSzPts val="1100"/>
              <a:buFont typeface="Calibri"/>
              <a:buNone/>
            </a:pPr>
            <a:r>
              <a:rPr lang="en" sz="1100">
                <a:solidFill>
                  <a:srgbClr val="041133"/>
                </a:solidFill>
                <a:latin typeface="Proxima Nova"/>
                <a:ea typeface="Proxima Nova"/>
                <a:cs typeface="Proxima Nova"/>
                <a:sym typeface="Proxima Nova"/>
              </a:rPr>
              <a:t>Our draft understanding — please confirm, correct, or add.</a:t>
            </a:r>
            <a:endParaRPr sz="1100">
              <a:solidFill>
                <a:srgbClr val="041133"/>
              </a:solidFill>
              <a:latin typeface="Proxima Nova"/>
              <a:ea typeface="Proxima Nova"/>
              <a:cs typeface="Proxima Nova"/>
              <a:sym typeface="Proxima Nova"/>
            </a:endParaRPr>
          </a:p>
        </p:txBody>
      </p:sp>
      <p:sp>
        <p:nvSpPr>
          <p:cNvPr id="180" name="Google Shape;180;p24"/>
          <p:cNvSpPr/>
          <p:nvPr/>
        </p:nvSpPr>
        <p:spPr>
          <a:xfrm>
            <a:off x="480073" y="1645920"/>
            <a:ext cx="8184000" cy="877800"/>
          </a:xfrm>
          <a:prstGeom prst="roundRect">
            <a:avLst>
              <a:gd fmla="val 6250" name="adj"/>
            </a:avLst>
          </a:prstGeom>
          <a:solidFill>
            <a:srgbClr val="FFFFFF"/>
          </a:solidFill>
          <a:ln cap="flat" cmpd="sng" w="9525">
            <a:solidFill>
              <a:srgbClr val="D3DCEC"/>
            </a:solidFill>
            <a:prstDash val="solid"/>
            <a:round/>
            <a:headEnd len="sm" w="sm" type="none"/>
            <a:tailEnd len="sm" w="sm" type="none"/>
          </a:ln>
          <a:effectLst>
            <a:outerShdw blurRad="85727" rotWithShape="0" algn="bl" dir="5400000" dist="28576">
              <a:srgbClr val="0B1836">
                <a:alpha val="1608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1" name="Google Shape;181;p24"/>
          <p:cNvSpPr/>
          <p:nvPr/>
        </p:nvSpPr>
        <p:spPr>
          <a:xfrm>
            <a:off x="699535" y="1844802"/>
            <a:ext cx="480300" cy="480300"/>
          </a:xfrm>
          <a:prstGeom prst="ellipse">
            <a:avLst/>
          </a:prstGeom>
          <a:solidFill>
            <a:srgbClr val="E6EBF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2" name="Google Shape;182;p24"/>
          <p:cNvSpPr/>
          <p:nvPr/>
        </p:nvSpPr>
        <p:spPr>
          <a:xfrm>
            <a:off x="1371637" y="1696339"/>
            <a:ext cx="7086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64D"/>
              </a:buClr>
              <a:buSzPts val="1200"/>
              <a:buFont typeface="Calibri"/>
              <a:buNone/>
            </a:pPr>
            <a:r>
              <a:rPr b="1" lang="en" sz="1200">
                <a:solidFill>
                  <a:schemeClr val="dk1"/>
                </a:solidFill>
                <a:latin typeface="Proxima Nova"/>
                <a:ea typeface="Proxima Nova"/>
                <a:cs typeface="Proxima Nova"/>
                <a:sym typeface="Proxima Nova"/>
              </a:rPr>
              <a:t>Why are we doing this?</a:t>
            </a:r>
            <a:endParaRPr b="0" i="0" sz="1200" u="none" cap="none" strike="noStrike">
              <a:solidFill>
                <a:schemeClr val="dk1"/>
              </a:solidFill>
              <a:latin typeface="Calibri"/>
              <a:ea typeface="Calibri"/>
              <a:cs typeface="Calibri"/>
              <a:sym typeface="Calibri"/>
            </a:endParaRPr>
          </a:p>
        </p:txBody>
      </p:sp>
      <p:sp>
        <p:nvSpPr>
          <p:cNvPr id="183" name="Google Shape;183;p24"/>
          <p:cNvSpPr/>
          <p:nvPr/>
        </p:nvSpPr>
        <p:spPr>
          <a:xfrm>
            <a:off x="1371637" y="2000076"/>
            <a:ext cx="7086600" cy="411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A6BC"/>
              </a:buClr>
              <a:buSzPts val="1000"/>
              <a:buFont typeface="Calibri"/>
              <a:buNone/>
            </a:pPr>
            <a:r>
              <a:rPr b="1" i="1" lang="en" sz="1000">
                <a:solidFill>
                  <a:schemeClr val="accent1"/>
                </a:solidFill>
                <a:latin typeface="Proxima Nova"/>
                <a:ea typeface="Proxima Nova"/>
                <a:cs typeface="Proxima Nova"/>
                <a:sym typeface="Proxima Nova"/>
              </a:rPr>
              <a:t>Toptal and Syngenta are building the ARC application to bring research data from several separate systems into one searchable tool,</a:t>
            </a:r>
            <a:r>
              <a:rPr i="1" lang="en" sz="1000">
                <a:solidFill>
                  <a:schemeClr val="dk1"/>
                </a:solidFill>
                <a:latin typeface="Proxima Nova"/>
                <a:ea typeface="Proxima Nova"/>
                <a:cs typeface="Proxima Nova"/>
                <a:sym typeface="Proxima Nova"/>
              </a:rPr>
              <a:t> and to migrate the older MTA Store so it can be </a:t>
            </a:r>
            <a:r>
              <a:rPr i="1" lang="en" sz="1000">
                <a:solidFill>
                  <a:schemeClr val="dk1"/>
                </a:solidFill>
                <a:latin typeface="Proxima Nova"/>
                <a:ea typeface="Proxima Nova"/>
                <a:cs typeface="Proxima Nova"/>
                <a:sym typeface="Proxima Nova"/>
              </a:rPr>
              <a:t>switched off.</a:t>
            </a:r>
            <a:r>
              <a:rPr i="1" lang="en" sz="1000">
                <a:solidFill>
                  <a:schemeClr val="dk1"/>
                </a:solidFill>
                <a:latin typeface="Proxima Nova"/>
                <a:ea typeface="Proxima Nova"/>
                <a:cs typeface="Proxima Nova"/>
                <a:sym typeface="Proxima Nova"/>
              </a:rPr>
              <a:t> ARC is one application within a larger Syngenta platform that is built so more research tools can be added later.</a:t>
            </a:r>
            <a:endParaRPr i="0" sz="1000" u="none" cap="none" strike="noStrike">
              <a:solidFill>
                <a:schemeClr val="dk1"/>
              </a:solidFill>
              <a:latin typeface="Proxima Nova"/>
              <a:ea typeface="Proxima Nova"/>
              <a:cs typeface="Proxima Nova"/>
              <a:sym typeface="Proxima Nova"/>
            </a:endParaRPr>
          </a:p>
        </p:txBody>
      </p:sp>
      <p:sp>
        <p:nvSpPr>
          <p:cNvPr id="184" name="Google Shape;184;p24"/>
          <p:cNvSpPr/>
          <p:nvPr/>
        </p:nvSpPr>
        <p:spPr>
          <a:xfrm>
            <a:off x="480073" y="2633472"/>
            <a:ext cx="8184000" cy="877800"/>
          </a:xfrm>
          <a:prstGeom prst="roundRect">
            <a:avLst>
              <a:gd fmla="val 6250" name="adj"/>
            </a:avLst>
          </a:prstGeom>
          <a:solidFill>
            <a:srgbClr val="FFFFFF"/>
          </a:solidFill>
          <a:ln cap="flat" cmpd="sng" w="9525">
            <a:solidFill>
              <a:srgbClr val="D3DCEC"/>
            </a:solidFill>
            <a:prstDash val="solid"/>
            <a:round/>
            <a:headEnd len="sm" w="sm" type="none"/>
            <a:tailEnd len="sm" w="sm" type="none"/>
          </a:ln>
          <a:effectLst>
            <a:outerShdw blurRad="85727" rotWithShape="0" algn="bl" dir="5400000" dist="28576">
              <a:srgbClr val="0B1836">
                <a:alpha val="1608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b="1" sz="1200">
              <a:solidFill>
                <a:schemeClr val="dk1"/>
              </a:solidFill>
              <a:latin typeface="Proxima Nova"/>
              <a:ea typeface="Proxima Nova"/>
              <a:cs typeface="Proxima Nova"/>
              <a:sym typeface="Proxima Nova"/>
            </a:endParaRPr>
          </a:p>
        </p:txBody>
      </p:sp>
      <p:sp>
        <p:nvSpPr>
          <p:cNvPr id="185" name="Google Shape;185;p24"/>
          <p:cNvSpPr/>
          <p:nvPr/>
        </p:nvSpPr>
        <p:spPr>
          <a:xfrm>
            <a:off x="699535" y="2832354"/>
            <a:ext cx="480300" cy="480300"/>
          </a:xfrm>
          <a:prstGeom prst="ellipse">
            <a:avLst/>
          </a:prstGeom>
          <a:solidFill>
            <a:srgbClr val="E6EBF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6" name="Google Shape;186;p24"/>
          <p:cNvSpPr/>
          <p:nvPr/>
        </p:nvSpPr>
        <p:spPr>
          <a:xfrm>
            <a:off x="1371637" y="2674772"/>
            <a:ext cx="7086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64D"/>
              </a:buClr>
              <a:buSzPts val="1200"/>
              <a:buFont typeface="Calibri"/>
              <a:buNone/>
            </a:pPr>
            <a:r>
              <a:rPr b="1" lang="en" sz="1200">
                <a:solidFill>
                  <a:schemeClr val="dk1"/>
                </a:solidFill>
                <a:latin typeface="Proxima Nova"/>
                <a:ea typeface="Proxima Nova"/>
                <a:cs typeface="Proxima Nova"/>
                <a:sym typeface="Proxima Nova"/>
              </a:rPr>
              <a:t>What problem are we solving?</a:t>
            </a:r>
            <a:endParaRPr b="1" sz="1200">
              <a:solidFill>
                <a:schemeClr val="dk1"/>
              </a:solidFill>
              <a:latin typeface="Proxima Nova"/>
              <a:ea typeface="Proxima Nova"/>
              <a:cs typeface="Proxima Nova"/>
              <a:sym typeface="Proxima Nova"/>
            </a:endParaRPr>
          </a:p>
        </p:txBody>
      </p:sp>
      <p:sp>
        <p:nvSpPr>
          <p:cNvPr id="187" name="Google Shape;187;p24"/>
          <p:cNvSpPr/>
          <p:nvPr/>
        </p:nvSpPr>
        <p:spPr>
          <a:xfrm>
            <a:off x="1371637" y="2979962"/>
            <a:ext cx="7086600" cy="411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A6BC"/>
              </a:buClr>
              <a:buSzPts val="1000"/>
              <a:buFont typeface="Calibri"/>
              <a:buNone/>
            </a:pPr>
            <a:r>
              <a:rPr b="1" i="1" lang="en" sz="1000">
                <a:solidFill>
                  <a:schemeClr val="accent1"/>
                </a:solidFill>
                <a:latin typeface="Proxima Nova"/>
                <a:ea typeface="Proxima Nova"/>
                <a:cs typeface="Proxima Nova"/>
                <a:sym typeface="Proxima Nova"/>
              </a:rPr>
              <a:t>The research data ARC uses comes from five separate systems, and trait names differ between them. </a:t>
            </a:r>
            <a:r>
              <a:rPr i="1" lang="en" sz="1000">
                <a:solidFill>
                  <a:schemeClr val="dk1"/>
                </a:solidFill>
                <a:latin typeface="Proxima Nova"/>
                <a:ea typeface="Proxima Nova"/>
                <a:cs typeface="Proxima Nova"/>
                <a:sym typeface="Proxima Nova"/>
              </a:rPr>
              <a:t>ARC brings this data into one place with consistent trait names and fast search, and lets scientists compare results with a newer view that looks across many crop varieties.</a:t>
            </a:r>
            <a:endParaRPr i="0" sz="1000" u="none" cap="none" strike="noStrike">
              <a:solidFill>
                <a:schemeClr val="dk1"/>
              </a:solidFill>
              <a:latin typeface="Proxima Nova"/>
              <a:ea typeface="Proxima Nova"/>
              <a:cs typeface="Proxima Nova"/>
              <a:sym typeface="Proxima Nova"/>
            </a:endParaRPr>
          </a:p>
        </p:txBody>
      </p:sp>
      <p:sp>
        <p:nvSpPr>
          <p:cNvPr id="188" name="Google Shape;188;p24"/>
          <p:cNvSpPr/>
          <p:nvPr/>
        </p:nvSpPr>
        <p:spPr>
          <a:xfrm>
            <a:off x="480075" y="3621025"/>
            <a:ext cx="8184000" cy="877800"/>
          </a:xfrm>
          <a:prstGeom prst="roundRect">
            <a:avLst>
              <a:gd fmla="val 6250" name="adj"/>
            </a:avLst>
          </a:prstGeom>
          <a:solidFill>
            <a:srgbClr val="FFFFFF"/>
          </a:solidFill>
          <a:ln cap="flat" cmpd="sng" w="9525">
            <a:solidFill>
              <a:srgbClr val="D3DCEC"/>
            </a:solidFill>
            <a:prstDash val="solid"/>
            <a:round/>
            <a:headEnd len="sm" w="sm" type="none"/>
            <a:tailEnd len="sm" w="sm" type="none"/>
          </a:ln>
          <a:effectLst>
            <a:outerShdw blurRad="85727" rotWithShape="0" algn="bl" dir="5400000" dist="28576">
              <a:srgbClr val="0B1836">
                <a:alpha val="1608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9" name="Google Shape;189;p24"/>
          <p:cNvSpPr/>
          <p:nvPr/>
        </p:nvSpPr>
        <p:spPr>
          <a:xfrm>
            <a:off x="699535" y="3819906"/>
            <a:ext cx="480300" cy="480300"/>
          </a:xfrm>
          <a:prstGeom prst="ellipse">
            <a:avLst/>
          </a:prstGeom>
          <a:solidFill>
            <a:srgbClr val="E6EBF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0" name="Google Shape;190;p24"/>
          <p:cNvSpPr/>
          <p:nvPr/>
        </p:nvSpPr>
        <p:spPr>
          <a:xfrm>
            <a:off x="1371637" y="3663777"/>
            <a:ext cx="7086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264D"/>
              </a:buClr>
              <a:buSzPts val="1200"/>
              <a:buFont typeface="Calibri"/>
              <a:buNone/>
            </a:pPr>
            <a:r>
              <a:rPr b="1" i="0" lang="en" sz="1200" u="none" cap="none" strike="noStrike">
                <a:solidFill>
                  <a:srgbClr val="14264D"/>
                </a:solidFill>
                <a:latin typeface="Calibri"/>
                <a:ea typeface="Calibri"/>
                <a:cs typeface="Calibri"/>
                <a:sym typeface="Calibri"/>
              </a:rPr>
              <a:t>What does </a:t>
            </a:r>
            <a:r>
              <a:rPr b="1" lang="en" sz="1200">
                <a:solidFill>
                  <a:schemeClr val="dk1"/>
                </a:solidFill>
                <a:latin typeface="Proxima Nova"/>
                <a:ea typeface="Proxima Nova"/>
                <a:cs typeface="Proxima Nova"/>
                <a:sym typeface="Proxima Nova"/>
              </a:rPr>
              <a:t>success</a:t>
            </a:r>
            <a:r>
              <a:rPr b="1" i="0" lang="en" sz="1200" u="none" cap="none" strike="noStrike">
                <a:solidFill>
                  <a:srgbClr val="14264D"/>
                </a:solidFill>
                <a:latin typeface="Calibri"/>
                <a:ea typeface="Calibri"/>
                <a:cs typeface="Calibri"/>
                <a:sym typeface="Calibri"/>
              </a:rPr>
              <a:t> look like?</a:t>
            </a:r>
            <a:endParaRPr b="0" i="0" sz="1200" u="none" cap="none" strike="noStrike">
              <a:solidFill>
                <a:schemeClr val="dk1"/>
              </a:solidFill>
              <a:latin typeface="Calibri"/>
              <a:ea typeface="Calibri"/>
              <a:cs typeface="Calibri"/>
              <a:sym typeface="Calibri"/>
            </a:endParaRPr>
          </a:p>
        </p:txBody>
      </p:sp>
      <p:sp>
        <p:nvSpPr>
          <p:cNvPr id="191" name="Google Shape;191;p24"/>
          <p:cNvSpPr/>
          <p:nvPr/>
        </p:nvSpPr>
        <p:spPr>
          <a:xfrm>
            <a:off x="1371637" y="3966336"/>
            <a:ext cx="70866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A6BC"/>
              </a:buClr>
              <a:buSzPts val="1000"/>
              <a:buFont typeface="Calibri"/>
              <a:buNone/>
            </a:pPr>
            <a:r>
              <a:rPr b="1" i="1" lang="en" sz="1000">
                <a:solidFill>
                  <a:schemeClr val="accent1"/>
                </a:solidFill>
                <a:latin typeface="Proxima Nova"/>
                <a:ea typeface="Proxima Nova"/>
                <a:cs typeface="Proxima Nova"/>
                <a:sym typeface="Proxima Nova"/>
              </a:rPr>
              <a:t>Scientists can search the combined data in one place</a:t>
            </a:r>
            <a:r>
              <a:rPr i="1" lang="en" sz="1000">
                <a:solidFill>
                  <a:schemeClr val="accent1"/>
                </a:solidFill>
                <a:latin typeface="Proxima Nova"/>
                <a:ea typeface="Proxima Nova"/>
                <a:cs typeface="Proxima Nova"/>
                <a:sym typeface="Proxima Nova"/>
              </a:rPr>
              <a:t>, </a:t>
            </a:r>
            <a:r>
              <a:rPr i="1" lang="en" sz="1000">
                <a:solidFill>
                  <a:schemeClr val="dk1"/>
                </a:solidFill>
                <a:latin typeface="Proxima Nova"/>
                <a:ea typeface="Proxima Nova"/>
                <a:cs typeface="Proxima Nova"/>
                <a:sym typeface="Proxima Nova"/>
              </a:rPr>
              <a:t>with 95% of searches returning in under three seconds. The MTA Store is switched off once ARC matches its features. </a:t>
            </a:r>
            <a:r>
              <a:rPr b="1" i="1" lang="en" sz="1000">
                <a:solidFill>
                  <a:schemeClr val="accent1"/>
                </a:solidFill>
                <a:latin typeface="Proxima Nova"/>
                <a:ea typeface="Proxima Nova"/>
                <a:cs typeface="Proxima Nova"/>
                <a:sym typeface="Proxima Nova"/>
              </a:rPr>
              <a:t>To achieve this outcome, the project is delivered over four milestones over an estimated 26 weeks</a:t>
            </a:r>
            <a:r>
              <a:rPr i="1" lang="en" sz="1000">
                <a:solidFill>
                  <a:schemeClr val="dk1"/>
                </a:solidFill>
                <a:latin typeface="Proxima Nova"/>
                <a:ea typeface="Proxima Nova"/>
                <a:cs typeface="Proxima Nova"/>
                <a:sym typeface="Proxima Nova"/>
              </a:rPr>
              <a:t>, passes its launch checks, and delivers training materials and user documentation.</a:t>
            </a:r>
            <a:endParaRPr i="0" sz="1000" u="none" cap="none" strike="noStrike">
              <a:solidFill>
                <a:schemeClr val="dk1"/>
              </a:solidFill>
              <a:latin typeface="Proxima Nova"/>
              <a:ea typeface="Proxima Nova"/>
              <a:cs typeface="Proxima Nova"/>
              <a:sym typeface="Proxima Nova"/>
            </a:endParaRPr>
          </a:p>
        </p:txBody>
      </p:sp>
      <p:pic>
        <p:nvPicPr>
          <p:cNvPr id="192" name="Google Shape;192;p24"/>
          <p:cNvPicPr preferRelativeResize="0"/>
          <p:nvPr/>
        </p:nvPicPr>
        <p:blipFill>
          <a:blip r:embed="rId4">
            <a:alphaModFix/>
          </a:blip>
          <a:stretch>
            <a:fillRect/>
          </a:stretch>
        </p:blipFill>
        <p:spPr>
          <a:xfrm>
            <a:off x="775488" y="3895859"/>
            <a:ext cx="328394" cy="328394"/>
          </a:xfrm>
          <a:prstGeom prst="rect">
            <a:avLst/>
          </a:prstGeom>
          <a:noFill/>
          <a:ln>
            <a:noFill/>
          </a:ln>
        </p:spPr>
      </p:pic>
      <p:pic>
        <p:nvPicPr>
          <p:cNvPr id="193" name="Google Shape;193;p24"/>
          <p:cNvPicPr preferRelativeResize="0"/>
          <p:nvPr/>
        </p:nvPicPr>
        <p:blipFill>
          <a:blip r:embed="rId5">
            <a:alphaModFix/>
          </a:blip>
          <a:stretch>
            <a:fillRect/>
          </a:stretch>
        </p:blipFill>
        <p:spPr>
          <a:xfrm>
            <a:off x="772922" y="1916887"/>
            <a:ext cx="333525" cy="336131"/>
          </a:xfrm>
          <a:prstGeom prst="rect">
            <a:avLst/>
          </a:prstGeom>
          <a:noFill/>
          <a:ln>
            <a:noFill/>
          </a:ln>
        </p:spPr>
      </p:pic>
      <p:pic>
        <p:nvPicPr>
          <p:cNvPr id="194" name="Google Shape;194;p24"/>
          <p:cNvPicPr preferRelativeResize="0"/>
          <p:nvPr/>
        </p:nvPicPr>
        <p:blipFill>
          <a:blip r:embed="rId6">
            <a:alphaModFix/>
          </a:blip>
          <a:stretch>
            <a:fillRect/>
          </a:stretch>
        </p:blipFill>
        <p:spPr>
          <a:xfrm>
            <a:off x="784237" y="2917056"/>
            <a:ext cx="310896" cy="310896"/>
          </a:xfrm>
          <a:prstGeom prst="rect">
            <a:avLst/>
          </a:prstGeom>
          <a:noFill/>
          <a:ln>
            <a:noFill/>
          </a:ln>
        </p:spPr>
      </p:pic>
      <p:sp>
        <p:nvSpPr>
          <p:cNvPr id="195" name="Google Shape;195;p24"/>
          <p:cNvSpPr txBox="1"/>
          <p:nvPr>
            <p:ph idx="4294967295" type="ctrTitle"/>
          </p:nvPr>
        </p:nvSpPr>
        <p:spPr>
          <a:xfrm>
            <a:off x="480076" y="734900"/>
            <a:ext cx="8023800" cy="3324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1"/>
              </a:buClr>
              <a:buSzPts val="2400"/>
              <a:buFont typeface="Montserrat"/>
              <a:buNone/>
            </a:pPr>
            <a:r>
              <a:rPr lang="en" sz="2400"/>
              <a:t>Why we’re here</a:t>
            </a:r>
            <a:endParaRPr sz="2400">
              <a:latin typeface="Proxima Nova"/>
              <a:ea typeface="Proxima Nova"/>
              <a:cs typeface="Proxima Nova"/>
              <a:sym typeface="Proxima Nov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5"/>
          <p:cNvSpPr txBox="1"/>
          <p:nvPr>
            <p:ph idx="4294967295" type="ctrTitle"/>
          </p:nvPr>
        </p:nvSpPr>
        <p:spPr>
          <a:xfrm>
            <a:off x="6484400" y="678350"/>
            <a:ext cx="2417400" cy="2580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1"/>
              </a:buClr>
              <a:buSzPts val="2400"/>
              <a:buFont typeface="Montserrat"/>
              <a:buNone/>
            </a:pPr>
            <a:r>
              <a:rPr lang="en" sz="2000">
                <a:solidFill>
                  <a:schemeClr val="lt1"/>
                </a:solidFill>
              </a:rPr>
              <a:t>Solution Overview</a:t>
            </a:r>
            <a:endParaRPr b="1" sz="2000">
              <a:solidFill>
                <a:schemeClr val="lt1"/>
              </a:solidFill>
              <a:latin typeface="Proxima Nova"/>
              <a:ea typeface="Proxima Nova"/>
              <a:cs typeface="Proxima Nova"/>
              <a:sym typeface="Proxima Nova"/>
            </a:endParaRPr>
          </a:p>
        </p:txBody>
      </p:sp>
      <p:sp>
        <p:nvSpPr>
          <p:cNvPr id="201" name="Google Shape;201;p25"/>
          <p:cNvSpPr txBox="1"/>
          <p:nvPr/>
        </p:nvSpPr>
        <p:spPr>
          <a:xfrm>
            <a:off x="502750" y="1385697"/>
            <a:ext cx="2073300" cy="1692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500"/>
              </a:spcBef>
              <a:spcAft>
                <a:spcPts val="0"/>
              </a:spcAft>
              <a:buNone/>
            </a:pPr>
            <a:r>
              <a:rPr b="1" lang="en" sz="1100">
                <a:solidFill>
                  <a:schemeClr val="accent1"/>
                </a:solidFill>
                <a:latin typeface="Proxima Nova"/>
                <a:ea typeface="Proxima Nova"/>
                <a:cs typeface="Proxima Nova"/>
                <a:sym typeface="Proxima Nova"/>
              </a:rPr>
              <a:t>Workstream / Feature Set</a:t>
            </a:r>
            <a:endParaRPr b="1" sz="1100">
              <a:solidFill>
                <a:schemeClr val="accent1"/>
              </a:solidFill>
              <a:latin typeface="Proxima Nova"/>
              <a:ea typeface="Proxima Nova"/>
              <a:cs typeface="Proxima Nova"/>
              <a:sym typeface="Proxima Nova"/>
            </a:endParaRPr>
          </a:p>
        </p:txBody>
      </p:sp>
      <p:sp>
        <p:nvSpPr>
          <p:cNvPr id="202" name="Google Shape;202;p25"/>
          <p:cNvSpPr txBox="1"/>
          <p:nvPr/>
        </p:nvSpPr>
        <p:spPr>
          <a:xfrm>
            <a:off x="3066065" y="1385697"/>
            <a:ext cx="2017800" cy="1692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500"/>
              </a:spcBef>
              <a:spcAft>
                <a:spcPts val="0"/>
              </a:spcAft>
              <a:buNone/>
            </a:pPr>
            <a:r>
              <a:rPr b="1" lang="en" sz="1100">
                <a:solidFill>
                  <a:schemeClr val="accent1"/>
                </a:solidFill>
                <a:latin typeface="Proxima Nova"/>
                <a:ea typeface="Proxima Nova"/>
                <a:cs typeface="Proxima Nova"/>
                <a:sym typeface="Proxima Nova"/>
              </a:rPr>
              <a:t>Deliverables Summary</a:t>
            </a:r>
            <a:endParaRPr b="1" sz="1100">
              <a:solidFill>
                <a:schemeClr val="accent1"/>
              </a:solidFill>
              <a:latin typeface="Proxima Nova"/>
              <a:ea typeface="Proxima Nova"/>
              <a:cs typeface="Proxima Nova"/>
              <a:sym typeface="Proxima Nova"/>
            </a:endParaRPr>
          </a:p>
        </p:txBody>
      </p:sp>
      <p:sp>
        <p:nvSpPr>
          <p:cNvPr id="203" name="Google Shape;203;p25"/>
          <p:cNvSpPr txBox="1"/>
          <p:nvPr/>
        </p:nvSpPr>
        <p:spPr>
          <a:xfrm>
            <a:off x="2726725" y="1722773"/>
            <a:ext cx="2995200" cy="843300"/>
          </a:xfrm>
          <a:prstGeom prst="rect">
            <a:avLst/>
          </a:prstGeom>
          <a:noFill/>
          <a:ln>
            <a:noFill/>
          </a:ln>
        </p:spPr>
        <p:txBody>
          <a:bodyPr anchorCtr="0" anchor="t" bIns="0" lIns="0" spcFirstLastPara="1" rIns="0" wrap="square" tIns="0">
            <a:spAutoFit/>
          </a:bodyPr>
          <a:lstStyle/>
          <a:p>
            <a:pPr indent="-190500" lvl="0" marL="314325" rtl="0" algn="l">
              <a:lnSpc>
                <a:spcPct val="115000"/>
              </a:lnSpc>
              <a:spcBef>
                <a:spcPts val="500"/>
              </a:spcBef>
              <a:spcAft>
                <a:spcPts val="0"/>
              </a:spcAft>
              <a:buClr>
                <a:srgbClr val="444746"/>
              </a:buClr>
              <a:buSzPts val="750"/>
              <a:buFont typeface="Proxima Nova"/>
              <a:buChar char="●"/>
            </a:pPr>
            <a:r>
              <a:rPr lang="en" sz="750">
                <a:solidFill>
                  <a:srgbClr val="444746"/>
                </a:solidFill>
                <a:latin typeface="Proxima Nova"/>
                <a:ea typeface="Proxima Nova"/>
                <a:cs typeface="Proxima Nova"/>
                <a:sym typeface="Proxima Nova"/>
              </a:rPr>
              <a:t>Micro-frontend Shell</a:t>
            </a:r>
            <a:endParaRPr sz="750">
              <a:solidFill>
                <a:srgbClr val="444746"/>
              </a:solidFill>
              <a:latin typeface="Proxima Nova"/>
              <a:ea typeface="Proxima Nova"/>
              <a:cs typeface="Proxima Nova"/>
              <a:sym typeface="Proxima Nova"/>
            </a:endParaRPr>
          </a:p>
          <a:p>
            <a:pPr indent="-190500" lvl="0" marL="314325" rtl="0" algn="l">
              <a:lnSpc>
                <a:spcPct val="115000"/>
              </a:lnSpc>
              <a:spcBef>
                <a:spcPts val="0"/>
              </a:spcBef>
              <a:spcAft>
                <a:spcPts val="0"/>
              </a:spcAft>
              <a:buClr>
                <a:srgbClr val="444746"/>
              </a:buClr>
              <a:buSzPts val="750"/>
              <a:buFont typeface="Proxima Nova"/>
              <a:buChar char="●"/>
            </a:pPr>
            <a:r>
              <a:rPr lang="en" sz="750">
                <a:solidFill>
                  <a:srgbClr val="444746"/>
                </a:solidFill>
                <a:latin typeface="Proxima Nova"/>
                <a:ea typeface="Proxima Nova"/>
                <a:cs typeface="Proxima Nova"/>
                <a:sym typeface="Proxima Nova"/>
              </a:rPr>
              <a:t>Azure AD / MSAL Authentication Integration</a:t>
            </a:r>
            <a:endParaRPr sz="750">
              <a:solidFill>
                <a:srgbClr val="444746"/>
              </a:solidFill>
              <a:latin typeface="Proxima Nova"/>
              <a:ea typeface="Proxima Nova"/>
              <a:cs typeface="Proxima Nova"/>
              <a:sym typeface="Proxima Nova"/>
            </a:endParaRPr>
          </a:p>
          <a:p>
            <a:pPr indent="-190500" lvl="0" marL="314325" rtl="0" algn="l">
              <a:lnSpc>
                <a:spcPct val="115000"/>
              </a:lnSpc>
              <a:spcBef>
                <a:spcPts val="0"/>
              </a:spcBef>
              <a:spcAft>
                <a:spcPts val="0"/>
              </a:spcAft>
              <a:buClr>
                <a:srgbClr val="444746"/>
              </a:buClr>
              <a:buSzPts val="750"/>
              <a:buFont typeface="Proxima Nova"/>
              <a:buChar char="●"/>
            </a:pPr>
            <a:r>
              <a:rPr lang="en" sz="750">
                <a:solidFill>
                  <a:srgbClr val="444746"/>
                </a:solidFill>
                <a:latin typeface="Proxima Nova"/>
                <a:ea typeface="Proxima Nova"/>
                <a:cs typeface="Proxima Nova"/>
                <a:sym typeface="Proxima Nova"/>
              </a:rPr>
              <a:t>Shell and Authentication E2E Test Harness</a:t>
            </a:r>
            <a:endParaRPr sz="750">
              <a:solidFill>
                <a:srgbClr val="444746"/>
              </a:solidFill>
              <a:latin typeface="Proxima Nova"/>
              <a:ea typeface="Proxima Nova"/>
              <a:cs typeface="Proxima Nova"/>
              <a:sym typeface="Proxima Nova"/>
            </a:endParaRPr>
          </a:p>
          <a:p>
            <a:pPr indent="-190500" lvl="0" marL="314325" rtl="0" algn="l">
              <a:lnSpc>
                <a:spcPct val="115000"/>
              </a:lnSpc>
              <a:spcBef>
                <a:spcPts val="0"/>
              </a:spcBef>
              <a:spcAft>
                <a:spcPts val="0"/>
              </a:spcAft>
              <a:buClr>
                <a:srgbClr val="444746"/>
              </a:buClr>
              <a:buSzPts val="750"/>
              <a:buFont typeface="Proxima Nova"/>
              <a:buChar char="●"/>
            </a:pPr>
            <a:r>
              <a:rPr lang="en" sz="750">
                <a:solidFill>
                  <a:srgbClr val="444746"/>
                </a:solidFill>
                <a:latin typeface="Proxima Nova"/>
                <a:ea typeface="Proxima Nova"/>
                <a:cs typeface="Proxima Nova"/>
                <a:sym typeface="Proxima Nova"/>
              </a:rPr>
              <a:t>Authentication Negative Tests and Security Scan</a:t>
            </a:r>
            <a:endParaRPr sz="750">
              <a:solidFill>
                <a:srgbClr val="444746"/>
              </a:solidFill>
              <a:latin typeface="Proxima Nova"/>
              <a:ea typeface="Proxima Nova"/>
              <a:cs typeface="Proxima Nova"/>
              <a:sym typeface="Proxima Nova"/>
            </a:endParaRPr>
          </a:p>
          <a:p>
            <a:pPr indent="-190500" lvl="0" marL="314325" rtl="0" algn="l">
              <a:lnSpc>
                <a:spcPct val="115000"/>
              </a:lnSpc>
              <a:spcBef>
                <a:spcPts val="0"/>
              </a:spcBef>
              <a:spcAft>
                <a:spcPts val="0"/>
              </a:spcAft>
              <a:buClr>
                <a:srgbClr val="444746"/>
              </a:buClr>
              <a:buSzPts val="750"/>
              <a:buFont typeface="Proxima Nova"/>
              <a:buChar char="●"/>
            </a:pPr>
            <a:r>
              <a:rPr lang="en" sz="750">
                <a:solidFill>
                  <a:srgbClr val="444746"/>
                </a:solidFill>
                <a:latin typeface="Proxima Nova"/>
                <a:ea typeface="Proxima Nova"/>
                <a:cs typeface="Proxima Nova"/>
                <a:sym typeface="Proxima Nova"/>
              </a:rPr>
              <a:t>P1 Syngenta-Built Component Certification Tests</a:t>
            </a:r>
            <a:endParaRPr sz="750">
              <a:solidFill>
                <a:srgbClr val="444746"/>
              </a:solidFill>
              <a:latin typeface="Proxima Nova"/>
              <a:ea typeface="Proxima Nova"/>
              <a:cs typeface="Proxima Nova"/>
              <a:sym typeface="Proxima Nova"/>
            </a:endParaRPr>
          </a:p>
          <a:p>
            <a:pPr indent="0" lvl="0" marL="0" rtl="0" algn="l">
              <a:lnSpc>
                <a:spcPct val="115000"/>
              </a:lnSpc>
              <a:spcBef>
                <a:spcPts val="500"/>
              </a:spcBef>
              <a:spcAft>
                <a:spcPts val="0"/>
              </a:spcAft>
              <a:buNone/>
            </a:pPr>
            <a:r>
              <a:t/>
            </a:r>
            <a:endParaRPr sz="750">
              <a:solidFill>
                <a:srgbClr val="444746"/>
              </a:solidFill>
              <a:latin typeface="Proxima Nova"/>
              <a:ea typeface="Proxima Nova"/>
              <a:cs typeface="Proxima Nova"/>
              <a:sym typeface="Proxima Nova"/>
            </a:endParaRPr>
          </a:p>
        </p:txBody>
      </p:sp>
      <p:sp>
        <p:nvSpPr>
          <p:cNvPr id="204" name="Google Shape;204;p25"/>
          <p:cNvSpPr txBox="1"/>
          <p:nvPr/>
        </p:nvSpPr>
        <p:spPr>
          <a:xfrm>
            <a:off x="502750" y="1838123"/>
            <a:ext cx="2271900" cy="3639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500"/>
              </a:spcBef>
              <a:spcAft>
                <a:spcPts val="0"/>
              </a:spcAft>
              <a:buNone/>
            </a:pPr>
            <a:r>
              <a:rPr lang="en" sz="1050">
                <a:solidFill>
                  <a:schemeClr val="dk1"/>
                </a:solidFill>
                <a:latin typeface="Proxima Nova Semibold"/>
                <a:ea typeface="Proxima Nova Semibold"/>
                <a:cs typeface="Proxima Nova Semibold"/>
                <a:sym typeface="Proxima Nova Semibold"/>
              </a:rPr>
              <a:t>P1 Foundation </a:t>
            </a:r>
            <a:r>
              <a:rPr lang="en" sz="1050">
                <a:solidFill>
                  <a:srgbClr val="999999"/>
                </a:solidFill>
                <a:latin typeface="Proxima Nova Semibold"/>
                <a:ea typeface="Proxima Nova Semibold"/>
                <a:cs typeface="Proxima Nova Semibold"/>
                <a:sym typeface="Proxima Nova Semibold"/>
              </a:rPr>
              <a:t>6 weeks</a:t>
            </a:r>
            <a:endParaRPr sz="1050">
              <a:solidFill>
                <a:srgbClr val="999999"/>
              </a:solidFill>
              <a:latin typeface="Proxima Nova Semibold"/>
              <a:ea typeface="Proxima Nova Semibold"/>
              <a:cs typeface="Proxima Nova Semibold"/>
              <a:sym typeface="Proxima Nova Semibold"/>
            </a:endParaRPr>
          </a:p>
          <a:p>
            <a:pPr indent="0" lvl="0" marL="0" rtl="0" algn="l">
              <a:lnSpc>
                <a:spcPct val="115000"/>
              </a:lnSpc>
              <a:spcBef>
                <a:spcPts val="500"/>
              </a:spcBef>
              <a:spcAft>
                <a:spcPts val="0"/>
              </a:spcAft>
              <a:buNone/>
            </a:pPr>
            <a:r>
              <a:t/>
            </a:r>
            <a:endParaRPr sz="1050">
              <a:solidFill>
                <a:schemeClr val="dk1"/>
              </a:solidFill>
              <a:latin typeface="Proxima Nova Semibold"/>
              <a:ea typeface="Proxima Nova Semibold"/>
              <a:cs typeface="Proxima Nova Semibold"/>
              <a:sym typeface="Proxima Nova Semibold"/>
            </a:endParaRPr>
          </a:p>
        </p:txBody>
      </p:sp>
      <p:sp>
        <p:nvSpPr>
          <p:cNvPr id="205" name="Google Shape;205;p25"/>
          <p:cNvSpPr txBox="1"/>
          <p:nvPr/>
        </p:nvSpPr>
        <p:spPr>
          <a:xfrm>
            <a:off x="6347125" y="1167615"/>
            <a:ext cx="2417400" cy="23730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500"/>
              </a:spcBef>
              <a:spcAft>
                <a:spcPts val="0"/>
              </a:spcAft>
              <a:buNone/>
            </a:pPr>
            <a:r>
              <a:rPr b="1" lang="en" sz="1100">
                <a:solidFill>
                  <a:schemeClr val="lt1"/>
                </a:solidFill>
                <a:latin typeface="Proxima Nova"/>
                <a:ea typeface="Proxima Nova"/>
                <a:cs typeface="Proxima Nova"/>
                <a:sym typeface="Proxima Nova"/>
              </a:rPr>
              <a:t>Syngenta owns the platform layer </a:t>
            </a:r>
            <a:r>
              <a:rPr lang="en" sz="1100">
                <a:solidFill>
                  <a:schemeClr val="lt1"/>
                </a:solidFill>
                <a:latin typeface="Proxima Nova"/>
                <a:ea typeface="Proxima Nova"/>
                <a:cs typeface="Proxima Nova"/>
                <a:sym typeface="Proxima Nova"/>
              </a:rPr>
              <a:t>(Terraform, infrastructure).</a:t>
            </a:r>
            <a:endParaRPr sz="1100">
              <a:solidFill>
                <a:schemeClr val="lt1"/>
              </a:solidFill>
              <a:latin typeface="Proxima Nova"/>
              <a:ea typeface="Proxima Nova"/>
              <a:cs typeface="Proxima Nova"/>
              <a:sym typeface="Proxima Nova"/>
            </a:endParaRPr>
          </a:p>
          <a:p>
            <a:pPr indent="0" lvl="0" marL="0" rtl="0" algn="l">
              <a:lnSpc>
                <a:spcPct val="115000"/>
              </a:lnSpc>
              <a:spcBef>
                <a:spcPts val="500"/>
              </a:spcBef>
              <a:spcAft>
                <a:spcPts val="0"/>
              </a:spcAft>
              <a:buNone/>
            </a:pPr>
            <a:r>
              <a:rPr b="1" lang="en" sz="1100">
                <a:solidFill>
                  <a:schemeClr val="lt1"/>
                </a:solidFill>
                <a:latin typeface="Proxima Nova"/>
                <a:ea typeface="Proxima Nova"/>
                <a:cs typeface="Proxima Nova"/>
                <a:sym typeface="Proxima Nova"/>
              </a:rPr>
              <a:t>Toptal owns Arc development. </a:t>
            </a:r>
            <a:endParaRPr b="1" sz="1100">
              <a:solidFill>
                <a:schemeClr val="lt1"/>
              </a:solidFill>
              <a:latin typeface="Proxima Nova"/>
              <a:ea typeface="Proxima Nova"/>
              <a:cs typeface="Proxima Nova"/>
              <a:sym typeface="Proxima Nova"/>
            </a:endParaRPr>
          </a:p>
          <a:p>
            <a:pPr indent="0" lvl="0" marL="0" rtl="0" algn="l">
              <a:lnSpc>
                <a:spcPct val="115000"/>
              </a:lnSpc>
              <a:spcBef>
                <a:spcPts val="500"/>
              </a:spcBef>
              <a:spcAft>
                <a:spcPts val="0"/>
              </a:spcAft>
              <a:buNone/>
            </a:pPr>
            <a:r>
              <a:rPr b="1" lang="en" sz="1100">
                <a:solidFill>
                  <a:schemeClr val="lt1"/>
                </a:solidFill>
                <a:latin typeface="Proxima Nova"/>
                <a:ea typeface="Proxima Nova"/>
                <a:cs typeface="Proxima Nova"/>
                <a:sym typeface="Proxima Nova"/>
              </a:rPr>
              <a:t>Syngenta also holds the data tier, </a:t>
            </a:r>
            <a:r>
              <a:rPr lang="en" sz="1100">
                <a:solidFill>
                  <a:schemeClr val="lt1"/>
                </a:solidFill>
                <a:latin typeface="Proxima Nova"/>
                <a:ea typeface="Proxima Nova"/>
                <a:cs typeface="Proxima Nova"/>
                <a:sym typeface="Proxima Nova"/>
              </a:rPr>
              <a:t>which is where the ingestion pipelines and the Snowflake model sit. </a:t>
            </a:r>
            <a:endParaRPr sz="1100">
              <a:solidFill>
                <a:schemeClr val="lt1"/>
              </a:solidFill>
              <a:latin typeface="Proxima Nova"/>
              <a:ea typeface="Proxima Nova"/>
              <a:cs typeface="Proxima Nova"/>
              <a:sym typeface="Proxima Nova"/>
            </a:endParaRPr>
          </a:p>
          <a:p>
            <a:pPr indent="0" lvl="0" marL="0" rtl="0" algn="l">
              <a:lnSpc>
                <a:spcPct val="115000"/>
              </a:lnSpc>
              <a:spcBef>
                <a:spcPts val="500"/>
              </a:spcBef>
              <a:spcAft>
                <a:spcPts val="0"/>
              </a:spcAft>
              <a:buNone/>
            </a:pPr>
            <a:r>
              <a:rPr b="1" lang="en" sz="1100">
                <a:solidFill>
                  <a:schemeClr val="lt1"/>
                </a:solidFill>
                <a:latin typeface="Proxima Nova"/>
                <a:ea typeface="Proxima Nova"/>
                <a:cs typeface="Proxima Nova"/>
                <a:sym typeface="Proxima Nova"/>
              </a:rPr>
              <a:t>Toptal holds the application:</a:t>
            </a:r>
            <a:r>
              <a:rPr lang="en" sz="1100">
                <a:solidFill>
                  <a:schemeClr val="lt1"/>
                </a:solidFill>
                <a:latin typeface="Proxima Nova"/>
                <a:ea typeface="Proxima Nova"/>
                <a:cs typeface="Proxima Nova"/>
                <a:sym typeface="Proxima Nova"/>
              </a:rPr>
              <a:t> the shell, the ARC micro-frontend, the FastAPI services, and the nomenclature service.</a:t>
            </a:r>
            <a:endParaRPr sz="1100">
              <a:solidFill>
                <a:schemeClr val="lt1"/>
              </a:solidFill>
              <a:latin typeface="Proxima Nova"/>
              <a:ea typeface="Proxima Nova"/>
              <a:cs typeface="Proxima Nova"/>
              <a:sym typeface="Proxima Nova"/>
            </a:endParaRPr>
          </a:p>
          <a:p>
            <a:pPr indent="0" lvl="0" marL="0" rtl="0" algn="l">
              <a:lnSpc>
                <a:spcPct val="115000"/>
              </a:lnSpc>
              <a:spcBef>
                <a:spcPts val="500"/>
              </a:spcBef>
              <a:spcAft>
                <a:spcPts val="0"/>
              </a:spcAft>
              <a:buNone/>
            </a:pPr>
            <a:r>
              <a:rPr lang="en" sz="1100">
                <a:solidFill>
                  <a:schemeClr val="lt1"/>
                </a:solidFill>
                <a:latin typeface="Proxima Nova"/>
                <a:ea typeface="Proxima Nova"/>
                <a:cs typeface="Proxima Nova"/>
                <a:sym typeface="Proxima Nova"/>
              </a:rPr>
              <a:t>Arc is one application inside a larger Syngenta platform.</a:t>
            </a:r>
            <a:endParaRPr sz="1100">
              <a:solidFill>
                <a:schemeClr val="lt1"/>
              </a:solidFill>
              <a:latin typeface="Proxima Nova"/>
              <a:ea typeface="Proxima Nova"/>
              <a:cs typeface="Proxima Nova"/>
              <a:sym typeface="Proxima Nova"/>
            </a:endParaRPr>
          </a:p>
        </p:txBody>
      </p:sp>
      <p:sp>
        <p:nvSpPr>
          <p:cNvPr id="206" name="Google Shape;206;p25"/>
          <p:cNvSpPr txBox="1"/>
          <p:nvPr/>
        </p:nvSpPr>
        <p:spPr>
          <a:xfrm>
            <a:off x="2726700" y="2509307"/>
            <a:ext cx="2995200" cy="646500"/>
          </a:xfrm>
          <a:prstGeom prst="rect">
            <a:avLst/>
          </a:prstGeom>
          <a:noFill/>
          <a:ln>
            <a:noFill/>
          </a:ln>
        </p:spPr>
        <p:txBody>
          <a:bodyPr anchorCtr="0" anchor="t" bIns="0" lIns="0" spcFirstLastPara="1" rIns="0" wrap="square" tIns="0">
            <a:spAutoFit/>
          </a:bodyPr>
          <a:lstStyle/>
          <a:p>
            <a:pPr indent="-190500" lvl="0" marL="314325" rtl="0" algn="l">
              <a:lnSpc>
                <a:spcPct val="115000"/>
              </a:lnSpc>
              <a:spcBef>
                <a:spcPts val="500"/>
              </a:spcBef>
              <a:spcAft>
                <a:spcPts val="0"/>
              </a:spcAft>
              <a:buClr>
                <a:srgbClr val="444746"/>
              </a:buClr>
              <a:buSzPts val="750"/>
              <a:buFont typeface="Proxima Nova"/>
              <a:buChar char="●"/>
            </a:pPr>
            <a:r>
              <a:rPr lang="en" sz="750">
                <a:solidFill>
                  <a:srgbClr val="444746"/>
                </a:solidFill>
                <a:latin typeface="Proxima Nova"/>
                <a:ea typeface="Proxima Nova"/>
                <a:cs typeface="Proxima Nova"/>
                <a:sym typeface="Proxima Nova"/>
              </a:rPr>
              <a:t>Faceted Search and Detail API Endpoints</a:t>
            </a:r>
            <a:endParaRPr sz="750">
              <a:solidFill>
                <a:srgbClr val="444746"/>
              </a:solidFill>
              <a:latin typeface="Proxima Nova"/>
              <a:ea typeface="Proxima Nova"/>
              <a:cs typeface="Proxima Nova"/>
              <a:sym typeface="Proxima Nova"/>
            </a:endParaRPr>
          </a:p>
          <a:p>
            <a:pPr indent="-190500" lvl="0" marL="314325" rtl="0" algn="l">
              <a:lnSpc>
                <a:spcPct val="115000"/>
              </a:lnSpc>
              <a:spcBef>
                <a:spcPts val="0"/>
              </a:spcBef>
              <a:spcAft>
                <a:spcPts val="0"/>
              </a:spcAft>
              <a:buClr>
                <a:srgbClr val="444746"/>
              </a:buClr>
              <a:buSzPts val="750"/>
              <a:buFont typeface="Proxima Nova"/>
              <a:buChar char="●"/>
            </a:pPr>
            <a:r>
              <a:rPr lang="en" sz="750">
                <a:solidFill>
                  <a:srgbClr val="444746"/>
                </a:solidFill>
                <a:latin typeface="Proxima Nova"/>
                <a:ea typeface="Proxima Nova"/>
                <a:cs typeface="Proxima Nova"/>
                <a:sym typeface="Proxima Nova"/>
              </a:rPr>
              <a:t>Asynchronous Long-Running Query Processing</a:t>
            </a:r>
            <a:endParaRPr sz="750">
              <a:solidFill>
                <a:srgbClr val="444746"/>
              </a:solidFill>
              <a:latin typeface="Proxima Nova"/>
              <a:ea typeface="Proxima Nova"/>
              <a:cs typeface="Proxima Nova"/>
              <a:sym typeface="Proxima Nova"/>
            </a:endParaRPr>
          </a:p>
          <a:p>
            <a:pPr indent="-190500" lvl="0" marL="314325" rtl="0" algn="l">
              <a:lnSpc>
                <a:spcPct val="115000"/>
              </a:lnSpc>
              <a:spcBef>
                <a:spcPts val="0"/>
              </a:spcBef>
              <a:spcAft>
                <a:spcPts val="0"/>
              </a:spcAft>
              <a:buClr>
                <a:srgbClr val="444746"/>
              </a:buClr>
              <a:buSzPts val="750"/>
              <a:buFont typeface="Proxima Nova"/>
              <a:buChar char="●"/>
            </a:pPr>
            <a:r>
              <a:rPr lang="en" sz="750">
                <a:solidFill>
                  <a:srgbClr val="444746"/>
                </a:solidFill>
                <a:latin typeface="Proxima Nova"/>
                <a:ea typeface="Proxima Nova"/>
                <a:cs typeface="Proxima Nova"/>
                <a:sym typeface="Proxima Nova"/>
              </a:rPr>
              <a:t>Backend Load Tests and Performance Engineering Spike</a:t>
            </a:r>
            <a:endParaRPr sz="750">
              <a:solidFill>
                <a:srgbClr val="444746"/>
              </a:solidFill>
              <a:latin typeface="Proxima Nova"/>
              <a:ea typeface="Proxima Nova"/>
              <a:cs typeface="Proxima Nova"/>
              <a:sym typeface="Proxima Nova"/>
            </a:endParaRPr>
          </a:p>
          <a:p>
            <a:pPr indent="-190500" lvl="0" marL="314325" rtl="0" algn="l">
              <a:lnSpc>
                <a:spcPct val="115000"/>
              </a:lnSpc>
              <a:spcBef>
                <a:spcPts val="0"/>
              </a:spcBef>
              <a:spcAft>
                <a:spcPts val="0"/>
              </a:spcAft>
              <a:buClr>
                <a:srgbClr val="444746"/>
              </a:buClr>
              <a:buSzPts val="750"/>
              <a:buFont typeface="Proxima Nova"/>
              <a:buChar char="●"/>
            </a:pPr>
            <a:r>
              <a:rPr lang="en" sz="750">
                <a:solidFill>
                  <a:srgbClr val="444746"/>
                </a:solidFill>
                <a:latin typeface="Proxima Nova"/>
                <a:ea typeface="Proxima Nova"/>
                <a:cs typeface="Proxima Nova"/>
                <a:sym typeface="Proxima Nova"/>
              </a:rPr>
              <a:t>OneGWAS </a:t>
            </a:r>
            <a:r>
              <a:rPr lang="en" sz="750">
                <a:solidFill>
                  <a:srgbClr val="444746"/>
                </a:solidFill>
                <a:latin typeface="Proxima Nova"/>
                <a:ea typeface="Proxima Nova"/>
                <a:cs typeface="Proxima Nova"/>
                <a:sym typeface="Proxima Nova"/>
              </a:rPr>
              <a:t>Direct-Write Integration and Tests</a:t>
            </a:r>
            <a:endParaRPr sz="750">
              <a:solidFill>
                <a:srgbClr val="444746"/>
              </a:solidFill>
              <a:latin typeface="Proxima Nova"/>
              <a:ea typeface="Proxima Nova"/>
              <a:cs typeface="Proxima Nova"/>
              <a:sym typeface="Proxima Nova"/>
            </a:endParaRPr>
          </a:p>
          <a:p>
            <a:pPr indent="-190500" lvl="0" marL="314325" rtl="0" algn="l">
              <a:lnSpc>
                <a:spcPct val="115000"/>
              </a:lnSpc>
              <a:spcBef>
                <a:spcPts val="0"/>
              </a:spcBef>
              <a:spcAft>
                <a:spcPts val="0"/>
              </a:spcAft>
              <a:buClr>
                <a:srgbClr val="444746"/>
              </a:buClr>
              <a:buSzPts val="750"/>
              <a:buFont typeface="Proxima Nova"/>
              <a:buChar char="●"/>
            </a:pPr>
            <a:r>
              <a:rPr lang="en" sz="750">
                <a:solidFill>
                  <a:srgbClr val="444746"/>
                </a:solidFill>
                <a:latin typeface="Proxima Nova"/>
                <a:ea typeface="Proxima Nova"/>
                <a:cs typeface="Proxima Nova"/>
                <a:sym typeface="Proxima Nova"/>
              </a:rPr>
              <a:t>Data Ingestion and Content Certification Tests</a:t>
            </a:r>
            <a:endParaRPr sz="750">
              <a:solidFill>
                <a:srgbClr val="444746"/>
              </a:solidFill>
              <a:latin typeface="Proxima Nova"/>
              <a:ea typeface="Proxima Nova"/>
              <a:cs typeface="Proxima Nova"/>
              <a:sym typeface="Proxima Nova"/>
            </a:endParaRPr>
          </a:p>
        </p:txBody>
      </p:sp>
      <p:sp>
        <p:nvSpPr>
          <p:cNvPr id="207" name="Google Shape;207;p25"/>
          <p:cNvSpPr txBox="1"/>
          <p:nvPr/>
        </p:nvSpPr>
        <p:spPr>
          <a:xfrm>
            <a:off x="502750" y="2634898"/>
            <a:ext cx="2223900" cy="3639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500"/>
              </a:spcBef>
              <a:spcAft>
                <a:spcPts val="0"/>
              </a:spcAft>
              <a:buNone/>
            </a:pPr>
            <a:r>
              <a:rPr lang="en" sz="1050">
                <a:solidFill>
                  <a:schemeClr val="dk1"/>
                </a:solidFill>
                <a:latin typeface="Proxima Nova Semibold"/>
                <a:ea typeface="Proxima Nova Semibold"/>
                <a:cs typeface="Proxima Nova Semibold"/>
                <a:sym typeface="Proxima Nova Semibold"/>
              </a:rPr>
              <a:t>P2a Services and Data </a:t>
            </a:r>
            <a:r>
              <a:rPr lang="en" sz="1050">
                <a:solidFill>
                  <a:srgbClr val="999999"/>
                </a:solidFill>
                <a:latin typeface="Proxima Nova Semibold"/>
                <a:ea typeface="Proxima Nova Semibold"/>
                <a:cs typeface="Proxima Nova Semibold"/>
                <a:sym typeface="Proxima Nova Semibold"/>
              </a:rPr>
              <a:t>10 weeks</a:t>
            </a:r>
            <a:endParaRPr sz="1050">
              <a:solidFill>
                <a:srgbClr val="999999"/>
              </a:solidFill>
              <a:latin typeface="Proxima Nova Semibold"/>
              <a:ea typeface="Proxima Nova Semibold"/>
              <a:cs typeface="Proxima Nova Semibold"/>
              <a:sym typeface="Proxima Nova Semibold"/>
            </a:endParaRPr>
          </a:p>
          <a:p>
            <a:pPr indent="0" lvl="0" marL="0" rtl="0" algn="l">
              <a:lnSpc>
                <a:spcPct val="115000"/>
              </a:lnSpc>
              <a:spcBef>
                <a:spcPts val="500"/>
              </a:spcBef>
              <a:spcAft>
                <a:spcPts val="0"/>
              </a:spcAft>
              <a:buNone/>
            </a:pPr>
            <a:r>
              <a:t/>
            </a:r>
            <a:endParaRPr sz="1050">
              <a:solidFill>
                <a:schemeClr val="dk1"/>
              </a:solidFill>
              <a:latin typeface="Proxima Nova Semibold"/>
              <a:ea typeface="Proxima Nova Semibold"/>
              <a:cs typeface="Proxima Nova Semibold"/>
              <a:sym typeface="Proxima Nova Semibold"/>
            </a:endParaRPr>
          </a:p>
        </p:txBody>
      </p:sp>
      <p:sp>
        <p:nvSpPr>
          <p:cNvPr id="208" name="Google Shape;208;p25"/>
          <p:cNvSpPr txBox="1"/>
          <p:nvPr/>
        </p:nvSpPr>
        <p:spPr>
          <a:xfrm>
            <a:off x="2726700" y="3336666"/>
            <a:ext cx="3202500" cy="513600"/>
          </a:xfrm>
          <a:prstGeom prst="rect">
            <a:avLst/>
          </a:prstGeom>
          <a:noFill/>
          <a:ln>
            <a:noFill/>
          </a:ln>
        </p:spPr>
        <p:txBody>
          <a:bodyPr anchorCtr="0" anchor="t" bIns="0" lIns="0" spcFirstLastPara="1" rIns="0" wrap="square" tIns="0">
            <a:spAutoFit/>
          </a:bodyPr>
          <a:lstStyle/>
          <a:p>
            <a:pPr indent="-190500" lvl="0" marL="314325" rtl="0" algn="l">
              <a:lnSpc>
                <a:spcPct val="115000"/>
              </a:lnSpc>
              <a:spcBef>
                <a:spcPts val="500"/>
              </a:spcBef>
              <a:spcAft>
                <a:spcPts val="0"/>
              </a:spcAft>
              <a:buClr>
                <a:srgbClr val="444746"/>
              </a:buClr>
              <a:buSzPts val="750"/>
              <a:buFont typeface="Proxima Nova"/>
              <a:buChar char="●"/>
            </a:pPr>
            <a:r>
              <a:rPr lang="en" sz="750">
                <a:solidFill>
                  <a:srgbClr val="444746"/>
                </a:solidFill>
                <a:latin typeface="Proxima Nova"/>
                <a:ea typeface="Proxima Nova"/>
                <a:cs typeface="Proxima Nova"/>
                <a:sym typeface="Proxima Nova"/>
              </a:rPr>
              <a:t>ARC Faceted Search, Results Table and Detail View</a:t>
            </a:r>
            <a:endParaRPr sz="750">
              <a:solidFill>
                <a:srgbClr val="444746"/>
              </a:solidFill>
              <a:latin typeface="Proxima Nova"/>
              <a:ea typeface="Proxima Nova"/>
              <a:cs typeface="Proxima Nova"/>
              <a:sym typeface="Proxima Nova"/>
            </a:endParaRPr>
          </a:p>
          <a:p>
            <a:pPr indent="-190500" lvl="0" marL="314325" rtl="0" algn="l">
              <a:lnSpc>
                <a:spcPct val="115000"/>
              </a:lnSpc>
              <a:spcBef>
                <a:spcPts val="0"/>
              </a:spcBef>
              <a:spcAft>
                <a:spcPts val="0"/>
              </a:spcAft>
              <a:buClr>
                <a:srgbClr val="444746"/>
              </a:buClr>
              <a:buSzPts val="750"/>
              <a:buFont typeface="Proxima Nova"/>
              <a:buChar char="●"/>
            </a:pPr>
            <a:r>
              <a:rPr lang="en" sz="750">
                <a:solidFill>
                  <a:srgbClr val="444746"/>
                </a:solidFill>
                <a:latin typeface="Proxima Nova"/>
                <a:ea typeface="Proxima Nova"/>
                <a:cs typeface="Proxima Nova"/>
                <a:sym typeface="Proxima Nova"/>
              </a:rPr>
              <a:t>Haplotype Search, Visualization and API</a:t>
            </a:r>
            <a:endParaRPr sz="750">
              <a:solidFill>
                <a:srgbClr val="444746"/>
              </a:solidFill>
              <a:latin typeface="Proxima Nova"/>
              <a:ea typeface="Proxima Nova"/>
              <a:cs typeface="Proxima Nova"/>
              <a:sym typeface="Proxima Nova"/>
            </a:endParaRPr>
          </a:p>
          <a:p>
            <a:pPr indent="-190500" lvl="0" marL="314325" rtl="0" algn="l">
              <a:lnSpc>
                <a:spcPct val="115000"/>
              </a:lnSpc>
              <a:spcBef>
                <a:spcPts val="0"/>
              </a:spcBef>
              <a:spcAft>
                <a:spcPts val="0"/>
              </a:spcAft>
              <a:buClr>
                <a:srgbClr val="444746"/>
              </a:buClr>
              <a:buSzPts val="750"/>
              <a:buFont typeface="Proxima Nova"/>
              <a:buChar char="●"/>
            </a:pPr>
            <a:r>
              <a:rPr lang="en" sz="750">
                <a:solidFill>
                  <a:srgbClr val="444746"/>
                </a:solidFill>
                <a:latin typeface="Proxima Nova"/>
                <a:ea typeface="Proxima Nova"/>
                <a:cs typeface="Proxima Nova"/>
                <a:sym typeface="Proxima Nova"/>
              </a:rPr>
              <a:t>Nomenclature Service</a:t>
            </a:r>
            <a:endParaRPr sz="750">
              <a:solidFill>
                <a:srgbClr val="444746"/>
              </a:solidFill>
              <a:latin typeface="Proxima Nova"/>
              <a:ea typeface="Proxima Nova"/>
              <a:cs typeface="Proxima Nova"/>
              <a:sym typeface="Proxima Nova"/>
            </a:endParaRPr>
          </a:p>
          <a:p>
            <a:pPr indent="-190500" lvl="0" marL="314325" rtl="0" algn="l">
              <a:lnSpc>
                <a:spcPct val="115000"/>
              </a:lnSpc>
              <a:spcBef>
                <a:spcPts val="0"/>
              </a:spcBef>
              <a:spcAft>
                <a:spcPts val="0"/>
              </a:spcAft>
              <a:buClr>
                <a:srgbClr val="444746"/>
              </a:buClr>
              <a:buSzPts val="750"/>
              <a:buFont typeface="Proxima Nova"/>
              <a:buChar char="●"/>
            </a:pPr>
            <a:r>
              <a:rPr lang="en" sz="750">
                <a:solidFill>
                  <a:srgbClr val="444746"/>
                </a:solidFill>
                <a:latin typeface="Proxima Nova"/>
                <a:ea typeface="Proxima Nova"/>
                <a:cs typeface="Proxima Nova"/>
                <a:sym typeface="Proxima Nova"/>
              </a:rPr>
              <a:t>P2</a:t>
            </a:r>
            <a:r>
              <a:rPr lang="en" sz="750">
                <a:solidFill>
                  <a:srgbClr val="444746"/>
                </a:solidFill>
                <a:latin typeface="Proxima Nova"/>
                <a:ea typeface="Proxima Nova"/>
                <a:cs typeface="Proxima Nova"/>
                <a:sym typeface="Proxima Nova"/>
              </a:rPr>
              <a:t>b </a:t>
            </a:r>
            <a:r>
              <a:rPr lang="en" sz="750">
                <a:solidFill>
                  <a:srgbClr val="444746"/>
                </a:solidFill>
                <a:latin typeface="Proxima Nova"/>
                <a:ea typeface="Proxima Nova"/>
                <a:cs typeface="Proxima Nova"/>
                <a:sym typeface="Proxima Nova"/>
              </a:rPr>
              <a:t>Frontend, Haplotype and Nomenclature Test Suites</a:t>
            </a:r>
            <a:endParaRPr sz="750">
              <a:solidFill>
                <a:srgbClr val="444746"/>
              </a:solidFill>
              <a:latin typeface="Proxima Nova"/>
              <a:ea typeface="Proxima Nova"/>
              <a:cs typeface="Proxima Nova"/>
              <a:sym typeface="Proxima Nova"/>
            </a:endParaRPr>
          </a:p>
        </p:txBody>
      </p:sp>
      <p:sp>
        <p:nvSpPr>
          <p:cNvPr id="209" name="Google Shape;209;p25"/>
          <p:cNvSpPr txBox="1"/>
          <p:nvPr/>
        </p:nvSpPr>
        <p:spPr>
          <a:xfrm>
            <a:off x="502750" y="3390798"/>
            <a:ext cx="2448600" cy="2580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500"/>
              </a:spcBef>
              <a:spcAft>
                <a:spcPts val="0"/>
              </a:spcAft>
              <a:buNone/>
            </a:pPr>
            <a:r>
              <a:rPr lang="en" sz="1050">
                <a:solidFill>
                  <a:schemeClr val="dk1"/>
                </a:solidFill>
                <a:latin typeface="Proxima Nova Semibold"/>
                <a:ea typeface="Proxima Nova Semibold"/>
                <a:cs typeface="Proxima Nova Semibold"/>
                <a:sym typeface="Proxima Nova Semibold"/>
              </a:rPr>
              <a:t>P2b Application Surface </a:t>
            </a:r>
            <a:r>
              <a:rPr lang="en" sz="1050">
                <a:solidFill>
                  <a:srgbClr val="999999"/>
                </a:solidFill>
                <a:latin typeface="Proxima Nova Semibold"/>
                <a:ea typeface="Proxima Nova Semibold"/>
                <a:cs typeface="Proxima Nova Semibold"/>
                <a:sym typeface="Proxima Nova Semibold"/>
              </a:rPr>
              <a:t>5 weeks</a:t>
            </a:r>
            <a:endParaRPr sz="1050">
              <a:solidFill>
                <a:srgbClr val="999999"/>
              </a:solidFill>
              <a:latin typeface="Proxima Nova Semibold"/>
              <a:ea typeface="Proxima Nova Semibold"/>
              <a:cs typeface="Proxima Nova Semibold"/>
              <a:sym typeface="Proxima Nova Semibold"/>
            </a:endParaRPr>
          </a:p>
          <a:p>
            <a:pPr indent="0" lvl="0" marL="0" rtl="0" algn="l">
              <a:lnSpc>
                <a:spcPct val="115000"/>
              </a:lnSpc>
              <a:spcBef>
                <a:spcPts val="500"/>
              </a:spcBef>
              <a:spcAft>
                <a:spcPts val="0"/>
              </a:spcAft>
              <a:buNone/>
            </a:pPr>
            <a:r>
              <a:t/>
            </a:r>
            <a:endParaRPr sz="1050">
              <a:solidFill>
                <a:schemeClr val="dk1"/>
              </a:solidFill>
              <a:latin typeface="Proxima Nova Semibold"/>
              <a:ea typeface="Proxima Nova Semibold"/>
              <a:cs typeface="Proxima Nova Semibold"/>
              <a:sym typeface="Proxima Nova Semibold"/>
            </a:endParaRPr>
          </a:p>
        </p:txBody>
      </p:sp>
      <p:sp>
        <p:nvSpPr>
          <p:cNvPr id="210" name="Google Shape;210;p25"/>
          <p:cNvSpPr txBox="1"/>
          <p:nvPr/>
        </p:nvSpPr>
        <p:spPr>
          <a:xfrm>
            <a:off x="2726700" y="4041566"/>
            <a:ext cx="3202500" cy="1108800"/>
          </a:xfrm>
          <a:prstGeom prst="rect">
            <a:avLst/>
          </a:prstGeom>
          <a:noFill/>
          <a:ln>
            <a:noFill/>
          </a:ln>
        </p:spPr>
        <p:txBody>
          <a:bodyPr anchorCtr="0" anchor="t" bIns="0" lIns="0" spcFirstLastPara="1" rIns="0" wrap="square" tIns="0">
            <a:spAutoFit/>
          </a:bodyPr>
          <a:lstStyle/>
          <a:p>
            <a:pPr indent="-190500" lvl="0" marL="314325" rtl="0" algn="l">
              <a:lnSpc>
                <a:spcPct val="115000"/>
              </a:lnSpc>
              <a:spcBef>
                <a:spcPts val="500"/>
              </a:spcBef>
              <a:spcAft>
                <a:spcPts val="0"/>
              </a:spcAft>
              <a:buClr>
                <a:srgbClr val="444746"/>
              </a:buClr>
              <a:buSzPts val="750"/>
              <a:buFont typeface="Proxima Nova"/>
              <a:buChar char="●"/>
            </a:pPr>
            <a:r>
              <a:rPr lang="en" sz="750">
                <a:solidFill>
                  <a:srgbClr val="444746"/>
                </a:solidFill>
                <a:latin typeface="Proxima Nova"/>
                <a:ea typeface="Proxima Nova"/>
                <a:cs typeface="Proxima Nova"/>
                <a:sym typeface="Proxima Nova"/>
              </a:rPr>
              <a:t>Launch Integration, Performance, Security and Cross-Browser Test Suites</a:t>
            </a:r>
            <a:endParaRPr sz="750">
              <a:solidFill>
                <a:srgbClr val="444746"/>
              </a:solidFill>
              <a:latin typeface="Proxima Nova"/>
              <a:ea typeface="Proxima Nova"/>
              <a:cs typeface="Proxima Nova"/>
              <a:sym typeface="Proxima Nova"/>
            </a:endParaRPr>
          </a:p>
          <a:p>
            <a:pPr indent="-190500" lvl="0" marL="314325" rtl="0" algn="l">
              <a:lnSpc>
                <a:spcPct val="115000"/>
              </a:lnSpc>
              <a:spcBef>
                <a:spcPts val="0"/>
              </a:spcBef>
              <a:spcAft>
                <a:spcPts val="0"/>
              </a:spcAft>
              <a:buClr>
                <a:srgbClr val="444746"/>
              </a:buClr>
              <a:buSzPts val="750"/>
              <a:buFont typeface="Proxima Nova"/>
              <a:buChar char="●"/>
            </a:pPr>
            <a:r>
              <a:rPr lang="en" sz="750">
                <a:solidFill>
                  <a:srgbClr val="444746"/>
                </a:solidFill>
                <a:latin typeface="Proxima Nova"/>
                <a:ea typeface="Proxima Nova"/>
                <a:cs typeface="Proxima Nova"/>
                <a:sym typeface="Proxima Nova"/>
              </a:rPr>
              <a:t>UAT Execution Records and Defect Log</a:t>
            </a:r>
            <a:endParaRPr sz="750">
              <a:solidFill>
                <a:srgbClr val="444746"/>
              </a:solidFill>
              <a:latin typeface="Proxima Nova"/>
              <a:ea typeface="Proxima Nova"/>
              <a:cs typeface="Proxima Nova"/>
              <a:sym typeface="Proxima Nova"/>
            </a:endParaRPr>
          </a:p>
          <a:p>
            <a:pPr indent="-190500" lvl="0" marL="314325" rtl="0" algn="l">
              <a:lnSpc>
                <a:spcPct val="115000"/>
              </a:lnSpc>
              <a:spcBef>
                <a:spcPts val="0"/>
              </a:spcBef>
              <a:spcAft>
                <a:spcPts val="0"/>
              </a:spcAft>
              <a:buClr>
                <a:srgbClr val="444746"/>
              </a:buClr>
              <a:buSzPts val="750"/>
              <a:buFont typeface="Proxima Nova"/>
              <a:buChar char="●"/>
            </a:pPr>
            <a:r>
              <a:rPr lang="en" sz="750">
                <a:solidFill>
                  <a:srgbClr val="444746"/>
                </a:solidFill>
                <a:latin typeface="Proxima Nova"/>
                <a:ea typeface="Proxima Nova"/>
                <a:cs typeface="Proxima Nova"/>
                <a:sym typeface="Proxima Nova"/>
              </a:rPr>
              <a:t>Pre-Launch Hardening Iteration</a:t>
            </a:r>
            <a:endParaRPr sz="750">
              <a:solidFill>
                <a:srgbClr val="444746"/>
              </a:solidFill>
              <a:latin typeface="Proxima Nova"/>
              <a:ea typeface="Proxima Nova"/>
              <a:cs typeface="Proxima Nova"/>
              <a:sym typeface="Proxima Nova"/>
            </a:endParaRPr>
          </a:p>
          <a:p>
            <a:pPr indent="-190500" lvl="0" marL="314325" rtl="0" algn="l">
              <a:lnSpc>
                <a:spcPct val="115000"/>
              </a:lnSpc>
              <a:spcBef>
                <a:spcPts val="0"/>
              </a:spcBef>
              <a:spcAft>
                <a:spcPts val="0"/>
              </a:spcAft>
              <a:buClr>
                <a:srgbClr val="444746"/>
              </a:buClr>
              <a:buSzPts val="750"/>
              <a:buFont typeface="Proxima Nova"/>
              <a:buChar char="●"/>
            </a:pPr>
            <a:r>
              <a:rPr lang="en" sz="750">
                <a:solidFill>
                  <a:srgbClr val="444746"/>
                </a:solidFill>
                <a:latin typeface="Proxima Nova"/>
                <a:ea typeface="Proxima Nova"/>
                <a:cs typeface="Proxima Nova"/>
                <a:sym typeface="Proxima Nova"/>
              </a:rPr>
              <a:t>Production Smoke Tests and 48-Hour Defect Watch</a:t>
            </a:r>
            <a:endParaRPr sz="750">
              <a:solidFill>
                <a:srgbClr val="444746"/>
              </a:solidFill>
              <a:latin typeface="Proxima Nova"/>
              <a:ea typeface="Proxima Nova"/>
              <a:cs typeface="Proxima Nova"/>
              <a:sym typeface="Proxima Nova"/>
            </a:endParaRPr>
          </a:p>
          <a:p>
            <a:pPr indent="-190500" lvl="0" marL="314325" rtl="0" algn="l">
              <a:lnSpc>
                <a:spcPct val="115000"/>
              </a:lnSpc>
              <a:spcBef>
                <a:spcPts val="0"/>
              </a:spcBef>
              <a:spcAft>
                <a:spcPts val="0"/>
              </a:spcAft>
              <a:buClr>
                <a:srgbClr val="444746"/>
              </a:buClr>
              <a:buSzPts val="750"/>
              <a:buFont typeface="Proxima Nova"/>
              <a:buChar char="●"/>
            </a:pPr>
            <a:r>
              <a:rPr lang="en" sz="750">
                <a:solidFill>
                  <a:srgbClr val="444746"/>
                </a:solidFill>
                <a:latin typeface="Proxima Nova"/>
                <a:ea typeface="Proxima Nova"/>
                <a:cs typeface="Proxima Nova"/>
                <a:sym typeface="Proxima Nova"/>
              </a:rPr>
              <a:t>MTA Store Parity and Usage-Zero Confirmation Report</a:t>
            </a:r>
            <a:endParaRPr sz="750">
              <a:solidFill>
                <a:srgbClr val="444746"/>
              </a:solidFill>
              <a:latin typeface="Proxima Nova"/>
              <a:ea typeface="Proxima Nova"/>
              <a:cs typeface="Proxima Nova"/>
              <a:sym typeface="Proxima Nova"/>
            </a:endParaRPr>
          </a:p>
          <a:p>
            <a:pPr indent="-190500" lvl="0" marL="314325" rtl="0" algn="l">
              <a:lnSpc>
                <a:spcPct val="115000"/>
              </a:lnSpc>
              <a:spcBef>
                <a:spcPts val="0"/>
              </a:spcBef>
              <a:spcAft>
                <a:spcPts val="0"/>
              </a:spcAft>
              <a:buClr>
                <a:srgbClr val="444746"/>
              </a:buClr>
              <a:buSzPts val="750"/>
              <a:buFont typeface="Proxima Nova"/>
              <a:buChar char="●"/>
            </a:pPr>
            <a:r>
              <a:rPr lang="en" sz="750">
                <a:solidFill>
                  <a:srgbClr val="444746"/>
                </a:solidFill>
                <a:latin typeface="Proxima Nova"/>
                <a:ea typeface="Proxima Nova"/>
                <a:cs typeface="Proxima Nova"/>
                <a:sym typeface="Proxima Nova"/>
              </a:rPr>
              <a:t>Training Materials and User Documentation</a:t>
            </a:r>
            <a:endParaRPr sz="750">
              <a:solidFill>
                <a:srgbClr val="444746"/>
              </a:solidFill>
              <a:latin typeface="Proxima Nova"/>
              <a:ea typeface="Proxima Nova"/>
              <a:cs typeface="Proxima Nova"/>
              <a:sym typeface="Proxima Nova"/>
            </a:endParaRPr>
          </a:p>
          <a:p>
            <a:pPr indent="0" lvl="0" marL="457200" rtl="0" algn="l">
              <a:lnSpc>
                <a:spcPct val="115000"/>
              </a:lnSpc>
              <a:spcBef>
                <a:spcPts val="500"/>
              </a:spcBef>
              <a:spcAft>
                <a:spcPts val="0"/>
              </a:spcAft>
              <a:buNone/>
            </a:pPr>
            <a:r>
              <a:t/>
            </a:r>
            <a:endParaRPr sz="750">
              <a:solidFill>
                <a:srgbClr val="444746"/>
              </a:solidFill>
              <a:latin typeface="Proxima Nova"/>
              <a:ea typeface="Proxima Nova"/>
              <a:cs typeface="Proxima Nova"/>
              <a:sym typeface="Proxima Nova"/>
            </a:endParaRPr>
          </a:p>
        </p:txBody>
      </p:sp>
      <p:sp>
        <p:nvSpPr>
          <p:cNvPr id="211" name="Google Shape;211;p25"/>
          <p:cNvSpPr txBox="1"/>
          <p:nvPr/>
        </p:nvSpPr>
        <p:spPr>
          <a:xfrm>
            <a:off x="502750" y="4269198"/>
            <a:ext cx="2017800" cy="3639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500"/>
              </a:spcBef>
              <a:spcAft>
                <a:spcPts val="0"/>
              </a:spcAft>
              <a:buNone/>
            </a:pPr>
            <a:r>
              <a:rPr lang="en" sz="1050">
                <a:solidFill>
                  <a:schemeClr val="dk1"/>
                </a:solidFill>
                <a:latin typeface="Proxima Nova Semibold"/>
                <a:ea typeface="Proxima Nova Semibold"/>
                <a:cs typeface="Proxima Nova Semibold"/>
                <a:sym typeface="Proxima Nova Semibold"/>
              </a:rPr>
              <a:t>P3 Launch week </a:t>
            </a:r>
            <a:r>
              <a:rPr lang="en" sz="1050">
                <a:solidFill>
                  <a:srgbClr val="999999"/>
                </a:solidFill>
                <a:latin typeface="Proxima Nova Semibold"/>
                <a:ea typeface="Proxima Nova Semibold"/>
                <a:cs typeface="Proxima Nova Semibold"/>
                <a:sym typeface="Proxima Nova Semibold"/>
              </a:rPr>
              <a:t>5 weeks</a:t>
            </a:r>
            <a:endParaRPr sz="1050">
              <a:solidFill>
                <a:srgbClr val="999999"/>
              </a:solidFill>
              <a:latin typeface="Proxima Nova Semibold"/>
              <a:ea typeface="Proxima Nova Semibold"/>
              <a:cs typeface="Proxima Nova Semibold"/>
              <a:sym typeface="Proxima Nova Semibold"/>
            </a:endParaRPr>
          </a:p>
          <a:p>
            <a:pPr indent="0" lvl="0" marL="0" rtl="0" algn="l">
              <a:lnSpc>
                <a:spcPct val="115000"/>
              </a:lnSpc>
              <a:spcBef>
                <a:spcPts val="500"/>
              </a:spcBef>
              <a:spcAft>
                <a:spcPts val="0"/>
              </a:spcAft>
              <a:buNone/>
            </a:pPr>
            <a:r>
              <a:t/>
            </a:r>
            <a:endParaRPr sz="1050">
              <a:solidFill>
                <a:schemeClr val="dk1"/>
              </a:solidFill>
              <a:latin typeface="Proxima Nova Semibold"/>
              <a:ea typeface="Proxima Nova Semibold"/>
              <a:cs typeface="Proxima Nova Semibold"/>
              <a:sym typeface="Proxima Nova Semibold"/>
            </a:endParaRPr>
          </a:p>
        </p:txBody>
      </p:sp>
      <p:cxnSp>
        <p:nvCxnSpPr>
          <p:cNvPr id="212" name="Google Shape;212;p25"/>
          <p:cNvCxnSpPr/>
          <p:nvPr/>
        </p:nvCxnSpPr>
        <p:spPr>
          <a:xfrm>
            <a:off x="503325" y="2443955"/>
            <a:ext cx="5218500" cy="0"/>
          </a:xfrm>
          <a:prstGeom prst="straightConnector1">
            <a:avLst/>
          </a:prstGeom>
          <a:noFill/>
          <a:ln cap="flat" cmpd="sng" w="9525">
            <a:solidFill>
              <a:srgbClr val="E0E0E0"/>
            </a:solidFill>
            <a:prstDash val="solid"/>
            <a:round/>
            <a:headEnd len="med" w="med" type="none"/>
            <a:tailEnd len="med" w="med" type="none"/>
          </a:ln>
        </p:spPr>
      </p:cxnSp>
      <p:cxnSp>
        <p:nvCxnSpPr>
          <p:cNvPr id="213" name="Google Shape;213;p25"/>
          <p:cNvCxnSpPr/>
          <p:nvPr/>
        </p:nvCxnSpPr>
        <p:spPr>
          <a:xfrm>
            <a:off x="503325" y="1657412"/>
            <a:ext cx="5218500" cy="0"/>
          </a:xfrm>
          <a:prstGeom prst="straightConnector1">
            <a:avLst/>
          </a:prstGeom>
          <a:noFill/>
          <a:ln cap="flat" cmpd="sng" w="9525">
            <a:solidFill>
              <a:schemeClr val="accent1"/>
            </a:solidFill>
            <a:prstDash val="solid"/>
            <a:round/>
            <a:headEnd len="med" w="med" type="none"/>
            <a:tailEnd len="med" w="med" type="none"/>
          </a:ln>
        </p:spPr>
      </p:cxnSp>
      <p:cxnSp>
        <p:nvCxnSpPr>
          <p:cNvPr id="214" name="Google Shape;214;p25"/>
          <p:cNvCxnSpPr/>
          <p:nvPr/>
        </p:nvCxnSpPr>
        <p:spPr>
          <a:xfrm>
            <a:off x="503325" y="3240703"/>
            <a:ext cx="5218500" cy="0"/>
          </a:xfrm>
          <a:prstGeom prst="straightConnector1">
            <a:avLst/>
          </a:prstGeom>
          <a:noFill/>
          <a:ln cap="flat" cmpd="sng" w="9525">
            <a:solidFill>
              <a:srgbClr val="E0E0E0"/>
            </a:solidFill>
            <a:prstDash val="solid"/>
            <a:round/>
            <a:headEnd len="med" w="med" type="none"/>
            <a:tailEnd len="med" w="med" type="none"/>
          </a:ln>
        </p:spPr>
      </p:cxnSp>
      <p:cxnSp>
        <p:nvCxnSpPr>
          <p:cNvPr id="215" name="Google Shape;215;p25"/>
          <p:cNvCxnSpPr/>
          <p:nvPr/>
        </p:nvCxnSpPr>
        <p:spPr>
          <a:xfrm>
            <a:off x="503325" y="3966014"/>
            <a:ext cx="5218500" cy="0"/>
          </a:xfrm>
          <a:prstGeom prst="straightConnector1">
            <a:avLst/>
          </a:prstGeom>
          <a:noFill/>
          <a:ln cap="flat" cmpd="sng" w="9525">
            <a:solidFill>
              <a:srgbClr val="E0E0E0"/>
            </a:solidFill>
            <a:prstDash val="solid"/>
            <a:round/>
            <a:headEnd len="med" w="med" type="none"/>
            <a:tailEnd len="med" w="med" type="none"/>
          </a:ln>
        </p:spPr>
      </p:cxnSp>
      <p:cxnSp>
        <p:nvCxnSpPr>
          <p:cNvPr id="216" name="Google Shape;216;p25"/>
          <p:cNvCxnSpPr/>
          <p:nvPr/>
        </p:nvCxnSpPr>
        <p:spPr>
          <a:xfrm>
            <a:off x="503325" y="5026278"/>
            <a:ext cx="5218500" cy="0"/>
          </a:xfrm>
          <a:prstGeom prst="straightConnector1">
            <a:avLst/>
          </a:prstGeom>
          <a:noFill/>
          <a:ln cap="flat" cmpd="sng" w="9525">
            <a:solidFill>
              <a:srgbClr val="E0E0E0"/>
            </a:solidFill>
            <a:prstDash val="solid"/>
            <a:round/>
            <a:headEnd len="med" w="med" type="none"/>
            <a:tailEnd len="med" w="med" type="none"/>
          </a:ln>
        </p:spPr>
      </p:cxnSp>
      <p:sp>
        <p:nvSpPr>
          <p:cNvPr id="217" name="Google Shape;217;p25"/>
          <p:cNvSpPr/>
          <p:nvPr/>
        </p:nvSpPr>
        <p:spPr>
          <a:xfrm>
            <a:off x="480073" y="425196"/>
            <a:ext cx="68583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5AAC"/>
              </a:buClr>
              <a:buSzPts val="900"/>
              <a:buFont typeface="Calibri"/>
              <a:buNone/>
            </a:pPr>
            <a:r>
              <a:rPr b="1" lang="en" sz="900">
                <a:solidFill>
                  <a:srgbClr val="2E5AAC"/>
                </a:solidFill>
                <a:latin typeface="Proxima Nova"/>
                <a:ea typeface="Proxima Nova"/>
                <a:cs typeface="Proxima Nova"/>
                <a:sym typeface="Proxima Nova"/>
              </a:rPr>
              <a:t>PROJECT SUCCESS </a:t>
            </a:r>
            <a:r>
              <a:rPr b="1" lang="en" sz="900">
                <a:solidFill>
                  <a:srgbClr val="2E5AAC"/>
                </a:solidFill>
                <a:latin typeface="Proxima Nova"/>
                <a:ea typeface="Proxima Nova"/>
                <a:cs typeface="Proxima Nova"/>
                <a:sym typeface="Proxima Nova"/>
              </a:rPr>
              <a:t>AGREEMENT</a:t>
            </a:r>
            <a:endParaRPr b="0" i="0" sz="900" u="none" cap="none" strike="noStrike">
              <a:solidFill>
                <a:schemeClr val="dk1"/>
              </a:solidFill>
              <a:latin typeface="Calibri"/>
              <a:ea typeface="Calibri"/>
              <a:cs typeface="Calibri"/>
              <a:sym typeface="Calibri"/>
            </a:endParaRPr>
          </a:p>
        </p:txBody>
      </p:sp>
      <p:sp>
        <p:nvSpPr>
          <p:cNvPr id="218" name="Google Shape;218;p25"/>
          <p:cNvSpPr txBox="1"/>
          <p:nvPr>
            <p:ph idx="4294967295" type="ctrTitle"/>
          </p:nvPr>
        </p:nvSpPr>
        <p:spPr>
          <a:xfrm>
            <a:off x="480075" y="678350"/>
            <a:ext cx="7391400" cy="6096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1"/>
              </a:buClr>
              <a:buSzPts val="2400"/>
              <a:buFont typeface="Montserrat"/>
              <a:buNone/>
            </a:pPr>
            <a:r>
              <a:rPr lang="en" sz="2200"/>
              <a:t>Four milestones delivered over 26 weeks</a:t>
            </a:r>
            <a:endParaRPr sz="2200"/>
          </a:p>
          <a:p>
            <a:pPr indent="0" lvl="0" marL="0" rtl="0" algn="l">
              <a:lnSpc>
                <a:spcPct val="90000"/>
              </a:lnSpc>
              <a:spcBef>
                <a:spcPts val="0"/>
              </a:spcBef>
              <a:spcAft>
                <a:spcPts val="0"/>
              </a:spcAft>
              <a:buClr>
                <a:schemeClr val="dk1"/>
              </a:buClr>
              <a:buSzPts val="2400"/>
              <a:buFont typeface="Montserrat"/>
              <a:buNone/>
            </a:pPr>
            <a:r>
              <a:rPr lang="en" sz="2200"/>
              <a:t>+ 4 weeks of Hypercare</a:t>
            </a:r>
            <a:endParaRPr sz="2200"/>
          </a:p>
        </p:txBody>
      </p:sp>
      <p:sp>
        <p:nvSpPr>
          <p:cNvPr id="219" name="Google Shape;219;p25"/>
          <p:cNvSpPr txBox="1"/>
          <p:nvPr/>
        </p:nvSpPr>
        <p:spPr>
          <a:xfrm>
            <a:off x="6347125" y="3865634"/>
            <a:ext cx="2683500" cy="10122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500"/>
              </a:spcBef>
              <a:spcAft>
                <a:spcPts val="0"/>
              </a:spcAft>
              <a:buNone/>
            </a:pPr>
            <a:r>
              <a:rPr b="1" lang="en" sz="1100">
                <a:solidFill>
                  <a:schemeClr val="lt1"/>
                </a:solidFill>
                <a:latin typeface="Proxima Nova"/>
                <a:ea typeface="Proxima Nova"/>
                <a:cs typeface="Proxima Nova"/>
                <a:sym typeface="Proxima Nova"/>
              </a:rPr>
              <a:t>Toptal Out of Scope:</a:t>
            </a:r>
            <a:endParaRPr b="1" sz="1100">
              <a:solidFill>
                <a:schemeClr val="lt1"/>
              </a:solidFill>
              <a:latin typeface="Proxima Nova"/>
              <a:ea typeface="Proxima Nova"/>
              <a:cs typeface="Proxima Nova"/>
              <a:sym typeface="Proxima Nova"/>
            </a:endParaRPr>
          </a:p>
          <a:p>
            <a:pPr indent="-184150" lvl="0" marL="228600" rtl="0" algn="l">
              <a:lnSpc>
                <a:spcPct val="115000"/>
              </a:lnSpc>
              <a:spcBef>
                <a:spcPts val="500"/>
              </a:spcBef>
              <a:spcAft>
                <a:spcPts val="0"/>
              </a:spcAft>
              <a:buClr>
                <a:schemeClr val="lt1"/>
              </a:buClr>
              <a:buSzPts val="1100"/>
              <a:buFont typeface="Proxima Nova"/>
              <a:buChar char="●"/>
            </a:pPr>
            <a:r>
              <a:rPr lang="en" sz="1100">
                <a:solidFill>
                  <a:schemeClr val="lt1"/>
                </a:solidFill>
                <a:latin typeface="Proxima Nova"/>
                <a:ea typeface="Proxima Nova"/>
                <a:cs typeface="Proxima Nova"/>
                <a:sym typeface="Proxima Nova"/>
              </a:rPr>
              <a:t>Platform (Terraform, Infrastructure)</a:t>
            </a:r>
            <a:endParaRPr sz="1100">
              <a:solidFill>
                <a:schemeClr val="lt1"/>
              </a:solidFill>
              <a:latin typeface="Proxima Nova"/>
              <a:ea typeface="Proxima Nova"/>
              <a:cs typeface="Proxima Nova"/>
              <a:sym typeface="Proxima Nova"/>
            </a:endParaRPr>
          </a:p>
          <a:p>
            <a:pPr indent="-184150" lvl="0" marL="228600" rtl="0" algn="l">
              <a:lnSpc>
                <a:spcPct val="115000"/>
              </a:lnSpc>
              <a:spcBef>
                <a:spcPts val="0"/>
              </a:spcBef>
              <a:spcAft>
                <a:spcPts val="0"/>
              </a:spcAft>
              <a:buClr>
                <a:schemeClr val="lt1"/>
              </a:buClr>
              <a:buSzPts val="1100"/>
              <a:buFont typeface="Proxima Nova"/>
              <a:buChar char="●"/>
            </a:pPr>
            <a:r>
              <a:rPr lang="en" sz="1100">
                <a:solidFill>
                  <a:schemeClr val="lt1"/>
                </a:solidFill>
                <a:latin typeface="Proxima Nova"/>
                <a:ea typeface="Proxima Nova"/>
                <a:cs typeface="Proxima Nova"/>
                <a:sym typeface="Proxima Nova"/>
              </a:rPr>
              <a:t>Data-Tier (Snowflake, Ingestion)</a:t>
            </a:r>
            <a:endParaRPr sz="1100">
              <a:solidFill>
                <a:schemeClr val="lt1"/>
              </a:solidFill>
              <a:latin typeface="Proxima Nova"/>
              <a:ea typeface="Proxima Nova"/>
              <a:cs typeface="Proxima Nova"/>
              <a:sym typeface="Proxima Nova"/>
            </a:endParaRPr>
          </a:p>
          <a:p>
            <a:pPr indent="-184150" lvl="0" marL="228600" rtl="0" algn="l">
              <a:lnSpc>
                <a:spcPct val="115000"/>
              </a:lnSpc>
              <a:spcBef>
                <a:spcPts val="0"/>
              </a:spcBef>
              <a:spcAft>
                <a:spcPts val="0"/>
              </a:spcAft>
              <a:buClr>
                <a:schemeClr val="lt1"/>
              </a:buClr>
              <a:buSzPts val="1100"/>
              <a:buFont typeface="Proxima Nova"/>
              <a:buChar char="●"/>
            </a:pPr>
            <a:r>
              <a:rPr lang="en" sz="1100">
                <a:solidFill>
                  <a:schemeClr val="lt1"/>
                </a:solidFill>
                <a:latin typeface="Proxima Nova"/>
                <a:ea typeface="Proxima Nova"/>
                <a:cs typeface="Proxima Nova"/>
                <a:sym typeface="Proxima Nova"/>
              </a:rPr>
              <a:t>Syngenta-Built Defect Remediation</a:t>
            </a:r>
            <a:endParaRPr sz="1100">
              <a:solidFill>
                <a:schemeClr val="lt1"/>
              </a:solidFill>
              <a:latin typeface="Proxima Nova"/>
              <a:ea typeface="Proxima Nova"/>
              <a:cs typeface="Proxima Nova"/>
              <a:sym typeface="Proxima Nova"/>
            </a:endParaRPr>
          </a:p>
          <a:p>
            <a:pPr indent="-184150" lvl="0" marL="228600" rtl="0" algn="l">
              <a:lnSpc>
                <a:spcPct val="115000"/>
              </a:lnSpc>
              <a:spcBef>
                <a:spcPts val="0"/>
              </a:spcBef>
              <a:spcAft>
                <a:spcPts val="0"/>
              </a:spcAft>
              <a:buClr>
                <a:schemeClr val="lt1"/>
              </a:buClr>
              <a:buSzPts val="1100"/>
              <a:buFont typeface="Proxima Nova"/>
              <a:buChar char="●"/>
            </a:pPr>
            <a:r>
              <a:rPr lang="en" sz="1100">
                <a:solidFill>
                  <a:schemeClr val="lt1"/>
                </a:solidFill>
                <a:latin typeface="Proxima Nova"/>
                <a:ea typeface="Proxima Nova"/>
                <a:cs typeface="Proxima Nova"/>
                <a:sym typeface="Proxima Nova"/>
              </a:rPr>
              <a:t>Production Deployment</a:t>
            </a:r>
            <a:endParaRPr sz="1100">
              <a:solidFill>
                <a:schemeClr val="lt1"/>
              </a:solidFill>
              <a:latin typeface="Proxima Nova"/>
              <a:ea typeface="Proxima Nova"/>
              <a:cs typeface="Proxima Nova"/>
              <a:sym typeface="Proxima Nova"/>
            </a:endParaRPr>
          </a:p>
        </p:txBody>
      </p:sp>
      <p:sp>
        <p:nvSpPr>
          <p:cNvPr id="220" name="Google Shape;220;p25"/>
          <p:cNvSpPr txBox="1"/>
          <p:nvPr/>
        </p:nvSpPr>
        <p:spPr>
          <a:xfrm>
            <a:off x="401775" y="1979313"/>
            <a:ext cx="2325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solidFill>
                  <a:srgbClr val="6B7890"/>
                </a:solidFill>
                <a:latin typeface="Calibri"/>
                <a:ea typeface="Calibri"/>
                <a:cs typeface="Calibri"/>
                <a:sym typeface="Calibri"/>
              </a:rPr>
              <a:t>Toptal stands up the shell and sign-in.</a:t>
            </a:r>
            <a:r>
              <a:rPr b="1" lang="en" sz="700">
                <a:solidFill>
                  <a:srgbClr val="6B7890"/>
                </a:solidFill>
              </a:rPr>
              <a:t> </a:t>
            </a:r>
            <a:r>
              <a:rPr lang="en" sz="700">
                <a:solidFill>
                  <a:srgbClr val="6B7890"/>
                </a:solidFill>
                <a:latin typeface="Calibri"/>
                <a:ea typeface="Calibri"/>
                <a:cs typeface="Calibri"/>
                <a:sym typeface="Calibri"/>
              </a:rPr>
              <a:t>Syngenta stands up </a:t>
            </a:r>
            <a:r>
              <a:rPr lang="en" sz="700">
                <a:solidFill>
                  <a:srgbClr val="6B7890"/>
                </a:solidFill>
                <a:latin typeface="Calibri"/>
                <a:ea typeface="Calibri"/>
                <a:cs typeface="Calibri"/>
                <a:sym typeface="Calibri"/>
              </a:rPr>
              <a:t>the platform and the empty Snowflake schema.</a:t>
            </a:r>
            <a:endParaRPr b="1" sz="700">
              <a:solidFill>
                <a:srgbClr val="6B7890"/>
              </a:solidFill>
            </a:endParaRPr>
          </a:p>
        </p:txBody>
      </p:sp>
      <p:sp>
        <p:nvSpPr>
          <p:cNvPr id="221" name="Google Shape;221;p25"/>
          <p:cNvSpPr txBox="1"/>
          <p:nvPr/>
        </p:nvSpPr>
        <p:spPr>
          <a:xfrm>
            <a:off x="401775" y="2758348"/>
            <a:ext cx="2271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solidFill>
                  <a:srgbClr val="6B7890"/>
                </a:solidFill>
                <a:latin typeface="Calibri"/>
                <a:ea typeface="Calibri"/>
                <a:cs typeface="Calibri"/>
                <a:sym typeface="Calibri"/>
              </a:rPr>
              <a:t>Toptal builds the API layer and the </a:t>
            </a:r>
            <a:r>
              <a:rPr b="1" lang="en" sz="700">
                <a:solidFill>
                  <a:srgbClr val="6B7890"/>
                </a:solidFill>
                <a:latin typeface="Calibri"/>
                <a:ea typeface="Calibri"/>
                <a:cs typeface="Calibri"/>
                <a:sym typeface="Calibri"/>
              </a:rPr>
              <a:t>OneGWAS </a:t>
            </a:r>
            <a:r>
              <a:rPr b="1" lang="en" sz="700">
                <a:solidFill>
                  <a:srgbClr val="6B7890"/>
                </a:solidFill>
                <a:latin typeface="Calibri"/>
                <a:ea typeface="Calibri"/>
                <a:cs typeface="Calibri"/>
                <a:sym typeface="Calibri"/>
              </a:rPr>
              <a:t>writer</a:t>
            </a:r>
            <a:r>
              <a:rPr b="1" lang="en" sz="700">
                <a:solidFill>
                  <a:srgbClr val="6B7890"/>
                </a:solidFill>
              </a:rPr>
              <a:t>. </a:t>
            </a:r>
            <a:r>
              <a:rPr lang="en" sz="700">
                <a:solidFill>
                  <a:srgbClr val="6B7890"/>
                </a:solidFill>
                <a:latin typeface="Calibri"/>
                <a:ea typeface="Calibri"/>
                <a:cs typeface="Calibri"/>
                <a:sym typeface="Calibri"/>
              </a:rPr>
              <a:t>Syngenta loads the data.</a:t>
            </a:r>
            <a:endParaRPr b="1" sz="700">
              <a:solidFill>
                <a:srgbClr val="6B7890"/>
              </a:solidFill>
            </a:endParaRPr>
          </a:p>
        </p:txBody>
      </p:sp>
      <p:sp>
        <p:nvSpPr>
          <p:cNvPr id="222" name="Google Shape;222;p25"/>
          <p:cNvSpPr txBox="1"/>
          <p:nvPr/>
        </p:nvSpPr>
        <p:spPr>
          <a:xfrm>
            <a:off x="401775" y="3442597"/>
            <a:ext cx="23250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solidFill>
                  <a:srgbClr val="6B7890"/>
                </a:solidFill>
                <a:latin typeface="Calibri"/>
                <a:ea typeface="Calibri"/>
                <a:cs typeface="Calibri"/>
                <a:sym typeface="Calibri"/>
              </a:rPr>
              <a:t>Toptal builds the scientist-facing screens, haplotype APIs and trait-name resolution.</a:t>
            </a:r>
            <a:r>
              <a:rPr b="1" lang="en" sz="700">
                <a:solidFill>
                  <a:srgbClr val="6B7890"/>
                </a:solidFill>
              </a:rPr>
              <a:t> </a:t>
            </a:r>
            <a:r>
              <a:rPr lang="en" sz="700">
                <a:solidFill>
                  <a:srgbClr val="6B7890"/>
                </a:solidFill>
                <a:latin typeface="Calibri"/>
                <a:ea typeface="Calibri"/>
                <a:cs typeface="Calibri"/>
                <a:sym typeface="Calibri"/>
              </a:rPr>
              <a:t>Syngenta builds the Haplotype schema extensions. </a:t>
            </a:r>
            <a:endParaRPr b="1" sz="700">
              <a:solidFill>
                <a:srgbClr val="6B7890"/>
              </a:solidFill>
            </a:endParaRPr>
          </a:p>
        </p:txBody>
      </p:sp>
      <p:sp>
        <p:nvSpPr>
          <p:cNvPr id="223" name="Google Shape;223;p25"/>
          <p:cNvSpPr txBox="1"/>
          <p:nvPr/>
        </p:nvSpPr>
        <p:spPr>
          <a:xfrm>
            <a:off x="401775" y="4394297"/>
            <a:ext cx="2325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solidFill>
                  <a:srgbClr val="6B7890"/>
                </a:solidFill>
                <a:latin typeface="Calibri"/>
                <a:ea typeface="Calibri"/>
                <a:cs typeface="Calibri"/>
                <a:sym typeface="Calibri"/>
              </a:rPr>
              <a:t>Toptal tests everything end to end.</a:t>
            </a:r>
            <a:r>
              <a:rPr lang="en" sz="700">
                <a:solidFill>
                  <a:srgbClr val="6B7890"/>
                </a:solidFill>
                <a:latin typeface="Calibri"/>
                <a:ea typeface="Calibri"/>
                <a:cs typeface="Calibri"/>
                <a:sym typeface="Calibri"/>
              </a:rPr>
              <a:t> Syngenta deploys to production and retires the MTA Store.</a:t>
            </a:r>
            <a:endParaRPr b="1" sz="700">
              <a:solidFill>
                <a:srgbClr val="6B7890"/>
              </a:solidFill>
            </a:endParaRPr>
          </a:p>
        </p:txBody>
      </p:sp>
      <p:sp>
        <p:nvSpPr>
          <p:cNvPr id="224" name="Google Shape;224;p25"/>
          <p:cNvSpPr/>
          <p:nvPr/>
        </p:nvSpPr>
        <p:spPr>
          <a:xfrm>
            <a:off x="5696600" y="1991861"/>
            <a:ext cx="183000" cy="183000"/>
          </a:xfrm>
          <a:prstGeom prst="ellipse">
            <a:avLst/>
          </a:prstGeom>
          <a:solidFill>
            <a:schemeClr val="lt1"/>
          </a:solidFill>
          <a:ln cap="flat" cmpd="sng" w="10400">
            <a:solidFill>
              <a:srgbClr val="999999"/>
            </a:solidFill>
            <a:prstDash val="solid"/>
            <a:round/>
            <a:headEnd len="sm" w="sm" type="none"/>
            <a:tailEnd len="sm" w="sm" type="none"/>
          </a:ln>
          <a:effectLst>
            <a:outerShdw blurRad="57150" rotWithShape="0" algn="bl" dir="5400000" dist="19050">
              <a:srgbClr val="999999">
                <a:alpha val="50000"/>
              </a:srgbClr>
            </a:outerShdw>
          </a:effectLst>
        </p:spPr>
        <p:txBody>
          <a:bodyPr anchorCtr="0" anchor="ctr" bIns="0" lIns="0" spcFirstLastPara="1" rIns="0" wrap="square" tIns="0">
            <a:noAutofit/>
          </a:bodyPr>
          <a:lstStyle/>
          <a:p>
            <a:pPr indent="0" lvl="0" marL="0" rtl="0" algn="ctr">
              <a:spcBef>
                <a:spcPts val="0"/>
              </a:spcBef>
              <a:spcAft>
                <a:spcPts val="0"/>
              </a:spcAft>
              <a:buNone/>
            </a:pPr>
            <a:r>
              <a:rPr lang="en" sz="795">
                <a:solidFill>
                  <a:srgbClr val="999999"/>
                </a:solidFill>
                <a:latin typeface="Proxima Nova"/>
                <a:ea typeface="Proxima Nova"/>
                <a:cs typeface="Proxima Nova"/>
                <a:sym typeface="Proxima Nova"/>
              </a:rPr>
              <a:t>7</a:t>
            </a:r>
            <a:endParaRPr sz="700">
              <a:solidFill>
                <a:srgbClr val="999999"/>
              </a:solidFill>
              <a:latin typeface="Proxima Nova"/>
              <a:ea typeface="Proxima Nova"/>
              <a:cs typeface="Proxima Nova"/>
              <a:sym typeface="Proxima Nova"/>
            </a:endParaRPr>
          </a:p>
        </p:txBody>
      </p:sp>
      <p:sp>
        <p:nvSpPr>
          <p:cNvPr id="225" name="Google Shape;225;p25"/>
          <p:cNvSpPr/>
          <p:nvPr/>
        </p:nvSpPr>
        <p:spPr>
          <a:xfrm>
            <a:off x="5696600" y="2811873"/>
            <a:ext cx="183000" cy="183000"/>
          </a:xfrm>
          <a:prstGeom prst="ellipse">
            <a:avLst/>
          </a:prstGeom>
          <a:solidFill>
            <a:schemeClr val="lt1"/>
          </a:solidFill>
          <a:ln cap="flat" cmpd="sng" w="10400">
            <a:solidFill>
              <a:srgbClr val="999999"/>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795">
                <a:solidFill>
                  <a:srgbClr val="999999"/>
                </a:solidFill>
                <a:latin typeface="Proxima Nova"/>
                <a:ea typeface="Proxima Nova"/>
                <a:cs typeface="Proxima Nova"/>
                <a:sym typeface="Proxima Nova"/>
              </a:rPr>
              <a:t>11</a:t>
            </a:r>
            <a:endParaRPr sz="700">
              <a:solidFill>
                <a:srgbClr val="999999"/>
              </a:solidFill>
              <a:latin typeface="Proxima Nova"/>
              <a:ea typeface="Proxima Nova"/>
              <a:cs typeface="Proxima Nova"/>
              <a:sym typeface="Proxima Nova"/>
            </a:endParaRPr>
          </a:p>
        </p:txBody>
      </p:sp>
      <p:sp>
        <p:nvSpPr>
          <p:cNvPr id="226" name="Google Shape;226;p25"/>
          <p:cNvSpPr/>
          <p:nvPr/>
        </p:nvSpPr>
        <p:spPr>
          <a:xfrm>
            <a:off x="5696600" y="3511848"/>
            <a:ext cx="183000" cy="183000"/>
          </a:xfrm>
          <a:prstGeom prst="ellipse">
            <a:avLst/>
          </a:prstGeom>
          <a:solidFill>
            <a:schemeClr val="lt1"/>
          </a:solidFill>
          <a:ln cap="flat" cmpd="sng" w="10400">
            <a:solidFill>
              <a:srgbClr val="999999"/>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700">
                <a:solidFill>
                  <a:srgbClr val="999999"/>
                </a:solidFill>
                <a:latin typeface="Proxima Nova"/>
                <a:ea typeface="Proxima Nova"/>
                <a:cs typeface="Proxima Nova"/>
                <a:sym typeface="Proxima Nova"/>
              </a:rPr>
              <a:t>10</a:t>
            </a:r>
            <a:endParaRPr sz="700">
              <a:solidFill>
                <a:srgbClr val="999999"/>
              </a:solidFill>
              <a:latin typeface="Proxima Nova"/>
              <a:ea typeface="Proxima Nova"/>
              <a:cs typeface="Proxima Nova"/>
              <a:sym typeface="Proxima Nova"/>
            </a:endParaRPr>
          </a:p>
        </p:txBody>
      </p:sp>
      <p:sp>
        <p:nvSpPr>
          <p:cNvPr id="227" name="Google Shape;227;p25"/>
          <p:cNvSpPr/>
          <p:nvPr/>
        </p:nvSpPr>
        <p:spPr>
          <a:xfrm>
            <a:off x="5696600" y="4502886"/>
            <a:ext cx="183000" cy="183000"/>
          </a:xfrm>
          <a:prstGeom prst="ellipse">
            <a:avLst/>
          </a:prstGeom>
          <a:solidFill>
            <a:schemeClr val="lt1"/>
          </a:solidFill>
          <a:ln cap="flat" cmpd="sng" w="10400">
            <a:solidFill>
              <a:srgbClr val="999999"/>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795">
                <a:solidFill>
                  <a:srgbClr val="999999"/>
                </a:solidFill>
                <a:latin typeface="Proxima Nova"/>
                <a:ea typeface="Proxima Nova"/>
                <a:cs typeface="Proxima Nova"/>
                <a:sym typeface="Proxima Nova"/>
              </a:rPr>
              <a:t>7</a:t>
            </a:r>
            <a:endParaRPr sz="795">
              <a:solidFill>
                <a:srgbClr val="999999"/>
              </a:solidFill>
              <a:latin typeface="Proxima Nova"/>
              <a:ea typeface="Proxima Nova"/>
              <a:cs typeface="Proxima Nova"/>
              <a:sym typeface="Proxima Nova"/>
            </a:endParaRPr>
          </a:p>
        </p:txBody>
      </p:sp>
      <p:sp>
        <p:nvSpPr>
          <p:cNvPr id="228" name="Google Shape;228;p25"/>
          <p:cNvSpPr txBox="1"/>
          <p:nvPr/>
        </p:nvSpPr>
        <p:spPr>
          <a:xfrm>
            <a:off x="5401550" y="1740025"/>
            <a:ext cx="773100" cy="1077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500"/>
              </a:spcBef>
              <a:spcAft>
                <a:spcPts val="0"/>
              </a:spcAft>
              <a:buNone/>
            </a:pPr>
            <a:r>
              <a:rPr b="1" lang="en" sz="700">
                <a:solidFill>
                  <a:srgbClr val="999999"/>
                </a:solidFill>
                <a:latin typeface="Proxima Nova"/>
                <a:ea typeface="Proxima Nova"/>
                <a:cs typeface="Proxima Nova"/>
                <a:sym typeface="Proxima Nova"/>
              </a:rPr>
              <a:t>Deliverables</a:t>
            </a:r>
            <a:endParaRPr b="1" sz="700">
              <a:solidFill>
                <a:srgbClr val="999999"/>
              </a:solidFill>
              <a:latin typeface="Proxima Nova"/>
              <a:ea typeface="Proxima Nova"/>
              <a:cs typeface="Proxima Nova"/>
              <a:sym typeface="Proxima Nov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26"/>
          <p:cNvSpPr/>
          <p:nvPr/>
        </p:nvSpPr>
        <p:spPr>
          <a:xfrm>
            <a:off x="480073" y="425196"/>
            <a:ext cx="68583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5AAC"/>
              </a:buClr>
              <a:buSzPts val="900"/>
              <a:buFont typeface="Calibri"/>
              <a:buNone/>
            </a:pPr>
            <a:r>
              <a:rPr b="1" lang="en" sz="900">
                <a:solidFill>
                  <a:srgbClr val="2E5AAC"/>
                </a:solidFill>
                <a:latin typeface="Proxima Nova"/>
                <a:ea typeface="Proxima Nova"/>
                <a:cs typeface="Proxima Nova"/>
                <a:sym typeface="Proxima Nova"/>
              </a:rPr>
              <a:t>PROJECT SUCCESS AGREEMENT</a:t>
            </a:r>
            <a:endParaRPr b="0" i="0" sz="900" u="none" cap="none" strike="noStrike">
              <a:solidFill>
                <a:schemeClr val="dk1"/>
              </a:solidFill>
              <a:latin typeface="Calibri"/>
              <a:ea typeface="Calibri"/>
              <a:cs typeface="Calibri"/>
              <a:sym typeface="Calibri"/>
            </a:endParaRPr>
          </a:p>
        </p:txBody>
      </p:sp>
      <p:sp>
        <p:nvSpPr>
          <p:cNvPr id="234" name="Google Shape;234;p26"/>
          <p:cNvSpPr txBox="1"/>
          <p:nvPr>
            <p:ph idx="4294967295" type="ctrTitle"/>
          </p:nvPr>
        </p:nvSpPr>
        <p:spPr>
          <a:xfrm>
            <a:off x="480076" y="734900"/>
            <a:ext cx="8023800" cy="3324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1"/>
              </a:buClr>
              <a:buSzPts val="2400"/>
              <a:buFont typeface="Montserrat"/>
              <a:buNone/>
            </a:pPr>
            <a:r>
              <a:rPr lang="en" sz="2400"/>
              <a:t>How milestone acceptance w</a:t>
            </a:r>
            <a:r>
              <a:rPr lang="en" sz="2400"/>
              <a:t>orks</a:t>
            </a:r>
            <a:endParaRPr sz="2400">
              <a:latin typeface="Proxima Nova"/>
              <a:ea typeface="Proxima Nova"/>
              <a:cs typeface="Proxima Nova"/>
              <a:sym typeface="Proxima Nova"/>
            </a:endParaRPr>
          </a:p>
        </p:txBody>
      </p:sp>
      <p:pic>
        <p:nvPicPr>
          <p:cNvPr id="235" name="Google Shape;235;p26"/>
          <p:cNvPicPr preferRelativeResize="0"/>
          <p:nvPr/>
        </p:nvPicPr>
        <p:blipFill>
          <a:blip r:embed="rId4">
            <a:alphaModFix/>
          </a:blip>
          <a:stretch>
            <a:fillRect/>
          </a:stretch>
        </p:blipFill>
        <p:spPr>
          <a:xfrm>
            <a:off x="152400" y="1219700"/>
            <a:ext cx="5311349" cy="3771401"/>
          </a:xfrm>
          <a:prstGeom prst="rect">
            <a:avLst/>
          </a:prstGeom>
          <a:noFill/>
          <a:ln>
            <a:noFill/>
          </a:ln>
        </p:spPr>
      </p:pic>
      <p:pic>
        <p:nvPicPr>
          <p:cNvPr id="236" name="Google Shape;236;p26"/>
          <p:cNvPicPr preferRelativeResize="0"/>
          <p:nvPr/>
        </p:nvPicPr>
        <p:blipFill>
          <a:blip r:embed="rId5">
            <a:alphaModFix/>
          </a:blip>
          <a:stretch>
            <a:fillRect/>
          </a:stretch>
        </p:blipFill>
        <p:spPr>
          <a:xfrm>
            <a:off x="5616149" y="1329989"/>
            <a:ext cx="3375451" cy="2981728"/>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27"/>
          <p:cNvSpPr/>
          <p:nvPr/>
        </p:nvSpPr>
        <p:spPr>
          <a:xfrm>
            <a:off x="214100" y="0"/>
            <a:ext cx="8929800" cy="5143500"/>
          </a:xfrm>
          <a:prstGeom prst="rect">
            <a:avLst/>
          </a:prstGeom>
          <a:solidFill>
            <a:schemeClr val="accent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en">
                <a:solidFill>
                  <a:schemeClr val="lt1"/>
                </a:solidFill>
                <a:latin typeface="Open Sans"/>
                <a:ea typeface="Open Sans"/>
                <a:cs typeface="Open Sans"/>
                <a:sym typeface="Open Sans"/>
              </a:rPr>
              <a:t> </a:t>
            </a:r>
            <a:endParaRPr sz="1400">
              <a:solidFill>
                <a:schemeClr val="lt1"/>
              </a:solidFill>
              <a:latin typeface="Open Sans"/>
              <a:ea typeface="Open Sans"/>
              <a:cs typeface="Open Sans"/>
              <a:sym typeface="Open Sans"/>
            </a:endParaRPr>
          </a:p>
        </p:txBody>
      </p:sp>
      <p:sp>
        <p:nvSpPr>
          <p:cNvPr id="242" name="Google Shape;242;p27"/>
          <p:cNvSpPr txBox="1"/>
          <p:nvPr>
            <p:ph type="ctrTitle"/>
          </p:nvPr>
        </p:nvSpPr>
        <p:spPr>
          <a:xfrm>
            <a:off x="666750" y="1001575"/>
            <a:ext cx="5575500" cy="1167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latin typeface="Proxima Nova"/>
                <a:ea typeface="Proxima Nova"/>
                <a:cs typeface="Proxima Nova"/>
                <a:sym typeface="Proxima Nova"/>
              </a:rPr>
              <a:t>Ways of Working</a:t>
            </a:r>
            <a:endParaRPr sz="1800">
              <a:solidFill>
                <a:schemeClr val="accent4"/>
              </a:solidFill>
              <a:latin typeface="Proxima Nova"/>
              <a:ea typeface="Proxima Nova"/>
              <a:cs typeface="Proxima Nova"/>
              <a:sym typeface="Proxima Nov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28"/>
          <p:cNvSpPr/>
          <p:nvPr/>
        </p:nvSpPr>
        <p:spPr>
          <a:xfrm>
            <a:off x="2595171" y="1773750"/>
            <a:ext cx="2026800" cy="2470200"/>
          </a:xfrm>
          <a:prstGeom prst="roundRect">
            <a:avLst>
              <a:gd fmla="val 2510" name="adj"/>
            </a:avLst>
          </a:prstGeom>
          <a:solidFill>
            <a:schemeClr val="lt1"/>
          </a:solidFill>
          <a:ln>
            <a:noFill/>
          </a:ln>
          <a:effectLst>
            <a:outerShdw blurRad="206779" rotWithShape="0" algn="t" dir="5400000" dist="103390">
              <a:srgbClr val="041133">
                <a:alpha val="10000"/>
              </a:srgbClr>
            </a:outerShdw>
          </a:effectLst>
        </p:spPr>
        <p:txBody>
          <a:bodyPr anchorCtr="0" anchor="ctr" bIns="27875" lIns="334975" spcFirstLastPara="1" rIns="279175" wrap="square" tIns="0">
            <a:noAutofit/>
          </a:bodyPr>
          <a:lstStyle/>
          <a:p>
            <a:pPr indent="0" lvl="0" marL="0" marR="0" rtl="0" algn="l">
              <a:lnSpc>
                <a:spcPct val="130000"/>
              </a:lnSpc>
              <a:spcBef>
                <a:spcPts val="0"/>
              </a:spcBef>
              <a:spcAft>
                <a:spcPts val="0"/>
              </a:spcAft>
              <a:buNone/>
            </a:pPr>
            <a:r>
              <a:t/>
            </a:r>
            <a:endParaRPr sz="651">
              <a:solidFill>
                <a:srgbClr val="626679"/>
              </a:solidFill>
              <a:latin typeface="Open Sans"/>
              <a:ea typeface="Open Sans"/>
              <a:cs typeface="Open Sans"/>
              <a:sym typeface="Open Sans"/>
            </a:endParaRPr>
          </a:p>
        </p:txBody>
      </p:sp>
      <p:sp>
        <p:nvSpPr>
          <p:cNvPr id="248" name="Google Shape;248;p28"/>
          <p:cNvSpPr/>
          <p:nvPr/>
        </p:nvSpPr>
        <p:spPr>
          <a:xfrm>
            <a:off x="6812079" y="1773750"/>
            <a:ext cx="2026800" cy="2470200"/>
          </a:xfrm>
          <a:prstGeom prst="roundRect">
            <a:avLst>
              <a:gd fmla="val 2510" name="adj"/>
            </a:avLst>
          </a:prstGeom>
          <a:solidFill>
            <a:schemeClr val="lt1"/>
          </a:solidFill>
          <a:ln>
            <a:noFill/>
          </a:ln>
          <a:effectLst>
            <a:outerShdw blurRad="206779" rotWithShape="0" algn="t" dir="5400000" dist="103390">
              <a:srgbClr val="041133">
                <a:alpha val="10000"/>
              </a:srgbClr>
            </a:outerShdw>
          </a:effectLst>
        </p:spPr>
        <p:txBody>
          <a:bodyPr anchorCtr="0" anchor="ctr" bIns="27875" lIns="334975" spcFirstLastPara="1" rIns="279175" wrap="square" tIns="0">
            <a:noAutofit/>
          </a:bodyPr>
          <a:lstStyle/>
          <a:p>
            <a:pPr indent="0" lvl="0" marL="0" marR="0" rtl="0" algn="l">
              <a:lnSpc>
                <a:spcPct val="130000"/>
              </a:lnSpc>
              <a:spcBef>
                <a:spcPts val="0"/>
              </a:spcBef>
              <a:spcAft>
                <a:spcPts val="0"/>
              </a:spcAft>
              <a:buNone/>
            </a:pPr>
            <a:r>
              <a:t/>
            </a:r>
            <a:endParaRPr sz="651">
              <a:solidFill>
                <a:srgbClr val="626679"/>
              </a:solidFill>
              <a:latin typeface="Open Sans"/>
              <a:ea typeface="Open Sans"/>
              <a:cs typeface="Open Sans"/>
              <a:sym typeface="Open Sans"/>
            </a:endParaRPr>
          </a:p>
        </p:txBody>
      </p:sp>
      <p:sp>
        <p:nvSpPr>
          <p:cNvPr id="249" name="Google Shape;249;p28"/>
          <p:cNvSpPr/>
          <p:nvPr/>
        </p:nvSpPr>
        <p:spPr>
          <a:xfrm>
            <a:off x="4703625" y="1773750"/>
            <a:ext cx="2026800" cy="2470200"/>
          </a:xfrm>
          <a:prstGeom prst="roundRect">
            <a:avLst>
              <a:gd fmla="val 2510" name="adj"/>
            </a:avLst>
          </a:prstGeom>
          <a:solidFill>
            <a:schemeClr val="lt1"/>
          </a:solidFill>
          <a:ln>
            <a:noFill/>
          </a:ln>
          <a:effectLst>
            <a:outerShdw blurRad="206779" rotWithShape="0" algn="t" dir="5400000" dist="103390">
              <a:srgbClr val="041133">
                <a:alpha val="10000"/>
              </a:srgbClr>
            </a:outerShdw>
          </a:effectLst>
        </p:spPr>
        <p:txBody>
          <a:bodyPr anchorCtr="0" anchor="ctr" bIns="27875" lIns="334975" spcFirstLastPara="1" rIns="279175" wrap="square" tIns="0">
            <a:noAutofit/>
          </a:bodyPr>
          <a:lstStyle/>
          <a:p>
            <a:pPr indent="0" lvl="0" marL="0" marR="0" rtl="0" algn="l">
              <a:lnSpc>
                <a:spcPct val="130000"/>
              </a:lnSpc>
              <a:spcBef>
                <a:spcPts val="0"/>
              </a:spcBef>
              <a:spcAft>
                <a:spcPts val="0"/>
              </a:spcAft>
              <a:buNone/>
            </a:pPr>
            <a:r>
              <a:t/>
            </a:r>
            <a:endParaRPr sz="651">
              <a:solidFill>
                <a:srgbClr val="626679"/>
              </a:solidFill>
              <a:latin typeface="Open Sans"/>
              <a:ea typeface="Open Sans"/>
              <a:cs typeface="Open Sans"/>
              <a:sym typeface="Open Sans"/>
            </a:endParaRPr>
          </a:p>
        </p:txBody>
      </p:sp>
      <p:sp>
        <p:nvSpPr>
          <p:cNvPr id="250" name="Google Shape;250;p28"/>
          <p:cNvSpPr/>
          <p:nvPr/>
        </p:nvSpPr>
        <p:spPr>
          <a:xfrm>
            <a:off x="486696" y="1773675"/>
            <a:ext cx="2026800" cy="2470200"/>
          </a:xfrm>
          <a:prstGeom prst="roundRect">
            <a:avLst>
              <a:gd fmla="val 2510" name="adj"/>
            </a:avLst>
          </a:prstGeom>
          <a:solidFill>
            <a:schemeClr val="lt1"/>
          </a:solidFill>
          <a:ln>
            <a:noFill/>
          </a:ln>
          <a:effectLst>
            <a:outerShdw blurRad="206779" rotWithShape="0" algn="t" dir="5400000" dist="103390">
              <a:srgbClr val="041133">
                <a:alpha val="10000"/>
              </a:srgbClr>
            </a:outerShdw>
          </a:effectLst>
        </p:spPr>
        <p:txBody>
          <a:bodyPr anchorCtr="0" anchor="ctr" bIns="27875" lIns="334975" spcFirstLastPara="1" rIns="279175" wrap="square" tIns="0">
            <a:noAutofit/>
          </a:bodyPr>
          <a:lstStyle/>
          <a:p>
            <a:pPr indent="0" lvl="0" marL="0" marR="0" rtl="0" algn="l">
              <a:lnSpc>
                <a:spcPct val="130000"/>
              </a:lnSpc>
              <a:spcBef>
                <a:spcPts val="0"/>
              </a:spcBef>
              <a:spcAft>
                <a:spcPts val="0"/>
              </a:spcAft>
              <a:buNone/>
            </a:pPr>
            <a:r>
              <a:t/>
            </a:r>
            <a:endParaRPr sz="651">
              <a:solidFill>
                <a:srgbClr val="626679"/>
              </a:solidFill>
              <a:latin typeface="Open Sans"/>
              <a:ea typeface="Open Sans"/>
              <a:cs typeface="Open Sans"/>
              <a:sym typeface="Open Sans"/>
            </a:endParaRPr>
          </a:p>
        </p:txBody>
      </p:sp>
      <p:sp>
        <p:nvSpPr>
          <p:cNvPr id="251" name="Google Shape;251;p28"/>
          <p:cNvSpPr/>
          <p:nvPr/>
        </p:nvSpPr>
        <p:spPr>
          <a:xfrm>
            <a:off x="2603243" y="1773761"/>
            <a:ext cx="2026800" cy="700200"/>
          </a:xfrm>
          <a:prstGeom prst="roundRect">
            <a:avLst>
              <a:gd fmla="val 2510" name="adj"/>
            </a:avLst>
          </a:prstGeom>
          <a:solidFill>
            <a:srgbClr val="183A9E"/>
          </a:solidFill>
          <a:ln>
            <a:noFill/>
          </a:ln>
          <a:effectLst>
            <a:outerShdw blurRad="206779" rotWithShape="0" algn="t" dir="5400000" dist="103390">
              <a:srgbClr val="041133">
                <a:alpha val="10000"/>
              </a:srgbClr>
            </a:outerShdw>
          </a:effectLst>
        </p:spPr>
        <p:txBody>
          <a:bodyPr anchorCtr="0" anchor="ctr" bIns="27875" lIns="334975" spcFirstLastPara="1" rIns="279175" wrap="square" tIns="0">
            <a:noAutofit/>
          </a:bodyPr>
          <a:lstStyle/>
          <a:p>
            <a:pPr indent="0" lvl="0" marL="0" marR="0" rtl="0" algn="ctr">
              <a:lnSpc>
                <a:spcPct val="130000"/>
              </a:lnSpc>
              <a:spcBef>
                <a:spcPts val="0"/>
              </a:spcBef>
              <a:spcAft>
                <a:spcPts val="0"/>
              </a:spcAft>
              <a:buNone/>
            </a:pPr>
            <a:r>
              <a:rPr b="1" lang="en">
                <a:solidFill>
                  <a:schemeClr val="lt1"/>
                </a:solidFill>
                <a:latin typeface="Proxima Nova"/>
                <a:ea typeface="Proxima Nova"/>
                <a:cs typeface="Proxima Nova"/>
                <a:sym typeface="Proxima Nova"/>
              </a:rPr>
              <a:t>WEEKLY</a:t>
            </a:r>
            <a:endParaRPr b="1">
              <a:solidFill>
                <a:schemeClr val="lt1"/>
              </a:solidFill>
              <a:latin typeface="Proxima Nova"/>
              <a:ea typeface="Proxima Nova"/>
              <a:cs typeface="Proxima Nova"/>
              <a:sym typeface="Proxima Nova"/>
            </a:endParaRPr>
          </a:p>
        </p:txBody>
      </p:sp>
      <p:sp>
        <p:nvSpPr>
          <p:cNvPr id="252" name="Google Shape;252;p28"/>
          <p:cNvSpPr/>
          <p:nvPr/>
        </p:nvSpPr>
        <p:spPr>
          <a:xfrm>
            <a:off x="6820147" y="1773761"/>
            <a:ext cx="2026800" cy="700200"/>
          </a:xfrm>
          <a:prstGeom prst="roundRect">
            <a:avLst>
              <a:gd fmla="val 2510" name="adj"/>
            </a:avLst>
          </a:prstGeom>
          <a:solidFill>
            <a:srgbClr val="25A9EE"/>
          </a:solidFill>
          <a:ln>
            <a:noFill/>
          </a:ln>
          <a:effectLst>
            <a:outerShdw blurRad="206779" rotWithShape="0" algn="t" dir="5400000" dist="103390">
              <a:srgbClr val="041133">
                <a:alpha val="10000"/>
              </a:srgbClr>
            </a:outerShdw>
          </a:effectLst>
        </p:spPr>
        <p:txBody>
          <a:bodyPr anchorCtr="0" anchor="ctr" bIns="27875" lIns="334975" spcFirstLastPara="1" rIns="279175" wrap="square" tIns="0">
            <a:noAutofit/>
          </a:bodyPr>
          <a:lstStyle/>
          <a:p>
            <a:pPr indent="0" lvl="0" marL="0" marR="0" rtl="0" algn="ctr">
              <a:lnSpc>
                <a:spcPct val="130000"/>
              </a:lnSpc>
              <a:spcBef>
                <a:spcPts val="0"/>
              </a:spcBef>
              <a:spcAft>
                <a:spcPts val="0"/>
              </a:spcAft>
              <a:buNone/>
            </a:pPr>
            <a:r>
              <a:rPr b="1" lang="en">
                <a:solidFill>
                  <a:schemeClr val="lt1"/>
                </a:solidFill>
                <a:latin typeface="Proxima Nova"/>
                <a:ea typeface="Proxima Nova"/>
                <a:cs typeface="Proxima Nova"/>
                <a:sym typeface="Proxima Nova"/>
              </a:rPr>
              <a:t>AD-HOC</a:t>
            </a:r>
            <a:endParaRPr b="1">
              <a:solidFill>
                <a:schemeClr val="lt1"/>
              </a:solidFill>
              <a:latin typeface="Proxima Nova"/>
              <a:ea typeface="Proxima Nova"/>
              <a:cs typeface="Proxima Nova"/>
              <a:sym typeface="Proxima Nova"/>
            </a:endParaRPr>
          </a:p>
        </p:txBody>
      </p:sp>
      <p:sp>
        <p:nvSpPr>
          <p:cNvPr id="253" name="Google Shape;253;p28"/>
          <p:cNvSpPr/>
          <p:nvPr/>
        </p:nvSpPr>
        <p:spPr>
          <a:xfrm>
            <a:off x="4711695" y="1773761"/>
            <a:ext cx="2026800" cy="700200"/>
          </a:xfrm>
          <a:prstGeom prst="roundRect">
            <a:avLst>
              <a:gd fmla="val 2510" name="adj"/>
            </a:avLst>
          </a:prstGeom>
          <a:solidFill>
            <a:srgbClr val="204ECF"/>
          </a:solidFill>
          <a:ln>
            <a:noFill/>
          </a:ln>
          <a:effectLst>
            <a:outerShdw blurRad="206779" rotWithShape="0" algn="t" dir="5400000" dist="103390">
              <a:srgbClr val="041133">
                <a:alpha val="10000"/>
              </a:srgbClr>
            </a:outerShdw>
          </a:effectLst>
        </p:spPr>
        <p:txBody>
          <a:bodyPr anchorCtr="0" anchor="ctr" bIns="27875" lIns="334975" spcFirstLastPara="1" rIns="279175" wrap="square" tIns="0">
            <a:noAutofit/>
          </a:bodyPr>
          <a:lstStyle/>
          <a:p>
            <a:pPr indent="0" lvl="0" marL="0" marR="0" rtl="0" algn="ctr">
              <a:lnSpc>
                <a:spcPct val="130000"/>
              </a:lnSpc>
              <a:spcBef>
                <a:spcPts val="0"/>
              </a:spcBef>
              <a:spcAft>
                <a:spcPts val="0"/>
              </a:spcAft>
              <a:buNone/>
            </a:pPr>
            <a:r>
              <a:rPr b="1" lang="en">
                <a:solidFill>
                  <a:schemeClr val="lt1"/>
                </a:solidFill>
                <a:latin typeface="Proxima Nova"/>
                <a:ea typeface="Proxima Nova"/>
                <a:cs typeface="Proxima Nova"/>
                <a:sym typeface="Proxima Nova"/>
              </a:rPr>
              <a:t>MONTHLY</a:t>
            </a:r>
            <a:endParaRPr b="1">
              <a:solidFill>
                <a:schemeClr val="lt1"/>
              </a:solidFill>
              <a:latin typeface="Proxima Nova"/>
              <a:ea typeface="Proxima Nova"/>
              <a:cs typeface="Proxima Nova"/>
              <a:sym typeface="Proxima Nova"/>
            </a:endParaRPr>
          </a:p>
        </p:txBody>
      </p:sp>
      <p:sp>
        <p:nvSpPr>
          <p:cNvPr id="254" name="Google Shape;254;p28"/>
          <p:cNvSpPr/>
          <p:nvPr/>
        </p:nvSpPr>
        <p:spPr>
          <a:xfrm>
            <a:off x="494771" y="1773761"/>
            <a:ext cx="2026800" cy="700200"/>
          </a:xfrm>
          <a:prstGeom prst="roundRect">
            <a:avLst>
              <a:gd fmla="val 2510" name="adj"/>
            </a:avLst>
          </a:prstGeom>
          <a:solidFill>
            <a:srgbClr val="C5D1F7"/>
          </a:solidFill>
          <a:ln>
            <a:noFill/>
          </a:ln>
          <a:effectLst>
            <a:outerShdw blurRad="206779" rotWithShape="0" algn="t" dir="5400000" dist="103390">
              <a:srgbClr val="041133">
                <a:alpha val="10000"/>
              </a:srgbClr>
            </a:outerShdw>
          </a:effectLst>
        </p:spPr>
        <p:txBody>
          <a:bodyPr anchorCtr="0" anchor="ctr" bIns="27875" lIns="334975" spcFirstLastPara="1" rIns="279175" wrap="square" tIns="0">
            <a:noAutofit/>
          </a:bodyPr>
          <a:lstStyle/>
          <a:p>
            <a:pPr indent="0" lvl="0" marL="0" marR="0" rtl="0" algn="ctr">
              <a:lnSpc>
                <a:spcPct val="130000"/>
              </a:lnSpc>
              <a:spcBef>
                <a:spcPts val="0"/>
              </a:spcBef>
              <a:spcAft>
                <a:spcPts val="0"/>
              </a:spcAft>
              <a:buNone/>
            </a:pPr>
            <a:r>
              <a:rPr b="1" lang="en">
                <a:solidFill>
                  <a:schemeClr val="lt1"/>
                </a:solidFill>
                <a:latin typeface="Proxima Nova"/>
                <a:ea typeface="Proxima Nova"/>
                <a:cs typeface="Proxima Nova"/>
                <a:sym typeface="Proxima Nova"/>
              </a:rPr>
              <a:t>DAILY</a:t>
            </a:r>
            <a:endParaRPr b="1">
              <a:solidFill>
                <a:schemeClr val="lt1"/>
              </a:solidFill>
              <a:latin typeface="Proxima Nova"/>
              <a:ea typeface="Proxima Nova"/>
              <a:cs typeface="Proxima Nova"/>
              <a:sym typeface="Proxima Nova"/>
            </a:endParaRPr>
          </a:p>
        </p:txBody>
      </p:sp>
      <p:sp>
        <p:nvSpPr>
          <p:cNvPr id="255" name="Google Shape;255;p28"/>
          <p:cNvSpPr txBox="1"/>
          <p:nvPr/>
        </p:nvSpPr>
        <p:spPr>
          <a:xfrm>
            <a:off x="7006146" y="2619125"/>
            <a:ext cx="1650000" cy="15237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 sz="1100">
                <a:latin typeface="Proxima Nova"/>
                <a:ea typeface="Proxima Nova"/>
                <a:cs typeface="Proxima Nova"/>
                <a:sym typeface="Proxima Nova"/>
              </a:rPr>
              <a:t>Working Sessions / Demos</a:t>
            </a:r>
            <a:endParaRPr sz="1100">
              <a:latin typeface="Proxima Nova"/>
              <a:ea typeface="Proxima Nova"/>
              <a:cs typeface="Proxima Nova"/>
              <a:sym typeface="Proxima Nova"/>
            </a:endParaRPr>
          </a:p>
          <a:p>
            <a:pPr indent="0" lvl="0" marL="0" rtl="0" algn="ctr">
              <a:spcBef>
                <a:spcPts val="0"/>
              </a:spcBef>
              <a:spcAft>
                <a:spcPts val="0"/>
              </a:spcAft>
              <a:buNone/>
            </a:pPr>
            <a:r>
              <a:t/>
            </a:r>
            <a:endParaRPr sz="1100">
              <a:latin typeface="Proxima Nova"/>
              <a:ea typeface="Proxima Nova"/>
              <a:cs typeface="Proxima Nova"/>
              <a:sym typeface="Proxima Nova"/>
            </a:endParaRPr>
          </a:p>
          <a:p>
            <a:pPr indent="0" lvl="0" marL="0" rtl="0" algn="ctr">
              <a:spcBef>
                <a:spcPts val="0"/>
              </a:spcBef>
              <a:spcAft>
                <a:spcPts val="0"/>
              </a:spcAft>
              <a:buNone/>
            </a:pPr>
            <a:r>
              <a:rPr lang="en" sz="1100">
                <a:latin typeface="Proxima Nova"/>
                <a:ea typeface="Proxima Nova"/>
                <a:cs typeface="Proxima Nova"/>
                <a:sym typeface="Proxima Nova"/>
              </a:rPr>
              <a:t>Detailed requirements gathering, technical solution design / reviews, process mapping, and targeted feedback.</a:t>
            </a:r>
            <a:endParaRPr sz="1100">
              <a:latin typeface="Proxima Nova"/>
              <a:ea typeface="Proxima Nova"/>
              <a:cs typeface="Proxima Nova"/>
              <a:sym typeface="Proxima Nova"/>
            </a:endParaRPr>
          </a:p>
          <a:p>
            <a:pPr indent="0" lvl="0" marL="0" rtl="0" algn="l">
              <a:lnSpc>
                <a:spcPct val="115000"/>
              </a:lnSpc>
              <a:spcBef>
                <a:spcPts val="0"/>
              </a:spcBef>
              <a:spcAft>
                <a:spcPts val="0"/>
              </a:spcAft>
              <a:buNone/>
            </a:pPr>
            <a:r>
              <a:t/>
            </a:r>
            <a:endParaRPr sz="1100">
              <a:solidFill>
                <a:schemeClr val="dk1"/>
              </a:solidFill>
              <a:latin typeface="Proxima Nova"/>
              <a:ea typeface="Proxima Nova"/>
              <a:cs typeface="Proxima Nova"/>
              <a:sym typeface="Proxima Nova"/>
            </a:endParaRPr>
          </a:p>
        </p:txBody>
      </p:sp>
      <p:sp>
        <p:nvSpPr>
          <p:cNvPr id="256" name="Google Shape;256;p28"/>
          <p:cNvSpPr txBox="1"/>
          <p:nvPr/>
        </p:nvSpPr>
        <p:spPr>
          <a:xfrm>
            <a:off x="4887945" y="2622150"/>
            <a:ext cx="1650000" cy="1693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 sz="1100">
                <a:latin typeface="Proxima Nova"/>
                <a:ea typeface="Proxima Nova"/>
                <a:cs typeface="Proxima Nova"/>
                <a:sym typeface="Proxima Nova"/>
              </a:rPr>
              <a:t>Steering Committee </a:t>
            </a:r>
            <a:endParaRPr b="1" sz="1100">
              <a:latin typeface="Proxima Nova"/>
              <a:ea typeface="Proxima Nova"/>
              <a:cs typeface="Proxima Nova"/>
              <a:sym typeface="Proxima Nova"/>
            </a:endParaRPr>
          </a:p>
          <a:p>
            <a:pPr indent="0" lvl="0" marL="0" rtl="0" algn="ctr">
              <a:spcBef>
                <a:spcPts val="0"/>
              </a:spcBef>
              <a:spcAft>
                <a:spcPts val="0"/>
              </a:spcAft>
              <a:buNone/>
            </a:pPr>
            <a:r>
              <a:rPr b="1" lang="en" sz="1100">
                <a:latin typeface="Proxima Nova"/>
                <a:ea typeface="Proxima Nova"/>
                <a:cs typeface="Proxima Nova"/>
                <a:sym typeface="Proxima Nova"/>
              </a:rPr>
              <a:t>(60 mins)</a:t>
            </a:r>
            <a:endParaRPr b="1" sz="1100">
              <a:latin typeface="Proxima Nova"/>
              <a:ea typeface="Proxima Nova"/>
              <a:cs typeface="Proxima Nova"/>
              <a:sym typeface="Proxima Nova"/>
            </a:endParaRPr>
          </a:p>
          <a:p>
            <a:pPr indent="0" lvl="0" marL="0" rtl="0" algn="ctr">
              <a:spcBef>
                <a:spcPts val="0"/>
              </a:spcBef>
              <a:spcAft>
                <a:spcPts val="0"/>
              </a:spcAft>
              <a:buNone/>
            </a:pPr>
            <a:r>
              <a:t/>
            </a:r>
            <a:endParaRPr sz="1100">
              <a:latin typeface="Proxima Nova"/>
              <a:ea typeface="Proxima Nova"/>
              <a:cs typeface="Proxima Nova"/>
              <a:sym typeface="Proxima Nova"/>
            </a:endParaRPr>
          </a:p>
          <a:p>
            <a:pPr indent="0" lvl="0" marL="0" rtl="0" algn="ctr">
              <a:spcBef>
                <a:spcPts val="0"/>
              </a:spcBef>
              <a:spcAft>
                <a:spcPts val="0"/>
              </a:spcAft>
              <a:buNone/>
            </a:pPr>
            <a:r>
              <a:rPr lang="en" sz="1100">
                <a:latin typeface="Proxima Nova"/>
                <a:ea typeface="Proxima Nova"/>
                <a:cs typeface="Proxima Nova"/>
                <a:sym typeface="Proxima Nova"/>
              </a:rPr>
              <a:t>Review overall project health, approve major scope / budget changes, resolve escalated risks, and ensure continued strategic alignment.</a:t>
            </a:r>
            <a:endParaRPr>
              <a:latin typeface="Proxima Nova"/>
              <a:ea typeface="Proxima Nova"/>
              <a:cs typeface="Proxima Nova"/>
              <a:sym typeface="Proxima Nova"/>
            </a:endParaRPr>
          </a:p>
          <a:p>
            <a:pPr indent="0" lvl="0" marL="0" rtl="0" algn="l">
              <a:lnSpc>
                <a:spcPct val="115000"/>
              </a:lnSpc>
              <a:spcBef>
                <a:spcPts val="0"/>
              </a:spcBef>
              <a:spcAft>
                <a:spcPts val="0"/>
              </a:spcAft>
              <a:buNone/>
            </a:pPr>
            <a:r>
              <a:t/>
            </a:r>
            <a:endParaRPr sz="1100">
              <a:solidFill>
                <a:schemeClr val="dk1"/>
              </a:solidFill>
              <a:latin typeface="Proxima Nova"/>
              <a:ea typeface="Proxima Nova"/>
              <a:cs typeface="Proxima Nova"/>
              <a:sym typeface="Proxima Nova"/>
            </a:endParaRPr>
          </a:p>
        </p:txBody>
      </p:sp>
      <p:sp>
        <p:nvSpPr>
          <p:cNvPr id="257" name="Google Shape;257;p28"/>
          <p:cNvSpPr txBox="1"/>
          <p:nvPr/>
        </p:nvSpPr>
        <p:spPr>
          <a:xfrm>
            <a:off x="2777896" y="2619150"/>
            <a:ext cx="1650000" cy="15237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 sz="1100">
                <a:latin typeface="Proxima Nova"/>
                <a:ea typeface="Proxima Nova"/>
                <a:cs typeface="Proxima Nova"/>
                <a:sym typeface="Proxima Nova"/>
              </a:rPr>
              <a:t>Status Report &amp; Meeting (30-45 mins)</a:t>
            </a:r>
            <a:endParaRPr b="1" sz="1100">
              <a:latin typeface="Proxima Nova"/>
              <a:ea typeface="Proxima Nova"/>
              <a:cs typeface="Proxima Nova"/>
              <a:sym typeface="Proxima Nova"/>
            </a:endParaRPr>
          </a:p>
          <a:p>
            <a:pPr indent="0" lvl="0" marL="0" rtl="0" algn="ctr">
              <a:spcBef>
                <a:spcPts val="0"/>
              </a:spcBef>
              <a:spcAft>
                <a:spcPts val="0"/>
              </a:spcAft>
              <a:buNone/>
            </a:pPr>
            <a:r>
              <a:t/>
            </a:r>
            <a:endParaRPr sz="1100">
              <a:latin typeface="Proxima Nova"/>
              <a:ea typeface="Proxima Nova"/>
              <a:cs typeface="Proxima Nova"/>
              <a:sym typeface="Proxima Nova"/>
            </a:endParaRPr>
          </a:p>
          <a:p>
            <a:pPr indent="0" lvl="0" marL="0" rtl="0" algn="ctr">
              <a:spcBef>
                <a:spcPts val="0"/>
              </a:spcBef>
              <a:spcAft>
                <a:spcPts val="0"/>
              </a:spcAft>
              <a:buNone/>
            </a:pPr>
            <a:r>
              <a:rPr lang="en" sz="1100">
                <a:latin typeface="Proxima Nova"/>
                <a:ea typeface="Proxima Nova"/>
                <a:cs typeface="Proxima Nova"/>
                <a:sym typeface="Proxima Nova"/>
              </a:rPr>
              <a:t>Review progress against milestones, review the RAID log, and align on cross-functional dependencies.</a:t>
            </a:r>
            <a:endParaRPr>
              <a:latin typeface="Proxima Nova"/>
              <a:ea typeface="Proxima Nova"/>
              <a:cs typeface="Proxima Nova"/>
              <a:sym typeface="Proxima Nova"/>
            </a:endParaRPr>
          </a:p>
          <a:p>
            <a:pPr indent="0" lvl="0" marL="0" rtl="0" algn="l">
              <a:lnSpc>
                <a:spcPct val="115000"/>
              </a:lnSpc>
              <a:spcBef>
                <a:spcPts val="0"/>
              </a:spcBef>
              <a:spcAft>
                <a:spcPts val="0"/>
              </a:spcAft>
              <a:buNone/>
            </a:pPr>
            <a:r>
              <a:t/>
            </a:r>
            <a:endParaRPr sz="1100">
              <a:solidFill>
                <a:schemeClr val="dk1"/>
              </a:solidFill>
              <a:latin typeface="Proxima Nova"/>
              <a:ea typeface="Proxima Nova"/>
              <a:cs typeface="Proxima Nova"/>
              <a:sym typeface="Proxima Nova"/>
            </a:endParaRPr>
          </a:p>
        </p:txBody>
      </p:sp>
      <p:sp>
        <p:nvSpPr>
          <p:cNvPr id="258" name="Google Shape;258;p28"/>
          <p:cNvSpPr txBox="1"/>
          <p:nvPr/>
        </p:nvSpPr>
        <p:spPr>
          <a:xfrm>
            <a:off x="671020" y="2619125"/>
            <a:ext cx="1650000" cy="1523700"/>
          </a:xfrm>
          <a:prstGeom prst="rect">
            <a:avLst/>
          </a:prstGeom>
          <a:noFill/>
          <a:ln>
            <a:noFill/>
          </a:ln>
        </p:spPr>
        <p:txBody>
          <a:bodyPr anchorCtr="0" anchor="t" bIns="0" lIns="0" spcFirstLastPara="1" rIns="0" wrap="square" tIns="0">
            <a:spAutoFit/>
          </a:bodyPr>
          <a:lstStyle/>
          <a:p>
            <a:pPr indent="0" lvl="0" marL="0" rtl="0" algn="ctr">
              <a:spcBef>
                <a:spcPts val="1000"/>
              </a:spcBef>
              <a:spcAft>
                <a:spcPts val="0"/>
              </a:spcAft>
              <a:buNone/>
            </a:pPr>
            <a:r>
              <a:rPr b="1" lang="en" sz="1100">
                <a:latin typeface="Proxima Nova"/>
                <a:ea typeface="Proxima Nova"/>
                <a:cs typeface="Proxima Nova"/>
                <a:sym typeface="Proxima Nova"/>
              </a:rPr>
              <a:t>Project team stand-ups </a:t>
            </a:r>
            <a:endParaRPr b="1" sz="1100">
              <a:latin typeface="Proxima Nova"/>
              <a:ea typeface="Proxima Nova"/>
              <a:cs typeface="Proxima Nova"/>
              <a:sym typeface="Proxima Nova"/>
            </a:endParaRPr>
          </a:p>
          <a:p>
            <a:pPr indent="0" lvl="0" marL="0" rtl="0" algn="ctr">
              <a:spcBef>
                <a:spcPts val="0"/>
              </a:spcBef>
              <a:spcAft>
                <a:spcPts val="0"/>
              </a:spcAft>
              <a:buNone/>
            </a:pPr>
            <a:r>
              <a:rPr b="1" lang="en" sz="1100">
                <a:latin typeface="Proxima Nova"/>
                <a:ea typeface="Proxima Nova"/>
                <a:cs typeface="Proxima Nova"/>
                <a:sym typeface="Proxima Nova"/>
              </a:rPr>
              <a:t>(15 mins)</a:t>
            </a:r>
            <a:endParaRPr b="1" sz="1100">
              <a:latin typeface="Proxima Nova"/>
              <a:ea typeface="Proxima Nova"/>
              <a:cs typeface="Proxima Nova"/>
              <a:sym typeface="Proxima Nova"/>
            </a:endParaRPr>
          </a:p>
          <a:p>
            <a:pPr indent="0" lvl="0" marL="0" rtl="0" algn="ctr">
              <a:spcBef>
                <a:spcPts val="0"/>
              </a:spcBef>
              <a:spcAft>
                <a:spcPts val="0"/>
              </a:spcAft>
              <a:buNone/>
            </a:pPr>
            <a:r>
              <a:t/>
            </a:r>
            <a:endParaRPr sz="1100">
              <a:latin typeface="Proxima Nova"/>
              <a:ea typeface="Proxima Nova"/>
              <a:cs typeface="Proxima Nova"/>
              <a:sym typeface="Proxima Nova"/>
            </a:endParaRPr>
          </a:p>
          <a:p>
            <a:pPr indent="0" lvl="0" marL="0" rtl="0" algn="ctr">
              <a:spcBef>
                <a:spcPts val="0"/>
              </a:spcBef>
              <a:spcAft>
                <a:spcPts val="0"/>
              </a:spcAft>
              <a:buNone/>
            </a:pPr>
            <a:r>
              <a:rPr lang="en" sz="1100">
                <a:latin typeface="Proxima Nova"/>
                <a:ea typeface="Proxima Nova"/>
                <a:cs typeface="Proxima Nova"/>
                <a:sym typeface="Proxima Nova"/>
              </a:rPr>
              <a:t>Immediate tactical alignment, sharing of daily goals, and rapid unblocking of technical hurdles.</a:t>
            </a:r>
            <a:endParaRPr sz="1100">
              <a:latin typeface="Proxima Nova"/>
              <a:ea typeface="Proxima Nova"/>
              <a:cs typeface="Proxima Nova"/>
              <a:sym typeface="Proxima Nova"/>
            </a:endParaRPr>
          </a:p>
          <a:p>
            <a:pPr indent="0" lvl="0" marL="0" rtl="0" algn="l">
              <a:lnSpc>
                <a:spcPct val="115000"/>
              </a:lnSpc>
              <a:spcBef>
                <a:spcPts val="0"/>
              </a:spcBef>
              <a:spcAft>
                <a:spcPts val="0"/>
              </a:spcAft>
              <a:buNone/>
            </a:pPr>
            <a:r>
              <a:t/>
            </a:r>
            <a:endParaRPr sz="1100">
              <a:solidFill>
                <a:schemeClr val="dk1"/>
              </a:solidFill>
              <a:latin typeface="Proxima Nova"/>
              <a:ea typeface="Proxima Nova"/>
              <a:cs typeface="Proxima Nova"/>
              <a:sym typeface="Proxima Nova"/>
            </a:endParaRPr>
          </a:p>
        </p:txBody>
      </p:sp>
      <p:sp>
        <p:nvSpPr>
          <p:cNvPr id="259" name="Google Shape;259;p28"/>
          <p:cNvSpPr/>
          <p:nvPr/>
        </p:nvSpPr>
        <p:spPr>
          <a:xfrm>
            <a:off x="480073" y="425196"/>
            <a:ext cx="68583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5AAC"/>
              </a:buClr>
              <a:buSzPts val="900"/>
              <a:buFont typeface="Calibri"/>
              <a:buNone/>
            </a:pPr>
            <a:r>
              <a:rPr b="1" lang="en" sz="900">
                <a:solidFill>
                  <a:srgbClr val="2E5AAC"/>
                </a:solidFill>
                <a:latin typeface="Proxima Nova"/>
                <a:ea typeface="Proxima Nova"/>
                <a:cs typeface="Proxima Nova"/>
                <a:sym typeface="Proxima Nova"/>
              </a:rPr>
              <a:t>WAYS OF WORKING</a:t>
            </a:r>
            <a:endParaRPr b="0" i="0" sz="900" u="none" cap="none" strike="noStrike">
              <a:solidFill>
                <a:schemeClr val="dk1"/>
              </a:solidFill>
              <a:latin typeface="Calibri"/>
              <a:ea typeface="Calibri"/>
              <a:cs typeface="Calibri"/>
              <a:sym typeface="Calibri"/>
            </a:endParaRPr>
          </a:p>
        </p:txBody>
      </p:sp>
      <p:sp>
        <p:nvSpPr>
          <p:cNvPr id="260" name="Google Shape;260;p28"/>
          <p:cNvSpPr/>
          <p:nvPr/>
        </p:nvSpPr>
        <p:spPr>
          <a:xfrm>
            <a:off x="480073" y="1234440"/>
            <a:ext cx="6858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890"/>
              </a:buClr>
              <a:buSzPts val="1100"/>
              <a:buFont typeface="Calibri"/>
              <a:buNone/>
            </a:pPr>
            <a:r>
              <a:rPr lang="en" sz="1100">
                <a:solidFill>
                  <a:srgbClr val="041133"/>
                </a:solidFill>
                <a:latin typeface="Proxima Nova"/>
                <a:ea typeface="Proxima Nova"/>
                <a:cs typeface="Proxima Nova"/>
                <a:sym typeface="Proxima Nova"/>
              </a:rPr>
              <a:t>Our philosophy is no surprises by design.</a:t>
            </a:r>
            <a:endParaRPr sz="1100">
              <a:solidFill>
                <a:srgbClr val="041133"/>
              </a:solidFill>
              <a:latin typeface="Proxima Nova"/>
              <a:ea typeface="Proxima Nova"/>
              <a:cs typeface="Proxima Nova"/>
              <a:sym typeface="Proxima Nova"/>
            </a:endParaRPr>
          </a:p>
        </p:txBody>
      </p:sp>
      <p:sp>
        <p:nvSpPr>
          <p:cNvPr id="261" name="Google Shape;261;p28"/>
          <p:cNvSpPr txBox="1"/>
          <p:nvPr>
            <p:ph type="ctrTitle"/>
          </p:nvPr>
        </p:nvSpPr>
        <p:spPr>
          <a:xfrm>
            <a:off x="480076" y="734900"/>
            <a:ext cx="8023800" cy="3324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1"/>
              </a:buClr>
              <a:buSzPts val="2400"/>
              <a:buFont typeface="Montserrat"/>
              <a:buNone/>
            </a:pPr>
            <a:r>
              <a:rPr lang="en" sz="2400"/>
              <a:t>Our operating </a:t>
            </a:r>
            <a:r>
              <a:rPr lang="en"/>
              <a:t>rhythm</a:t>
            </a:r>
            <a:endParaRPr sz="2400">
              <a:latin typeface="Proxima Nova"/>
              <a:ea typeface="Proxima Nova"/>
              <a:cs typeface="Proxima Nova"/>
              <a:sym typeface="Proxima Nov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6" name="Shape 266"/>
        <p:cNvGrpSpPr/>
        <p:nvPr/>
      </p:nvGrpSpPr>
      <p:grpSpPr>
        <a:xfrm>
          <a:off x="0" y="0"/>
          <a:ext cx="0" cy="0"/>
          <a:chOff x="0" y="0"/>
          <a:chExt cx="0" cy="0"/>
        </a:xfrm>
      </p:grpSpPr>
      <p:sp>
        <p:nvSpPr>
          <p:cNvPr id="267" name="Google Shape;267;p29"/>
          <p:cNvSpPr/>
          <p:nvPr/>
        </p:nvSpPr>
        <p:spPr>
          <a:xfrm>
            <a:off x="480073" y="425196"/>
            <a:ext cx="68583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5AAC"/>
              </a:buClr>
              <a:buSzPts val="900"/>
              <a:buFont typeface="Calibri"/>
              <a:buNone/>
            </a:pPr>
            <a:r>
              <a:rPr b="1" lang="en" sz="900">
                <a:solidFill>
                  <a:srgbClr val="2E5AAC"/>
                </a:solidFill>
                <a:latin typeface="Proxima Nova"/>
                <a:ea typeface="Proxima Nova"/>
                <a:cs typeface="Proxima Nova"/>
                <a:sym typeface="Proxima Nova"/>
              </a:rPr>
              <a:t>WAYS OF WORKING</a:t>
            </a:r>
            <a:endParaRPr b="0" i="0" sz="900" u="none" cap="none" strike="noStrike">
              <a:solidFill>
                <a:schemeClr val="dk1"/>
              </a:solidFill>
              <a:latin typeface="Calibri"/>
              <a:ea typeface="Calibri"/>
              <a:cs typeface="Calibri"/>
              <a:sym typeface="Calibri"/>
            </a:endParaRPr>
          </a:p>
        </p:txBody>
      </p:sp>
      <p:sp>
        <p:nvSpPr>
          <p:cNvPr id="268" name="Google Shape;268;p29"/>
          <p:cNvSpPr/>
          <p:nvPr/>
        </p:nvSpPr>
        <p:spPr>
          <a:xfrm>
            <a:off x="480073" y="1094671"/>
            <a:ext cx="6858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890"/>
              </a:buClr>
              <a:buSzPts val="1100"/>
              <a:buFont typeface="Calibri"/>
              <a:buNone/>
            </a:pPr>
            <a:r>
              <a:rPr lang="en" sz="1100">
                <a:solidFill>
                  <a:srgbClr val="041133"/>
                </a:solidFill>
                <a:latin typeface="Proxima Nova"/>
                <a:ea typeface="Proxima Nova"/>
                <a:cs typeface="Proxima Nova"/>
                <a:sym typeface="Proxima Nova"/>
              </a:rPr>
              <a:t>Addressing the “elephants in the room” proactively to ensure effective kickoff</a:t>
            </a:r>
            <a:endParaRPr sz="1100">
              <a:solidFill>
                <a:srgbClr val="041133"/>
              </a:solidFill>
              <a:latin typeface="Proxima Nova"/>
              <a:ea typeface="Proxima Nova"/>
              <a:cs typeface="Proxima Nova"/>
              <a:sym typeface="Proxima Nova"/>
            </a:endParaRPr>
          </a:p>
        </p:txBody>
      </p:sp>
      <p:sp>
        <p:nvSpPr>
          <p:cNvPr id="269" name="Google Shape;269;p29"/>
          <p:cNvSpPr txBox="1"/>
          <p:nvPr>
            <p:ph idx="4294967295" type="ctrTitle"/>
          </p:nvPr>
        </p:nvSpPr>
        <p:spPr>
          <a:xfrm>
            <a:off x="480076" y="734900"/>
            <a:ext cx="8023800" cy="3324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1"/>
              </a:buClr>
              <a:buSzPts val="2400"/>
              <a:buFont typeface="Montserrat"/>
              <a:buNone/>
            </a:pPr>
            <a:r>
              <a:rPr lang="en" sz="2400"/>
              <a:t>Initial risk register</a:t>
            </a:r>
            <a:endParaRPr sz="2400">
              <a:latin typeface="Proxima Nova"/>
              <a:ea typeface="Proxima Nova"/>
              <a:cs typeface="Proxima Nova"/>
              <a:sym typeface="Proxima Nova"/>
            </a:endParaRPr>
          </a:p>
        </p:txBody>
      </p:sp>
      <p:graphicFrame>
        <p:nvGraphicFramePr>
          <p:cNvPr id="270" name="Google Shape;270;p29"/>
          <p:cNvGraphicFramePr/>
          <p:nvPr/>
        </p:nvGraphicFramePr>
        <p:xfrm>
          <a:off x="480073" y="1512360"/>
          <a:ext cx="3000000" cy="3000000"/>
        </p:xfrm>
        <a:graphic>
          <a:graphicData uri="http://schemas.openxmlformats.org/drawingml/2006/table">
            <a:tbl>
              <a:tblPr>
                <a:noFill/>
                <a:tableStyleId>{9F0B0797-281F-49EA-B600-308178625C52}</a:tableStyleId>
              </a:tblPr>
              <a:tblGrid>
                <a:gridCol w="3573150"/>
                <a:gridCol w="967400"/>
                <a:gridCol w="2728550"/>
                <a:gridCol w="960500"/>
              </a:tblGrid>
              <a:tr h="440050">
                <a:tc>
                  <a:txBody>
                    <a:bodyPr/>
                    <a:lstStyle/>
                    <a:p>
                      <a:pPr indent="0" lvl="0" marL="0" marR="0" rtl="0" algn="l">
                        <a:spcBef>
                          <a:spcPts val="0"/>
                        </a:spcBef>
                        <a:spcAft>
                          <a:spcPts val="0"/>
                        </a:spcAft>
                        <a:buClr>
                          <a:srgbClr val="FFFFFF"/>
                        </a:buClr>
                        <a:buSzPts val="1000"/>
                        <a:buFont typeface="Calibri"/>
                        <a:buNone/>
                      </a:pPr>
                      <a:r>
                        <a:rPr b="1" lang="en" sz="800">
                          <a:solidFill>
                            <a:srgbClr val="FFFFFF"/>
                          </a:solidFill>
                          <a:latin typeface="Proxima Nova"/>
                          <a:ea typeface="Proxima Nova"/>
                          <a:cs typeface="Proxima Nova"/>
                          <a:sym typeface="Proxima Nova"/>
                        </a:rPr>
                        <a:t>Risk Description</a:t>
                      </a:r>
                      <a:endParaRPr sz="800" u="none" cap="none" strike="noStrike">
                        <a:latin typeface="Proxima Nova"/>
                        <a:ea typeface="Proxima Nova"/>
                        <a:cs typeface="Proxima Nova"/>
                        <a:sym typeface="Proxima Nova"/>
                      </a:endParaRPr>
                    </a:p>
                  </a:txBody>
                  <a:tcPr marT="34300" marB="34300" marR="68600" marL="68600" anchor="ctr">
                    <a:lnL cap="flat" cmpd="sng" w="9525">
                      <a:solidFill>
                        <a:srgbClr val="D3DCEC"/>
                      </a:solidFill>
                      <a:prstDash val="solid"/>
                      <a:round/>
                      <a:headEnd len="sm" w="sm" type="none"/>
                      <a:tailEnd len="sm" w="sm" type="none"/>
                    </a:lnL>
                    <a:lnR cap="flat" cmpd="sng" w="9525">
                      <a:solidFill>
                        <a:srgbClr val="D3DCEC"/>
                      </a:solidFill>
                      <a:prstDash val="solid"/>
                      <a:round/>
                      <a:headEnd len="sm" w="sm" type="none"/>
                      <a:tailEnd len="sm" w="sm" type="none"/>
                    </a:lnR>
                    <a:lnT cap="flat" cmpd="sng" w="9525">
                      <a:solidFill>
                        <a:srgbClr val="D3DCEC"/>
                      </a:solidFill>
                      <a:prstDash val="solid"/>
                      <a:round/>
                      <a:headEnd len="sm" w="sm" type="none"/>
                      <a:tailEnd len="sm" w="sm" type="none"/>
                    </a:lnT>
                    <a:lnB cap="flat" cmpd="sng" w="12700">
                      <a:solidFill>
                        <a:srgbClr val="D3DCEC"/>
                      </a:solidFill>
                      <a:prstDash val="solid"/>
                      <a:round/>
                      <a:headEnd len="sm" w="sm" type="none"/>
                      <a:tailEnd len="sm" w="sm" type="none"/>
                    </a:lnB>
                    <a:solidFill>
                      <a:schemeClr val="accent1"/>
                    </a:solidFill>
                  </a:tcPr>
                </a:tc>
                <a:tc>
                  <a:txBody>
                    <a:bodyPr/>
                    <a:lstStyle/>
                    <a:p>
                      <a:pPr indent="0" lvl="0" marL="0" marR="0" rtl="0" algn="l">
                        <a:spcBef>
                          <a:spcPts val="0"/>
                        </a:spcBef>
                        <a:spcAft>
                          <a:spcPts val="0"/>
                        </a:spcAft>
                        <a:buClr>
                          <a:srgbClr val="FFFFFF"/>
                        </a:buClr>
                        <a:buSzPts val="1000"/>
                        <a:buFont typeface="Calibri"/>
                        <a:buNone/>
                      </a:pPr>
                      <a:r>
                        <a:rPr b="1" lang="en" sz="800">
                          <a:solidFill>
                            <a:srgbClr val="FFFFFF"/>
                          </a:solidFill>
                          <a:latin typeface="Proxima Nova"/>
                          <a:ea typeface="Proxima Nova"/>
                          <a:cs typeface="Proxima Nova"/>
                          <a:sym typeface="Proxima Nova"/>
                        </a:rPr>
                        <a:t>Prob/Impact</a:t>
                      </a:r>
                      <a:endParaRPr sz="800" u="none" cap="none" strike="noStrike">
                        <a:latin typeface="Proxima Nova"/>
                        <a:ea typeface="Proxima Nova"/>
                        <a:cs typeface="Proxima Nova"/>
                        <a:sym typeface="Proxima Nova"/>
                      </a:endParaRPr>
                    </a:p>
                  </a:txBody>
                  <a:tcPr marT="34300" marB="34300" marR="68600" marL="68600" anchor="ctr">
                    <a:lnL cap="flat" cmpd="sng" w="9525">
                      <a:solidFill>
                        <a:srgbClr val="D3DCEC"/>
                      </a:solidFill>
                      <a:prstDash val="solid"/>
                      <a:round/>
                      <a:headEnd len="sm" w="sm" type="none"/>
                      <a:tailEnd len="sm" w="sm" type="none"/>
                    </a:lnL>
                    <a:lnR cap="flat" cmpd="sng" w="9525">
                      <a:solidFill>
                        <a:srgbClr val="D3DCEC"/>
                      </a:solidFill>
                      <a:prstDash val="solid"/>
                      <a:round/>
                      <a:headEnd len="sm" w="sm" type="none"/>
                      <a:tailEnd len="sm" w="sm" type="none"/>
                    </a:lnR>
                    <a:lnT cap="flat" cmpd="sng" w="9525">
                      <a:solidFill>
                        <a:srgbClr val="D3DCEC"/>
                      </a:solidFill>
                      <a:prstDash val="solid"/>
                      <a:round/>
                      <a:headEnd len="sm" w="sm" type="none"/>
                      <a:tailEnd len="sm" w="sm" type="none"/>
                    </a:lnT>
                    <a:lnB cap="flat" cmpd="sng" w="12700">
                      <a:solidFill>
                        <a:srgbClr val="D3DCEC"/>
                      </a:solidFill>
                      <a:prstDash val="solid"/>
                      <a:round/>
                      <a:headEnd len="sm" w="sm" type="none"/>
                      <a:tailEnd len="sm" w="sm" type="none"/>
                    </a:lnB>
                    <a:solidFill>
                      <a:schemeClr val="accent1"/>
                    </a:solidFill>
                  </a:tcPr>
                </a:tc>
                <a:tc>
                  <a:txBody>
                    <a:bodyPr/>
                    <a:lstStyle/>
                    <a:p>
                      <a:pPr indent="0" lvl="0" marL="0" marR="0" rtl="0" algn="l">
                        <a:spcBef>
                          <a:spcPts val="0"/>
                        </a:spcBef>
                        <a:spcAft>
                          <a:spcPts val="0"/>
                        </a:spcAft>
                        <a:buClr>
                          <a:srgbClr val="FFFFFF"/>
                        </a:buClr>
                        <a:buSzPts val="1000"/>
                        <a:buFont typeface="Calibri"/>
                        <a:buNone/>
                      </a:pPr>
                      <a:r>
                        <a:rPr b="1" lang="en" sz="800">
                          <a:solidFill>
                            <a:srgbClr val="FFFFFF"/>
                          </a:solidFill>
                          <a:latin typeface="Proxima Nova"/>
                          <a:ea typeface="Proxima Nova"/>
                          <a:cs typeface="Proxima Nova"/>
                          <a:sym typeface="Proxima Nova"/>
                        </a:rPr>
                        <a:t>Proposed Mitigation Strategy</a:t>
                      </a:r>
                      <a:endParaRPr b="1" sz="800">
                        <a:solidFill>
                          <a:srgbClr val="FFFFFF"/>
                        </a:solidFill>
                        <a:latin typeface="Proxima Nova"/>
                        <a:ea typeface="Proxima Nova"/>
                        <a:cs typeface="Proxima Nova"/>
                        <a:sym typeface="Proxima Nova"/>
                      </a:endParaRPr>
                    </a:p>
                  </a:txBody>
                  <a:tcPr marT="34300" marB="34300" marR="68600" marL="68600" anchor="ctr">
                    <a:lnL cap="flat" cmpd="sng" w="9525">
                      <a:solidFill>
                        <a:srgbClr val="D3DCEC"/>
                      </a:solidFill>
                      <a:prstDash val="solid"/>
                      <a:round/>
                      <a:headEnd len="sm" w="sm" type="none"/>
                      <a:tailEnd len="sm" w="sm" type="none"/>
                    </a:lnL>
                    <a:lnR cap="flat" cmpd="sng" w="9525">
                      <a:solidFill>
                        <a:srgbClr val="D3DCEC"/>
                      </a:solidFill>
                      <a:prstDash val="solid"/>
                      <a:round/>
                      <a:headEnd len="sm" w="sm" type="none"/>
                      <a:tailEnd len="sm" w="sm" type="none"/>
                    </a:lnR>
                    <a:lnT cap="flat" cmpd="sng" w="9525">
                      <a:solidFill>
                        <a:srgbClr val="D3DCEC"/>
                      </a:solidFill>
                      <a:prstDash val="solid"/>
                      <a:round/>
                      <a:headEnd len="sm" w="sm" type="none"/>
                      <a:tailEnd len="sm" w="sm" type="none"/>
                    </a:lnT>
                    <a:lnB cap="flat" cmpd="sng" w="12700">
                      <a:solidFill>
                        <a:srgbClr val="D3DCEC"/>
                      </a:solidFill>
                      <a:prstDash val="solid"/>
                      <a:round/>
                      <a:headEnd len="sm" w="sm" type="none"/>
                      <a:tailEnd len="sm" w="sm" type="none"/>
                    </a:lnB>
                    <a:solidFill>
                      <a:schemeClr val="accent1"/>
                    </a:solidFill>
                  </a:tcPr>
                </a:tc>
                <a:tc>
                  <a:txBody>
                    <a:bodyPr/>
                    <a:lstStyle/>
                    <a:p>
                      <a:pPr indent="0" lvl="0" marL="0" marR="0" rtl="0" algn="l">
                        <a:spcBef>
                          <a:spcPts val="0"/>
                        </a:spcBef>
                        <a:spcAft>
                          <a:spcPts val="0"/>
                        </a:spcAft>
                        <a:buNone/>
                      </a:pPr>
                      <a:r>
                        <a:rPr b="1" lang="en" sz="800">
                          <a:solidFill>
                            <a:srgbClr val="FFFFFF"/>
                          </a:solidFill>
                          <a:latin typeface="Proxima Nova"/>
                          <a:ea typeface="Proxima Nova"/>
                          <a:cs typeface="Proxima Nova"/>
                          <a:sym typeface="Proxima Nova"/>
                        </a:rPr>
                        <a:t>Target Resolution Date</a:t>
                      </a:r>
                      <a:endParaRPr b="1" sz="800">
                        <a:solidFill>
                          <a:srgbClr val="FFFFFF"/>
                        </a:solidFill>
                        <a:latin typeface="Proxima Nova"/>
                        <a:ea typeface="Proxima Nova"/>
                        <a:cs typeface="Proxima Nova"/>
                        <a:sym typeface="Proxima Nova"/>
                      </a:endParaRPr>
                    </a:p>
                  </a:txBody>
                  <a:tcPr marT="34300" marB="34300" marR="68600" marL="68600" anchor="ctr">
                    <a:lnL cap="flat" cmpd="sng" w="9525">
                      <a:solidFill>
                        <a:srgbClr val="D3DCEC"/>
                      </a:solidFill>
                      <a:prstDash val="solid"/>
                      <a:round/>
                      <a:headEnd len="sm" w="sm" type="none"/>
                      <a:tailEnd len="sm" w="sm" type="none"/>
                    </a:lnL>
                    <a:lnR cap="flat" cmpd="sng" w="9525">
                      <a:solidFill>
                        <a:srgbClr val="D3DCEC"/>
                      </a:solidFill>
                      <a:prstDash val="solid"/>
                      <a:round/>
                      <a:headEnd len="sm" w="sm" type="none"/>
                      <a:tailEnd len="sm" w="sm" type="none"/>
                    </a:lnR>
                    <a:lnT cap="flat" cmpd="sng" w="9525">
                      <a:solidFill>
                        <a:srgbClr val="D3DCEC"/>
                      </a:solidFill>
                      <a:prstDash val="solid"/>
                      <a:round/>
                      <a:headEnd len="sm" w="sm" type="none"/>
                      <a:tailEnd len="sm" w="sm" type="none"/>
                    </a:lnT>
                    <a:lnB cap="flat" cmpd="sng" w="12700">
                      <a:solidFill>
                        <a:srgbClr val="D3DCEC"/>
                      </a:solidFill>
                      <a:prstDash val="solid"/>
                      <a:round/>
                      <a:headEnd len="sm" w="sm" type="none"/>
                      <a:tailEnd len="sm" w="sm" type="none"/>
                    </a:lnB>
                    <a:solidFill>
                      <a:schemeClr val="accent1"/>
                    </a:solidFill>
                  </a:tcPr>
                </a:tc>
              </a:tr>
              <a:tr h="634100">
                <a:tc>
                  <a:txBody>
                    <a:bodyPr/>
                    <a:lstStyle/>
                    <a:p>
                      <a:pPr indent="0" lvl="0" marL="0" marR="0" rtl="0" algn="l">
                        <a:lnSpc>
                          <a:spcPct val="150000"/>
                        </a:lnSpc>
                        <a:spcBef>
                          <a:spcPts val="0"/>
                        </a:spcBef>
                        <a:spcAft>
                          <a:spcPts val="0"/>
                        </a:spcAft>
                        <a:buNone/>
                      </a:pPr>
                      <a:r>
                        <a:rPr b="1" lang="en" sz="800">
                          <a:solidFill>
                            <a:srgbClr val="14264D"/>
                          </a:solidFill>
                          <a:latin typeface="Proxima Nova"/>
                          <a:ea typeface="Proxima Nova"/>
                          <a:cs typeface="Proxima Nova"/>
                          <a:sym typeface="Proxima Nova"/>
                        </a:rPr>
                        <a:t>Talent Team Access Delay</a:t>
                      </a:r>
                      <a:endParaRPr b="1" sz="800">
                        <a:solidFill>
                          <a:srgbClr val="14264D"/>
                        </a:solidFill>
                        <a:latin typeface="Proxima Nova"/>
                        <a:ea typeface="Proxima Nova"/>
                        <a:cs typeface="Proxima Nova"/>
                        <a:sym typeface="Proxima Nova"/>
                      </a:endParaRPr>
                    </a:p>
                    <a:p>
                      <a:pPr indent="0" lvl="0" marL="0" marR="0" rtl="0" algn="l">
                        <a:lnSpc>
                          <a:spcPct val="150000"/>
                        </a:lnSpc>
                        <a:spcBef>
                          <a:spcPts val="0"/>
                        </a:spcBef>
                        <a:spcAft>
                          <a:spcPts val="0"/>
                        </a:spcAft>
                        <a:buNone/>
                      </a:pPr>
                      <a:r>
                        <a:rPr lang="en" sz="800">
                          <a:solidFill>
                            <a:srgbClr val="14264D"/>
                          </a:solidFill>
                          <a:latin typeface="Proxima Nova"/>
                          <a:ea typeface="Proxima Nova"/>
                          <a:cs typeface="Proxima Nova"/>
                          <a:sym typeface="Proxima Nova"/>
                        </a:rPr>
                        <a:t>Delayed AWS Workspaces and Tools access could block schedule progress and impact </a:t>
                      </a:r>
                      <a:r>
                        <a:rPr lang="en" sz="800">
                          <a:solidFill>
                            <a:srgbClr val="14264D"/>
                          </a:solidFill>
                          <a:latin typeface="Proxima Nova"/>
                          <a:ea typeface="Proxima Nova"/>
                          <a:cs typeface="Proxima Nova"/>
                          <a:sym typeface="Proxima Nova"/>
                        </a:rPr>
                        <a:t>milestone</a:t>
                      </a:r>
                      <a:r>
                        <a:rPr lang="en" sz="800">
                          <a:solidFill>
                            <a:srgbClr val="14264D"/>
                          </a:solidFill>
                          <a:latin typeface="Proxima Nova"/>
                          <a:ea typeface="Proxima Nova"/>
                          <a:cs typeface="Proxima Nova"/>
                          <a:sym typeface="Proxima Nova"/>
                        </a:rPr>
                        <a:t> gates.</a:t>
                      </a:r>
                      <a:endParaRPr sz="800">
                        <a:solidFill>
                          <a:srgbClr val="14264D"/>
                        </a:solidFill>
                        <a:latin typeface="Proxima Nova"/>
                        <a:ea typeface="Proxima Nova"/>
                        <a:cs typeface="Proxima Nova"/>
                        <a:sym typeface="Proxima Nova"/>
                      </a:endParaRPr>
                    </a:p>
                  </a:txBody>
                  <a:tcPr marT="45725" marB="45725" marR="91450" marL="91450" anchor="ctr">
                    <a:lnL cap="flat" cmpd="sng" w="12700">
                      <a:solidFill>
                        <a:srgbClr val="D3DCEC"/>
                      </a:solidFill>
                      <a:prstDash val="solid"/>
                      <a:round/>
                      <a:headEnd len="sm" w="sm" type="none"/>
                      <a:tailEnd len="sm" w="sm" type="none"/>
                    </a:lnL>
                    <a:lnR cap="flat" cmpd="sng" w="12700">
                      <a:solidFill>
                        <a:srgbClr val="D3DCEC"/>
                      </a:solidFill>
                      <a:prstDash val="solid"/>
                      <a:round/>
                      <a:headEnd len="sm" w="sm" type="none"/>
                      <a:tailEnd len="sm" w="sm" type="none"/>
                    </a:lnR>
                    <a:lnT cap="flat" cmpd="sng" w="12700">
                      <a:solidFill>
                        <a:srgbClr val="D3DCEC"/>
                      </a:solidFill>
                      <a:prstDash val="solid"/>
                      <a:round/>
                      <a:headEnd len="sm" w="sm" type="none"/>
                      <a:tailEnd len="sm" w="sm" type="none"/>
                    </a:lnT>
                    <a:lnB cap="flat" cmpd="sng" w="12700">
                      <a:solidFill>
                        <a:srgbClr val="D3DCEC"/>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sz="800">
                          <a:latin typeface="Proxima Nova"/>
                          <a:ea typeface="Proxima Nova"/>
                          <a:cs typeface="Proxima Nova"/>
                          <a:sym typeface="Proxima Nova"/>
                        </a:rPr>
                        <a:t>Medium/High</a:t>
                      </a:r>
                      <a:endParaRPr sz="800">
                        <a:latin typeface="Proxima Nova"/>
                        <a:ea typeface="Proxima Nova"/>
                        <a:cs typeface="Proxima Nova"/>
                        <a:sym typeface="Proxima Nova"/>
                      </a:endParaRPr>
                    </a:p>
                  </a:txBody>
                  <a:tcPr marT="45725" marB="45725" marR="91450" marL="91450" anchor="ctr">
                    <a:lnL cap="flat" cmpd="sng" w="12700">
                      <a:solidFill>
                        <a:srgbClr val="D3DCEC"/>
                      </a:solidFill>
                      <a:prstDash val="solid"/>
                      <a:round/>
                      <a:headEnd len="sm" w="sm" type="none"/>
                      <a:tailEnd len="sm" w="sm" type="none"/>
                    </a:lnL>
                    <a:lnR cap="flat" cmpd="sng" w="12700">
                      <a:solidFill>
                        <a:srgbClr val="D3DCEC"/>
                      </a:solidFill>
                      <a:prstDash val="solid"/>
                      <a:round/>
                      <a:headEnd len="sm" w="sm" type="none"/>
                      <a:tailEnd len="sm" w="sm" type="none"/>
                    </a:lnR>
                    <a:lnT cap="flat" cmpd="sng" w="12700">
                      <a:solidFill>
                        <a:srgbClr val="D3DCEC"/>
                      </a:solidFill>
                      <a:prstDash val="solid"/>
                      <a:round/>
                      <a:headEnd len="sm" w="sm" type="none"/>
                      <a:tailEnd len="sm" w="sm" type="none"/>
                    </a:lnT>
                    <a:lnB cap="flat" cmpd="sng" w="12700">
                      <a:solidFill>
                        <a:srgbClr val="D3DCEC"/>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sz="800">
                          <a:latin typeface="Proxima Nova"/>
                          <a:ea typeface="Proxima Nova"/>
                          <a:cs typeface="Proxima Nova"/>
                          <a:sym typeface="Proxima Nova"/>
                        </a:rPr>
                        <a:t>Build in time for for access completion before Sprint 0 start in schedule</a:t>
                      </a:r>
                      <a:endParaRPr sz="800">
                        <a:latin typeface="Proxima Nova"/>
                        <a:ea typeface="Proxima Nova"/>
                        <a:cs typeface="Proxima Nova"/>
                        <a:sym typeface="Proxima Nova"/>
                      </a:endParaRPr>
                    </a:p>
                  </a:txBody>
                  <a:tcPr marT="45725" marB="45725" marR="91450" marL="91450" anchor="ctr">
                    <a:lnL cap="flat" cmpd="sng" w="12700">
                      <a:solidFill>
                        <a:srgbClr val="D3DCEC"/>
                      </a:solidFill>
                      <a:prstDash val="solid"/>
                      <a:round/>
                      <a:headEnd len="sm" w="sm" type="none"/>
                      <a:tailEnd len="sm" w="sm" type="none"/>
                    </a:lnL>
                    <a:lnR cap="flat" cmpd="sng" w="12700">
                      <a:solidFill>
                        <a:srgbClr val="D3DCEC"/>
                      </a:solidFill>
                      <a:prstDash val="solid"/>
                      <a:round/>
                      <a:headEnd len="sm" w="sm" type="none"/>
                      <a:tailEnd len="sm" w="sm" type="none"/>
                    </a:lnR>
                    <a:lnT cap="flat" cmpd="sng" w="12700">
                      <a:solidFill>
                        <a:srgbClr val="D3DCEC"/>
                      </a:solidFill>
                      <a:prstDash val="solid"/>
                      <a:round/>
                      <a:headEnd len="sm" w="sm" type="none"/>
                      <a:tailEnd len="sm" w="sm" type="none"/>
                    </a:lnT>
                    <a:lnB cap="flat" cmpd="sng" w="12700">
                      <a:solidFill>
                        <a:srgbClr val="D3DCEC"/>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 sz="800">
                          <a:solidFill>
                            <a:srgbClr val="3F4C63"/>
                          </a:solidFill>
                          <a:latin typeface="Proxima Nova"/>
                          <a:ea typeface="Proxima Nova"/>
                          <a:cs typeface="Proxima Nova"/>
                          <a:sym typeface="Proxima Nova"/>
                        </a:rPr>
                        <a:t>Before Sprint 0</a:t>
                      </a:r>
                      <a:endParaRPr sz="800">
                        <a:solidFill>
                          <a:srgbClr val="3F4C63"/>
                        </a:solidFill>
                        <a:latin typeface="Proxima Nova"/>
                        <a:ea typeface="Proxima Nova"/>
                        <a:cs typeface="Proxima Nova"/>
                        <a:sym typeface="Proxima Nova"/>
                      </a:endParaRPr>
                    </a:p>
                  </a:txBody>
                  <a:tcPr marT="45725" marB="45725" marR="91450" marL="91450" anchor="ctr">
                    <a:lnL cap="flat" cmpd="sng" w="12700">
                      <a:solidFill>
                        <a:srgbClr val="D3DCEC"/>
                      </a:solidFill>
                      <a:prstDash val="solid"/>
                      <a:round/>
                      <a:headEnd len="sm" w="sm" type="none"/>
                      <a:tailEnd len="sm" w="sm" type="none"/>
                    </a:lnL>
                    <a:lnR cap="flat" cmpd="sng" w="12700">
                      <a:solidFill>
                        <a:srgbClr val="D3DCEC"/>
                      </a:solidFill>
                      <a:prstDash val="solid"/>
                      <a:round/>
                      <a:headEnd len="sm" w="sm" type="none"/>
                      <a:tailEnd len="sm" w="sm" type="none"/>
                    </a:lnR>
                    <a:lnT cap="flat" cmpd="sng" w="12700">
                      <a:solidFill>
                        <a:srgbClr val="D3DCEC"/>
                      </a:solidFill>
                      <a:prstDash val="solid"/>
                      <a:round/>
                      <a:headEnd len="sm" w="sm" type="none"/>
                      <a:tailEnd len="sm" w="sm" type="none"/>
                    </a:lnT>
                    <a:lnB cap="flat" cmpd="sng" w="12700">
                      <a:solidFill>
                        <a:srgbClr val="D3DCEC"/>
                      </a:solidFill>
                      <a:prstDash val="solid"/>
                      <a:round/>
                      <a:headEnd len="sm" w="sm" type="none"/>
                      <a:tailEnd len="sm" w="sm" type="none"/>
                    </a:lnB>
                    <a:solidFill>
                      <a:schemeClr val="lt1"/>
                    </a:solidFill>
                  </a:tcPr>
                </a:tc>
              </a:tr>
              <a:tr h="751175">
                <a:tc>
                  <a:txBody>
                    <a:bodyPr/>
                    <a:lstStyle/>
                    <a:p>
                      <a:pPr indent="0" lvl="0" marL="0" marR="0" rtl="0" algn="l">
                        <a:lnSpc>
                          <a:spcPct val="150000"/>
                        </a:lnSpc>
                        <a:spcBef>
                          <a:spcPts val="0"/>
                        </a:spcBef>
                        <a:spcAft>
                          <a:spcPts val="0"/>
                        </a:spcAft>
                        <a:buClr>
                          <a:srgbClr val="14264D"/>
                        </a:buClr>
                        <a:buSzPts val="1250"/>
                        <a:buFont typeface="Calibri"/>
                        <a:buNone/>
                      </a:pPr>
                      <a:r>
                        <a:rPr b="1" lang="en" sz="800">
                          <a:solidFill>
                            <a:srgbClr val="14264D"/>
                          </a:solidFill>
                          <a:latin typeface="Proxima Nova"/>
                          <a:ea typeface="Proxima Nova"/>
                          <a:cs typeface="Proxima Nova"/>
                          <a:sym typeface="Proxima Nova"/>
                        </a:rPr>
                        <a:t>Certification Targets (Toptal Test Script/Defect Report against Syngenta Components)</a:t>
                      </a:r>
                      <a:endParaRPr b="1" sz="800">
                        <a:solidFill>
                          <a:srgbClr val="14264D"/>
                        </a:solidFill>
                        <a:latin typeface="Proxima Nova"/>
                        <a:ea typeface="Proxima Nova"/>
                        <a:cs typeface="Proxima Nova"/>
                        <a:sym typeface="Proxima Nova"/>
                      </a:endParaRPr>
                    </a:p>
                    <a:p>
                      <a:pPr indent="0" lvl="0" marL="0" marR="0" rtl="0" algn="l">
                        <a:lnSpc>
                          <a:spcPct val="150000"/>
                        </a:lnSpc>
                        <a:spcBef>
                          <a:spcPts val="0"/>
                        </a:spcBef>
                        <a:spcAft>
                          <a:spcPts val="0"/>
                        </a:spcAft>
                        <a:buClr>
                          <a:srgbClr val="14264D"/>
                        </a:buClr>
                        <a:buSzPts val="1250"/>
                        <a:buFont typeface="Calibri"/>
                        <a:buNone/>
                      </a:pPr>
                      <a:r>
                        <a:rPr lang="en" sz="800">
                          <a:solidFill>
                            <a:srgbClr val="14264D"/>
                          </a:solidFill>
                          <a:latin typeface="Proxima Nova"/>
                          <a:ea typeface="Proxima Nova"/>
                          <a:cs typeface="Proxima Nova"/>
                          <a:sym typeface="Proxima Nova"/>
                        </a:rPr>
                        <a:t>Certification targets depend on Syngenta components so defects may not be fixable by Toptal and impact milestone gates.</a:t>
                      </a:r>
                      <a:endParaRPr sz="800" u="none" cap="none" strike="noStrike">
                        <a:latin typeface="Proxima Nova"/>
                        <a:ea typeface="Proxima Nova"/>
                        <a:cs typeface="Proxima Nova"/>
                        <a:sym typeface="Proxima Nova"/>
                      </a:endParaRPr>
                    </a:p>
                  </a:txBody>
                  <a:tcPr marT="45725" marB="45725" marR="91450" marL="91450" anchor="ctr">
                    <a:lnL cap="flat" cmpd="sng" w="12700">
                      <a:solidFill>
                        <a:srgbClr val="D3DCEC"/>
                      </a:solidFill>
                      <a:prstDash val="solid"/>
                      <a:round/>
                      <a:headEnd len="sm" w="sm" type="none"/>
                      <a:tailEnd len="sm" w="sm" type="none"/>
                    </a:lnL>
                    <a:lnR cap="flat" cmpd="sng" w="12700">
                      <a:solidFill>
                        <a:srgbClr val="D3DCEC"/>
                      </a:solidFill>
                      <a:prstDash val="solid"/>
                      <a:round/>
                      <a:headEnd len="sm" w="sm" type="none"/>
                      <a:tailEnd len="sm" w="sm" type="none"/>
                    </a:lnR>
                    <a:lnT cap="flat" cmpd="sng" w="12700">
                      <a:solidFill>
                        <a:srgbClr val="D3DCEC"/>
                      </a:solidFill>
                      <a:prstDash val="solid"/>
                      <a:round/>
                      <a:headEnd len="sm" w="sm" type="none"/>
                      <a:tailEnd len="sm" w="sm" type="none"/>
                    </a:lnT>
                    <a:lnB cap="flat" cmpd="sng" w="12700">
                      <a:solidFill>
                        <a:srgbClr val="E0E0E0"/>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sz="800">
                          <a:latin typeface="Proxima Nova"/>
                          <a:ea typeface="Proxima Nova"/>
                          <a:cs typeface="Proxima Nova"/>
                          <a:sym typeface="Proxima Nova"/>
                        </a:rPr>
                        <a:t>Medium/High</a:t>
                      </a:r>
                      <a:endParaRPr sz="800">
                        <a:latin typeface="Proxima Nova"/>
                        <a:ea typeface="Proxima Nova"/>
                        <a:cs typeface="Proxima Nova"/>
                        <a:sym typeface="Proxima Nova"/>
                      </a:endParaRPr>
                    </a:p>
                  </a:txBody>
                  <a:tcPr marT="45725" marB="45725" marR="91450" marL="91450" anchor="ctr">
                    <a:lnL cap="flat" cmpd="sng" w="12700">
                      <a:solidFill>
                        <a:srgbClr val="D3DCEC"/>
                      </a:solidFill>
                      <a:prstDash val="solid"/>
                      <a:round/>
                      <a:headEnd len="sm" w="sm" type="none"/>
                      <a:tailEnd len="sm" w="sm" type="none"/>
                    </a:lnL>
                    <a:lnR cap="flat" cmpd="sng" w="12700">
                      <a:solidFill>
                        <a:srgbClr val="D3DCEC"/>
                      </a:solidFill>
                      <a:prstDash val="solid"/>
                      <a:round/>
                      <a:headEnd len="sm" w="sm" type="none"/>
                      <a:tailEnd len="sm" w="sm" type="none"/>
                    </a:lnR>
                    <a:lnT cap="flat" cmpd="sng" w="12700">
                      <a:solidFill>
                        <a:srgbClr val="D3DCEC"/>
                      </a:solidFill>
                      <a:prstDash val="solid"/>
                      <a:round/>
                      <a:headEnd len="sm" w="sm" type="none"/>
                      <a:tailEnd len="sm" w="sm" type="none"/>
                    </a:lnT>
                    <a:lnB cap="flat" cmpd="sng" w="12700">
                      <a:solidFill>
                        <a:srgbClr val="E0E0E0"/>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sz="800">
                          <a:latin typeface="Proxima Nova"/>
                          <a:ea typeface="Proxima Nova"/>
                          <a:cs typeface="Proxima Nova"/>
                          <a:sym typeface="Proxima Nova"/>
                        </a:rPr>
                        <a:t>Log failures in the defect report, agree remediation owners and timelines with Syngenta, and plan re-test windows.</a:t>
                      </a:r>
                      <a:endParaRPr sz="800">
                        <a:latin typeface="Proxima Nova"/>
                        <a:ea typeface="Proxima Nova"/>
                        <a:cs typeface="Proxima Nova"/>
                        <a:sym typeface="Proxima Nova"/>
                      </a:endParaRPr>
                    </a:p>
                  </a:txBody>
                  <a:tcPr marT="45725" marB="45725" marR="91450" marL="91450" anchor="ctr">
                    <a:lnL cap="flat" cmpd="sng" w="12700">
                      <a:solidFill>
                        <a:srgbClr val="D3DCEC"/>
                      </a:solidFill>
                      <a:prstDash val="solid"/>
                      <a:round/>
                      <a:headEnd len="sm" w="sm" type="none"/>
                      <a:tailEnd len="sm" w="sm" type="none"/>
                    </a:lnL>
                    <a:lnR cap="flat" cmpd="sng" w="12700">
                      <a:solidFill>
                        <a:srgbClr val="D3DCEC"/>
                      </a:solidFill>
                      <a:prstDash val="solid"/>
                      <a:round/>
                      <a:headEnd len="sm" w="sm" type="none"/>
                      <a:tailEnd len="sm" w="sm" type="none"/>
                    </a:lnR>
                    <a:lnT cap="flat" cmpd="sng" w="12700">
                      <a:solidFill>
                        <a:srgbClr val="D3DCEC"/>
                      </a:solidFill>
                      <a:prstDash val="solid"/>
                      <a:round/>
                      <a:headEnd len="sm" w="sm" type="none"/>
                      <a:tailEnd len="sm" w="sm" type="none"/>
                    </a:lnT>
                    <a:lnB cap="flat" cmpd="sng" w="12700">
                      <a:solidFill>
                        <a:srgbClr val="E0E0E0"/>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3F4C63"/>
                        </a:buClr>
                        <a:buSzPts val="1250"/>
                        <a:buFont typeface="Calibri"/>
                        <a:buNone/>
                      </a:pPr>
                      <a:r>
                        <a:rPr lang="en" sz="800">
                          <a:solidFill>
                            <a:srgbClr val="3F4C63"/>
                          </a:solidFill>
                          <a:latin typeface="Proxima Nova"/>
                          <a:ea typeface="Proxima Nova"/>
                          <a:cs typeface="Proxima Nova"/>
                          <a:sym typeface="Proxima Nova"/>
                        </a:rPr>
                        <a:t>Before Milestone 1 Acceptance Review</a:t>
                      </a:r>
                      <a:endParaRPr sz="800" u="none" cap="none" strike="noStrike">
                        <a:solidFill>
                          <a:srgbClr val="3F4C63"/>
                        </a:solidFill>
                        <a:latin typeface="Proxima Nova"/>
                        <a:ea typeface="Proxima Nova"/>
                        <a:cs typeface="Proxima Nova"/>
                        <a:sym typeface="Proxima Nova"/>
                      </a:endParaRPr>
                    </a:p>
                  </a:txBody>
                  <a:tcPr marT="45725" marB="45725" marR="91450" marL="91450" anchor="ctr">
                    <a:lnL cap="flat" cmpd="sng" w="12700">
                      <a:solidFill>
                        <a:srgbClr val="D3DCEC"/>
                      </a:solidFill>
                      <a:prstDash val="solid"/>
                      <a:round/>
                      <a:headEnd len="sm" w="sm" type="none"/>
                      <a:tailEnd len="sm" w="sm" type="none"/>
                    </a:lnL>
                    <a:lnR cap="flat" cmpd="sng" w="12700">
                      <a:solidFill>
                        <a:srgbClr val="D3DCEC"/>
                      </a:solidFill>
                      <a:prstDash val="solid"/>
                      <a:round/>
                      <a:headEnd len="sm" w="sm" type="none"/>
                      <a:tailEnd len="sm" w="sm" type="none"/>
                    </a:lnR>
                    <a:lnT cap="flat" cmpd="sng" w="12700">
                      <a:solidFill>
                        <a:srgbClr val="D3DCEC"/>
                      </a:solidFill>
                      <a:prstDash val="solid"/>
                      <a:round/>
                      <a:headEnd len="sm" w="sm" type="none"/>
                      <a:tailEnd len="sm" w="sm" type="none"/>
                    </a:lnT>
                    <a:lnB cap="flat" cmpd="sng" w="12700">
                      <a:solidFill>
                        <a:srgbClr val="E0E0E0"/>
                      </a:solidFill>
                      <a:prstDash val="solid"/>
                      <a:round/>
                      <a:headEnd len="sm" w="sm" type="none"/>
                      <a:tailEnd len="sm" w="sm" type="none"/>
                    </a:lnB>
                    <a:solidFill>
                      <a:schemeClr val="lt1"/>
                    </a:solidFill>
                  </a:tcPr>
                </a:tc>
              </a:tr>
              <a:tr h="686575">
                <a:tc>
                  <a:txBody>
                    <a:bodyPr/>
                    <a:lstStyle/>
                    <a:p>
                      <a:pPr indent="0" lvl="0" marL="0" rtl="0" algn="l">
                        <a:lnSpc>
                          <a:spcPct val="150000"/>
                        </a:lnSpc>
                        <a:spcBef>
                          <a:spcPts val="0"/>
                        </a:spcBef>
                        <a:spcAft>
                          <a:spcPts val="0"/>
                        </a:spcAft>
                        <a:buNone/>
                      </a:pPr>
                      <a:r>
                        <a:rPr b="1" lang="en" sz="800">
                          <a:solidFill>
                            <a:srgbClr val="14264D"/>
                          </a:solidFill>
                          <a:latin typeface="Proxima Nova"/>
                          <a:ea typeface="Proxima Nova"/>
                          <a:cs typeface="Proxima Nova"/>
                          <a:sym typeface="Proxima Nova"/>
                        </a:rPr>
                        <a:t>Latency Targets (Toptal Components running on Syngenta </a:t>
                      </a:r>
                      <a:r>
                        <a:rPr b="1" lang="en" sz="800">
                          <a:solidFill>
                            <a:srgbClr val="14264D"/>
                          </a:solidFill>
                          <a:latin typeface="Proxima Nova"/>
                          <a:ea typeface="Proxima Nova"/>
                          <a:cs typeface="Proxima Nova"/>
                          <a:sym typeface="Proxima Nova"/>
                        </a:rPr>
                        <a:t>platform</a:t>
                      </a:r>
                      <a:r>
                        <a:rPr b="1" lang="en" sz="800">
                          <a:solidFill>
                            <a:srgbClr val="14264D"/>
                          </a:solidFill>
                          <a:latin typeface="Proxima Nova"/>
                          <a:ea typeface="Proxima Nova"/>
                          <a:cs typeface="Proxima Nova"/>
                          <a:sym typeface="Proxima Nova"/>
                        </a:rPr>
                        <a:t>)</a:t>
                      </a:r>
                      <a:br>
                        <a:rPr lang="en" sz="800">
                          <a:solidFill>
                            <a:srgbClr val="14264D"/>
                          </a:solidFill>
                          <a:latin typeface="Proxima Nova"/>
                          <a:ea typeface="Proxima Nova"/>
                          <a:cs typeface="Proxima Nova"/>
                          <a:sym typeface="Proxima Nova"/>
                        </a:rPr>
                      </a:br>
                      <a:r>
                        <a:rPr lang="en" sz="800">
                          <a:solidFill>
                            <a:srgbClr val="14264D"/>
                          </a:solidFill>
                          <a:latin typeface="Proxima Nova"/>
                          <a:ea typeface="Proxima Nova"/>
                          <a:cs typeface="Proxima Nova"/>
                          <a:sym typeface="Proxima Nova"/>
                        </a:rPr>
                        <a:t>Latency and render-time targets depend on Toptal and Syngenta components so performance misses may not be fixable by Toptal and impact milestone gates.</a:t>
                      </a:r>
                      <a:endParaRPr b="1" sz="800">
                        <a:solidFill>
                          <a:srgbClr val="14264D"/>
                        </a:solidFill>
                        <a:latin typeface="Proxima Nova"/>
                        <a:ea typeface="Proxima Nova"/>
                        <a:cs typeface="Proxima Nova"/>
                        <a:sym typeface="Proxima Nova"/>
                      </a:endParaRPr>
                    </a:p>
                  </a:txBody>
                  <a:tcPr marT="45725" marB="45725" marR="91450" marL="91450" anchor="ctr">
                    <a:lnL cap="flat" cmpd="sng" w="12700">
                      <a:solidFill>
                        <a:srgbClr val="E0E0E0"/>
                      </a:solidFill>
                      <a:prstDash val="solid"/>
                      <a:round/>
                      <a:headEnd len="sm" w="sm" type="none"/>
                      <a:tailEnd len="sm" w="sm" type="none"/>
                    </a:lnL>
                    <a:lnR cap="flat" cmpd="sng" w="12700">
                      <a:solidFill>
                        <a:srgbClr val="E0E0E0"/>
                      </a:solidFill>
                      <a:prstDash val="solid"/>
                      <a:round/>
                      <a:headEnd len="sm" w="sm" type="none"/>
                      <a:tailEnd len="sm" w="sm" type="none"/>
                    </a:lnR>
                    <a:lnT cap="flat" cmpd="sng" w="12700">
                      <a:solidFill>
                        <a:srgbClr val="E0E0E0"/>
                      </a:solidFill>
                      <a:prstDash val="solid"/>
                      <a:round/>
                      <a:headEnd len="sm" w="sm" type="none"/>
                      <a:tailEnd len="sm" w="sm" type="none"/>
                    </a:lnT>
                    <a:lnB cap="flat" cmpd="sng" w="12700">
                      <a:solidFill>
                        <a:srgbClr val="E0E0E0"/>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sz="800">
                          <a:latin typeface="Proxima Nova"/>
                          <a:ea typeface="Proxima Nova"/>
                          <a:cs typeface="Proxima Nova"/>
                          <a:sym typeface="Proxima Nova"/>
                        </a:rPr>
                        <a:t>Medium/High</a:t>
                      </a:r>
                      <a:endParaRPr sz="800">
                        <a:latin typeface="Proxima Nova"/>
                        <a:ea typeface="Proxima Nova"/>
                        <a:cs typeface="Proxima Nova"/>
                        <a:sym typeface="Proxima Nova"/>
                      </a:endParaRPr>
                    </a:p>
                  </a:txBody>
                  <a:tcPr marT="45725" marB="45725" marR="91450" marL="91450" anchor="ctr">
                    <a:lnL cap="flat" cmpd="sng" w="12700">
                      <a:solidFill>
                        <a:srgbClr val="E0E0E0"/>
                      </a:solidFill>
                      <a:prstDash val="solid"/>
                      <a:round/>
                      <a:headEnd len="sm" w="sm" type="none"/>
                      <a:tailEnd len="sm" w="sm" type="none"/>
                    </a:lnL>
                    <a:lnR cap="flat" cmpd="sng" w="12700">
                      <a:solidFill>
                        <a:srgbClr val="E0E0E0"/>
                      </a:solidFill>
                      <a:prstDash val="solid"/>
                      <a:round/>
                      <a:headEnd len="sm" w="sm" type="none"/>
                      <a:tailEnd len="sm" w="sm" type="none"/>
                    </a:lnR>
                    <a:lnT cap="flat" cmpd="sng" w="12700">
                      <a:solidFill>
                        <a:srgbClr val="E0E0E0"/>
                      </a:solidFill>
                      <a:prstDash val="solid"/>
                      <a:round/>
                      <a:headEnd len="sm" w="sm" type="none"/>
                      <a:tailEnd len="sm" w="sm" type="none"/>
                    </a:lnT>
                    <a:lnB cap="flat" cmpd="sng" w="12700">
                      <a:solidFill>
                        <a:srgbClr val="E0E0E0"/>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sz="800">
                          <a:latin typeface="Proxima Nova"/>
                          <a:ea typeface="Proxima Nova"/>
                          <a:cs typeface="Proxima Nova"/>
                          <a:sym typeface="Proxima Nova"/>
                        </a:rPr>
                        <a:t>Use query observability to attribute misses early and log findings in the defect report.</a:t>
                      </a:r>
                      <a:endParaRPr sz="800">
                        <a:latin typeface="Proxima Nova"/>
                        <a:ea typeface="Proxima Nova"/>
                        <a:cs typeface="Proxima Nova"/>
                        <a:sym typeface="Proxima Nova"/>
                      </a:endParaRPr>
                    </a:p>
                  </a:txBody>
                  <a:tcPr marT="45725" marB="45725" marR="91450" marL="91450" anchor="ctr">
                    <a:lnL cap="flat" cmpd="sng" w="12700">
                      <a:solidFill>
                        <a:srgbClr val="E0E0E0"/>
                      </a:solidFill>
                      <a:prstDash val="solid"/>
                      <a:round/>
                      <a:headEnd len="sm" w="sm" type="none"/>
                      <a:tailEnd len="sm" w="sm" type="none"/>
                    </a:lnL>
                    <a:lnR cap="flat" cmpd="sng" w="12700">
                      <a:solidFill>
                        <a:srgbClr val="E0E0E0"/>
                      </a:solidFill>
                      <a:prstDash val="solid"/>
                      <a:round/>
                      <a:headEnd len="sm" w="sm" type="none"/>
                      <a:tailEnd len="sm" w="sm" type="none"/>
                    </a:lnR>
                    <a:lnT cap="flat" cmpd="sng" w="12700">
                      <a:solidFill>
                        <a:srgbClr val="E0E0E0"/>
                      </a:solidFill>
                      <a:prstDash val="solid"/>
                      <a:round/>
                      <a:headEnd len="sm" w="sm" type="none"/>
                      <a:tailEnd len="sm" w="sm" type="none"/>
                    </a:lnT>
                    <a:lnB cap="flat" cmpd="sng" w="12700">
                      <a:solidFill>
                        <a:srgbClr val="E0E0E0"/>
                      </a:solidFill>
                      <a:prstDash val="solid"/>
                      <a:round/>
                      <a:headEnd len="sm" w="sm" type="none"/>
                      <a:tailEnd len="sm" w="sm" type="none"/>
                    </a:lnB>
                    <a:solidFill>
                      <a:schemeClr val="lt1"/>
                    </a:solidFill>
                  </a:tcPr>
                </a:tc>
                <a:tc>
                  <a:txBody>
                    <a:bodyPr/>
                    <a:lstStyle/>
                    <a:p>
                      <a:pPr indent="0" lvl="0" marL="0" rtl="0" algn="l">
                        <a:spcBef>
                          <a:spcPts val="0"/>
                        </a:spcBef>
                        <a:spcAft>
                          <a:spcPts val="0"/>
                        </a:spcAft>
                        <a:buClr>
                          <a:srgbClr val="3F4C63"/>
                        </a:buClr>
                        <a:buSzPts val="1250"/>
                        <a:buFont typeface="Calibri"/>
                        <a:buNone/>
                      </a:pPr>
                      <a:r>
                        <a:rPr lang="en" sz="800">
                          <a:solidFill>
                            <a:srgbClr val="3F4C63"/>
                          </a:solidFill>
                          <a:latin typeface="Proxima Nova"/>
                          <a:ea typeface="Proxima Nova"/>
                          <a:cs typeface="Proxima Nova"/>
                          <a:sym typeface="Proxima Nova"/>
                        </a:rPr>
                        <a:t>Before Milestone 1 Acceptance Review</a:t>
                      </a:r>
                      <a:endParaRPr sz="800">
                        <a:solidFill>
                          <a:srgbClr val="3F4C63"/>
                        </a:solidFill>
                        <a:latin typeface="Proxima Nova"/>
                        <a:ea typeface="Proxima Nova"/>
                        <a:cs typeface="Proxima Nova"/>
                        <a:sym typeface="Proxima Nova"/>
                      </a:endParaRPr>
                    </a:p>
                  </a:txBody>
                  <a:tcPr marT="45725" marB="45725" marR="91450" marL="91450" anchor="ctr">
                    <a:lnL cap="flat" cmpd="sng" w="12700">
                      <a:solidFill>
                        <a:srgbClr val="E0E0E0"/>
                      </a:solidFill>
                      <a:prstDash val="solid"/>
                      <a:round/>
                      <a:headEnd len="sm" w="sm" type="none"/>
                      <a:tailEnd len="sm" w="sm" type="none"/>
                    </a:lnL>
                    <a:lnR cap="flat" cmpd="sng" w="12700">
                      <a:solidFill>
                        <a:srgbClr val="E0E0E0"/>
                      </a:solidFill>
                      <a:prstDash val="solid"/>
                      <a:round/>
                      <a:headEnd len="sm" w="sm" type="none"/>
                      <a:tailEnd len="sm" w="sm" type="none"/>
                    </a:lnR>
                    <a:lnT cap="flat" cmpd="sng" w="12700">
                      <a:solidFill>
                        <a:srgbClr val="E0E0E0"/>
                      </a:solidFill>
                      <a:prstDash val="solid"/>
                      <a:round/>
                      <a:headEnd len="sm" w="sm" type="none"/>
                      <a:tailEnd len="sm" w="sm" type="none"/>
                    </a:lnT>
                    <a:lnB cap="flat" cmpd="sng" w="12700">
                      <a:solidFill>
                        <a:srgbClr val="E0E0E0"/>
                      </a:solidFill>
                      <a:prstDash val="solid"/>
                      <a:round/>
                      <a:headEnd len="sm" w="sm" type="none"/>
                      <a:tailEnd len="sm" w="sm" type="none"/>
                    </a:lnB>
                    <a:solidFill>
                      <a:schemeClr val="lt1"/>
                    </a:solidFill>
                  </a:tcPr>
                </a:tc>
              </a:tr>
              <a:tr h="704450">
                <a:tc>
                  <a:txBody>
                    <a:bodyPr/>
                    <a:lstStyle/>
                    <a:p>
                      <a:pPr indent="0" lvl="0" marL="0" rtl="0" algn="l">
                        <a:lnSpc>
                          <a:spcPct val="150000"/>
                        </a:lnSpc>
                        <a:spcBef>
                          <a:spcPts val="0"/>
                        </a:spcBef>
                        <a:spcAft>
                          <a:spcPts val="0"/>
                        </a:spcAft>
                        <a:buNone/>
                      </a:pPr>
                      <a:r>
                        <a:rPr b="1" lang="en" sz="800">
                          <a:solidFill>
                            <a:srgbClr val="14264D"/>
                          </a:solidFill>
                          <a:latin typeface="Proxima Nova"/>
                          <a:ea typeface="Proxima Nova"/>
                          <a:cs typeface="Proxima Nova"/>
                          <a:sym typeface="Proxima Nova"/>
                        </a:rPr>
                        <a:t>Design</a:t>
                      </a:r>
                      <a:r>
                        <a:rPr b="1" lang="en" sz="800">
                          <a:solidFill>
                            <a:srgbClr val="14264D"/>
                          </a:solidFill>
                          <a:latin typeface="Proxima Nova"/>
                          <a:ea typeface="Proxima Nova"/>
                          <a:cs typeface="Proxima Nova"/>
                          <a:sym typeface="Proxima Nova"/>
                        </a:rPr>
                        <a:t> Requirements (Inputs ready)</a:t>
                      </a:r>
                      <a:endParaRPr b="1" sz="800">
                        <a:solidFill>
                          <a:srgbClr val="14264D"/>
                        </a:solidFill>
                        <a:latin typeface="Proxima Nova"/>
                        <a:ea typeface="Proxima Nova"/>
                        <a:cs typeface="Proxima Nova"/>
                        <a:sym typeface="Proxima Nova"/>
                      </a:endParaRPr>
                    </a:p>
                    <a:p>
                      <a:pPr indent="0" lvl="0" marL="0" rtl="0" algn="l">
                        <a:lnSpc>
                          <a:spcPct val="150000"/>
                        </a:lnSpc>
                        <a:spcBef>
                          <a:spcPts val="0"/>
                        </a:spcBef>
                        <a:spcAft>
                          <a:spcPts val="0"/>
                        </a:spcAft>
                        <a:buNone/>
                      </a:pPr>
                      <a:r>
                        <a:rPr lang="en" sz="800">
                          <a:solidFill>
                            <a:srgbClr val="14264D"/>
                          </a:solidFill>
                          <a:latin typeface="Proxima Nova"/>
                          <a:ea typeface="Proxima Nova"/>
                          <a:cs typeface="Proxima Nova"/>
                          <a:sym typeface="Proxima Nova"/>
                        </a:rPr>
                        <a:t>Delayed development inputs (design requirements, design system access, UI/UX designs and interface contracts) could impact </a:t>
                      </a:r>
                      <a:r>
                        <a:rPr lang="en" sz="800">
                          <a:solidFill>
                            <a:srgbClr val="14264D"/>
                          </a:solidFill>
                          <a:latin typeface="Proxima Nova"/>
                          <a:ea typeface="Proxima Nova"/>
                          <a:cs typeface="Proxima Nova"/>
                          <a:sym typeface="Proxima Nova"/>
                        </a:rPr>
                        <a:t>milestone</a:t>
                      </a:r>
                      <a:r>
                        <a:rPr lang="en" sz="800">
                          <a:solidFill>
                            <a:srgbClr val="14264D"/>
                          </a:solidFill>
                          <a:latin typeface="Proxima Nova"/>
                          <a:ea typeface="Proxima Nova"/>
                          <a:cs typeface="Proxima Nova"/>
                          <a:sym typeface="Proxima Nova"/>
                        </a:rPr>
                        <a:t> gates.</a:t>
                      </a:r>
                      <a:endParaRPr sz="800">
                        <a:solidFill>
                          <a:srgbClr val="14264D"/>
                        </a:solidFill>
                        <a:latin typeface="Proxima Nova"/>
                        <a:ea typeface="Proxima Nova"/>
                        <a:cs typeface="Proxima Nova"/>
                        <a:sym typeface="Proxima Nova"/>
                      </a:endParaRPr>
                    </a:p>
                  </a:txBody>
                  <a:tcPr marT="45725" marB="45725" marR="91450" marL="91450" anchor="ctr">
                    <a:lnL cap="flat" cmpd="sng" w="12700">
                      <a:solidFill>
                        <a:srgbClr val="E0E0E0"/>
                      </a:solidFill>
                      <a:prstDash val="solid"/>
                      <a:round/>
                      <a:headEnd len="sm" w="sm" type="none"/>
                      <a:tailEnd len="sm" w="sm" type="none"/>
                    </a:lnL>
                    <a:lnR cap="flat" cmpd="sng" w="12700">
                      <a:solidFill>
                        <a:srgbClr val="E0E0E0"/>
                      </a:solidFill>
                      <a:prstDash val="solid"/>
                      <a:round/>
                      <a:headEnd len="sm" w="sm" type="none"/>
                      <a:tailEnd len="sm" w="sm" type="none"/>
                    </a:lnR>
                    <a:lnT cap="flat" cmpd="sng" w="12700">
                      <a:solidFill>
                        <a:srgbClr val="E0E0E0"/>
                      </a:solidFill>
                      <a:prstDash val="solid"/>
                      <a:round/>
                      <a:headEnd len="sm" w="sm" type="none"/>
                      <a:tailEnd len="sm" w="sm" type="none"/>
                    </a:lnT>
                    <a:lnB cap="flat" cmpd="sng" w="12700">
                      <a:solidFill>
                        <a:srgbClr val="E0E0E0"/>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sz="800">
                          <a:latin typeface="Proxima Nova"/>
                          <a:ea typeface="Proxima Nova"/>
                          <a:cs typeface="Proxima Nova"/>
                          <a:sym typeface="Proxima Nova"/>
                        </a:rPr>
                        <a:t>Medium/High</a:t>
                      </a:r>
                      <a:endParaRPr sz="800">
                        <a:latin typeface="Proxima Nova"/>
                        <a:ea typeface="Proxima Nova"/>
                        <a:cs typeface="Proxima Nova"/>
                        <a:sym typeface="Proxima Nova"/>
                      </a:endParaRPr>
                    </a:p>
                  </a:txBody>
                  <a:tcPr marT="45725" marB="45725" marR="91450" marL="91450" anchor="ctr">
                    <a:lnL cap="flat" cmpd="sng" w="12700">
                      <a:solidFill>
                        <a:srgbClr val="E0E0E0"/>
                      </a:solidFill>
                      <a:prstDash val="solid"/>
                      <a:round/>
                      <a:headEnd len="sm" w="sm" type="none"/>
                      <a:tailEnd len="sm" w="sm" type="none"/>
                    </a:lnL>
                    <a:lnR cap="flat" cmpd="sng" w="12700">
                      <a:solidFill>
                        <a:srgbClr val="E0E0E0"/>
                      </a:solidFill>
                      <a:prstDash val="solid"/>
                      <a:round/>
                      <a:headEnd len="sm" w="sm" type="none"/>
                      <a:tailEnd len="sm" w="sm" type="none"/>
                    </a:lnR>
                    <a:lnT cap="flat" cmpd="sng" w="12700">
                      <a:solidFill>
                        <a:srgbClr val="E0E0E0"/>
                      </a:solidFill>
                      <a:prstDash val="solid"/>
                      <a:round/>
                      <a:headEnd len="sm" w="sm" type="none"/>
                      <a:tailEnd len="sm" w="sm" type="none"/>
                    </a:lnT>
                    <a:lnB cap="flat" cmpd="sng" w="12700">
                      <a:solidFill>
                        <a:srgbClr val="E0E0E0"/>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sz="800">
                          <a:latin typeface="Proxima Nova"/>
                          <a:ea typeface="Proxima Nova"/>
                          <a:cs typeface="Proxima Nova"/>
                          <a:sym typeface="Proxima Nova"/>
                        </a:rPr>
                        <a:t>Identify and manage user story dependencies and </a:t>
                      </a:r>
                      <a:r>
                        <a:rPr lang="en" sz="800">
                          <a:latin typeface="Proxima Nova"/>
                          <a:ea typeface="Proxima Nova"/>
                          <a:cs typeface="Proxima Nova"/>
                          <a:sym typeface="Proxima Nova"/>
                        </a:rPr>
                        <a:t>escalate</a:t>
                      </a:r>
                      <a:r>
                        <a:rPr lang="en" sz="800">
                          <a:latin typeface="Proxima Nova"/>
                          <a:ea typeface="Proxima Nova"/>
                          <a:cs typeface="Proxima Nova"/>
                          <a:sym typeface="Proxima Nova"/>
                        </a:rPr>
                        <a:t> if user story progress is blocked.</a:t>
                      </a:r>
                      <a:endParaRPr sz="800">
                        <a:latin typeface="Proxima Nova"/>
                        <a:ea typeface="Proxima Nova"/>
                        <a:cs typeface="Proxima Nova"/>
                        <a:sym typeface="Proxima Nova"/>
                      </a:endParaRPr>
                    </a:p>
                  </a:txBody>
                  <a:tcPr marT="45725" marB="45725" marR="91450" marL="91450" anchor="ctr">
                    <a:lnL cap="flat" cmpd="sng" w="12700">
                      <a:solidFill>
                        <a:srgbClr val="E0E0E0"/>
                      </a:solidFill>
                      <a:prstDash val="solid"/>
                      <a:round/>
                      <a:headEnd len="sm" w="sm" type="none"/>
                      <a:tailEnd len="sm" w="sm" type="none"/>
                    </a:lnL>
                    <a:lnR cap="flat" cmpd="sng" w="12700">
                      <a:solidFill>
                        <a:srgbClr val="E0E0E0"/>
                      </a:solidFill>
                      <a:prstDash val="solid"/>
                      <a:round/>
                      <a:headEnd len="sm" w="sm" type="none"/>
                      <a:tailEnd len="sm" w="sm" type="none"/>
                    </a:lnR>
                    <a:lnT cap="flat" cmpd="sng" w="12700">
                      <a:solidFill>
                        <a:srgbClr val="E0E0E0"/>
                      </a:solidFill>
                      <a:prstDash val="solid"/>
                      <a:round/>
                      <a:headEnd len="sm" w="sm" type="none"/>
                      <a:tailEnd len="sm" w="sm" type="none"/>
                    </a:lnT>
                    <a:lnB cap="flat" cmpd="sng" w="12700">
                      <a:solidFill>
                        <a:srgbClr val="E0E0E0"/>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sz="800">
                          <a:solidFill>
                            <a:srgbClr val="3F4C63"/>
                          </a:solidFill>
                          <a:latin typeface="Proxima Nova"/>
                          <a:ea typeface="Proxima Nova"/>
                          <a:cs typeface="Proxima Nova"/>
                          <a:sym typeface="Proxima Nova"/>
                        </a:rPr>
                        <a:t>Sprint Planning, Standups, </a:t>
                      </a:r>
                      <a:r>
                        <a:rPr lang="en" sz="800">
                          <a:solidFill>
                            <a:srgbClr val="3F4C63"/>
                          </a:solidFill>
                          <a:latin typeface="Proxima Nova"/>
                          <a:ea typeface="Proxima Nova"/>
                          <a:cs typeface="Proxima Nova"/>
                          <a:sym typeface="Proxima Nova"/>
                        </a:rPr>
                        <a:t>Escalation</a:t>
                      </a:r>
                      <a:endParaRPr sz="800">
                        <a:solidFill>
                          <a:srgbClr val="3F4C63"/>
                        </a:solidFill>
                        <a:latin typeface="Proxima Nova"/>
                        <a:ea typeface="Proxima Nova"/>
                        <a:cs typeface="Proxima Nova"/>
                        <a:sym typeface="Proxima Nova"/>
                      </a:endParaRPr>
                    </a:p>
                  </a:txBody>
                  <a:tcPr marT="45725" marB="45725" marR="91450" marL="91450" anchor="ctr">
                    <a:lnL cap="flat" cmpd="sng" w="12700">
                      <a:solidFill>
                        <a:srgbClr val="E0E0E0"/>
                      </a:solidFill>
                      <a:prstDash val="solid"/>
                      <a:round/>
                      <a:headEnd len="sm" w="sm" type="none"/>
                      <a:tailEnd len="sm" w="sm" type="none"/>
                    </a:lnL>
                    <a:lnR cap="flat" cmpd="sng" w="12700">
                      <a:solidFill>
                        <a:srgbClr val="E0E0E0"/>
                      </a:solidFill>
                      <a:prstDash val="solid"/>
                      <a:round/>
                      <a:headEnd len="sm" w="sm" type="none"/>
                      <a:tailEnd len="sm" w="sm" type="none"/>
                    </a:lnR>
                    <a:lnT cap="flat" cmpd="sng" w="12700">
                      <a:solidFill>
                        <a:srgbClr val="E0E0E0"/>
                      </a:solidFill>
                      <a:prstDash val="solid"/>
                      <a:round/>
                      <a:headEnd len="sm" w="sm" type="none"/>
                      <a:tailEnd len="sm" w="sm" type="none"/>
                    </a:lnT>
                    <a:lnB cap="flat" cmpd="sng" w="12700">
                      <a:solidFill>
                        <a:srgbClr val="E0E0E0"/>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5" name="Shape 275"/>
        <p:cNvGrpSpPr/>
        <p:nvPr/>
      </p:nvGrpSpPr>
      <p:grpSpPr>
        <a:xfrm>
          <a:off x="0" y="0"/>
          <a:ext cx="0" cy="0"/>
          <a:chOff x="0" y="0"/>
          <a:chExt cx="0" cy="0"/>
        </a:xfrm>
      </p:grpSpPr>
      <p:sp>
        <p:nvSpPr>
          <p:cNvPr id="276" name="Google Shape;276;p30"/>
          <p:cNvSpPr/>
          <p:nvPr/>
        </p:nvSpPr>
        <p:spPr>
          <a:xfrm>
            <a:off x="480073" y="425196"/>
            <a:ext cx="68583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5AAC"/>
              </a:buClr>
              <a:buSzPts val="900"/>
              <a:buFont typeface="Calibri"/>
              <a:buNone/>
            </a:pPr>
            <a:r>
              <a:rPr b="1" lang="en" sz="900">
                <a:solidFill>
                  <a:srgbClr val="2E5AAC"/>
                </a:solidFill>
                <a:latin typeface="Proxima Nova"/>
                <a:ea typeface="Proxima Nova"/>
                <a:cs typeface="Proxima Nova"/>
                <a:sym typeface="Proxima Nova"/>
              </a:rPr>
              <a:t>WAYS OF WORKING</a:t>
            </a:r>
            <a:endParaRPr b="0" i="0" sz="900" u="none" cap="none" strike="noStrike">
              <a:solidFill>
                <a:schemeClr val="dk1"/>
              </a:solidFill>
              <a:latin typeface="Calibri"/>
              <a:ea typeface="Calibri"/>
              <a:cs typeface="Calibri"/>
              <a:sym typeface="Calibri"/>
            </a:endParaRPr>
          </a:p>
        </p:txBody>
      </p:sp>
      <p:sp>
        <p:nvSpPr>
          <p:cNvPr id="277" name="Google Shape;277;p30"/>
          <p:cNvSpPr/>
          <p:nvPr/>
        </p:nvSpPr>
        <p:spPr>
          <a:xfrm>
            <a:off x="480073" y="1234440"/>
            <a:ext cx="6858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890"/>
              </a:buClr>
              <a:buSzPts val="1100"/>
              <a:buFont typeface="Calibri"/>
              <a:buNone/>
            </a:pPr>
            <a:r>
              <a:rPr lang="en" sz="1100">
                <a:solidFill>
                  <a:srgbClr val="041133"/>
                </a:solidFill>
                <a:latin typeface="Proxima Nova"/>
                <a:ea typeface="Proxima Nova"/>
                <a:cs typeface="Proxima Nova"/>
                <a:sym typeface="Proxima Nova"/>
              </a:rPr>
              <a:t>How we handle new ideas without blowing up the budget and/or timeline.</a:t>
            </a:r>
            <a:endParaRPr sz="1100">
              <a:solidFill>
                <a:srgbClr val="041133"/>
              </a:solidFill>
              <a:latin typeface="Proxima Nova"/>
              <a:ea typeface="Proxima Nova"/>
              <a:cs typeface="Proxima Nova"/>
              <a:sym typeface="Proxima Nova"/>
            </a:endParaRPr>
          </a:p>
        </p:txBody>
      </p:sp>
      <p:sp>
        <p:nvSpPr>
          <p:cNvPr id="278" name="Google Shape;278;p30"/>
          <p:cNvSpPr txBox="1"/>
          <p:nvPr>
            <p:ph idx="4294967295" type="ctrTitle"/>
          </p:nvPr>
        </p:nvSpPr>
        <p:spPr>
          <a:xfrm>
            <a:off x="480076" y="734900"/>
            <a:ext cx="8023800" cy="3324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1"/>
              </a:buClr>
              <a:buSzPts val="2400"/>
              <a:buFont typeface="Montserrat"/>
              <a:buNone/>
            </a:pPr>
            <a:r>
              <a:rPr lang="en" sz="2400"/>
              <a:t>Managing Change</a:t>
            </a:r>
            <a:endParaRPr sz="2400">
              <a:latin typeface="Proxima Nova"/>
              <a:ea typeface="Proxima Nova"/>
              <a:cs typeface="Proxima Nova"/>
              <a:sym typeface="Proxima Nova"/>
            </a:endParaRPr>
          </a:p>
        </p:txBody>
      </p:sp>
      <p:sp>
        <p:nvSpPr>
          <p:cNvPr id="279" name="Google Shape;279;p30"/>
          <p:cNvSpPr/>
          <p:nvPr/>
        </p:nvSpPr>
        <p:spPr>
          <a:xfrm>
            <a:off x="480110" y="1862795"/>
            <a:ext cx="3920400" cy="2674500"/>
          </a:xfrm>
          <a:prstGeom prst="roundRect">
            <a:avLst>
              <a:gd fmla="val 2051" name="adj"/>
            </a:avLst>
          </a:prstGeom>
          <a:solidFill>
            <a:srgbClr val="FFFFFF"/>
          </a:solidFill>
          <a:ln cap="flat" cmpd="sng" w="9525">
            <a:solidFill>
              <a:srgbClr val="D3DCEC"/>
            </a:solidFill>
            <a:prstDash val="solid"/>
            <a:round/>
            <a:headEnd len="sm" w="sm" type="none"/>
            <a:tailEnd len="sm" w="sm" type="none"/>
          </a:ln>
          <a:effectLst>
            <a:outerShdw blurRad="85727" rotWithShape="0" algn="bl" dir="5400000" dist="28576">
              <a:srgbClr val="0B1836">
                <a:alpha val="1608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80" name="Google Shape;280;p30"/>
          <p:cNvSpPr/>
          <p:nvPr/>
        </p:nvSpPr>
        <p:spPr>
          <a:xfrm>
            <a:off x="754438" y="2137115"/>
            <a:ext cx="548700" cy="548400"/>
          </a:xfrm>
          <a:prstGeom prst="ellipse">
            <a:avLst/>
          </a:prstGeom>
          <a:solidFill>
            <a:srgbClr val="E1E9F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81" name="Google Shape;281;p30"/>
          <p:cNvSpPr/>
          <p:nvPr/>
        </p:nvSpPr>
        <p:spPr>
          <a:xfrm>
            <a:off x="1405965" y="2205695"/>
            <a:ext cx="28917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64D"/>
              </a:buClr>
              <a:buSzPts val="1300"/>
              <a:buFont typeface="Calibri"/>
              <a:buNone/>
            </a:pPr>
            <a:r>
              <a:rPr b="1" i="0" lang="en" sz="1300" u="none" cap="none" strike="noStrike">
                <a:solidFill>
                  <a:srgbClr val="14264D"/>
                </a:solidFill>
                <a:latin typeface="Proxima Nova"/>
                <a:ea typeface="Proxima Nova"/>
                <a:cs typeface="Proxima Nova"/>
                <a:sym typeface="Proxima Nova"/>
              </a:rPr>
              <a:t>How we keep you informed</a:t>
            </a:r>
            <a:endParaRPr i="0" sz="1300" u="none" cap="none" strike="noStrike">
              <a:solidFill>
                <a:schemeClr val="dk1"/>
              </a:solidFill>
              <a:latin typeface="Proxima Nova"/>
              <a:ea typeface="Proxima Nova"/>
              <a:cs typeface="Proxima Nova"/>
              <a:sym typeface="Proxima Nova"/>
            </a:endParaRPr>
          </a:p>
        </p:txBody>
      </p:sp>
      <p:sp>
        <p:nvSpPr>
          <p:cNvPr id="282" name="Google Shape;282;p30"/>
          <p:cNvSpPr/>
          <p:nvPr/>
        </p:nvSpPr>
        <p:spPr>
          <a:xfrm>
            <a:off x="788729" y="2891495"/>
            <a:ext cx="3303300" cy="1509000"/>
          </a:xfrm>
          <a:prstGeom prst="rect">
            <a:avLst/>
          </a:prstGeom>
          <a:noFill/>
          <a:ln>
            <a:noFill/>
          </a:ln>
        </p:spPr>
        <p:txBody>
          <a:bodyPr anchorCtr="0" anchor="ctr" bIns="0" lIns="0" spcFirstLastPara="1" rIns="0" wrap="square" tIns="0">
            <a:noAutofit/>
          </a:bodyPr>
          <a:lstStyle/>
          <a:p>
            <a:pPr indent="-139700" lvl="0" marL="139700" marR="0" rtl="0" algn="l">
              <a:spcBef>
                <a:spcPts val="0"/>
              </a:spcBef>
              <a:spcAft>
                <a:spcPts val="0"/>
              </a:spcAft>
              <a:buClr>
                <a:srgbClr val="3F4C63"/>
              </a:buClr>
              <a:buSzPts val="1000"/>
              <a:buFont typeface="Proxima Nova"/>
              <a:buChar char="•"/>
            </a:pPr>
            <a:r>
              <a:rPr i="0" lang="en" sz="1000" u="none" cap="none" strike="noStrike">
                <a:solidFill>
                  <a:srgbClr val="3F4C63"/>
                </a:solidFill>
                <a:latin typeface="Proxima Nova"/>
                <a:ea typeface="Proxima Nova"/>
                <a:cs typeface="Proxima Nova"/>
                <a:sym typeface="Proxima Nova"/>
              </a:rPr>
              <a:t>A weekly status report with a</a:t>
            </a:r>
            <a:r>
              <a:rPr lang="en" sz="1000">
                <a:solidFill>
                  <a:srgbClr val="3F4C63"/>
                </a:solidFill>
                <a:latin typeface="Proxima Nova"/>
                <a:ea typeface="Proxima Nova"/>
                <a:cs typeface="Proxima Nova"/>
                <a:sym typeface="Proxima Nova"/>
              </a:rPr>
              <a:t>n honest health rating</a:t>
            </a:r>
            <a:endParaRPr i="0" sz="1000" u="none" cap="none" strike="noStrike">
              <a:solidFill>
                <a:schemeClr val="dk1"/>
              </a:solidFill>
              <a:latin typeface="Proxima Nova"/>
              <a:ea typeface="Proxima Nova"/>
              <a:cs typeface="Proxima Nova"/>
              <a:sym typeface="Proxima Nova"/>
            </a:endParaRPr>
          </a:p>
          <a:p>
            <a:pPr indent="-139700" lvl="0" marL="139700" marR="0" rtl="0" algn="l">
              <a:spcBef>
                <a:spcPts val="800"/>
              </a:spcBef>
              <a:spcAft>
                <a:spcPts val="0"/>
              </a:spcAft>
              <a:buClr>
                <a:srgbClr val="3F4C63"/>
              </a:buClr>
              <a:buSzPts val="1000"/>
              <a:buFont typeface="Proxima Nova"/>
              <a:buChar char="•"/>
            </a:pPr>
            <a:r>
              <a:rPr lang="en" sz="1000">
                <a:solidFill>
                  <a:srgbClr val="3F4C63"/>
                </a:solidFill>
                <a:latin typeface="Proxima Nova"/>
                <a:ea typeface="Proxima Nova"/>
                <a:cs typeface="Proxima Nova"/>
                <a:sym typeface="Proxima Nova"/>
              </a:rPr>
              <a:t>Surface risks early and the risk and issues log is always </a:t>
            </a:r>
            <a:r>
              <a:rPr lang="en" sz="1000">
                <a:solidFill>
                  <a:srgbClr val="3F4C63"/>
                </a:solidFill>
                <a:latin typeface="Proxima Nova"/>
                <a:ea typeface="Proxima Nova"/>
                <a:cs typeface="Proxima Nova"/>
                <a:sym typeface="Proxima Nova"/>
              </a:rPr>
              <a:t>accessible</a:t>
            </a:r>
            <a:r>
              <a:rPr lang="en" sz="1000">
                <a:solidFill>
                  <a:srgbClr val="3F4C63"/>
                </a:solidFill>
                <a:latin typeface="Proxima Nova"/>
                <a:ea typeface="Proxima Nova"/>
                <a:cs typeface="Proxima Nova"/>
                <a:sym typeface="Proxima Nova"/>
              </a:rPr>
              <a:t> </a:t>
            </a:r>
            <a:endParaRPr i="0" sz="1000" u="none" cap="none" strike="noStrike">
              <a:solidFill>
                <a:schemeClr val="dk1"/>
              </a:solidFill>
              <a:latin typeface="Proxima Nova"/>
              <a:ea typeface="Proxima Nova"/>
              <a:cs typeface="Proxima Nova"/>
              <a:sym typeface="Proxima Nova"/>
            </a:endParaRPr>
          </a:p>
          <a:p>
            <a:pPr indent="-139700" lvl="0" marL="139700" marR="0" rtl="0" algn="l">
              <a:spcBef>
                <a:spcPts val="800"/>
              </a:spcBef>
              <a:spcAft>
                <a:spcPts val="0"/>
              </a:spcAft>
              <a:buClr>
                <a:srgbClr val="3F4C63"/>
              </a:buClr>
              <a:buSzPts val="1000"/>
              <a:buFont typeface="Proxima Nova"/>
              <a:buChar char="•"/>
            </a:pPr>
            <a:r>
              <a:rPr lang="en" sz="1000">
                <a:solidFill>
                  <a:srgbClr val="3F4C63"/>
                </a:solidFill>
                <a:latin typeface="Proxima Nova"/>
                <a:ea typeface="Proxima Nova"/>
                <a:cs typeface="Proxima Nova"/>
                <a:sym typeface="Proxima Nova"/>
              </a:rPr>
              <a:t>New requirements are identified early, assessed for impact, then reviewed with stakeholders</a:t>
            </a:r>
            <a:endParaRPr i="0" sz="1000" u="none" cap="none" strike="noStrike">
              <a:solidFill>
                <a:schemeClr val="dk1"/>
              </a:solidFill>
              <a:latin typeface="Proxima Nova"/>
              <a:ea typeface="Proxima Nova"/>
              <a:cs typeface="Proxima Nova"/>
              <a:sym typeface="Proxima Nova"/>
            </a:endParaRPr>
          </a:p>
        </p:txBody>
      </p:sp>
      <p:sp>
        <p:nvSpPr>
          <p:cNvPr id="283" name="Google Shape;283;p30"/>
          <p:cNvSpPr/>
          <p:nvPr/>
        </p:nvSpPr>
        <p:spPr>
          <a:xfrm>
            <a:off x="4743500" y="1862795"/>
            <a:ext cx="3920400" cy="2674500"/>
          </a:xfrm>
          <a:prstGeom prst="roundRect">
            <a:avLst>
              <a:gd fmla="val 2051" name="adj"/>
            </a:avLst>
          </a:prstGeom>
          <a:solidFill>
            <a:srgbClr val="FFFFFF"/>
          </a:solidFill>
          <a:ln cap="flat" cmpd="sng" w="9525">
            <a:solidFill>
              <a:srgbClr val="D3DCEC"/>
            </a:solidFill>
            <a:prstDash val="solid"/>
            <a:round/>
            <a:headEnd len="sm" w="sm" type="none"/>
            <a:tailEnd len="sm" w="sm" type="none"/>
          </a:ln>
          <a:effectLst>
            <a:outerShdw blurRad="85727" rotWithShape="0" algn="bl" dir="5400000" dist="28576">
              <a:srgbClr val="0B1836">
                <a:alpha val="1608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84" name="Google Shape;284;p30"/>
          <p:cNvSpPr/>
          <p:nvPr/>
        </p:nvSpPr>
        <p:spPr>
          <a:xfrm>
            <a:off x="5017827" y="2137115"/>
            <a:ext cx="548700" cy="548400"/>
          </a:xfrm>
          <a:prstGeom prst="ellipse">
            <a:avLst/>
          </a:prstGeom>
          <a:solidFill>
            <a:srgbClr val="E1E9F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85" name="Google Shape;285;p30"/>
          <p:cNvSpPr/>
          <p:nvPr/>
        </p:nvSpPr>
        <p:spPr>
          <a:xfrm>
            <a:off x="5669355" y="2205695"/>
            <a:ext cx="28917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64D"/>
              </a:buClr>
              <a:buSzPts val="1300"/>
              <a:buFont typeface="Calibri"/>
              <a:buNone/>
            </a:pPr>
            <a:r>
              <a:rPr b="1" i="0" lang="en" sz="1300" u="none" cap="none" strike="noStrike">
                <a:solidFill>
                  <a:srgbClr val="14264D"/>
                </a:solidFill>
                <a:latin typeface="Proxima Nova"/>
                <a:ea typeface="Proxima Nova"/>
                <a:cs typeface="Proxima Nova"/>
                <a:sym typeface="Proxima Nova"/>
              </a:rPr>
              <a:t>How we handle change</a:t>
            </a:r>
            <a:endParaRPr i="0" sz="1300" u="none" cap="none" strike="noStrike">
              <a:solidFill>
                <a:schemeClr val="dk1"/>
              </a:solidFill>
              <a:latin typeface="Proxima Nova"/>
              <a:ea typeface="Proxima Nova"/>
              <a:cs typeface="Proxima Nova"/>
              <a:sym typeface="Proxima Nova"/>
            </a:endParaRPr>
          </a:p>
        </p:txBody>
      </p:sp>
      <p:sp>
        <p:nvSpPr>
          <p:cNvPr id="286" name="Google Shape;286;p30"/>
          <p:cNvSpPr/>
          <p:nvPr/>
        </p:nvSpPr>
        <p:spPr>
          <a:xfrm>
            <a:off x="5052118" y="2891495"/>
            <a:ext cx="3303300" cy="15090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14264D"/>
              </a:buClr>
              <a:buSzPts val="1000"/>
              <a:buFont typeface="Calibri"/>
              <a:buNone/>
            </a:pPr>
            <a:r>
              <a:rPr b="1" i="0" lang="en" sz="1000" u="none" cap="none" strike="noStrike">
                <a:solidFill>
                  <a:srgbClr val="14264D"/>
                </a:solidFill>
                <a:latin typeface="Proxima Nova"/>
                <a:ea typeface="Proxima Nova"/>
                <a:cs typeface="Proxima Nova"/>
                <a:sym typeface="Proxima Nova"/>
              </a:rPr>
              <a:t>Refinements within scope</a:t>
            </a:r>
            <a:endParaRPr i="0" sz="1000" u="none" cap="none" strike="noStrike">
              <a:solidFill>
                <a:schemeClr val="dk1"/>
              </a:solidFill>
              <a:latin typeface="Proxima Nova"/>
              <a:ea typeface="Proxima Nova"/>
              <a:cs typeface="Proxima Nova"/>
              <a:sym typeface="Proxima Nova"/>
            </a:endParaRPr>
          </a:p>
          <a:p>
            <a:pPr indent="0" lvl="0" marL="0" marR="0" rtl="0" algn="l">
              <a:spcBef>
                <a:spcPts val="0"/>
              </a:spcBef>
              <a:spcAft>
                <a:spcPts val="0"/>
              </a:spcAft>
              <a:buClr>
                <a:srgbClr val="3F4C63"/>
              </a:buClr>
              <a:buSzPts val="1000"/>
              <a:buFont typeface="Calibri"/>
              <a:buNone/>
            </a:pPr>
            <a:r>
              <a:rPr i="0" lang="en" sz="1000" u="none" cap="none" strike="noStrike">
                <a:solidFill>
                  <a:srgbClr val="3F4C63"/>
                </a:solidFill>
                <a:latin typeface="Proxima Nova"/>
                <a:ea typeface="Proxima Nova"/>
                <a:cs typeface="Proxima Nova"/>
                <a:sym typeface="Proxima Nova"/>
              </a:rPr>
              <a:t>We document and proceed — no friction, no delay.</a:t>
            </a:r>
            <a:endParaRPr i="0" sz="1000" u="none" cap="none" strike="noStrike">
              <a:solidFill>
                <a:schemeClr val="dk1"/>
              </a:solidFill>
              <a:latin typeface="Proxima Nova"/>
              <a:ea typeface="Proxima Nova"/>
              <a:cs typeface="Proxima Nova"/>
              <a:sym typeface="Proxima Nova"/>
            </a:endParaRPr>
          </a:p>
          <a:p>
            <a:pPr indent="0" lvl="0" marL="0" marR="0" rtl="0" algn="l">
              <a:lnSpc>
                <a:spcPct val="115000"/>
              </a:lnSpc>
              <a:spcBef>
                <a:spcPts val="900"/>
              </a:spcBef>
              <a:spcAft>
                <a:spcPts val="0"/>
              </a:spcAft>
              <a:buClr>
                <a:srgbClr val="14264D"/>
              </a:buClr>
              <a:buSzPts val="1000"/>
              <a:buFont typeface="Calibri"/>
              <a:buNone/>
            </a:pPr>
            <a:r>
              <a:rPr b="1" i="0" lang="en" sz="1000" u="none" cap="none" strike="noStrike">
                <a:solidFill>
                  <a:srgbClr val="14264D"/>
                </a:solidFill>
                <a:latin typeface="Proxima Nova"/>
                <a:ea typeface="Proxima Nova"/>
                <a:cs typeface="Proxima Nova"/>
                <a:sym typeface="Proxima Nova"/>
              </a:rPr>
              <a:t>Changes to scope, timeline, or budget</a:t>
            </a:r>
            <a:endParaRPr i="0" sz="1000" u="none" cap="none" strike="noStrike">
              <a:solidFill>
                <a:schemeClr val="dk1"/>
              </a:solidFill>
              <a:latin typeface="Proxima Nova"/>
              <a:ea typeface="Proxima Nova"/>
              <a:cs typeface="Proxima Nova"/>
              <a:sym typeface="Proxima Nova"/>
            </a:endParaRPr>
          </a:p>
          <a:p>
            <a:pPr indent="0" lvl="0" marL="0" marR="0" rtl="0" algn="l">
              <a:spcBef>
                <a:spcPts val="0"/>
              </a:spcBef>
              <a:spcAft>
                <a:spcPts val="0"/>
              </a:spcAft>
              <a:buClr>
                <a:srgbClr val="3F4C63"/>
              </a:buClr>
              <a:buSzPts val="1000"/>
              <a:buFont typeface="Calibri"/>
              <a:buNone/>
            </a:pPr>
            <a:r>
              <a:rPr i="0" lang="en" sz="1000" u="none" cap="none" strike="noStrike">
                <a:solidFill>
                  <a:srgbClr val="3F4C63"/>
                </a:solidFill>
                <a:latin typeface="Proxima Nova"/>
                <a:ea typeface="Proxima Nova"/>
                <a:cs typeface="Proxima Nova"/>
                <a:sym typeface="Proxima Nova"/>
              </a:rPr>
              <a:t>We pause, documen</a:t>
            </a:r>
            <a:r>
              <a:rPr lang="en" sz="1000">
                <a:solidFill>
                  <a:srgbClr val="3F4C63"/>
                </a:solidFill>
                <a:latin typeface="Proxima Nova"/>
                <a:ea typeface="Proxima Nova"/>
                <a:cs typeface="Proxima Nova"/>
                <a:sym typeface="Proxima Nova"/>
              </a:rPr>
              <a:t>t the change and impact, then </a:t>
            </a:r>
            <a:r>
              <a:rPr i="0" lang="en" sz="1000" u="none" cap="none" strike="noStrike">
                <a:solidFill>
                  <a:srgbClr val="3F4C63"/>
                </a:solidFill>
                <a:latin typeface="Proxima Nova"/>
                <a:ea typeface="Proxima Nova"/>
                <a:cs typeface="Proxima Nova"/>
                <a:sym typeface="Proxima Nova"/>
              </a:rPr>
              <a:t>bring it to you — agreed together before any work begins.</a:t>
            </a:r>
            <a:endParaRPr i="0" sz="1000" u="none" cap="none" strike="noStrike">
              <a:solidFill>
                <a:schemeClr val="dk1"/>
              </a:solidFill>
              <a:latin typeface="Proxima Nova"/>
              <a:ea typeface="Proxima Nova"/>
              <a:cs typeface="Proxima Nova"/>
              <a:sym typeface="Proxima Nova"/>
            </a:endParaRPr>
          </a:p>
        </p:txBody>
      </p:sp>
      <p:pic>
        <p:nvPicPr>
          <p:cNvPr id="287" name="Google Shape;287;p30"/>
          <p:cNvPicPr preferRelativeResize="0"/>
          <p:nvPr/>
        </p:nvPicPr>
        <p:blipFill>
          <a:blip r:embed="rId4">
            <a:alphaModFix/>
          </a:blip>
          <a:stretch>
            <a:fillRect/>
          </a:stretch>
        </p:blipFill>
        <p:spPr>
          <a:xfrm>
            <a:off x="5127577" y="2249247"/>
            <a:ext cx="329200" cy="324135"/>
          </a:xfrm>
          <a:prstGeom prst="rect">
            <a:avLst/>
          </a:prstGeom>
          <a:noFill/>
          <a:ln>
            <a:noFill/>
          </a:ln>
        </p:spPr>
      </p:pic>
      <p:pic>
        <p:nvPicPr>
          <p:cNvPr id="288" name="Google Shape;288;p30"/>
          <p:cNvPicPr preferRelativeResize="0"/>
          <p:nvPr/>
        </p:nvPicPr>
        <p:blipFill>
          <a:blip r:embed="rId5">
            <a:alphaModFix/>
          </a:blip>
          <a:stretch>
            <a:fillRect/>
          </a:stretch>
        </p:blipFill>
        <p:spPr>
          <a:xfrm>
            <a:off x="865476" y="2247992"/>
            <a:ext cx="326648" cy="326648"/>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31"/>
          <p:cNvSpPr/>
          <p:nvPr/>
        </p:nvSpPr>
        <p:spPr>
          <a:xfrm>
            <a:off x="214100" y="0"/>
            <a:ext cx="8929800" cy="5143500"/>
          </a:xfrm>
          <a:prstGeom prst="rect">
            <a:avLst/>
          </a:prstGeom>
          <a:solidFill>
            <a:schemeClr val="accent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en">
                <a:solidFill>
                  <a:schemeClr val="lt1"/>
                </a:solidFill>
                <a:latin typeface="Open Sans"/>
                <a:ea typeface="Open Sans"/>
                <a:cs typeface="Open Sans"/>
                <a:sym typeface="Open Sans"/>
              </a:rPr>
              <a:t> </a:t>
            </a:r>
            <a:endParaRPr sz="1400">
              <a:solidFill>
                <a:schemeClr val="lt1"/>
              </a:solidFill>
              <a:latin typeface="Open Sans"/>
              <a:ea typeface="Open Sans"/>
              <a:cs typeface="Open Sans"/>
              <a:sym typeface="Open Sans"/>
            </a:endParaRPr>
          </a:p>
        </p:txBody>
      </p:sp>
      <p:sp>
        <p:nvSpPr>
          <p:cNvPr id="294" name="Google Shape;294;p31"/>
          <p:cNvSpPr txBox="1"/>
          <p:nvPr>
            <p:ph type="ctrTitle"/>
          </p:nvPr>
        </p:nvSpPr>
        <p:spPr>
          <a:xfrm>
            <a:off x="666750" y="1001575"/>
            <a:ext cx="5575500" cy="1167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latin typeface="Proxima Nova"/>
                <a:ea typeface="Proxima Nova"/>
                <a:cs typeface="Proxima Nova"/>
                <a:sym typeface="Proxima Nova"/>
              </a:rPr>
              <a:t>Housekeeping</a:t>
            </a:r>
            <a:endParaRPr sz="1800">
              <a:solidFill>
                <a:schemeClr val="accent4"/>
              </a:solidFill>
              <a:latin typeface="Proxima Nova"/>
              <a:ea typeface="Proxima Nova"/>
              <a:cs typeface="Proxima Nova"/>
              <a:sym typeface="Proxima Nova"/>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9" name="Shape 299"/>
        <p:cNvGrpSpPr/>
        <p:nvPr/>
      </p:nvGrpSpPr>
      <p:grpSpPr>
        <a:xfrm>
          <a:off x="0" y="0"/>
          <a:ext cx="0" cy="0"/>
          <a:chOff x="0" y="0"/>
          <a:chExt cx="0" cy="0"/>
        </a:xfrm>
      </p:grpSpPr>
      <p:sp>
        <p:nvSpPr>
          <p:cNvPr id="300" name="Google Shape;300;p32"/>
          <p:cNvSpPr/>
          <p:nvPr/>
        </p:nvSpPr>
        <p:spPr>
          <a:xfrm>
            <a:off x="480073" y="425196"/>
            <a:ext cx="68583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5AAC"/>
              </a:buClr>
              <a:buSzPts val="900"/>
              <a:buFont typeface="Calibri"/>
              <a:buNone/>
            </a:pPr>
            <a:r>
              <a:rPr b="1" lang="en" sz="900">
                <a:solidFill>
                  <a:srgbClr val="2E5AAC"/>
                </a:solidFill>
                <a:latin typeface="Proxima Nova"/>
                <a:ea typeface="Proxima Nova"/>
                <a:cs typeface="Proxima Nova"/>
                <a:sym typeface="Proxima Nova"/>
              </a:rPr>
              <a:t>PATH FORWARD</a:t>
            </a:r>
            <a:endParaRPr b="0" i="0" sz="900" u="none" cap="none" strike="noStrike">
              <a:solidFill>
                <a:schemeClr val="dk1"/>
              </a:solidFill>
              <a:latin typeface="Calibri"/>
              <a:ea typeface="Calibri"/>
              <a:cs typeface="Calibri"/>
              <a:sym typeface="Calibri"/>
            </a:endParaRPr>
          </a:p>
        </p:txBody>
      </p:sp>
      <p:sp>
        <p:nvSpPr>
          <p:cNvPr id="301" name="Google Shape;301;p32"/>
          <p:cNvSpPr/>
          <p:nvPr/>
        </p:nvSpPr>
        <p:spPr>
          <a:xfrm>
            <a:off x="480073" y="1234440"/>
            <a:ext cx="6858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890"/>
              </a:buClr>
              <a:buSzPts val="1100"/>
              <a:buFont typeface="Calibri"/>
              <a:buNone/>
            </a:pPr>
            <a:r>
              <a:rPr lang="en" sz="1100">
                <a:solidFill>
                  <a:srgbClr val="041133"/>
                </a:solidFill>
                <a:latin typeface="Proxima Nova"/>
                <a:ea typeface="Proxima Nova"/>
                <a:cs typeface="Proxima Nova"/>
                <a:sym typeface="Proxima Nova"/>
              </a:rPr>
              <a:t>What needs to happen in the next few days.</a:t>
            </a:r>
            <a:endParaRPr sz="1100">
              <a:solidFill>
                <a:srgbClr val="041133"/>
              </a:solidFill>
              <a:latin typeface="Proxima Nova"/>
              <a:ea typeface="Proxima Nova"/>
              <a:cs typeface="Proxima Nova"/>
              <a:sym typeface="Proxima Nova"/>
            </a:endParaRPr>
          </a:p>
        </p:txBody>
      </p:sp>
      <p:sp>
        <p:nvSpPr>
          <p:cNvPr id="302" name="Google Shape;302;p32"/>
          <p:cNvSpPr txBox="1"/>
          <p:nvPr>
            <p:ph idx="4294967295" type="ctrTitle"/>
          </p:nvPr>
        </p:nvSpPr>
        <p:spPr>
          <a:xfrm>
            <a:off x="480076" y="734900"/>
            <a:ext cx="8023800" cy="2910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1"/>
              </a:buClr>
              <a:buSzPts val="2400"/>
              <a:buFont typeface="Montserrat"/>
              <a:buNone/>
            </a:pPr>
            <a:r>
              <a:rPr lang="en"/>
              <a:t>Next Steps</a:t>
            </a:r>
            <a:endParaRPr sz="2400">
              <a:latin typeface="Proxima Nova"/>
              <a:ea typeface="Proxima Nova"/>
              <a:cs typeface="Proxima Nova"/>
              <a:sym typeface="Proxima Nova"/>
            </a:endParaRPr>
          </a:p>
        </p:txBody>
      </p:sp>
      <p:graphicFrame>
        <p:nvGraphicFramePr>
          <p:cNvPr id="303" name="Google Shape;303;p32"/>
          <p:cNvGraphicFramePr/>
          <p:nvPr/>
        </p:nvGraphicFramePr>
        <p:xfrm>
          <a:off x="657773" y="1748790"/>
          <a:ext cx="3000000" cy="3000000"/>
        </p:xfrm>
        <a:graphic>
          <a:graphicData uri="http://schemas.openxmlformats.org/drawingml/2006/table">
            <a:tbl>
              <a:tblPr>
                <a:noFill/>
                <a:tableStyleId>{9F0B0797-281F-49EA-B600-308178625C52}</a:tableStyleId>
              </a:tblPr>
              <a:tblGrid>
                <a:gridCol w="1580325"/>
                <a:gridCol w="4914975"/>
                <a:gridCol w="1508800"/>
              </a:tblGrid>
              <a:tr h="440050">
                <a:tc>
                  <a:txBody>
                    <a:bodyPr/>
                    <a:lstStyle/>
                    <a:p>
                      <a:pPr indent="0" lvl="0" marL="0" marR="0" rtl="0" algn="l">
                        <a:spcBef>
                          <a:spcPts val="0"/>
                        </a:spcBef>
                        <a:spcAft>
                          <a:spcPts val="0"/>
                        </a:spcAft>
                        <a:buClr>
                          <a:srgbClr val="FFFFFF"/>
                        </a:buClr>
                        <a:buSzPts val="1000"/>
                        <a:buFont typeface="Calibri"/>
                        <a:buNone/>
                      </a:pPr>
                      <a:r>
                        <a:rPr b="1" lang="en" sz="1100" u="none" cap="none" strike="noStrike">
                          <a:solidFill>
                            <a:srgbClr val="FFFFFF"/>
                          </a:solidFill>
                          <a:latin typeface="Proxima Nova"/>
                          <a:ea typeface="Proxima Nova"/>
                          <a:cs typeface="Proxima Nova"/>
                          <a:sym typeface="Proxima Nova"/>
                        </a:rPr>
                        <a:t>Owner</a:t>
                      </a:r>
                      <a:endParaRPr sz="1100" u="none" cap="none" strike="noStrike">
                        <a:latin typeface="Proxima Nova"/>
                        <a:ea typeface="Proxima Nova"/>
                        <a:cs typeface="Proxima Nova"/>
                        <a:sym typeface="Proxima Nova"/>
                      </a:endParaRPr>
                    </a:p>
                  </a:txBody>
                  <a:tcPr marT="34300" marB="34300" marR="68600" marL="68600" anchor="ctr">
                    <a:lnL cap="flat" cmpd="sng" w="9525">
                      <a:solidFill>
                        <a:srgbClr val="D3DCEC"/>
                      </a:solidFill>
                      <a:prstDash val="solid"/>
                      <a:round/>
                      <a:headEnd len="sm" w="sm" type="none"/>
                      <a:tailEnd len="sm" w="sm" type="none"/>
                    </a:lnL>
                    <a:lnR cap="flat" cmpd="sng" w="9525">
                      <a:solidFill>
                        <a:srgbClr val="D3DCEC"/>
                      </a:solidFill>
                      <a:prstDash val="solid"/>
                      <a:round/>
                      <a:headEnd len="sm" w="sm" type="none"/>
                      <a:tailEnd len="sm" w="sm" type="none"/>
                    </a:lnR>
                    <a:lnT cap="flat" cmpd="sng" w="9525">
                      <a:solidFill>
                        <a:srgbClr val="D3DCEC"/>
                      </a:solidFill>
                      <a:prstDash val="solid"/>
                      <a:round/>
                      <a:headEnd len="sm" w="sm" type="none"/>
                      <a:tailEnd len="sm" w="sm" type="none"/>
                    </a:lnT>
                    <a:lnB cap="flat" cmpd="sng" w="12700">
                      <a:solidFill>
                        <a:srgbClr val="D3DCEC"/>
                      </a:solidFill>
                      <a:prstDash val="solid"/>
                      <a:round/>
                      <a:headEnd len="sm" w="sm" type="none"/>
                      <a:tailEnd len="sm" w="sm" type="none"/>
                    </a:lnB>
                    <a:solidFill>
                      <a:schemeClr val="accent1"/>
                    </a:solidFill>
                  </a:tcPr>
                </a:tc>
                <a:tc>
                  <a:txBody>
                    <a:bodyPr/>
                    <a:lstStyle/>
                    <a:p>
                      <a:pPr indent="0" lvl="0" marL="0" marR="0" rtl="0" algn="l">
                        <a:spcBef>
                          <a:spcPts val="0"/>
                        </a:spcBef>
                        <a:spcAft>
                          <a:spcPts val="0"/>
                        </a:spcAft>
                        <a:buClr>
                          <a:srgbClr val="FFFFFF"/>
                        </a:buClr>
                        <a:buSzPts val="1000"/>
                        <a:buFont typeface="Calibri"/>
                        <a:buNone/>
                      </a:pPr>
                      <a:r>
                        <a:rPr b="1" lang="en" sz="1100" u="none" cap="none" strike="noStrike">
                          <a:solidFill>
                            <a:srgbClr val="FFFFFF"/>
                          </a:solidFill>
                          <a:latin typeface="Proxima Nova"/>
                          <a:ea typeface="Proxima Nova"/>
                          <a:cs typeface="Proxima Nova"/>
                          <a:sym typeface="Proxima Nova"/>
                        </a:rPr>
                        <a:t>Action</a:t>
                      </a:r>
                      <a:endParaRPr sz="1100" u="none" cap="none" strike="noStrike">
                        <a:latin typeface="Proxima Nova"/>
                        <a:ea typeface="Proxima Nova"/>
                        <a:cs typeface="Proxima Nova"/>
                        <a:sym typeface="Proxima Nova"/>
                      </a:endParaRPr>
                    </a:p>
                  </a:txBody>
                  <a:tcPr marT="34300" marB="34300" marR="68600" marL="68600" anchor="ctr">
                    <a:lnL cap="flat" cmpd="sng" w="9525">
                      <a:solidFill>
                        <a:srgbClr val="D3DCEC"/>
                      </a:solidFill>
                      <a:prstDash val="solid"/>
                      <a:round/>
                      <a:headEnd len="sm" w="sm" type="none"/>
                      <a:tailEnd len="sm" w="sm" type="none"/>
                    </a:lnL>
                    <a:lnR cap="flat" cmpd="sng" w="9525">
                      <a:solidFill>
                        <a:srgbClr val="D3DCEC"/>
                      </a:solidFill>
                      <a:prstDash val="solid"/>
                      <a:round/>
                      <a:headEnd len="sm" w="sm" type="none"/>
                      <a:tailEnd len="sm" w="sm" type="none"/>
                    </a:lnR>
                    <a:lnT cap="flat" cmpd="sng" w="9525">
                      <a:solidFill>
                        <a:srgbClr val="D3DCEC"/>
                      </a:solidFill>
                      <a:prstDash val="solid"/>
                      <a:round/>
                      <a:headEnd len="sm" w="sm" type="none"/>
                      <a:tailEnd len="sm" w="sm" type="none"/>
                    </a:lnT>
                    <a:lnB cap="flat" cmpd="sng" w="12700">
                      <a:solidFill>
                        <a:srgbClr val="D3DCEC"/>
                      </a:solidFill>
                      <a:prstDash val="solid"/>
                      <a:round/>
                      <a:headEnd len="sm" w="sm" type="none"/>
                      <a:tailEnd len="sm" w="sm" type="none"/>
                    </a:lnB>
                    <a:solidFill>
                      <a:schemeClr val="accent1"/>
                    </a:solidFill>
                  </a:tcPr>
                </a:tc>
                <a:tc>
                  <a:txBody>
                    <a:bodyPr/>
                    <a:lstStyle/>
                    <a:p>
                      <a:pPr indent="0" lvl="0" marL="0" marR="0" rtl="0" algn="l">
                        <a:spcBef>
                          <a:spcPts val="0"/>
                        </a:spcBef>
                        <a:spcAft>
                          <a:spcPts val="0"/>
                        </a:spcAft>
                        <a:buClr>
                          <a:srgbClr val="FFFFFF"/>
                        </a:buClr>
                        <a:buSzPts val="1000"/>
                        <a:buFont typeface="Calibri"/>
                        <a:buNone/>
                      </a:pPr>
                      <a:r>
                        <a:rPr b="1" lang="en" sz="1100" u="none" cap="none" strike="noStrike">
                          <a:solidFill>
                            <a:srgbClr val="FFFFFF"/>
                          </a:solidFill>
                          <a:latin typeface="Proxima Nova"/>
                          <a:ea typeface="Proxima Nova"/>
                          <a:cs typeface="Proxima Nova"/>
                          <a:sym typeface="Proxima Nova"/>
                        </a:rPr>
                        <a:t>Due</a:t>
                      </a:r>
                      <a:endParaRPr sz="1100" u="none" cap="none" strike="noStrike">
                        <a:latin typeface="Proxima Nova"/>
                        <a:ea typeface="Proxima Nova"/>
                        <a:cs typeface="Proxima Nova"/>
                        <a:sym typeface="Proxima Nova"/>
                      </a:endParaRPr>
                    </a:p>
                  </a:txBody>
                  <a:tcPr marT="34300" marB="34300" marR="68600" marL="68600" anchor="ctr">
                    <a:lnL cap="flat" cmpd="sng" w="9525">
                      <a:solidFill>
                        <a:srgbClr val="D3DCEC"/>
                      </a:solidFill>
                      <a:prstDash val="solid"/>
                      <a:round/>
                      <a:headEnd len="sm" w="sm" type="none"/>
                      <a:tailEnd len="sm" w="sm" type="none"/>
                    </a:lnL>
                    <a:lnR cap="flat" cmpd="sng" w="9525">
                      <a:solidFill>
                        <a:srgbClr val="D3DCEC"/>
                      </a:solidFill>
                      <a:prstDash val="solid"/>
                      <a:round/>
                      <a:headEnd len="sm" w="sm" type="none"/>
                      <a:tailEnd len="sm" w="sm" type="none"/>
                    </a:lnR>
                    <a:lnT cap="flat" cmpd="sng" w="9525">
                      <a:solidFill>
                        <a:srgbClr val="D3DCEC"/>
                      </a:solidFill>
                      <a:prstDash val="solid"/>
                      <a:round/>
                      <a:headEnd len="sm" w="sm" type="none"/>
                      <a:tailEnd len="sm" w="sm" type="none"/>
                    </a:lnT>
                    <a:lnB cap="flat" cmpd="sng" w="12700">
                      <a:solidFill>
                        <a:srgbClr val="D3DCEC"/>
                      </a:solidFill>
                      <a:prstDash val="solid"/>
                      <a:round/>
                      <a:headEnd len="sm" w="sm" type="none"/>
                      <a:tailEnd len="sm" w="sm" type="none"/>
                    </a:lnB>
                    <a:solidFill>
                      <a:schemeClr val="accent1"/>
                    </a:solidFill>
                  </a:tcPr>
                </a:tc>
              </a:tr>
              <a:tr h="477100">
                <a:tc>
                  <a:txBody>
                    <a:bodyPr/>
                    <a:lstStyle/>
                    <a:p>
                      <a:pPr indent="0" lvl="0" marL="0" marR="0" rtl="0" algn="l">
                        <a:spcBef>
                          <a:spcPts val="0"/>
                        </a:spcBef>
                        <a:spcAft>
                          <a:spcPts val="0"/>
                        </a:spcAft>
                        <a:buClr>
                          <a:srgbClr val="14264D"/>
                        </a:buClr>
                        <a:buSzPts val="1250"/>
                        <a:buFont typeface="Calibri"/>
                        <a:buNone/>
                      </a:pPr>
                      <a:r>
                        <a:rPr b="1" lang="en" sz="1000">
                          <a:solidFill>
                            <a:srgbClr val="14264D"/>
                          </a:solidFill>
                          <a:latin typeface="Proxima Nova"/>
                          <a:ea typeface="Proxima Nova"/>
                          <a:cs typeface="Proxima Nova"/>
                          <a:sym typeface="Proxima Nova"/>
                        </a:rPr>
                        <a:t>Syngenta / Toptal</a:t>
                      </a:r>
                      <a:endParaRPr sz="1000" u="none" cap="none" strike="noStrike">
                        <a:latin typeface="Proxima Nova"/>
                        <a:ea typeface="Proxima Nova"/>
                        <a:cs typeface="Proxima Nova"/>
                        <a:sym typeface="Proxima Nova"/>
                      </a:endParaRPr>
                    </a:p>
                  </a:txBody>
                  <a:tcPr marT="45725" marB="45725" marR="91450" marL="91450" anchor="ctr">
                    <a:lnL cap="flat" cmpd="sng" w="12700">
                      <a:solidFill>
                        <a:srgbClr val="D3DCEC"/>
                      </a:solidFill>
                      <a:prstDash val="solid"/>
                      <a:round/>
                      <a:headEnd len="sm" w="sm" type="none"/>
                      <a:tailEnd len="sm" w="sm" type="none"/>
                    </a:lnL>
                    <a:lnR cap="flat" cmpd="sng" w="12700">
                      <a:solidFill>
                        <a:srgbClr val="D3DCEC"/>
                      </a:solidFill>
                      <a:prstDash val="solid"/>
                      <a:round/>
                      <a:headEnd len="sm" w="sm" type="none"/>
                      <a:tailEnd len="sm" w="sm" type="none"/>
                    </a:lnR>
                    <a:lnT cap="flat" cmpd="sng" w="12700">
                      <a:solidFill>
                        <a:srgbClr val="D3DCEC"/>
                      </a:solidFill>
                      <a:prstDash val="solid"/>
                      <a:round/>
                      <a:headEnd len="sm" w="sm" type="none"/>
                      <a:tailEnd len="sm" w="sm" type="none"/>
                    </a:lnT>
                    <a:lnB cap="flat" cmpd="sng" w="12700">
                      <a:solidFill>
                        <a:srgbClr val="D3DC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3F4C63"/>
                        </a:buClr>
                        <a:buSzPts val="1250"/>
                        <a:buFont typeface="Calibri"/>
                        <a:buNone/>
                      </a:pPr>
                      <a:r>
                        <a:rPr lang="en" sz="1000">
                          <a:solidFill>
                            <a:srgbClr val="3F4C63"/>
                          </a:solidFill>
                          <a:latin typeface="Proxima Nova"/>
                          <a:ea typeface="Proxima Nova"/>
                          <a:cs typeface="Proxima Nova"/>
                          <a:sym typeface="Proxima Nova"/>
                        </a:rPr>
                        <a:t>Complete Talent Team AWS Workspaces and Tools Access/Setup</a:t>
                      </a:r>
                      <a:endParaRPr sz="1000" u="none" cap="none" strike="noStrike">
                        <a:latin typeface="Proxima Nova"/>
                        <a:ea typeface="Proxima Nova"/>
                        <a:cs typeface="Proxima Nova"/>
                        <a:sym typeface="Proxima Nova"/>
                      </a:endParaRPr>
                    </a:p>
                  </a:txBody>
                  <a:tcPr marT="45725" marB="45725" marR="91450" marL="91450" anchor="ctr">
                    <a:lnL cap="flat" cmpd="sng" w="12700">
                      <a:solidFill>
                        <a:srgbClr val="D3DCEC"/>
                      </a:solidFill>
                      <a:prstDash val="solid"/>
                      <a:round/>
                      <a:headEnd len="sm" w="sm" type="none"/>
                      <a:tailEnd len="sm" w="sm" type="none"/>
                    </a:lnL>
                    <a:lnR cap="flat" cmpd="sng" w="12700">
                      <a:solidFill>
                        <a:srgbClr val="D3DCEC"/>
                      </a:solidFill>
                      <a:prstDash val="solid"/>
                      <a:round/>
                      <a:headEnd len="sm" w="sm" type="none"/>
                      <a:tailEnd len="sm" w="sm" type="none"/>
                    </a:lnR>
                    <a:lnT cap="flat" cmpd="sng" w="12700">
                      <a:solidFill>
                        <a:srgbClr val="D3DCEC"/>
                      </a:solidFill>
                      <a:prstDash val="solid"/>
                      <a:round/>
                      <a:headEnd len="sm" w="sm" type="none"/>
                      <a:tailEnd len="sm" w="sm" type="none"/>
                    </a:lnT>
                    <a:lnB cap="flat" cmpd="sng" w="12700">
                      <a:solidFill>
                        <a:srgbClr val="D3DC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3F4C63"/>
                        </a:buClr>
                        <a:buSzPts val="1250"/>
                        <a:buFont typeface="Calibri"/>
                        <a:buNone/>
                      </a:pPr>
                      <a:r>
                        <a:rPr lang="en" sz="1000">
                          <a:solidFill>
                            <a:srgbClr val="3F4C63"/>
                          </a:solidFill>
                          <a:latin typeface="Proxima Nova"/>
                          <a:ea typeface="Proxima Nova"/>
                          <a:cs typeface="Proxima Nova"/>
                          <a:sym typeface="Proxima Nova"/>
                        </a:rPr>
                        <a:t>Started</a:t>
                      </a:r>
                      <a:endParaRPr sz="1000" u="none" cap="none" strike="noStrike">
                        <a:latin typeface="Proxima Nova"/>
                        <a:ea typeface="Proxima Nova"/>
                        <a:cs typeface="Proxima Nova"/>
                        <a:sym typeface="Proxima Nova"/>
                      </a:endParaRPr>
                    </a:p>
                  </a:txBody>
                  <a:tcPr marT="45725" marB="45725" marR="91450" marL="91450" anchor="ctr">
                    <a:lnL cap="flat" cmpd="sng" w="12700">
                      <a:solidFill>
                        <a:srgbClr val="D3DCEC"/>
                      </a:solidFill>
                      <a:prstDash val="solid"/>
                      <a:round/>
                      <a:headEnd len="sm" w="sm" type="none"/>
                      <a:tailEnd len="sm" w="sm" type="none"/>
                    </a:lnL>
                    <a:lnR cap="flat" cmpd="sng" w="12700">
                      <a:solidFill>
                        <a:srgbClr val="D3DCEC"/>
                      </a:solidFill>
                      <a:prstDash val="solid"/>
                      <a:round/>
                      <a:headEnd len="sm" w="sm" type="none"/>
                      <a:tailEnd len="sm" w="sm" type="none"/>
                    </a:lnR>
                    <a:lnT cap="flat" cmpd="sng" w="12700">
                      <a:solidFill>
                        <a:srgbClr val="D3DCEC"/>
                      </a:solidFill>
                      <a:prstDash val="solid"/>
                      <a:round/>
                      <a:headEnd len="sm" w="sm" type="none"/>
                      <a:tailEnd len="sm" w="sm" type="none"/>
                    </a:lnT>
                    <a:lnB cap="flat" cmpd="sng" w="12700">
                      <a:solidFill>
                        <a:srgbClr val="D3DCEC"/>
                      </a:solidFill>
                      <a:prstDash val="solid"/>
                      <a:round/>
                      <a:headEnd len="sm" w="sm" type="none"/>
                      <a:tailEnd len="sm" w="sm" type="none"/>
                    </a:lnB>
                    <a:solidFill>
                      <a:srgbClr val="FFFFFF"/>
                    </a:solidFill>
                  </a:tcPr>
                </a:tc>
              </a:tr>
              <a:tr h="477100">
                <a:tc>
                  <a:txBody>
                    <a:bodyPr/>
                    <a:lstStyle/>
                    <a:p>
                      <a:pPr indent="0" lvl="0" marL="0" marR="0" rtl="0" algn="l">
                        <a:spcBef>
                          <a:spcPts val="0"/>
                        </a:spcBef>
                        <a:spcAft>
                          <a:spcPts val="0"/>
                        </a:spcAft>
                        <a:buClr>
                          <a:srgbClr val="14264D"/>
                        </a:buClr>
                        <a:buSzPts val="1250"/>
                        <a:buFont typeface="Calibri"/>
                        <a:buNone/>
                      </a:pPr>
                      <a:r>
                        <a:rPr b="1" lang="en" sz="1000">
                          <a:solidFill>
                            <a:srgbClr val="14264D"/>
                          </a:solidFill>
                          <a:latin typeface="Proxima Nova"/>
                          <a:ea typeface="Proxima Nova"/>
                          <a:cs typeface="Proxima Nova"/>
                          <a:sym typeface="Proxima Nova"/>
                        </a:rPr>
                        <a:t>Syngenta / Toptal</a:t>
                      </a:r>
                      <a:endParaRPr sz="1000" u="none" cap="none" strike="noStrike">
                        <a:latin typeface="Proxima Nova"/>
                        <a:ea typeface="Proxima Nova"/>
                        <a:cs typeface="Proxima Nova"/>
                        <a:sym typeface="Proxima Nova"/>
                      </a:endParaRPr>
                    </a:p>
                  </a:txBody>
                  <a:tcPr marT="45725" marB="45725" marR="91450" marL="91450" anchor="ctr">
                    <a:lnL cap="flat" cmpd="sng" w="12700">
                      <a:solidFill>
                        <a:srgbClr val="D3DCEC"/>
                      </a:solidFill>
                      <a:prstDash val="solid"/>
                      <a:round/>
                      <a:headEnd len="sm" w="sm" type="none"/>
                      <a:tailEnd len="sm" w="sm" type="none"/>
                    </a:lnL>
                    <a:lnR cap="flat" cmpd="sng" w="12700">
                      <a:solidFill>
                        <a:srgbClr val="D3DCEC"/>
                      </a:solidFill>
                      <a:prstDash val="solid"/>
                      <a:round/>
                      <a:headEnd len="sm" w="sm" type="none"/>
                      <a:tailEnd len="sm" w="sm" type="none"/>
                    </a:lnR>
                    <a:lnT cap="flat" cmpd="sng" w="12700">
                      <a:solidFill>
                        <a:srgbClr val="D3DCEC"/>
                      </a:solidFill>
                      <a:prstDash val="solid"/>
                      <a:round/>
                      <a:headEnd len="sm" w="sm" type="none"/>
                      <a:tailEnd len="sm" w="sm" type="none"/>
                    </a:lnT>
                    <a:lnB cap="flat" cmpd="sng" w="12700">
                      <a:solidFill>
                        <a:srgbClr val="D3DCEC"/>
                      </a:solidFill>
                      <a:prstDash val="solid"/>
                      <a:round/>
                      <a:headEnd len="sm" w="sm" type="none"/>
                      <a:tailEnd len="sm" w="sm" type="none"/>
                    </a:lnB>
                    <a:solidFill>
                      <a:srgbClr val="EEF2F9"/>
                    </a:solidFill>
                  </a:tcPr>
                </a:tc>
                <a:tc>
                  <a:txBody>
                    <a:bodyPr/>
                    <a:lstStyle/>
                    <a:p>
                      <a:pPr indent="0" lvl="0" marL="0" marR="0" rtl="0" algn="l">
                        <a:spcBef>
                          <a:spcPts val="0"/>
                        </a:spcBef>
                        <a:spcAft>
                          <a:spcPts val="0"/>
                        </a:spcAft>
                        <a:buClr>
                          <a:srgbClr val="3F4C63"/>
                        </a:buClr>
                        <a:buSzPts val="1250"/>
                        <a:buFont typeface="Calibri"/>
                        <a:buNone/>
                      </a:pPr>
                      <a:r>
                        <a:rPr lang="en" sz="1000">
                          <a:solidFill>
                            <a:srgbClr val="3F4C63"/>
                          </a:solidFill>
                          <a:latin typeface="Proxima Nova"/>
                          <a:ea typeface="Proxima Nova"/>
                          <a:cs typeface="Proxima Nova"/>
                          <a:sym typeface="Proxima Nova"/>
                        </a:rPr>
                        <a:t>Talent Team Technical Orientation</a:t>
                      </a:r>
                      <a:endParaRPr sz="1000" u="none" cap="none" strike="noStrike">
                        <a:latin typeface="Proxima Nova"/>
                        <a:ea typeface="Proxima Nova"/>
                        <a:cs typeface="Proxima Nova"/>
                        <a:sym typeface="Proxima Nova"/>
                      </a:endParaRPr>
                    </a:p>
                  </a:txBody>
                  <a:tcPr marT="45725" marB="45725" marR="91450" marL="91450" anchor="ctr">
                    <a:lnL cap="flat" cmpd="sng" w="12700">
                      <a:solidFill>
                        <a:srgbClr val="D3DCEC"/>
                      </a:solidFill>
                      <a:prstDash val="solid"/>
                      <a:round/>
                      <a:headEnd len="sm" w="sm" type="none"/>
                      <a:tailEnd len="sm" w="sm" type="none"/>
                    </a:lnL>
                    <a:lnR cap="flat" cmpd="sng" w="12700">
                      <a:solidFill>
                        <a:srgbClr val="D3DCEC"/>
                      </a:solidFill>
                      <a:prstDash val="solid"/>
                      <a:round/>
                      <a:headEnd len="sm" w="sm" type="none"/>
                      <a:tailEnd len="sm" w="sm" type="none"/>
                    </a:lnR>
                    <a:lnT cap="flat" cmpd="sng" w="12700">
                      <a:solidFill>
                        <a:srgbClr val="D3DCEC"/>
                      </a:solidFill>
                      <a:prstDash val="solid"/>
                      <a:round/>
                      <a:headEnd len="sm" w="sm" type="none"/>
                      <a:tailEnd len="sm" w="sm" type="none"/>
                    </a:lnT>
                    <a:lnB cap="flat" cmpd="sng" w="12700">
                      <a:solidFill>
                        <a:srgbClr val="D3DCEC"/>
                      </a:solidFill>
                      <a:prstDash val="solid"/>
                      <a:round/>
                      <a:headEnd len="sm" w="sm" type="none"/>
                      <a:tailEnd len="sm" w="sm" type="none"/>
                    </a:lnB>
                    <a:solidFill>
                      <a:srgbClr val="EEF2F9"/>
                    </a:solidFill>
                  </a:tcPr>
                </a:tc>
                <a:tc>
                  <a:txBody>
                    <a:bodyPr/>
                    <a:lstStyle/>
                    <a:p>
                      <a:pPr indent="0" lvl="0" marL="0" marR="0" rtl="0" algn="l">
                        <a:spcBef>
                          <a:spcPts val="0"/>
                        </a:spcBef>
                        <a:spcAft>
                          <a:spcPts val="0"/>
                        </a:spcAft>
                        <a:buClr>
                          <a:srgbClr val="3F4C63"/>
                        </a:buClr>
                        <a:buSzPts val="1250"/>
                        <a:buFont typeface="Calibri"/>
                        <a:buNone/>
                      </a:pPr>
                      <a:r>
                        <a:rPr lang="en" sz="1000">
                          <a:solidFill>
                            <a:srgbClr val="3F4C63"/>
                          </a:solidFill>
                          <a:latin typeface="Proxima Nova"/>
                          <a:ea typeface="Proxima Nova"/>
                          <a:cs typeface="Proxima Nova"/>
                          <a:sym typeface="Proxima Nova"/>
                        </a:rPr>
                        <a:t>TBD</a:t>
                      </a:r>
                      <a:endParaRPr sz="1000" u="none" cap="none" strike="noStrike">
                        <a:latin typeface="Proxima Nova"/>
                        <a:ea typeface="Proxima Nova"/>
                        <a:cs typeface="Proxima Nova"/>
                        <a:sym typeface="Proxima Nova"/>
                      </a:endParaRPr>
                    </a:p>
                  </a:txBody>
                  <a:tcPr marT="45725" marB="45725" marR="91450" marL="91450" anchor="ctr">
                    <a:lnL cap="flat" cmpd="sng" w="12700">
                      <a:solidFill>
                        <a:srgbClr val="D3DCEC"/>
                      </a:solidFill>
                      <a:prstDash val="solid"/>
                      <a:round/>
                      <a:headEnd len="sm" w="sm" type="none"/>
                      <a:tailEnd len="sm" w="sm" type="none"/>
                    </a:lnL>
                    <a:lnR cap="flat" cmpd="sng" w="12700">
                      <a:solidFill>
                        <a:srgbClr val="D3DCEC"/>
                      </a:solidFill>
                      <a:prstDash val="solid"/>
                      <a:round/>
                      <a:headEnd len="sm" w="sm" type="none"/>
                      <a:tailEnd len="sm" w="sm" type="none"/>
                    </a:lnR>
                    <a:lnT cap="flat" cmpd="sng" w="12700">
                      <a:solidFill>
                        <a:srgbClr val="D3DCEC"/>
                      </a:solidFill>
                      <a:prstDash val="solid"/>
                      <a:round/>
                      <a:headEnd len="sm" w="sm" type="none"/>
                      <a:tailEnd len="sm" w="sm" type="none"/>
                    </a:lnT>
                    <a:lnB cap="flat" cmpd="sng" w="12700">
                      <a:solidFill>
                        <a:srgbClr val="D3DCEC"/>
                      </a:solidFill>
                      <a:prstDash val="solid"/>
                      <a:round/>
                      <a:headEnd len="sm" w="sm" type="none"/>
                      <a:tailEnd len="sm" w="sm" type="none"/>
                    </a:lnB>
                    <a:solidFill>
                      <a:srgbClr val="EEF2F9"/>
                    </a:solidFill>
                  </a:tcPr>
                </a:tc>
              </a:tr>
              <a:tr h="477100">
                <a:tc>
                  <a:txBody>
                    <a:bodyPr/>
                    <a:lstStyle/>
                    <a:p>
                      <a:pPr indent="0" lvl="0" marL="0" marR="0" rtl="0" algn="l">
                        <a:spcBef>
                          <a:spcPts val="0"/>
                        </a:spcBef>
                        <a:spcAft>
                          <a:spcPts val="0"/>
                        </a:spcAft>
                        <a:buClr>
                          <a:srgbClr val="14264D"/>
                        </a:buClr>
                        <a:buSzPts val="1250"/>
                        <a:buFont typeface="Calibri"/>
                        <a:buNone/>
                      </a:pPr>
                      <a:r>
                        <a:rPr b="1" lang="en" sz="1000">
                          <a:solidFill>
                            <a:srgbClr val="14264D"/>
                          </a:solidFill>
                          <a:latin typeface="Proxima Nova"/>
                          <a:ea typeface="Proxima Nova"/>
                          <a:cs typeface="Proxima Nova"/>
                          <a:sym typeface="Proxima Nova"/>
                        </a:rPr>
                        <a:t>Toptal / Syngenta</a:t>
                      </a:r>
                      <a:endParaRPr sz="1000" u="none" cap="none" strike="noStrike">
                        <a:latin typeface="Proxima Nova"/>
                        <a:ea typeface="Proxima Nova"/>
                        <a:cs typeface="Proxima Nova"/>
                        <a:sym typeface="Proxima Nova"/>
                      </a:endParaRPr>
                    </a:p>
                  </a:txBody>
                  <a:tcPr marT="45725" marB="45725" marR="91450" marL="91450" anchor="ctr">
                    <a:lnL cap="flat" cmpd="sng" w="12700">
                      <a:solidFill>
                        <a:srgbClr val="D3DCEC"/>
                      </a:solidFill>
                      <a:prstDash val="solid"/>
                      <a:round/>
                      <a:headEnd len="sm" w="sm" type="none"/>
                      <a:tailEnd len="sm" w="sm" type="none"/>
                    </a:lnL>
                    <a:lnR cap="flat" cmpd="sng" w="12700">
                      <a:solidFill>
                        <a:srgbClr val="D3DCEC"/>
                      </a:solidFill>
                      <a:prstDash val="solid"/>
                      <a:round/>
                      <a:headEnd len="sm" w="sm" type="none"/>
                      <a:tailEnd len="sm" w="sm" type="none"/>
                    </a:lnR>
                    <a:lnT cap="flat" cmpd="sng" w="12700">
                      <a:solidFill>
                        <a:srgbClr val="D3DCEC"/>
                      </a:solidFill>
                      <a:prstDash val="solid"/>
                      <a:round/>
                      <a:headEnd len="sm" w="sm" type="none"/>
                      <a:tailEnd len="sm" w="sm" type="none"/>
                    </a:lnT>
                    <a:lnB cap="flat" cmpd="sng" w="12700">
                      <a:solidFill>
                        <a:srgbClr val="D3DC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3F4C63"/>
                        </a:buClr>
                        <a:buSzPts val="1250"/>
                        <a:buFont typeface="Calibri"/>
                        <a:buNone/>
                      </a:pPr>
                      <a:r>
                        <a:rPr lang="en" sz="1000">
                          <a:solidFill>
                            <a:srgbClr val="3F4C63"/>
                          </a:solidFill>
                          <a:latin typeface="Proxima Nova"/>
                          <a:ea typeface="Proxima Nova"/>
                          <a:cs typeface="Proxima Nova"/>
                          <a:sym typeface="Proxima Nova"/>
                        </a:rPr>
                        <a:t>Sprint 0 Planning</a:t>
                      </a:r>
                      <a:endParaRPr sz="1000" u="none" cap="none" strike="noStrike">
                        <a:latin typeface="Proxima Nova"/>
                        <a:ea typeface="Proxima Nova"/>
                        <a:cs typeface="Proxima Nova"/>
                        <a:sym typeface="Proxima Nova"/>
                      </a:endParaRPr>
                    </a:p>
                  </a:txBody>
                  <a:tcPr marT="45725" marB="45725" marR="91450" marL="91450" anchor="ctr">
                    <a:lnL cap="flat" cmpd="sng" w="12700">
                      <a:solidFill>
                        <a:srgbClr val="D3DCEC"/>
                      </a:solidFill>
                      <a:prstDash val="solid"/>
                      <a:round/>
                      <a:headEnd len="sm" w="sm" type="none"/>
                      <a:tailEnd len="sm" w="sm" type="none"/>
                    </a:lnL>
                    <a:lnR cap="flat" cmpd="sng" w="12700">
                      <a:solidFill>
                        <a:srgbClr val="D3DCEC"/>
                      </a:solidFill>
                      <a:prstDash val="solid"/>
                      <a:round/>
                      <a:headEnd len="sm" w="sm" type="none"/>
                      <a:tailEnd len="sm" w="sm" type="none"/>
                    </a:lnR>
                    <a:lnT cap="flat" cmpd="sng" w="12700">
                      <a:solidFill>
                        <a:srgbClr val="D3DCEC"/>
                      </a:solidFill>
                      <a:prstDash val="solid"/>
                      <a:round/>
                      <a:headEnd len="sm" w="sm" type="none"/>
                      <a:tailEnd len="sm" w="sm" type="none"/>
                    </a:lnT>
                    <a:lnB cap="flat" cmpd="sng" w="12700">
                      <a:solidFill>
                        <a:srgbClr val="D3DC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3F4C63"/>
                        </a:buClr>
                        <a:buSzPts val="1250"/>
                        <a:buFont typeface="Calibri"/>
                        <a:buNone/>
                      </a:pPr>
                      <a:r>
                        <a:rPr lang="en" sz="1000">
                          <a:solidFill>
                            <a:srgbClr val="3F4C63"/>
                          </a:solidFill>
                          <a:latin typeface="Proxima Nova"/>
                          <a:ea typeface="Proxima Nova"/>
                          <a:cs typeface="Proxima Nova"/>
                          <a:sym typeface="Proxima Nova"/>
                        </a:rPr>
                        <a:t>TBD</a:t>
                      </a:r>
                      <a:endParaRPr sz="1000" u="none" cap="none" strike="noStrike">
                        <a:latin typeface="Proxima Nova"/>
                        <a:ea typeface="Proxima Nova"/>
                        <a:cs typeface="Proxima Nova"/>
                        <a:sym typeface="Proxima Nova"/>
                      </a:endParaRPr>
                    </a:p>
                  </a:txBody>
                  <a:tcPr marT="45725" marB="45725" marR="91450" marL="91450" anchor="ctr">
                    <a:lnL cap="flat" cmpd="sng" w="12700">
                      <a:solidFill>
                        <a:srgbClr val="D3DCEC"/>
                      </a:solidFill>
                      <a:prstDash val="solid"/>
                      <a:round/>
                      <a:headEnd len="sm" w="sm" type="none"/>
                      <a:tailEnd len="sm" w="sm" type="none"/>
                    </a:lnL>
                    <a:lnR cap="flat" cmpd="sng" w="12700">
                      <a:solidFill>
                        <a:srgbClr val="D3DCEC"/>
                      </a:solidFill>
                      <a:prstDash val="solid"/>
                      <a:round/>
                      <a:headEnd len="sm" w="sm" type="none"/>
                      <a:tailEnd len="sm" w="sm" type="none"/>
                    </a:lnR>
                    <a:lnT cap="flat" cmpd="sng" w="12700">
                      <a:solidFill>
                        <a:srgbClr val="D3DCEC"/>
                      </a:solidFill>
                      <a:prstDash val="solid"/>
                      <a:round/>
                      <a:headEnd len="sm" w="sm" type="none"/>
                      <a:tailEnd len="sm" w="sm" type="none"/>
                    </a:lnT>
                    <a:lnB cap="flat" cmpd="sng" w="12700">
                      <a:solidFill>
                        <a:srgbClr val="D3DCEC"/>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Toptal">
      <a:dk1>
        <a:srgbClr val="041133"/>
      </a:dk1>
      <a:lt1>
        <a:srgbClr val="FFFFFF"/>
      </a:lt1>
      <a:dk2>
        <a:srgbClr val="626679"/>
      </a:dk2>
      <a:lt2>
        <a:srgbClr val="F4F6FB"/>
      </a:lt2>
      <a:accent1>
        <a:srgbClr val="204ECF"/>
      </a:accent1>
      <a:accent2>
        <a:srgbClr val="183A9E"/>
      </a:accent2>
      <a:accent3>
        <a:srgbClr val="0E246E"/>
      </a:accent3>
      <a:accent4>
        <a:srgbClr val="25A9EE"/>
      </a:accent4>
      <a:accent5>
        <a:srgbClr val="1F4ECE"/>
      </a:accent5>
      <a:accent6>
        <a:srgbClr val="0E246E"/>
      </a:accent6>
      <a:hlink>
        <a:srgbClr val="1F4ECE"/>
      </a:hlink>
      <a:folHlink>
        <a:srgbClr val="18399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