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6"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y="5143500" cx="9144000"/>
  <p:notesSz cx="6858000" cy="9144000"/>
  <p:embeddedFontLst>
    <p:embeddedFont>
      <p:font typeface="Proxima Nova"/>
      <p:regular r:id="rId24"/>
      <p:bold r:id="rId25"/>
      <p:italic r:id="rId26"/>
      <p:boldItalic r:id="rId27"/>
    </p:embeddedFont>
    <p:embeddedFont>
      <p:font typeface="Montserrat"/>
      <p:bold r:id="rId28"/>
      <p:boldItalic r:id="rId29"/>
    </p:embeddedFont>
    <p:embeddedFont>
      <p:font typeface="Inter"/>
      <p:regular r:id="rId30"/>
      <p:bold r:id="rId31"/>
      <p:italic r:id="rId32"/>
      <p:boldItalic r:id="rId33"/>
    </p:embeddedFont>
    <p:embeddedFont>
      <p:font typeface="Proxima Nova Semibold"/>
      <p:regular r:id="rId34"/>
      <p:bold r:id="rId35"/>
      <p:boldItalic r:id="rId36"/>
    </p:embeddedFont>
    <p:embeddedFont>
      <p:font typeface="Open Sans"/>
      <p:regular r:id="rId37"/>
      <p:bold r:id="rId38"/>
      <p:italic r:id="rId39"/>
      <p:boldItalic r:id="rId4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555">
          <p15:clr>
            <a:srgbClr val="747775"/>
          </p15:clr>
        </p15:guide>
        <p15:guide id="2" orient="horz" pos="864">
          <p15:clr>
            <a:srgbClr val="747775"/>
          </p15:clr>
        </p15:guide>
        <p15:guide id="3" orient="horz" pos="998">
          <p15:clr>
            <a:srgbClr val="747775"/>
          </p15:clr>
        </p15:guide>
        <p15:guide id="4" pos="420">
          <p15:clr>
            <a:srgbClr val="747775"/>
          </p15:clr>
        </p15:guide>
        <p15:guide id="5" orient="horz" pos="764">
          <p15:clr>
            <a:srgbClr val="747775"/>
          </p15:clr>
        </p15:guide>
        <p15:guide id="6" orient="horz" pos="1173">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CF2D8BE-1765-4251-A71B-D7E14FF0B7AB}">
  <a:tblStyle styleId="{CCF2D8BE-1765-4251-A71B-D7E14FF0B7AB}"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F0867A2D-8EFE-4BD8-9A43-5C0CBFDE5C42}" styleName="Table_1">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555" orient="horz"/>
        <p:guide pos="864" orient="horz"/>
        <p:guide pos="998" orient="horz"/>
        <p:guide pos="420"/>
        <p:guide pos="764" orient="horz"/>
        <p:guide pos="1173" orient="horz"/>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font" Target="fonts/OpenSans-boldItalic.fntdata"/><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font" Target="fonts/ProximaNova-regular.fntdata"/><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font" Target="fonts/ProximaNova-italic.fntdata"/><Relationship Id="rId25" Type="http://schemas.openxmlformats.org/officeDocument/2006/relationships/font" Target="fonts/ProximaNova-bold.fntdata"/><Relationship Id="rId28" Type="http://schemas.openxmlformats.org/officeDocument/2006/relationships/font" Target="fonts/Montserrat-bold.fntdata"/><Relationship Id="rId27" Type="http://schemas.openxmlformats.org/officeDocument/2006/relationships/font" Target="fonts/ProximaNova-boldItalic.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font" Target="fonts/Montserrat-boldItalic.fntdata"/><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font" Target="fonts/Inter-bold.fntdata"/><Relationship Id="rId30" Type="http://schemas.openxmlformats.org/officeDocument/2006/relationships/font" Target="fonts/Inter-regular.fntdata"/><Relationship Id="rId11" Type="http://schemas.openxmlformats.org/officeDocument/2006/relationships/slide" Target="slides/slide5.xml"/><Relationship Id="rId33" Type="http://schemas.openxmlformats.org/officeDocument/2006/relationships/font" Target="fonts/Inter-boldItalic.fntdata"/><Relationship Id="rId10" Type="http://schemas.openxmlformats.org/officeDocument/2006/relationships/slide" Target="slides/slide4.xml"/><Relationship Id="rId32" Type="http://schemas.openxmlformats.org/officeDocument/2006/relationships/font" Target="fonts/Inter-italic.fntdata"/><Relationship Id="rId13" Type="http://schemas.openxmlformats.org/officeDocument/2006/relationships/slide" Target="slides/slide7.xml"/><Relationship Id="rId35" Type="http://schemas.openxmlformats.org/officeDocument/2006/relationships/font" Target="fonts/ProximaNovaSemibold-bold.fntdata"/><Relationship Id="rId12" Type="http://schemas.openxmlformats.org/officeDocument/2006/relationships/slide" Target="slides/slide6.xml"/><Relationship Id="rId34" Type="http://schemas.openxmlformats.org/officeDocument/2006/relationships/font" Target="fonts/ProximaNovaSemibold-regular.fntdata"/><Relationship Id="rId15" Type="http://schemas.openxmlformats.org/officeDocument/2006/relationships/slide" Target="slides/slide9.xml"/><Relationship Id="rId37" Type="http://schemas.openxmlformats.org/officeDocument/2006/relationships/font" Target="fonts/OpenSans-regular.fntdata"/><Relationship Id="rId14" Type="http://schemas.openxmlformats.org/officeDocument/2006/relationships/slide" Target="slides/slide8.xml"/><Relationship Id="rId36" Type="http://schemas.openxmlformats.org/officeDocument/2006/relationships/font" Target="fonts/ProximaNovaSemibold-boldItalic.fntdata"/><Relationship Id="rId17" Type="http://schemas.openxmlformats.org/officeDocument/2006/relationships/slide" Target="slides/slide11.xml"/><Relationship Id="rId39" Type="http://schemas.openxmlformats.org/officeDocument/2006/relationships/font" Target="fonts/OpenSans-italic.fntdata"/><Relationship Id="rId16" Type="http://schemas.openxmlformats.org/officeDocument/2006/relationships/slide" Target="slides/slide10.xml"/><Relationship Id="rId38" Type="http://schemas.openxmlformats.org/officeDocument/2006/relationships/font" Target="fonts/OpenSans-bold.fntdata"/><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g2f2dc226b82_0_46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 name="Google Shape;91;g2f2dc226b82_0_46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f03aceb63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 name="Google Shape;97;g3f03aceb63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298450" lvl="0" marL="457200" rtl="0" algn="l">
              <a:spcBef>
                <a:spcPts val="0"/>
              </a:spcBef>
              <a:spcAft>
                <a:spcPts val="0"/>
              </a:spcAft>
              <a:buSzPts val="1100"/>
              <a:buChar char="●"/>
            </a:pPr>
            <a:r>
              <a:rPr lang="en"/>
              <a:t>Table Slides</a:t>
            </a:r>
            <a:endParaRPr/>
          </a:p>
          <a:p>
            <a:pPr indent="-298450" lvl="1" marL="914400" rtl="0" algn="l">
              <a:spcBef>
                <a:spcPts val="0"/>
              </a:spcBef>
              <a:spcAft>
                <a:spcPts val="0"/>
              </a:spcAft>
              <a:buSzPts val="1100"/>
              <a:buChar char="○"/>
            </a:pPr>
            <a:r>
              <a:rPr lang="en"/>
              <a:t>Severity</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011b280258_0_25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011b280258_0_25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had2b5654ebddb3d_1_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had2b5654ebddb3d_1_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298450" lvl="0" marL="457200" rtl="0" algn="l">
              <a:spcBef>
                <a:spcPts val="0"/>
              </a:spcBef>
              <a:spcAft>
                <a:spcPts val="0"/>
              </a:spcAft>
              <a:buSzPts val="1100"/>
              <a:buChar char="●"/>
            </a:pPr>
            <a:r>
              <a:rPr lang="en"/>
              <a:t>Table Slides</a:t>
            </a:r>
            <a:endParaRPr/>
          </a:p>
          <a:p>
            <a:pPr indent="-298450" lvl="1" marL="914400" rtl="0" algn="l">
              <a:spcBef>
                <a:spcPts val="0"/>
              </a:spcBef>
              <a:spcAft>
                <a:spcPts val="0"/>
              </a:spcAft>
              <a:buSzPts val="1100"/>
              <a:buChar char="○"/>
            </a:pPr>
            <a:r>
              <a:rPr lang="en"/>
              <a:t>Severity</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had2b5654ebddb3d_1_1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had2b5654ebddb3d_1_1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298450" lvl="0" marL="457200" rtl="0" algn="l">
              <a:spcBef>
                <a:spcPts val="0"/>
              </a:spcBef>
              <a:spcAft>
                <a:spcPts val="0"/>
              </a:spcAft>
              <a:buSzPts val="1100"/>
              <a:buChar char="●"/>
            </a:pPr>
            <a:r>
              <a:rPr lang="en"/>
              <a:t>Table Slides</a:t>
            </a:r>
            <a:endParaRPr/>
          </a:p>
          <a:p>
            <a:pPr indent="-298450" lvl="1" marL="914400" rtl="0" algn="l">
              <a:spcBef>
                <a:spcPts val="0"/>
              </a:spcBef>
              <a:spcAft>
                <a:spcPts val="0"/>
              </a:spcAft>
              <a:buSzPts val="1100"/>
              <a:buChar char="○"/>
            </a:pPr>
            <a:r>
              <a:rPr lang="en"/>
              <a:t>Severity</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had2b5654ebddb3d_1_2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1" name="Google Shape;171;had2b5654ebddb3d_1_2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298450" lvl="0" marL="457200" rtl="0" algn="l">
              <a:spcBef>
                <a:spcPts val="0"/>
              </a:spcBef>
              <a:spcAft>
                <a:spcPts val="0"/>
              </a:spcAft>
              <a:buSzPts val="1100"/>
              <a:buChar char="●"/>
            </a:pPr>
            <a:r>
              <a:rPr lang="en"/>
              <a:t>Table Slides</a:t>
            </a:r>
            <a:endParaRPr/>
          </a:p>
          <a:p>
            <a:pPr indent="-298450" lvl="1" marL="914400" rtl="0" algn="l">
              <a:spcBef>
                <a:spcPts val="0"/>
              </a:spcBef>
              <a:spcAft>
                <a:spcPts val="0"/>
              </a:spcAft>
              <a:buSzPts val="1100"/>
              <a:buChar char="○"/>
            </a:pPr>
            <a:r>
              <a:rPr lang="en"/>
              <a:t>Severity</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had2b5654ebddb3d_1_647: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7" name="Google Shape;197;had2b5654ebddb3d_1_647: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200">
                <a:solidFill>
                  <a:schemeClr val="dk1"/>
                </a:solidFill>
                <a:latin typeface="Arial"/>
                <a:ea typeface="Arial"/>
                <a:cs typeface="Arial"/>
                <a:sym typeface="Arial"/>
              </a:rPr>
              <a:t>This slide puts two things we've described separately onto one picture. </a:t>
            </a:r>
            <a:endParaRPr/>
          </a:p>
          <a:p>
            <a:pPr indent="0" lvl="0" marL="0" marR="0" rtl="0" algn="l">
              <a:spcBef>
                <a:spcPts val="0"/>
              </a:spcBef>
              <a:spcAft>
                <a:spcPts val="0"/>
              </a:spcAft>
              <a:buNone/>
            </a:pPr>
            <a:r>
              <a:t/>
            </a:r>
            <a:endParaRPr sz="1200">
              <a:solidFill>
                <a:schemeClr val="dk1"/>
              </a:solidFill>
              <a:latin typeface="Arial"/>
              <a:ea typeface="Arial"/>
              <a:cs typeface="Arial"/>
              <a:sym typeface="Arial"/>
            </a:endParaRPr>
          </a:p>
          <a:p>
            <a:pPr indent="0" lvl="0" marL="0" marR="0" rtl="0" algn="l">
              <a:spcBef>
                <a:spcPts val="0"/>
              </a:spcBef>
              <a:spcAft>
                <a:spcPts val="0"/>
              </a:spcAft>
              <a:buNone/>
            </a:pPr>
            <a:r>
              <a:rPr lang="en" sz="1200">
                <a:solidFill>
                  <a:schemeClr val="dk1"/>
                </a:solidFill>
                <a:latin typeface="Arial"/>
                <a:ea typeface="Arial"/>
                <a:cs typeface="Arial"/>
                <a:sym typeface="Arial"/>
              </a:rPr>
              <a:t>Across the top are the seven phases of how we actually deliver a project: Readiness, Mobilize and Align, Discovery, Build, Validate, Deploy, Transition. </a:t>
            </a:r>
            <a:endParaRPr/>
          </a:p>
          <a:p>
            <a:pPr indent="0" lvl="0" marL="0" marR="0" rtl="0" algn="l">
              <a:spcBef>
                <a:spcPts val="0"/>
              </a:spcBef>
              <a:spcAft>
                <a:spcPts val="0"/>
              </a:spcAft>
              <a:buNone/>
            </a:pPr>
            <a:r>
              <a:t/>
            </a:r>
            <a:endParaRPr sz="1200">
              <a:solidFill>
                <a:schemeClr val="dk1"/>
              </a:solidFill>
              <a:latin typeface="Arial"/>
              <a:ea typeface="Arial"/>
              <a:cs typeface="Arial"/>
              <a:sym typeface="Arial"/>
            </a:endParaRPr>
          </a:p>
          <a:p>
            <a:pPr indent="0" lvl="0" marL="0" marR="0" rtl="0" algn="l">
              <a:spcBef>
                <a:spcPts val="0"/>
              </a:spcBef>
              <a:spcAft>
                <a:spcPts val="0"/>
              </a:spcAft>
              <a:buNone/>
            </a:pPr>
            <a:r>
              <a:rPr lang="en" sz="1200">
                <a:solidFill>
                  <a:schemeClr val="dk1"/>
                </a:solidFill>
                <a:latin typeface="Arial"/>
                <a:ea typeface="Arial"/>
                <a:cs typeface="Arial"/>
                <a:sym typeface="Arial"/>
              </a:rPr>
              <a:t>Underneath is how PMO governs across that same lifecycle. Readiness and Mobilize map directly onto our first two governance phases. </a:t>
            </a:r>
            <a:endParaRPr/>
          </a:p>
          <a:p>
            <a:pPr indent="0" lvl="0" marL="0" marR="0" rtl="0" algn="l">
              <a:spcBef>
                <a:spcPts val="0"/>
              </a:spcBef>
              <a:spcAft>
                <a:spcPts val="0"/>
              </a:spcAft>
              <a:buNone/>
            </a:pPr>
            <a:r>
              <a:t/>
            </a:r>
            <a:endParaRPr sz="1200">
              <a:solidFill>
                <a:schemeClr val="dk1"/>
              </a:solidFill>
              <a:latin typeface="Arial"/>
              <a:ea typeface="Arial"/>
              <a:cs typeface="Arial"/>
              <a:sym typeface="Arial"/>
            </a:endParaRPr>
          </a:p>
          <a:p>
            <a:pPr indent="0" lvl="0" marL="0" marR="0" rtl="0" algn="l">
              <a:spcBef>
                <a:spcPts val="0"/>
              </a:spcBef>
              <a:spcAft>
                <a:spcPts val="0"/>
              </a:spcAft>
              <a:buNone/>
            </a:pPr>
            <a:r>
              <a:rPr lang="en" sz="1200">
                <a:solidFill>
                  <a:schemeClr val="dk1"/>
                </a:solidFill>
                <a:latin typeface="Arial"/>
                <a:ea typeface="Arial"/>
                <a:cs typeface="Arial"/>
                <a:sym typeface="Arial"/>
              </a:rPr>
              <a:t>Project Execution as a governance phase spans four delivery phases at once: Discovery, Build, Validate, and Deploy. </a:t>
            </a:r>
            <a:endParaRPr/>
          </a:p>
          <a:p>
            <a:pPr indent="0" lvl="0" marL="0" marR="0" rtl="0" algn="l">
              <a:spcBef>
                <a:spcPts val="0"/>
              </a:spcBef>
              <a:spcAft>
                <a:spcPts val="0"/>
              </a:spcAft>
              <a:buNone/>
            </a:pPr>
            <a:r>
              <a:t/>
            </a:r>
            <a:endParaRPr sz="1200">
              <a:solidFill>
                <a:schemeClr val="dk1"/>
              </a:solidFill>
              <a:latin typeface="Arial"/>
              <a:ea typeface="Arial"/>
              <a:cs typeface="Arial"/>
              <a:sym typeface="Arial"/>
            </a:endParaRPr>
          </a:p>
          <a:p>
            <a:pPr indent="0" lvl="0" marL="0" marR="0" rtl="0" algn="l">
              <a:spcBef>
                <a:spcPts val="0"/>
              </a:spcBef>
              <a:spcAft>
                <a:spcPts val="0"/>
              </a:spcAft>
              <a:buNone/>
            </a:pPr>
            <a:r>
              <a:rPr lang="en" sz="1200">
                <a:solidFill>
                  <a:schemeClr val="dk1"/>
                </a:solidFill>
                <a:latin typeface="Arial"/>
                <a:ea typeface="Arial"/>
                <a:cs typeface="Arial"/>
                <a:sym typeface="Arial"/>
              </a:rPr>
              <a:t>Governance during that window isn't a single checkpoint, it's continuous — value realization, project health, risk, forecasting, scope change, and escalation are all running in parallel with the actual delivery work. </a:t>
            </a:r>
            <a:endParaRPr/>
          </a:p>
          <a:p>
            <a:pPr indent="0" lvl="0" marL="0" marR="0" rtl="0" algn="l">
              <a:spcBef>
                <a:spcPts val="0"/>
              </a:spcBef>
              <a:spcAft>
                <a:spcPts val="0"/>
              </a:spcAft>
              <a:buNone/>
            </a:pPr>
            <a:r>
              <a:t/>
            </a:r>
            <a:endParaRPr sz="1200">
              <a:solidFill>
                <a:schemeClr val="dk1"/>
              </a:solidFill>
              <a:latin typeface="Arial"/>
              <a:ea typeface="Arial"/>
              <a:cs typeface="Arial"/>
              <a:sym typeface="Arial"/>
            </a:endParaRPr>
          </a:p>
          <a:p>
            <a:pPr indent="0" lvl="0" marL="0" marR="0" rtl="0" algn="l">
              <a:spcBef>
                <a:spcPts val="0"/>
              </a:spcBef>
              <a:spcAft>
                <a:spcPts val="0"/>
              </a:spcAft>
              <a:buNone/>
            </a:pPr>
            <a:r>
              <a:rPr lang="en" sz="1200">
                <a:solidFill>
                  <a:schemeClr val="dk1"/>
                </a:solidFill>
                <a:latin typeface="Arial"/>
                <a:ea typeface="Arial"/>
                <a:cs typeface="Arial"/>
                <a:sym typeface="Arial"/>
              </a:rPr>
              <a:t>Acceptance and Closure then map onto Transition. </a:t>
            </a:r>
            <a:endParaRPr/>
          </a:p>
        </p:txBody>
      </p:sp>
      <p:sp>
        <p:nvSpPr>
          <p:cNvPr id="198" name="Google Shape;198;had2b5654ebddb3d_1_647: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had2b5654ebddb3d_1_936: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6" name="Google Shape;246;had2b5654ebddb3d_1_936: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200">
                <a:solidFill>
                  <a:schemeClr val="dk1"/>
                </a:solidFill>
                <a:latin typeface="Arial"/>
                <a:ea typeface="Arial"/>
                <a:cs typeface="Arial"/>
                <a:sym typeface="Arial"/>
              </a:rPr>
              <a:t>This slide puts two things we've described separately onto one picture. </a:t>
            </a:r>
            <a:endParaRPr/>
          </a:p>
          <a:p>
            <a:pPr indent="0" lvl="0" marL="0" marR="0" rtl="0" algn="l">
              <a:spcBef>
                <a:spcPts val="0"/>
              </a:spcBef>
              <a:spcAft>
                <a:spcPts val="0"/>
              </a:spcAft>
              <a:buNone/>
            </a:pPr>
            <a:r>
              <a:t/>
            </a:r>
            <a:endParaRPr sz="1200">
              <a:solidFill>
                <a:schemeClr val="dk1"/>
              </a:solidFill>
              <a:latin typeface="Arial"/>
              <a:ea typeface="Arial"/>
              <a:cs typeface="Arial"/>
              <a:sym typeface="Arial"/>
            </a:endParaRPr>
          </a:p>
          <a:p>
            <a:pPr indent="0" lvl="0" marL="0" marR="0" rtl="0" algn="l">
              <a:spcBef>
                <a:spcPts val="0"/>
              </a:spcBef>
              <a:spcAft>
                <a:spcPts val="0"/>
              </a:spcAft>
              <a:buNone/>
            </a:pPr>
            <a:r>
              <a:rPr lang="en" sz="1200">
                <a:solidFill>
                  <a:schemeClr val="dk1"/>
                </a:solidFill>
                <a:latin typeface="Arial"/>
                <a:ea typeface="Arial"/>
                <a:cs typeface="Arial"/>
                <a:sym typeface="Arial"/>
              </a:rPr>
              <a:t>Across the top are the seven phases of how we actually deliver a project: Readiness, Mobilize and Align, Discovery, Build, Validate, Deploy, Transition. </a:t>
            </a:r>
            <a:endParaRPr/>
          </a:p>
          <a:p>
            <a:pPr indent="0" lvl="0" marL="0" marR="0" rtl="0" algn="l">
              <a:spcBef>
                <a:spcPts val="0"/>
              </a:spcBef>
              <a:spcAft>
                <a:spcPts val="0"/>
              </a:spcAft>
              <a:buNone/>
            </a:pPr>
            <a:r>
              <a:t/>
            </a:r>
            <a:endParaRPr sz="1200">
              <a:solidFill>
                <a:schemeClr val="dk1"/>
              </a:solidFill>
              <a:latin typeface="Arial"/>
              <a:ea typeface="Arial"/>
              <a:cs typeface="Arial"/>
              <a:sym typeface="Arial"/>
            </a:endParaRPr>
          </a:p>
          <a:p>
            <a:pPr indent="0" lvl="0" marL="0" marR="0" rtl="0" algn="l">
              <a:spcBef>
                <a:spcPts val="0"/>
              </a:spcBef>
              <a:spcAft>
                <a:spcPts val="0"/>
              </a:spcAft>
              <a:buNone/>
            </a:pPr>
            <a:r>
              <a:rPr lang="en" sz="1200">
                <a:solidFill>
                  <a:schemeClr val="dk1"/>
                </a:solidFill>
                <a:latin typeface="Arial"/>
                <a:ea typeface="Arial"/>
                <a:cs typeface="Arial"/>
                <a:sym typeface="Arial"/>
              </a:rPr>
              <a:t>Underneath is how PMO governs across that same lifecycle. Readiness and Mobilize map directly onto our first two governance phases. </a:t>
            </a:r>
            <a:endParaRPr/>
          </a:p>
          <a:p>
            <a:pPr indent="0" lvl="0" marL="0" marR="0" rtl="0" algn="l">
              <a:spcBef>
                <a:spcPts val="0"/>
              </a:spcBef>
              <a:spcAft>
                <a:spcPts val="0"/>
              </a:spcAft>
              <a:buNone/>
            </a:pPr>
            <a:r>
              <a:t/>
            </a:r>
            <a:endParaRPr sz="1200">
              <a:solidFill>
                <a:schemeClr val="dk1"/>
              </a:solidFill>
              <a:latin typeface="Arial"/>
              <a:ea typeface="Arial"/>
              <a:cs typeface="Arial"/>
              <a:sym typeface="Arial"/>
            </a:endParaRPr>
          </a:p>
          <a:p>
            <a:pPr indent="0" lvl="0" marL="0" marR="0" rtl="0" algn="l">
              <a:spcBef>
                <a:spcPts val="0"/>
              </a:spcBef>
              <a:spcAft>
                <a:spcPts val="0"/>
              </a:spcAft>
              <a:buNone/>
            </a:pPr>
            <a:r>
              <a:rPr lang="en" sz="1200">
                <a:solidFill>
                  <a:schemeClr val="dk1"/>
                </a:solidFill>
                <a:latin typeface="Arial"/>
                <a:ea typeface="Arial"/>
                <a:cs typeface="Arial"/>
                <a:sym typeface="Arial"/>
              </a:rPr>
              <a:t>Project Execution as a governance phase spans four delivery phases at once: Discovery, Build, Validate, and Deploy. </a:t>
            </a:r>
            <a:endParaRPr/>
          </a:p>
          <a:p>
            <a:pPr indent="0" lvl="0" marL="0" marR="0" rtl="0" algn="l">
              <a:spcBef>
                <a:spcPts val="0"/>
              </a:spcBef>
              <a:spcAft>
                <a:spcPts val="0"/>
              </a:spcAft>
              <a:buNone/>
            </a:pPr>
            <a:r>
              <a:t/>
            </a:r>
            <a:endParaRPr sz="1200">
              <a:solidFill>
                <a:schemeClr val="dk1"/>
              </a:solidFill>
              <a:latin typeface="Arial"/>
              <a:ea typeface="Arial"/>
              <a:cs typeface="Arial"/>
              <a:sym typeface="Arial"/>
            </a:endParaRPr>
          </a:p>
          <a:p>
            <a:pPr indent="0" lvl="0" marL="0" marR="0" rtl="0" algn="l">
              <a:spcBef>
                <a:spcPts val="0"/>
              </a:spcBef>
              <a:spcAft>
                <a:spcPts val="0"/>
              </a:spcAft>
              <a:buNone/>
            </a:pPr>
            <a:r>
              <a:rPr lang="en" sz="1200">
                <a:solidFill>
                  <a:schemeClr val="dk1"/>
                </a:solidFill>
                <a:latin typeface="Arial"/>
                <a:ea typeface="Arial"/>
                <a:cs typeface="Arial"/>
                <a:sym typeface="Arial"/>
              </a:rPr>
              <a:t>Governance during that window isn't a single checkpoint, it's continuous — value realization, project health, risk, forecasting, scope change, and escalation are all running in parallel with the actual delivery work. </a:t>
            </a:r>
            <a:endParaRPr/>
          </a:p>
          <a:p>
            <a:pPr indent="0" lvl="0" marL="0" marR="0" rtl="0" algn="l">
              <a:spcBef>
                <a:spcPts val="0"/>
              </a:spcBef>
              <a:spcAft>
                <a:spcPts val="0"/>
              </a:spcAft>
              <a:buNone/>
            </a:pPr>
            <a:r>
              <a:t/>
            </a:r>
            <a:endParaRPr sz="1200">
              <a:solidFill>
                <a:schemeClr val="dk1"/>
              </a:solidFill>
              <a:latin typeface="Arial"/>
              <a:ea typeface="Arial"/>
              <a:cs typeface="Arial"/>
              <a:sym typeface="Arial"/>
            </a:endParaRPr>
          </a:p>
          <a:p>
            <a:pPr indent="0" lvl="0" marL="0" marR="0" rtl="0" algn="l">
              <a:spcBef>
                <a:spcPts val="0"/>
              </a:spcBef>
              <a:spcAft>
                <a:spcPts val="0"/>
              </a:spcAft>
              <a:buNone/>
            </a:pPr>
            <a:r>
              <a:rPr lang="en" sz="1200">
                <a:solidFill>
                  <a:schemeClr val="dk1"/>
                </a:solidFill>
                <a:latin typeface="Arial"/>
                <a:ea typeface="Arial"/>
                <a:cs typeface="Arial"/>
                <a:sym typeface="Arial"/>
              </a:rPr>
              <a:t>Acceptance and Closure then map onto Transition. </a:t>
            </a:r>
            <a:endParaRPr/>
          </a:p>
        </p:txBody>
      </p:sp>
      <p:sp>
        <p:nvSpPr>
          <p:cNvPr id="247" name="Google Shape;247;had2b5654ebddb3d_1_936: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had2b5654ebddb3d_1_4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3" name="Google Shape;283;had2b5654ebddb3d_1_4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298450" lvl="0" marL="457200" rtl="0" algn="l">
              <a:spcBef>
                <a:spcPts val="0"/>
              </a:spcBef>
              <a:spcAft>
                <a:spcPts val="0"/>
              </a:spcAft>
              <a:buSzPts val="1100"/>
              <a:buChar char="●"/>
            </a:pPr>
            <a:r>
              <a:rPr lang="en"/>
              <a:t>Table Slides</a:t>
            </a:r>
            <a:endParaRPr/>
          </a:p>
          <a:p>
            <a:pPr indent="-298450" lvl="1" marL="914400" rtl="0" algn="l">
              <a:spcBef>
                <a:spcPts val="0"/>
              </a:spcBef>
              <a:spcAft>
                <a:spcPts val="0"/>
              </a:spcAft>
              <a:buSzPts val="1100"/>
              <a:buChar char="○"/>
            </a:pPr>
            <a:r>
              <a:rPr lang="en"/>
              <a:t>Severity</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had2b5654ebddb3d_1_4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0" name="Google Shape;310;had2b5654ebddb3d_1_4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298450" lvl="0" marL="457200" rtl="0" algn="l">
              <a:spcBef>
                <a:spcPts val="0"/>
              </a:spcBef>
              <a:spcAft>
                <a:spcPts val="0"/>
              </a:spcAft>
              <a:buSzPts val="1100"/>
              <a:buChar char="●"/>
            </a:pPr>
            <a:r>
              <a:rPr lang="en"/>
              <a:t>Table Slides</a:t>
            </a:r>
            <a:endParaRPr/>
          </a:p>
          <a:p>
            <a:pPr indent="-298450" lvl="1" marL="914400" rtl="0" algn="l">
              <a:spcBef>
                <a:spcPts val="0"/>
              </a:spcBef>
              <a:spcAft>
                <a:spcPts val="0"/>
              </a:spcAft>
              <a:buSzPts val="1100"/>
              <a:buChar char="○"/>
            </a:pPr>
            <a:r>
              <a:rPr lang="en"/>
              <a:t>Severity</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5" name="Shape 335"/>
        <p:cNvGrpSpPr/>
        <p:nvPr/>
      </p:nvGrpSpPr>
      <p:grpSpPr>
        <a:xfrm>
          <a:off x="0" y="0"/>
          <a:ext cx="0" cy="0"/>
          <a:chOff x="0" y="0"/>
          <a:chExt cx="0" cy="0"/>
        </a:xfrm>
      </p:grpSpPr>
      <p:sp>
        <p:nvSpPr>
          <p:cNvPr id="336" name="Google Shape;336;g3f4bdcfafbd_0_5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7" name="Google Shape;337;g3f4bdcfafbd_0_5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h282a19ce642c60ab_0_2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3" name="Google Shape;343;h282a19ce642c60ab_0_2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h282a19ce642c60ab_0_340:notes"/>
          <p:cNvSpPr/>
          <p:nvPr>
            <p:ph idx="2" type="sldImg"/>
          </p:nvPr>
        </p:nvSpPr>
        <p:spPr>
          <a:xfrm>
            <a:off x="685727" y="857273"/>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0" name="Google Shape;370;h282a19ce642c60ab_0_340:notes"/>
          <p:cNvSpPr txBox="1"/>
          <p:nvPr>
            <p:ph idx="1" type="body"/>
          </p:nvPr>
        </p:nvSpPr>
        <p:spPr>
          <a:xfrm>
            <a:off x="685800" y="3300500"/>
            <a:ext cx="5486400" cy="27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71" name="Google Shape;371;h282a19ce642c60ab_0_340:notes"/>
          <p:cNvSpPr txBox="1"/>
          <p:nvPr>
            <p:ph idx="12" type="sldNum"/>
          </p:nvPr>
        </p:nvSpPr>
        <p:spPr>
          <a:xfrm>
            <a:off x="3884613" y="6514083"/>
            <a:ext cx="2971800" cy="3441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h282a19ce642c60ab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h282a19ce642c60ab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6" name="Shape 406"/>
        <p:cNvGrpSpPr/>
        <p:nvPr/>
      </p:nvGrpSpPr>
      <p:grpSpPr>
        <a:xfrm>
          <a:off x="0" y="0"/>
          <a:ext cx="0" cy="0"/>
          <a:chOff x="0" y="0"/>
          <a:chExt cx="0" cy="0"/>
        </a:xfrm>
      </p:grpSpPr>
      <p:sp>
        <p:nvSpPr>
          <p:cNvPr id="407" name="Google Shape;407;h282a19ce642c60a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8" name="Google Shape;408;h282a19ce642c60a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8" name="Shape 458"/>
        <p:cNvGrpSpPr/>
        <p:nvPr/>
      </p:nvGrpSpPr>
      <p:grpSpPr>
        <a:xfrm>
          <a:off x="0" y="0"/>
          <a:ext cx="0" cy="0"/>
          <a:chOff x="0" y="0"/>
          <a:chExt cx="0" cy="0"/>
        </a:xfrm>
      </p:grpSpPr>
      <p:sp>
        <p:nvSpPr>
          <p:cNvPr id="459" name="Google Shape;459;g3f4bdcfafbd_0_615:notes"/>
          <p:cNvSpPr/>
          <p:nvPr>
            <p:ph idx="2" type="sldImg"/>
          </p:nvPr>
        </p:nvSpPr>
        <p:spPr>
          <a:xfrm>
            <a:off x="685727" y="857273"/>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0" name="Google Shape;460;g3f4bdcfafbd_0_615:notes"/>
          <p:cNvSpPr txBox="1"/>
          <p:nvPr>
            <p:ph idx="1" type="body"/>
          </p:nvPr>
        </p:nvSpPr>
        <p:spPr>
          <a:xfrm>
            <a:off x="685800" y="3300500"/>
            <a:ext cx="5486400" cy="27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Walk each answer aloud and ask the client to confirm or correct. Capture changes live. This is where alignment actually happens — do not rush it. Anything that shifts scope, timeline, or the exclusions gets logged; the PM codifies the final wording with the sponsor after kickoff and secures approval before Discovery.</a:t>
            </a:r>
            <a:endParaRPr/>
          </a:p>
        </p:txBody>
      </p:sp>
      <p:sp>
        <p:nvSpPr>
          <p:cNvPr id="461" name="Google Shape;461;g3f4bdcfafbd_0_615:notes"/>
          <p:cNvSpPr txBox="1"/>
          <p:nvPr>
            <p:ph idx="12" type="sldNum"/>
          </p:nvPr>
        </p:nvSpPr>
        <p:spPr>
          <a:xfrm>
            <a:off x="3884613" y="6514083"/>
            <a:ext cx="2971800" cy="3441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7" name="Shape 467"/>
        <p:cNvGrpSpPr/>
        <p:nvPr/>
      </p:nvGrpSpPr>
      <p:grpSpPr>
        <a:xfrm>
          <a:off x="0" y="0"/>
          <a:ext cx="0" cy="0"/>
          <a:chOff x="0" y="0"/>
          <a:chExt cx="0" cy="0"/>
        </a:xfrm>
      </p:grpSpPr>
      <p:sp>
        <p:nvSpPr>
          <p:cNvPr id="468" name="Google Shape;468;g3f4bdcfafbd_0_9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9" name="Google Shape;469;g3f4bdcfafbd_0_9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Title Slide ">
  <p:cSld name="24_Title Slide">
    <p:spTree>
      <p:nvGrpSpPr>
        <p:cNvPr id="11" name="Shape 11"/>
        <p:cNvGrpSpPr/>
        <p:nvPr/>
      </p:nvGrpSpPr>
      <p:grpSpPr>
        <a:xfrm>
          <a:off x="0" y="0"/>
          <a:ext cx="0" cy="0"/>
          <a:chOff x="0" y="0"/>
          <a:chExt cx="0" cy="0"/>
        </a:xfrm>
      </p:grpSpPr>
      <p:sp>
        <p:nvSpPr>
          <p:cNvPr id="12" name="Google Shape;12;p2"/>
          <p:cNvSpPr txBox="1"/>
          <p:nvPr>
            <p:ph idx="12" type="sldNum"/>
          </p:nvPr>
        </p:nvSpPr>
        <p:spPr>
          <a:xfrm>
            <a:off x="109835" y="4754928"/>
            <a:ext cx="285900" cy="273900"/>
          </a:xfrm>
          <a:prstGeom prst="rect">
            <a:avLst/>
          </a:prstGeom>
          <a:noFill/>
          <a:ln>
            <a:noFill/>
          </a:ln>
        </p:spPr>
        <p:txBody>
          <a:bodyPr anchorCtr="0" anchor="ctr" bIns="0" lIns="0" spcFirstLastPara="1" rIns="0" wrap="square" tIns="0">
            <a:noAutofit/>
          </a:bodyPr>
          <a:lstStyle>
            <a:lvl1pPr indent="0" lvl="0" marL="0" rtl="0" algn="ctr">
              <a:spcBef>
                <a:spcPts val="0"/>
              </a:spcBef>
              <a:buNone/>
              <a:defRPr b="1" i="0" sz="1100" u="none" cap="none" strike="noStrike">
                <a:solidFill>
                  <a:srgbClr val="FFFFFF"/>
                </a:solidFill>
                <a:latin typeface="Proxima Nova"/>
                <a:ea typeface="Proxima Nova"/>
                <a:cs typeface="Proxima Nova"/>
                <a:sym typeface="Proxima Nova"/>
              </a:defRPr>
            </a:lvl1pPr>
            <a:lvl2pPr indent="0" lvl="1" marL="0" rtl="0" algn="ctr">
              <a:spcBef>
                <a:spcPts val="0"/>
              </a:spcBef>
              <a:buNone/>
              <a:defRPr b="1" i="0" sz="1100" u="none" cap="none" strike="noStrike">
                <a:solidFill>
                  <a:srgbClr val="FFFFFF"/>
                </a:solidFill>
                <a:latin typeface="Proxima Nova"/>
                <a:ea typeface="Proxima Nova"/>
                <a:cs typeface="Proxima Nova"/>
                <a:sym typeface="Proxima Nova"/>
              </a:defRPr>
            </a:lvl2pPr>
            <a:lvl3pPr indent="0" lvl="2" marL="0" rtl="0" algn="ctr">
              <a:spcBef>
                <a:spcPts val="0"/>
              </a:spcBef>
              <a:buNone/>
              <a:defRPr b="1" i="0" sz="1100" u="none" cap="none" strike="noStrike">
                <a:solidFill>
                  <a:srgbClr val="FFFFFF"/>
                </a:solidFill>
                <a:latin typeface="Proxima Nova"/>
                <a:ea typeface="Proxima Nova"/>
                <a:cs typeface="Proxima Nova"/>
                <a:sym typeface="Proxima Nova"/>
              </a:defRPr>
            </a:lvl3pPr>
            <a:lvl4pPr indent="0" lvl="3" marL="0" rtl="0" algn="ctr">
              <a:spcBef>
                <a:spcPts val="0"/>
              </a:spcBef>
              <a:buNone/>
              <a:defRPr b="1" i="0" sz="1100" u="none" cap="none" strike="noStrike">
                <a:solidFill>
                  <a:srgbClr val="FFFFFF"/>
                </a:solidFill>
                <a:latin typeface="Proxima Nova"/>
                <a:ea typeface="Proxima Nova"/>
                <a:cs typeface="Proxima Nova"/>
                <a:sym typeface="Proxima Nova"/>
              </a:defRPr>
            </a:lvl4pPr>
            <a:lvl5pPr indent="0" lvl="4" marL="0" rtl="0" algn="ctr">
              <a:spcBef>
                <a:spcPts val="0"/>
              </a:spcBef>
              <a:buNone/>
              <a:defRPr b="1" i="0" sz="1100" u="none" cap="none" strike="noStrike">
                <a:solidFill>
                  <a:srgbClr val="FFFFFF"/>
                </a:solidFill>
                <a:latin typeface="Proxima Nova"/>
                <a:ea typeface="Proxima Nova"/>
                <a:cs typeface="Proxima Nova"/>
                <a:sym typeface="Proxima Nova"/>
              </a:defRPr>
            </a:lvl5pPr>
            <a:lvl6pPr indent="0" lvl="5" marL="0" rtl="0" algn="ctr">
              <a:spcBef>
                <a:spcPts val="0"/>
              </a:spcBef>
              <a:buNone/>
              <a:defRPr b="1" i="0" sz="1100" u="none" cap="none" strike="noStrike">
                <a:solidFill>
                  <a:srgbClr val="FFFFFF"/>
                </a:solidFill>
                <a:latin typeface="Proxima Nova"/>
                <a:ea typeface="Proxima Nova"/>
                <a:cs typeface="Proxima Nova"/>
                <a:sym typeface="Proxima Nova"/>
              </a:defRPr>
            </a:lvl6pPr>
            <a:lvl7pPr indent="0" lvl="6" marL="0" rtl="0" algn="ctr">
              <a:spcBef>
                <a:spcPts val="0"/>
              </a:spcBef>
              <a:buNone/>
              <a:defRPr b="1" i="0" sz="1100" u="none" cap="none" strike="noStrike">
                <a:solidFill>
                  <a:srgbClr val="FFFFFF"/>
                </a:solidFill>
                <a:latin typeface="Proxima Nova"/>
                <a:ea typeface="Proxima Nova"/>
                <a:cs typeface="Proxima Nova"/>
                <a:sym typeface="Proxima Nova"/>
              </a:defRPr>
            </a:lvl7pPr>
            <a:lvl8pPr indent="0" lvl="7" marL="0" rtl="0" algn="ctr">
              <a:spcBef>
                <a:spcPts val="0"/>
              </a:spcBef>
              <a:buNone/>
              <a:defRPr b="1" i="0" sz="1100" u="none" cap="none" strike="noStrike">
                <a:solidFill>
                  <a:srgbClr val="FFFFFF"/>
                </a:solidFill>
                <a:latin typeface="Proxima Nova"/>
                <a:ea typeface="Proxima Nova"/>
                <a:cs typeface="Proxima Nova"/>
                <a:sym typeface="Proxima Nova"/>
              </a:defRPr>
            </a:lvl8pPr>
            <a:lvl9pPr indent="0" lvl="8" marL="0" rtl="0" algn="ctr">
              <a:spcBef>
                <a:spcPts val="0"/>
              </a:spcBef>
              <a:buNone/>
              <a:defRPr b="1" i="0" sz="1100" u="none" cap="none" strike="noStrike">
                <a:solidFill>
                  <a:srgbClr val="FFFFFF"/>
                </a:solidFill>
                <a:latin typeface="Proxima Nova"/>
                <a:ea typeface="Proxima Nova"/>
                <a:cs typeface="Proxima Nova"/>
                <a:sym typeface="Proxima Nova"/>
              </a:defRPr>
            </a:lvl9pPr>
          </a:lstStyle>
          <a:p>
            <a:pPr indent="0" lvl="0" marL="0" rtl="0" algn="ctr">
              <a:spcBef>
                <a:spcPts val="0"/>
              </a:spcBef>
              <a:spcAft>
                <a:spcPts val="0"/>
              </a:spcAft>
              <a:buNone/>
            </a:pPr>
            <a:fld id="{00000000-1234-1234-1234-123412341234}" type="slidenum">
              <a:rPr lang="en"/>
              <a:t>‹#›</a:t>
            </a:fld>
            <a:endParaRPr/>
          </a:p>
        </p:txBody>
      </p:sp>
      <p:pic>
        <p:nvPicPr>
          <p:cNvPr id="13" name="Google Shape;13;p2"/>
          <p:cNvPicPr preferRelativeResize="0"/>
          <p:nvPr/>
        </p:nvPicPr>
        <p:blipFill>
          <a:blip r:embed="rId2">
            <a:alphaModFix/>
          </a:blip>
          <a:stretch>
            <a:fillRect/>
          </a:stretch>
        </p:blipFill>
        <p:spPr>
          <a:xfrm>
            <a:off x="0" y="1255"/>
            <a:ext cx="9144001" cy="5140990"/>
          </a:xfrm>
          <a:prstGeom prst="rect">
            <a:avLst/>
          </a:prstGeom>
          <a:noFill/>
          <a:ln>
            <a:noFill/>
          </a:ln>
        </p:spPr>
      </p:pic>
      <p:pic>
        <p:nvPicPr>
          <p:cNvPr id="14" name="Google Shape;14;p2"/>
          <p:cNvPicPr preferRelativeResize="0"/>
          <p:nvPr/>
        </p:nvPicPr>
        <p:blipFill>
          <a:blip r:embed="rId3">
            <a:alphaModFix/>
          </a:blip>
          <a:stretch>
            <a:fillRect/>
          </a:stretch>
        </p:blipFill>
        <p:spPr>
          <a:xfrm>
            <a:off x="343675" y="419000"/>
            <a:ext cx="1180749" cy="335551"/>
          </a:xfrm>
          <a:prstGeom prst="rect">
            <a:avLst/>
          </a:prstGeom>
          <a:noFill/>
          <a:ln>
            <a:noFill/>
          </a:ln>
        </p:spPr>
      </p:pic>
      <p:sp>
        <p:nvSpPr>
          <p:cNvPr id="15" name="Google Shape;15;p2"/>
          <p:cNvSpPr txBox="1"/>
          <p:nvPr>
            <p:ph type="title"/>
          </p:nvPr>
        </p:nvSpPr>
        <p:spPr>
          <a:xfrm>
            <a:off x="343675" y="2907450"/>
            <a:ext cx="3016200" cy="819300"/>
          </a:xfrm>
          <a:prstGeom prst="rect">
            <a:avLst/>
          </a:prstGeom>
        </p:spPr>
        <p:txBody>
          <a:bodyPr anchorCtr="0" anchor="t" bIns="34275" lIns="68575" spcFirstLastPara="1" rIns="68575" wrap="square" tIns="34275">
            <a:normAutofit/>
          </a:bodyPr>
          <a:lstStyle>
            <a:lvl1pPr lvl="0" rtl="0">
              <a:spcBef>
                <a:spcPts val="0"/>
              </a:spcBef>
              <a:spcAft>
                <a:spcPts val="0"/>
              </a:spcAft>
              <a:buClr>
                <a:schemeClr val="lt1"/>
              </a:buClr>
              <a:buSzPts val="2600"/>
              <a:buFont typeface="Proxima Nova"/>
              <a:buNone/>
              <a:defRPr sz="2600">
                <a:solidFill>
                  <a:schemeClr val="lt1"/>
                </a:solidFill>
                <a:latin typeface="Proxima Nova"/>
                <a:ea typeface="Proxima Nova"/>
                <a:cs typeface="Proxima Nova"/>
                <a:sym typeface="Proxima Nova"/>
              </a:defRPr>
            </a:lvl1pPr>
            <a:lvl2pPr lvl="1" rtl="0">
              <a:spcBef>
                <a:spcPts val="0"/>
              </a:spcBef>
              <a:spcAft>
                <a:spcPts val="0"/>
              </a:spcAft>
              <a:buSzPts val="1100"/>
              <a:buNone/>
              <a:defRPr/>
            </a:lvl2pPr>
            <a:lvl3pPr lvl="2" rtl="0">
              <a:spcBef>
                <a:spcPts val="0"/>
              </a:spcBef>
              <a:spcAft>
                <a:spcPts val="0"/>
              </a:spcAft>
              <a:buSzPts val="1100"/>
              <a:buNone/>
              <a:defRPr/>
            </a:lvl3pPr>
            <a:lvl4pPr lvl="3" rtl="0">
              <a:spcBef>
                <a:spcPts val="0"/>
              </a:spcBef>
              <a:spcAft>
                <a:spcPts val="0"/>
              </a:spcAft>
              <a:buSzPts val="1100"/>
              <a:buNone/>
              <a:defRPr/>
            </a:lvl4pPr>
            <a:lvl5pPr lvl="4" rtl="0">
              <a:spcBef>
                <a:spcPts val="0"/>
              </a:spcBef>
              <a:spcAft>
                <a:spcPts val="0"/>
              </a:spcAft>
              <a:buSzPts val="1100"/>
              <a:buNone/>
              <a:defRPr/>
            </a:lvl5pPr>
            <a:lvl6pPr lvl="5" rtl="0">
              <a:spcBef>
                <a:spcPts val="0"/>
              </a:spcBef>
              <a:spcAft>
                <a:spcPts val="0"/>
              </a:spcAft>
              <a:buSzPts val="1100"/>
              <a:buNone/>
              <a:defRPr/>
            </a:lvl6pPr>
            <a:lvl7pPr lvl="6" rtl="0">
              <a:spcBef>
                <a:spcPts val="0"/>
              </a:spcBef>
              <a:spcAft>
                <a:spcPts val="0"/>
              </a:spcAft>
              <a:buSzPts val="1100"/>
              <a:buNone/>
              <a:defRPr/>
            </a:lvl7pPr>
            <a:lvl8pPr lvl="7" rtl="0">
              <a:spcBef>
                <a:spcPts val="0"/>
              </a:spcBef>
              <a:spcAft>
                <a:spcPts val="0"/>
              </a:spcAft>
              <a:buSzPts val="1100"/>
              <a:buNone/>
              <a:defRPr/>
            </a:lvl8pPr>
            <a:lvl9pPr lvl="8" rtl="0">
              <a:spcBef>
                <a:spcPts val="0"/>
              </a:spcBef>
              <a:spcAft>
                <a:spcPts val="0"/>
              </a:spcAft>
              <a:buSzPts val="1100"/>
              <a:buNone/>
              <a:defRPr/>
            </a:lvl9pPr>
          </a:lstStyle>
          <a:p/>
        </p:txBody>
      </p:sp>
      <p:sp>
        <p:nvSpPr>
          <p:cNvPr id="16" name="Google Shape;16;p2"/>
          <p:cNvSpPr txBox="1"/>
          <p:nvPr>
            <p:ph idx="1" type="subTitle"/>
          </p:nvPr>
        </p:nvSpPr>
        <p:spPr>
          <a:xfrm>
            <a:off x="351170" y="2571750"/>
            <a:ext cx="3016200" cy="335700"/>
          </a:xfrm>
          <a:prstGeom prst="rect">
            <a:avLst/>
          </a:prstGeom>
        </p:spPr>
        <p:txBody>
          <a:bodyPr anchorCtr="0" anchor="t" bIns="34275" lIns="68575" spcFirstLastPara="1" rIns="68575" wrap="square" tIns="34275">
            <a:normAutofit/>
          </a:bodyPr>
          <a:lstStyle>
            <a:lvl1pPr lvl="0" rtl="0">
              <a:spcBef>
                <a:spcPts val="800"/>
              </a:spcBef>
              <a:spcAft>
                <a:spcPts val="0"/>
              </a:spcAft>
              <a:buClr>
                <a:schemeClr val="lt1"/>
              </a:buClr>
              <a:buSzPts val="1300"/>
              <a:buFont typeface="Proxima Nova"/>
              <a:buNone/>
              <a:defRPr sz="1300">
                <a:solidFill>
                  <a:schemeClr val="lt1"/>
                </a:solidFill>
              </a:defRPr>
            </a:lvl1pPr>
            <a:lvl2pPr lvl="1" rtl="0">
              <a:spcBef>
                <a:spcPts val="400"/>
              </a:spcBef>
              <a:spcAft>
                <a:spcPts val="0"/>
              </a:spcAft>
              <a:buClr>
                <a:schemeClr val="lt1"/>
              </a:buClr>
              <a:buSzPts val="1100"/>
              <a:buNone/>
              <a:defRPr>
                <a:solidFill>
                  <a:schemeClr val="lt1"/>
                </a:solidFill>
              </a:defRPr>
            </a:lvl2pPr>
            <a:lvl3pPr lvl="2" rtl="0">
              <a:spcBef>
                <a:spcPts val="400"/>
              </a:spcBef>
              <a:spcAft>
                <a:spcPts val="0"/>
              </a:spcAft>
              <a:buClr>
                <a:schemeClr val="lt1"/>
              </a:buClr>
              <a:buSzPts val="900"/>
              <a:buNone/>
              <a:defRPr>
                <a:solidFill>
                  <a:schemeClr val="lt1"/>
                </a:solidFill>
              </a:defRPr>
            </a:lvl3pPr>
            <a:lvl4pPr lvl="3" rtl="0">
              <a:spcBef>
                <a:spcPts val="400"/>
              </a:spcBef>
              <a:spcAft>
                <a:spcPts val="0"/>
              </a:spcAft>
              <a:buClr>
                <a:schemeClr val="lt1"/>
              </a:buClr>
              <a:buSzPts val="800"/>
              <a:buNone/>
              <a:defRPr>
                <a:solidFill>
                  <a:schemeClr val="lt1"/>
                </a:solidFill>
              </a:defRPr>
            </a:lvl4pPr>
            <a:lvl5pPr lvl="4" rtl="0">
              <a:spcBef>
                <a:spcPts val="400"/>
              </a:spcBef>
              <a:spcAft>
                <a:spcPts val="0"/>
              </a:spcAft>
              <a:buClr>
                <a:schemeClr val="lt1"/>
              </a:buClr>
              <a:buSzPts val="600"/>
              <a:buNone/>
              <a:defRPr>
                <a:solidFill>
                  <a:schemeClr val="lt1"/>
                </a:solidFill>
              </a:defRPr>
            </a:lvl5pPr>
            <a:lvl6pPr lvl="5" rtl="0">
              <a:spcBef>
                <a:spcPts val="400"/>
              </a:spcBef>
              <a:spcAft>
                <a:spcPts val="0"/>
              </a:spcAft>
              <a:buClr>
                <a:schemeClr val="lt1"/>
              </a:buClr>
              <a:buSzPts val="1400"/>
              <a:buNone/>
              <a:defRPr>
                <a:solidFill>
                  <a:schemeClr val="lt1"/>
                </a:solidFill>
              </a:defRPr>
            </a:lvl6pPr>
            <a:lvl7pPr lvl="6" rtl="0">
              <a:spcBef>
                <a:spcPts val="400"/>
              </a:spcBef>
              <a:spcAft>
                <a:spcPts val="0"/>
              </a:spcAft>
              <a:buClr>
                <a:schemeClr val="lt1"/>
              </a:buClr>
              <a:buSzPts val="1400"/>
              <a:buNone/>
              <a:defRPr>
                <a:solidFill>
                  <a:schemeClr val="lt1"/>
                </a:solidFill>
              </a:defRPr>
            </a:lvl7pPr>
            <a:lvl8pPr lvl="7" rtl="0">
              <a:spcBef>
                <a:spcPts val="400"/>
              </a:spcBef>
              <a:spcAft>
                <a:spcPts val="0"/>
              </a:spcAft>
              <a:buClr>
                <a:schemeClr val="lt1"/>
              </a:buClr>
              <a:buSzPts val="1400"/>
              <a:buNone/>
              <a:defRPr>
                <a:solidFill>
                  <a:schemeClr val="lt1"/>
                </a:solidFill>
              </a:defRPr>
            </a:lvl8pPr>
            <a:lvl9pPr lvl="8" rtl="0">
              <a:spcBef>
                <a:spcPts val="400"/>
              </a:spcBef>
              <a:spcAft>
                <a:spcPts val="0"/>
              </a:spcAft>
              <a:buClr>
                <a:schemeClr val="lt1"/>
              </a:buClr>
              <a:buSzPts val="1400"/>
              <a:buNone/>
              <a:defRPr>
                <a:solidFill>
                  <a:schemeClr val="lt1"/>
                </a:solidFill>
              </a:defRPr>
            </a:lvl9pPr>
          </a:lstStyle>
          <a:p/>
        </p:txBody>
      </p:sp>
      <p:cxnSp>
        <p:nvCxnSpPr>
          <p:cNvPr id="17" name="Google Shape;17;p2"/>
          <p:cNvCxnSpPr/>
          <p:nvPr/>
        </p:nvCxnSpPr>
        <p:spPr>
          <a:xfrm>
            <a:off x="443130" y="4044275"/>
            <a:ext cx="891900" cy="0"/>
          </a:xfrm>
          <a:prstGeom prst="straightConnector1">
            <a:avLst/>
          </a:prstGeom>
          <a:noFill/>
          <a:ln cap="flat" cmpd="sng" w="9525">
            <a:solidFill>
              <a:schemeClr val="lt1"/>
            </a:solidFill>
            <a:prstDash val="solid"/>
            <a:round/>
            <a:headEnd len="med" w="med" type="none"/>
            <a:tailEnd len="med" w="med" type="none"/>
          </a:ln>
        </p:spPr>
      </p:cxnSp>
      <p:sp>
        <p:nvSpPr>
          <p:cNvPr id="18" name="Google Shape;18;p2"/>
          <p:cNvSpPr txBox="1"/>
          <p:nvPr>
            <p:ph idx="2" type="subTitle"/>
          </p:nvPr>
        </p:nvSpPr>
        <p:spPr>
          <a:xfrm>
            <a:off x="366160" y="4153150"/>
            <a:ext cx="3016200" cy="335700"/>
          </a:xfrm>
          <a:prstGeom prst="rect">
            <a:avLst/>
          </a:prstGeom>
        </p:spPr>
        <p:txBody>
          <a:bodyPr anchorCtr="0" anchor="t" bIns="34275" lIns="68575" spcFirstLastPara="1" rIns="68575" wrap="square" tIns="34275">
            <a:normAutofit/>
          </a:bodyPr>
          <a:lstStyle>
            <a:lvl1pPr lvl="0" rtl="0">
              <a:spcBef>
                <a:spcPts val="800"/>
              </a:spcBef>
              <a:spcAft>
                <a:spcPts val="0"/>
              </a:spcAft>
              <a:buClr>
                <a:schemeClr val="accent4"/>
              </a:buClr>
              <a:buSzPts val="1300"/>
              <a:buFont typeface="Proxima Nova"/>
              <a:buNone/>
              <a:defRPr b="1" sz="1300">
                <a:solidFill>
                  <a:schemeClr val="accent4"/>
                </a:solidFill>
                <a:latin typeface="Proxima Nova"/>
                <a:ea typeface="Proxima Nova"/>
                <a:cs typeface="Proxima Nova"/>
                <a:sym typeface="Proxima Nova"/>
              </a:defRPr>
            </a:lvl1pPr>
            <a:lvl2pPr lvl="1" rtl="0">
              <a:spcBef>
                <a:spcPts val="400"/>
              </a:spcBef>
              <a:spcAft>
                <a:spcPts val="0"/>
              </a:spcAft>
              <a:buClr>
                <a:schemeClr val="accent4"/>
              </a:buClr>
              <a:buSzPts val="1100"/>
              <a:buNone/>
              <a:defRPr>
                <a:solidFill>
                  <a:schemeClr val="accent4"/>
                </a:solidFill>
              </a:defRPr>
            </a:lvl2pPr>
            <a:lvl3pPr lvl="2" rtl="0">
              <a:spcBef>
                <a:spcPts val="400"/>
              </a:spcBef>
              <a:spcAft>
                <a:spcPts val="0"/>
              </a:spcAft>
              <a:buClr>
                <a:schemeClr val="accent4"/>
              </a:buClr>
              <a:buSzPts val="900"/>
              <a:buNone/>
              <a:defRPr>
                <a:solidFill>
                  <a:schemeClr val="accent4"/>
                </a:solidFill>
              </a:defRPr>
            </a:lvl3pPr>
            <a:lvl4pPr lvl="3" rtl="0">
              <a:spcBef>
                <a:spcPts val="400"/>
              </a:spcBef>
              <a:spcAft>
                <a:spcPts val="0"/>
              </a:spcAft>
              <a:buClr>
                <a:schemeClr val="accent4"/>
              </a:buClr>
              <a:buSzPts val="800"/>
              <a:buNone/>
              <a:defRPr>
                <a:solidFill>
                  <a:schemeClr val="accent4"/>
                </a:solidFill>
              </a:defRPr>
            </a:lvl4pPr>
            <a:lvl5pPr lvl="4" rtl="0">
              <a:spcBef>
                <a:spcPts val="400"/>
              </a:spcBef>
              <a:spcAft>
                <a:spcPts val="0"/>
              </a:spcAft>
              <a:buClr>
                <a:schemeClr val="accent4"/>
              </a:buClr>
              <a:buSzPts val="600"/>
              <a:buNone/>
              <a:defRPr>
                <a:solidFill>
                  <a:schemeClr val="accent4"/>
                </a:solidFill>
              </a:defRPr>
            </a:lvl5pPr>
            <a:lvl6pPr lvl="5" rtl="0">
              <a:spcBef>
                <a:spcPts val="400"/>
              </a:spcBef>
              <a:spcAft>
                <a:spcPts val="0"/>
              </a:spcAft>
              <a:buClr>
                <a:schemeClr val="accent4"/>
              </a:buClr>
              <a:buSzPts val="1400"/>
              <a:buNone/>
              <a:defRPr>
                <a:solidFill>
                  <a:schemeClr val="accent4"/>
                </a:solidFill>
              </a:defRPr>
            </a:lvl6pPr>
            <a:lvl7pPr lvl="6" rtl="0">
              <a:spcBef>
                <a:spcPts val="400"/>
              </a:spcBef>
              <a:spcAft>
                <a:spcPts val="0"/>
              </a:spcAft>
              <a:buClr>
                <a:schemeClr val="accent4"/>
              </a:buClr>
              <a:buSzPts val="1400"/>
              <a:buNone/>
              <a:defRPr>
                <a:solidFill>
                  <a:schemeClr val="accent4"/>
                </a:solidFill>
              </a:defRPr>
            </a:lvl7pPr>
            <a:lvl8pPr lvl="7" rtl="0">
              <a:spcBef>
                <a:spcPts val="400"/>
              </a:spcBef>
              <a:spcAft>
                <a:spcPts val="0"/>
              </a:spcAft>
              <a:buClr>
                <a:schemeClr val="accent4"/>
              </a:buClr>
              <a:buSzPts val="1400"/>
              <a:buNone/>
              <a:defRPr>
                <a:solidFill>
                  <a:schemeClr val="accent4"/>
                </a:solidFill>
              </a:defRPr>
            </a:lvl8pPr>
            <a:lvl9pPr lvl="8" rtl="0">
              <a:spcBef>
                <a:spcPts val="400"/>
              </a:spcBef>
              <a:spcAft>
                <a:spcPts val="0"/>
              </a:spcAft>
              <a:buClr>
                <a:schemeClr val="accent4"/>
              </a:buClr>
              <a:buSzPts val="1400"/>
              <a:buNone/>
              <a:defRPr>
                <a:solidFill>
                  <a:schemeClr val="accent4"/>
                </a:solidFil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Title Slide-Var 1">
  <p:cSld name="24_Title Slide_1">
    <p:spTree>
      <p:nvGrpSpPr>
        <p:cNvPr id="19" name="Shape 19"/>
        <p:cNvGrpSpPr/>
        <p:nvPr/>
      </p:nvGrpSpPr>
      <p:grpSpPr>
        <a:xfrm>
          <a:off x="0" y="0"/>
          <a:ext cx="0" cy="0"/>
          <a:chOff x="0" y="0"/>
          <a:chExt cx="0" cy="0"/>
        </a:xfrm>
      </p:grpSpPr>
      <p:pic>
        <p:nvPicPr>
          <p:cNvPr id="20" name="Google Shape;20;p3"/>
          <p:cNvPicPr preferRelativeResize="0"/>
          <p:nvPr/>
        </p:nvPicPr>
        <p:blipFill rotWithShape="1">
          <a:blip r:embed="rId2">
            <a:alphaModFix/>
          </a:blip>
          <a:srcRect b="0" l="367" r="367" t="0"/>
          <a:stretch/>
        </p:blipFill>
        <p:spPr>
          <a:xfrm>
            <a:off x="0" y="-38100"/>
            <a:ext cx="9144005" cy="5181600"/>
          </a:xfrm>
          <a:prstGeom prst="rect">
            <a:avLst/>
          </a:prstGeom>
          <a:noFill/>
          <a:ln>
            <a:noFill/>
          </a:ln>
        </p:spPr>
      </p:pic>
      <p:pic>
        <p:nvPicPr>
          <p:cNvPr id="21" name="Google Shape;21;p3"/>
          <p:cNvPicPr preferRelativeResize="0"/>
          <p:nvPr/>
        </p:nvPicPr>
        <p:blipFill>
          <a:blip r:embed="rId3">
            <a:alphaModFix/>
          </a:blip>
          <a:stretch>
            <a:fillRect/>
          </a:stretch>
        </p:blipFill>
        <p:spPr>
          <a:xfrm>
            <a:off x="343675" y="419000"/>
            <a:ext cx="1180749" cy="335551"/>
          </a:xfrm>
          <a:prstGeom prst="rect">
            <a:avLst/>
          </a:prstGeom>
          <a:noFill/>
          <a:ln>
            <a:noFill/>
          </a:ln>
        </p:spPr>
      </p:pic>
      <p:sp>
        <p:nvSpPr>
          <p:cNvPr id="22" name="Google Shape;22;p3"/>
          <p:cNvSpPr txBox="1"/>
          <p:nvPr>
            <p:ph type="title"/>
          </p:nvPr>
        </p:nvSpPr>
        <p:spPr>
          <a:xfrm>
            <a:off x="343675" y="2907450"/>
            <a:ext cx="3016200" cy="819300"/>
          </a:xfrm>
          <a:prstGeom prst="rect">
            <a:avLst/>
          </a:prstGeom>
        </p:spPr>
        <p:txBody>
          <a:bodyPr anchorCtr="0" anchor="t" bIns="34275" lIns="68575" spcFirstLastPara="1" rIns="68575" wrap="square" tIns="34275">
            <a:normAutofit/>
          </a:bodyPr>
          <a:lstStyle>
            <a:lvl1pPr lvl="0" rtl="0">
              <a:spcBef>
                <a:spcPts val="0"/>
              </a:spcBef>
              <a:spcAft>
                <a:spcPts val="0"/>
              </a:spcAft>
              <a:buClr>
                <a:schemeClr val="lt1"/>
              </a:buClr>
              <a:buSzPts val="2600"/>
              <a:buFont typeface="Proxima Nova"/>
              <a:buNone/>
              <a:defRPr sz="2600">
                <a:solidFill>
                  <a:schemeClr val="lt1"/>
                </a:solidFill>
                <a:latin typeface="Proxima Nova"/>
                <a:ea typeface="Proxima Nova"/>
                <a:cs typeface="Proxima Nova"/>
                <a:sym typeface="Proxima Nova"/>
              </a:defRPr>
            </a:lvl1pPr>
            <a:lvl2pPr lvl="1" rtl="0">
              <a:spcBef>
                <a:spcPts val="0"/>
              </a:spcBef>
              <a:spcAft>
                <a:spcPts val="0"/>
              </a:spcAft>
              <a:buSzPts val="1100"/>
              <a:buNone/>
              <a:defRPr/>
            </a:lvl2pPr>
            <a:lvl3pPr lvl="2" rtl="0">
              <a:spcBef>
                <a:spcPts val="0"/>
              </a:spcBef>
              <a:spcAft>
                <a:spcPts val="0"/>
              </a:spcAft>
              <a:buSzPts val="1100"/>
              <a:buNone/>
              <a:defRPr/>
            </a:lvl3pPr>
            <a:lvl4pPr lvl="3" rtl="0">
              <a:spcBef>
                <a:spcPts val="0"/>
              </a:spcBef>
              <a:spcAft>
                <a:spcPts val="0"/>
              </a:spcAft>
              <a:buSzPts val="1100"/>
              <a:buNone/>
              <a:defRPr/>
            </a:lvl4pPr>
            <a:lvl5pPr lvl="4" rtl="0">
              <a:spcBef>
                <a:spcPts val="0"/>
              </a:spcBef>
              <a:spcAft>
                <a:spcPts val="0"/>
              </a:spcAft>
              <a:buSzPts val="1100"/>
              <a:buNone/>
              <a:defRPr/>
            </a:lvl5pPr>
            <a:lvl6pPr lvl="5" rtl="0">
              <a:spcBef>
                <a:spcPts val="0"/>
              </a:spcBef>
              <a:spcAft>
                <a:spcPts val="0"/>
              </a:spcAft>
              <a:buSzPts val="1100"/>
              <a:buNone/>
              <a:defRPr/>
            </a:lvl6pPr>
            <a:lvl7pPr lvl="6" rtl="0">
              <a:spcBef>
                <a:spcPts val="0"/>
              </a:spcBef>
              <a:spcAft>
                <a:spcPts val="0"/>
              </a:spcAft>
              <a:buSzPts val="1100"/>
              <a:buNone/>
              <a:defRPr/>
            </a:lvl7pPr>
            <a:lvl8pPr lvl="7" rtl="0">
              <a:spcBef>
                <a:spcPts val="0"/>
              </a:spcBef>
              <a:spcAft>
                <a:spcPts val="0"/>
              </a:spcAft>
              <a:buSzPts val="1100"/>
              <a:buNone/>
              <a:defRPr/>
            </a:lvl8pPr>
            <a:lvl9pPr lvl="8" rtl="0">
              <a:spcBef>
                <a:spcPts val="0"/>
              </a:spcBef>
              <a:spcAft>
                <a:spcPts val="0"/>
              </a:spcAft>
              <a:buSzPts val="1100"/>
              <a:buNone/>
              <a:defRPr/>
            </a:lvl9pPr>
          </a:lstStyle>
          <a:p/>
        </p:txBody>
      </p:sp>
      <p:sp>
        <p:nvSpPr>
          <p:cNvPr id="23" name="Google Shape;23;p3"/>
          <p:cNvSpPr txBox="1"/>
          <p:nvPr>
            <p:ph idx="1" type="subTitle"/>
          </p:nvPr>
        </p:nvSpPr>
        <p:spPr>
          <a:xfrm>
            <a:off x="351170" y="2571750"/>
            <a:ext cx="3016200" cy="335700"/>
          </a:xfrm>
          <a:prstGeom prst="rect">
            <a:avLst/>
          </a:prstGeom>
        </p:spPr>
        <p:txBody>
          <a:bodyPr anchorCtr="0" anchor="t" bIns="34275" lIns="68575" spcFirstLastPara="1" rIns="68575" wrap="square" tIns="34275">
            <a:normAutofit/>
          </a:bodyPr>
          <a:lstStyle>
            <a:lvl1pPr lvl="0" rtl="0">
              <a:spcBef>
                <a:spcPts val="800"/>
              </a:spcBef>
              <a:spcAft>
                <a:spcPts val="0"/>
              </a:spcAft>
              <a:buClr>
                <a:schemeClr val="lt1"/>
              </a:buClr>
              <a:buSzPts val="1300"/>
              <a:buFont typeface="Proxima Nova"/>
              <a:buNone/>
              <a:defRPr sz="1300">
                <a:solidFill>
                  <a:schemeClr val="lt1"/>
                </a:solidFill>
              </a:defRPr>
            </a:lvl1pPr>
            <a:lvl2pPr lvl="1" rtl="0">
              <a:spcBef>
                <a:spcPts val="400"/>
              </a:spcBef>
              <a:spcAft>
                <a:spcPts val="0"/>
              </a:spcAft>
              <a:buClr>
                <a:schemeClr val="lt1"/>
              </a:buClr>
              <a:buSzPts val="1100"/>
              <a:buNone/>
              <a:defRPr>
                <a:solidFill>
                  <a:schemeClr val="lt1"/>
                </a:solidFill>
              </a:defRPr>
            </a:lvl2pPr>
            <a:lvl3pPr lvl="2" rtl="0">
              <a:spcBef>
                <a:spcPts val="400"/>
              </a:spcBef>
              <a:spcAft>
                <a:spcPts val="0"/>
              </a:spcAft>
              <a:buClr>
                <a:schemeClr val="lt1"/>
              </a:buClr>
              <a:buSzPts val="900"/>
              <a:buNone/>
              <a:defRPr>
                <a:solidFill>
                  <a:schemeClr val="lt1"/>
                </a:solidFill>
              </a:defRPr>
            </a:lvl3pPr>
            <a:lvl4pPr lvl="3" rtl="0">
              <a:spcBef>
                <a:spcPts val="400"/>
              </a:spcBef>
              <a:spcAft>
                <a:spcPts val="0"/>
              </a:spcAft>
              <a:buClr>
                <a:schemeClr val="lt1"/>
              </a:buClr>
              <a:buSzPts val="800"/>
              <a:buNone/>
              <a:defRPr>
                <a:solidFill>
                  <a:schemeClr val="lt1"/>
                </a:solidFill>
              </a:defRPr>
            </a:lvl4pPr>
            <a:lvl5pPr lvl="4" rtl="0">
              <a:spcBef>
                <a:spcPts val="400"/>
              </a:spcBef>
              <a:spcAft>
                <a:spcPts val="0"/>
              </a:spcAft>
              <a:buClr>
                <a:schemeClr val="lt1"/>
              </a:buClr>
              <a:buSzPts val="600"/>
              <a:buNone/>
              <a:defRPr>
                <a:solidFill>
                  <a:schemeClr val="lt1"/>
                </a:solidFill>
              </a:defRPr>
            </a:lvl5pPr>
            <a:lvl6pPr lvl="5" rtl="0">
              <a:spcBef>
                <a:spcPts val="400"/>
              </a:spcBef>
              <a:spcAft>
                <a:spcPts val="0"/>
              </a:spcAft>
              <a:buClr>
                <a:schemeClr val="lt1"/>
              </a:buClr>
              <a:buSzPts val="1400"/>
              <a:buNone/>
              <a:defRPr>
                <a:solidFill>
                  <a:schemeClr val="lt1"/>
                </a:solidFill>
              </a:defRPr>
            </a:lvl6pPr>
            <a:lvl7pPr lvl="6" rtl="0">
              <a:spcBef>
                <a:spcPts val="400"/>
              </a:spcBef>
              <a:spcAft>
                <a:spcPts val="0"/>
              </a:spcAft>
              <a:buClr>
                <a:schemeClr val="lt1"/>
              </a:buClr>
              <a:buSzPts val="1400"/>
              <a:buNone/>
              <a:defRPr>
                <a:solidFill>
                  <a:schemeClr val="lt1"/>
                </a:solidFill>
              </a:defRPr>
            </a:lvl7pPr>
            <a:lvl8pPr lvl="7" rtl="0">
              <a:spcBef>
                <a:spcPts val="400"/>
              </a:spcBef>
              <a:spcAft>
                <a:spcPts val="0"/>
              </a:spcAft>
              <a:buClr>
                <a:schemeClr val="lt1"/>
              </a:buClr>
              <a:buSzPts val="1400"/>
              <a:buNone/>
              <a:defRPr>
                <a:solidFill>
                  <a:schemeClr val="lt1"/>
                </a:solidFill>
              </a:defRPr>
            </a:lvl8pPr>
            <a:lvl9pPr lvl="8" rtl="0">
              <a:spcBef>
                <a:spcPts val="400"/>
              </a:spcBef>
              <a:spcAft>
                <a:spcPts val="0"/>
              </a:spcAft>
              <a:buClr>
                <a:schemeClr val="lt1"/>
              </a:buClr>
              <a:buSzPts val="1400"/>
              <a:buNone/>
              <a:defRPr>
                <a:solidFill>
                  <a:schemeClr val="lt1"/>
                </a:solidFill>
              </a:defRPr>
            </a:lvl9pPr>
          </a:lstStyle>
          <a:p/>
        </p:txBody>
      </p:sp>
      <p:cxnSp>
        <p:nvCxnSpPr>
          <p:cNvPr id="24" name="Google Shape;24;p3"/>
          <p:cNvCxnSpPr/>
          <p:nvPr/>
        </p:nvCxnSpPr>
        <p:spPr>
          <a:xfrm>
            <a:off x="443130" y="4044275"/>
            <a:ext cx="891900" cy="0"/>
          </a:xfrm>
          <a:prstGeom prst="straightConnector1">
            <a:avLst/>
          </a:prstGeom>
          <a:noFill/>
          <a:ln cap="flat" cmpd="sng" w="9525">
            <a:solidFill>
              <a:schemeClr val="lt1"/>
            </a:solidFill>
            <a:prstDash val="solid"/>
            <a:round/>
            <a:headEnd len="med" w="med" type="none"/>
            <a:tailEnd len="med" w="med" type="none"/>
          </a:ln>
        </p:spPr>
      </p:cxnSp>
      <p:sp>
        <p:nvSpPr>
          <p:cNvPr id="25" name="Google Shape;25;p3"/>
          <p:cNvSpPr txBox="1"/>
          <p:nvPr>
            <p:ph idx="2" type="subTitle"/>
          </p:nvPr>
        </p:nvSpPr>
        <p:spPr>
          <a:xfrm>
            <a:off x="366160" y="4153150"/>
            <a:ext cx="3016200" cy="335700"/>
          </a:xfrm>
          <a:prstGeom prst="rect">
            <a:avLst/>
          </a:prstGeom>
        </p:spPr>
        <p:txBody>
          <a:bodyPr anchorCtr="0" anchor="t" bIns="34275" lIns="68575" spcFirstLastPara="1" rIns="68575" wrap="square" tIns="34275">
            <a:normAutofit/>
          </a:bodyPr>
          <a:lstStyle>
            <a:lvl1pPr lvl="0" rtl="0">
              <a:spcBef>
                <a:spcPts val="800"/>
              </a:spcBef>
              <a:spcAft>
                <a:spcPts val="0"/>
              </a:spcAft>
              <a:buClr>
                <a:schemeClr val="accent4"/>
              </a:buClr>
              <a:buSzPts val="1300"/>
              <a:buFont typeface="Proxima Nova"/>
              <a:buNone/>
              <a:defRPr b="1" sz="1300">
                <a:solidFill>
                  <a:schemeClr val="accent4"/>
                </a:solidFill>
                <a:latin typeface="Proxima Nova"/>
                <a:ea typeface="Proxima Nova"/>
                <a:cs typeface="Proxima Nova"/>
                <a:sym typeface="Proxima Nova"/>
              </a:defRPr>
            </a:lvl1pPr>
            <a:lvl2pPr lvl="1" rtl="0">
              <a:spcBef>
                <a:spcPts val="400"/>
              </a:spcBef>
              <a:spcAft>
                <a:spcPts val="0"/>
              </a:spcAft>
              <a:buClr>
                <a:schemeClr val="accent4"/>
              </a:buClr>
              <a:buSzPts val="1100"/>
              <a:buNone/>
              <a:defRPr>
                <a:solidFill>
                  <a:schemeClr val="accent4"/>
                </a:solidFill>
              </a:defRPr>
            </a:lvl2pPr>
            <a:lvl3pPr lvl="2" rtl="0">
              <a:spcBef>
                <a:spcPts val="400"/>
              </a:spcBef>
              <a:spcAft>
                <a:spcPts val="0"/>
              </a:spcAft>
              <a:buClr>
                <a:schemeClr val="accent4"/>
              </a:buClr>
              <a:buSzPts val="900"/>
              <a:buNone/>
              <a:defRPr>
                <a:solidFill>
                  <a:schemeClr val="accent4"/>
                </a:solidFill>
              </a:defRPr>
            </a:lvl3pPr>
            <a:lvl4pPr lvl="3" rtl="0">
              <a:spcBef>
                <a:spcPts val="400"/>
              </a:spcBef>
              <a:spcAft>
                <a:spcPts val="0"/>
              </a:spcAft>
              <a:buClr>
                <a:schemeClr val="accent4"/>
              </a:buClr>
              <a:buSzPts val="800"/>
              <a:buNone/>
              <a:defRPr>
                <a:solidFill>
                  <a:schemeClr val="accent4"/>
                </a:solidFill>
              </a:defRPr>
            </a:lvl4pPr>
            <a:lvl5pPr lvl="4" rtl="0">
              <a:spcBef>
                <a:spcPts val="400"/>
              </a:spcBef>
              <a:spcAft>
                <a:spcPts val="0"/>
              </a:spcAft>
              <a:buClr>
                <a:schemeClr val="accent4"/>
              </a:buClr>
              <a:buSzPts val="600"/>
              <a:buNone/>
              <a:defRPr>
                <a:solidFill>
                  <a:schemeClr val="accent4"/>
                </a:solidFill>
              </a:defRPr>
            </a:lvl5pPr>
            <a:lvl6pPr lvl="5" rtl="0">
              <a:spcBef>
                <a:spcPts val="400"/>
              </a:spcBef>
              <a:spcAft>
                <a:spcPts val="0"/>
              </a:spcAft>
              <a:buClr>
                <a:schemeClr val="accent4"/>
              </a:buClr>
              <a:buSzPts val="1400"/>
              <a:buNone/>
              <a:defRPr>
                <a:solidFill>
                  <a:schemeClr val="accent4"/>
                </a:solidFill>
              </a:defRPr>
            </a:lvl6pPr>
            <a:lvl7pPr lvl="6" rtl="0">
              <a:spcBef>
                <a:spcPts val="400"/>
              </a:spcBef>
              <a:spcAft>
                <a:spcPts val="0"/>
              </a:spcAft>
              <a:buClr>
                <a:schemeClr val="accent4"/>
              </a:buClr>
              <a:buSzPts val="1400"/>
              <a:buNone/>
              <a:defRPr>
                <a:solidFill>
                  <a:schemeClr val="accent4"/>
                </a:solidFill>
              </a:defRPr>
            </a:lvl7pPr>
            <a:lvl8pPr lvl="7" rtl="0">
              <a:spcBef>
                <a:spcPts val="400"/>
              </a:spcBef>
              <a:spcAft>
                <a:spcPts val="0"/>
              </a:spcAft>
              <a:buClr>
                <a:schemeClr val="accent4"/>
              </a:buClr>
              <a:buSzPts val="1400"/>
              <a:buNone/>
              <a:defRPr>
                <a:solidFill>
                  <a:schemeClr val="accent4"/>
                </a:solidFill>
              </a:defRPr>
            </a:lvl8pPr>
            <a:lvl9pPr lvl="8" rtl="0">
              <a:spcBef>
                <a:spcPts val="400"/>
              </a:spcBef>
              <a:spcAft>
                <a:spcPts val="0"/>
              </a:spcAft>
              <a:buClr>
                <a:schemeClr val="accent4"/>
              </a:buClr>
              <a:buSzPts val="1400"/>
              <a:buNone/>
              <a:defRPr>
                <a:solidFill>
                  <a:schemeClr val="accent4"/>
                </a:solidFil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Template">
  <p:cSld name="Approach">
    <p:spTree>
      <p:nvGrpSpPr>
        <p:cNvPr id="26" name="Shape 26"/>
        <p:cNvGrpSpPr/>
        <p:nvPr/>
      </p:nvGrpSpPr>
      <p:grpSpPr>
        <a:xfrm>
          <a:off x="0" y="0"/>
          <a:ext cx="0" cy="0"/>
          <a:chOff x="0" y="0"/>
          <a:chExt cx="0" cy="0"/>
        </a:xfrm>
      </p:grpSpPr>
      <p:sp>
        <p:nvSpPr>
          <p:cNvPr id="27" name="Google Shape;27;p4"/>
          <p:cNvSpPr txBox="1"/>
          <p:nvPr>
            <p:ph type="ctrTitle"/>
          </p:nvPr>
        </p:nvSpPr>
        <p:spPr>
          <a:xfrm>
            <a:off x="1200150" y="1103700"/>
            <a:ext cx="5649300" cy="7572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chemeClr val="dk1"/>
              </a:buClr>
              <a:buSzPts val="2400"/>
              <a:buNone/>
              <a:defRPr sz="2400"/>
            </a:lvl1pPr>
            <a:lvl2pPr lvl="1" rtl="0">
              <a:spcBef>
                <a:spcPts val="0"/>
              </a:spcBef>
              <a:spcAft>
                <a:spcPts val="0"/>
              </a:spcAft>
              <a:buSzPts val="1100"/>
              <a:buNone/>
              <a:defRPr/>
            </a:lvl2pPr>
            <a:lvl3pPr lvl="2" rtl="0">
              <a:spcBef>
                <a:spcPts val="0"/>
              </a:spcBef>
              <a:spcAft>
                <a:spcPts val="0"/>
              </a:spcAft>
              <a:buSzPts val="1100"/>
              <a:buNone/>
              <a:defRPr/>
            </a:lvl3pPr>
            <a:lvl4pPr lvl="3" rtl="0">
              <a:spcBef>
                <a:spcPts val="0"/>
              </a:spcBef>
              <a:spcAft>
                <a:spcPts val="0"/>
              </a:spcAft>
              <a:buSzPts val="1100"/>
              <a:buNone/>
              <a:defRPr/>
            </a:lvl4pPr>
            <a:lvl5pPr lvl="4" rtl="0">
              <a:spcBef>
                <a:spcPts val="0"/>
              </a:spcBef>
              <a:spcAft>
                <a:spcPts val="0"/>
              </a:spcAft>
              <a:buSzPts val="1100"/>
              <a:buNone/>
              <a:defRPr/>
            </a:lvl5pPr>
            <a:lvl6pPr lvl="5" rtl="0">
              <a:spcBef>
                <a:spcPts val="0"/>
              </a:spcBef>
              <a:spcAft>
                <a:spcPts val="0"/>
              </a:spcAft>
              <a:buSzPts val="1100"/>
              <a:buNone/>
              <a:defRPr/>
            </a:lvl6pPr>
            <a:lvl7pPr lvl="6" rtl="0">
              <a:spcBef>
                <a:spcPts val="0"/>
              </a:spcBef>
              <a:spcAft>
                <a:spcPts val="0"/>
              </a:spcAft>
              <a:buSzPts val="1100"/>
              <a:buNone/>
              <a:defRPr/>
            </a:lvl7pPr>
            <a:lvl8pPr lvl="7" rtl="0">
              <a:spcBef>
                <a:spcPts val="0"/>
              </a:spcBef>
              <a:spcAft>
                <a:spcPts val="0"/>
              </a:spcAft>
              <a:buSzPts val="1100"/>
              <a:buNone/>
              <a:defRPr/>
            </a:lvl8pPr>
            <a:lvl9pPr lvl="8" rtl="0">
              <a:spcBef>
                <a:spcPts val="0"/>
              </a:spcBef>
              <a:spcAft>
                <a:spcPts val="0"/>
              </a:spcAft>
              <a:buSzPts val="1100"/>
              <a:buNone/>
              <a:defRPr/>
            </a:lvl9pPr>
          </a:lstStyle>
          <a:p/>
        </p:txBody>
      </p:sp>
      <p:pic>
        <p:nvPicPr>
          <p:cNvPr descr="/home/claude/assets/toptal_logo_dark.png" id="28" name="Google Shape;28;p4"/>
          <p:cNvPicPr preferRelativeResize="0"/>
          <p:nvPr/>
        </p:nvPicPr>
        <p:blipFill rotWithShape="1">
          <a:blip r:embed="rId2">
            <a:alphaModFix/>
          </a:blip>
          <a:srcRect b="0" l="0" r="0" t="0"/>
          <a:stretch/>
        </p:blipFill>
        <p:spPr>
          <a:xfrm>
            <a:off x="342900" y="4855464"/>
            <a:ext cx="425197" cy="116759"/>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400"/>
                                  </p:stCondLst>
                                  <p:childTnLst>
                                    <p:set>
                                      <p:cBhvr>
                                        <p:cTn dur="1" fill="hold">
                                          <p:stCondLst>
                                            <p:cond delay="0"/>
                                          </p:stCondLst>
                                        </p:cTn>
                                        <p:tgtEl>
                                          <p:spTgt spid="27"/>
                                        </p:tgtEl>
                                        <p:attrNameLst>
                                          <p:attrName>style.visibility</p:attrName>
                                        </p:attrNameLst>
                                      </p:cBhvr>
                                      <p:to>
                                        <p:strVal val="visible"/>
                                      </p:to>
                                    </p:set>
                                    <p:animEffect filter="fade" transition="in">
                                      <p:cBhvr>
                                        <p:cTn dur="750"/>
                                        <p:tgtEl>
                                          <p:spTgt spid="2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0_Title Slide">
  <p:cSld name="10_Title Slide">
    <p:spTree>
      <p:nvGrpSpPr>
        <p:cNvPr id="29" name="Shape 29"/>
        <p:cNvGrpSpPr/>
        <p:nvPr/>
      </p:nvGrpSpPr>
      <p:grpSpPr>
        <a:xfrm>
          <a:off x="0" y="0"/>
          <a:ext cx="0" cy="0"/>
          <a:chOff x="0" y="0"/>
          <a:chExt cx="0" cy="0"/>
        </a:xfrm>
      </p:grpSpPr>
      <p:sp>
        <p:nvSpPr>
          <p:cNvPr id="30" name="Google Shape;30;p5"/>
          <p:cNvSpPr/>
          <p:nvPr>
            <p:ph idx="2" type="pic"/>
          </p:nvPr>
        </p:nvSpPr>
        <p:spPr>
          <a:xfrm>
            <a:off x="284356" y="0"/>
            <a:ext cx="8859600" cy="5143500"/>
          </a:xfrm>
          <a:prstGeom prst="rect">
            <a:avLst/>
          </a:prstGeom>
          <a:solidFill>
            <a:srgbClr val="CFD9F7"/>
          </a:solidFill>
          <a:ln>
            <a:noFill/>
          </a:ln>
        </p:spPr>
      </p:sp>
      <p:sp>
        <p:nvSpPr>
          <p:cNvPr id="31" name="Google Shape;31;p5"/>
          <p:cNvSpPr txBox="1"/>
          <p:nvPr>
            <p:ph type="ctrTitle"/>
          </p:nvPr>
        </p:nvSpPr>
        <p:spPr>
          <a:xfrm>
            <a:off x="1200150" y="2023849"/>
            <a:ext cx="4681800" cy="10959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FFFFFF"/>
              </a:buClr>
              <a:buSzPts val="3300"/>
              <a:buFont typeface="Montserrat"/>
              <a:buNone/>
              <a:defRPr b="1" sz="3300">
                <a:solidFill>
                  <a:srgbClr val="FFFFFF"/>
                </a:solidFill>
                <a:latin typeface="Montserrat"/>
                <a:ea typeface="Montserrat"/>
                <a:cs typeface="Montserrat"/>
                <a:sym typeface="Montserrat"/>
              </a:defRPr>
            </a:lvl1pPr>
            <a:lvl2pPr lvl="1" rtl="0">
              <a:spcBef>
                <a:spcPts val="0"/>
              </a:spcBef>
              <a:spcAft>
                <a:spcPts val="0"/>
              </a:spcAft>
              <a:buSzPts val="1100"/>
              <a:buNone/>
              <a:defRPr/>
            </a:lvl2pPr>
            <a:lvl3pPr lvl="2" rtl="0">
              <a:spcBef>
                <a:spcPts val="0"/>
              </a:spcBef>
              <a:spcAft>
                <a:spcPts val="0"/>
              </a:spcAft>
              <a:buSzPts val="1100"/>
              <a:buNone/>
              <a:defRPr/>
            </a:lvl3pPr>
            <a:lvl4pPr lvl="3" rtl="0">
              <a:spcBef>
                <a:spcPts val="0"/>
              </a:spcBef>
              <a:spcAft>
                <a:spcPts val="0"/>
              </a:spcAft>
              <a:buSzPts val="1100"/>
              <a:buNone/>
              <a:defRPr/>
            </a:lvl4pPr>
            <a:lvl5pPr lvl="4" rtl="0">
              <a:spcBef>
                <a:spcPts val="0"/>
              </a:spcBef>
              <a:spcAft>
                <a:spcPts val="0"/>
              </a:spcAft>
              <a:buSzPts val="1100"/>
              <a:buNone/>
              <a:defRPr/>
            </a:lvl5pPr>
            <a:lvl6pPr lvl="5" rtl="0">
              <a:spcBef>
                <a:spcPts val="0"/>
              </a:spcBef>
              <a:spcAft>
                <a:spcPts val="0"/>
              </a:spcAft>
              <a:buSzPts val="1100"/>
              <a:buNone/>
              <a:defRPr/>
            </a:lvl6pPr>
            <a:lvl7pPr lvl="6" rtl="0">
              <a:spcBef>
                <a:spcPts val="0"/>
              </a:spcBef>
              <a:spcAft>
                <a:spcPts val="0"/>
              </a:spcAft>
              <a:buSzPts val="1100"/>
              <a:buNone/>
              <a:defRPr/>
            </a:lvl7pPr>
            <a:lvl8pPr lvl="7" rtl="0">
              <a:spcBef>
                <a:spcPts val="0"/>
              </a:spcBef>
              <a:spcAft>
                <a:spcPts val="0"/>
              </a:spcAft>
              <a:buSzPts val="1100"/>
              <a:buNone/>
              <a:defRPr/>
            </a:lvl8pPr>
            <a:lvl9pPr lvl="8" rtl="0">
              <a:spcBef>
                <a:spcPts val="0"/>
              </a:spcBef>
              <a:spcAft>
                <a:spcPts val="0"/>
              </a:spcAft>
              <a:buSzPts val="1100"/>
              <a:buNone/>
              <a:defRPr/>
            </a:lvl9pPr>
          </a:lstStyle>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30"/>
                                        </p:tgtEl>
                                        <p:attrNameLst>
                                          <p:attrName>style.visibility</p:attrName>
                                        </p:attrNameLst>
                                      </p:cBhvr>
                                      <p:to>
                                        <p:strVal val="visible"/>
                                      </p:to>
                                    </p:set>
                                    <p:animEffect filter="fade" transition="in">
                                      <p:cBhvr>
                                        <p:cTn dur="500"/>
                                        <p:tgtEl>
                                          <p:spTgt spid="3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1_Title Slide">
  <p:cSld name="111_Title Slide">
    <p:spTree>
      <p:nvGrpSpPr>
        <p:cNvPr id="32" name="Shape 32"/>
        <p:cNvGrpSpPr/>
        <p:nvPr/>
      </p:nvGrpSpPr>
      <p:grpSpPr>
        <a:xfrm>
          <a:off x="0" y="0"/>
          <a:ext cx="0" cy="0"/>
          <a:chOff x="0" y="0"/>
          <a:chExt cx="0" cy="0"/>
        </a:xfrm>
      </p:grpSpPr>
      <p:grpSp>
        <p:nvGrpSpPr>
          <p:cNvPr id="33" name="Google Shape;33;p6"/>
          <p:cNvGrpSpPr/>
          <p:nvPr/>
        </p:nvGrpSpPr>
        <p:grpSpPr>
          <a:xfrm>
            <a:off x="3190559" y="0"/>
            <a:ext cx="5953432" cy="5143500"/>
            <a:chOff x="4254079" y="0"/>
            <a:chExt cx="7937909" cy="6858000"/>
          </a:xfrm>
        </p:grpSpPr>
        <p:sp>
          <p:nvSpPr>
            <p:cNvPr id="34" name="Google Shape;34;p6"/>
            <p:cNvSpPr/>
            <p:nvPr/>
          </p:nvSpPr>
          <p:spPr>
            <a:xfrm>
              <a:off x="4590288" y="0"/>
              <a:ext cx="7601700" cy="6858000"/>
            </a:xfrm>
            <a:prstGeom prst="rect">
              <a:avLst/>
            </a:prstGeom>
            <a:solidFill>
              <a:schemeClr val="accent1"/>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1" sz="4800">
                <a:solidFill>
                  <a:srgbClr val="FFFFFF"/>
                </a:solidFill>
                <a:latin typeface="Montserrat"/>
                <a:ea typeface="Montserrat"/>
                <a:cs typeface="Montserrat"/>
                <a:sym typeface="Montserrat"/>
              </a:endParaRPr>
            </a:p>
          </p:txBody>
        </p:sp>
        <p:sp>
          <p:nvSpPr>
            <p:cNvPr id="35" name="Google Shape;35;p6"/>
            <p:cNvSpPr/>
            <p:nvPr/>
          </p:nvSpPr>
          <p:spPr>
            <a:xfrm>
              <a:off x="4254079" y="2574262"/>
              <a:ext cx="672300" cy="672300"/>
            </a:xfrm>
            <a:prstGeom prst="diamond">
              <a:avLst/>
            </a:prstGeom>
            <a:solidFill>
              <a:schemeClr val="accent1"/>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Open Sans"/>
                <a:ea typeface="Open Sans"/>
                <a:cs typeface="Open Sans"/>
                <a:sym typeface="Open Sans"/>
              </a:endParaRPr>
            </a:p>
          </p:txBody>
        </p:sp>
      </p:gr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2" presetSubtype="2">
                                  <p:stCondLst>
                                    <p:cond delay="0"/>
                                  </p:stCondLst>
                                  <p:childTnLst>
                                    <p:set>
                                      <p:cBhvr>
                                        <p:cTn dur="1" fill="hold">
                                          <p:stCondLst>
                                            <p:cond delay="0"/>
                                          </p:stCondLst>
                                        </p:cTn>
                                        <p:tgtEl>
                                          <p:spTgt spid="33"/>
                                        </p:tgtEl>
                                        <p:attrNameLst>
                                          <p:attrName>style.visibility</p:attrName>
                                        </p:attrNameLst>
                                      </p:cBhvr>
                                      <p:to>
                                        <p:strVal val="visible"/>
                                      </p:to>
                                    </p:set>
                                    <p:anim calcmode="lin" valueType="num">
                                      <p:cBhvr additive="base">
                                        <p:cTn dur="750"/>
                                        <p:tgtEl>
                                          <p:spTgt spid="33"/>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0_Title Slide 1">
  <p:cSld name="111_Title Slide_1">
    <p:spTree>
      <p:nvGrpSpPr>
        <p:cNvPr id="36" name="Shape 36"/>
        <p:cNvGrpSpPr/>
        <p:nvPr/>
      </p:nvGrpSpPr>
      <p:grpSpPr>
        <a:xfrm>
          <a:off x="0" y="0"/>
          <a:ext cx="0" cy="0"/>
          <a:chOff x="0" y="0"/>
          <a:chExt cx="0" cy="0"/>
        </a:xfrm>
      </p:grpSpPr>
      <p:grpSp>
        <p:nvGrpSpPr>
          <p:cNvPr id="37" name="Google Shape;37;p7"/>
          <p:cNvGrpSpPr/>
          <p:nvPr/>
        </p:nvGrpSpPr>
        <p:grpSpPr>
          <a:xfrm>
            <a:off x="4977122" y="0"/>
            <a:ext cx="4166950" cy="5143500"/>
            <a:chOff x="6636162" y="0"/>
            <a:chExt cx="5555934" cy="6858000"/>
          </a:xfrm>
        </p:grpSpPr>
        <p:sp>
          <p:nvSpPr>
            <p:cNvPr id="38" name="Google Shape;38;p7"/>
            <p:cNvSpPr/>
            <p:nvPr/>
          </p:nvSpPr>
          <p:spPr>
            <a:xfrm>
              <a:off x="6972396" y="0"/>
              <a:ext cx="5219700" cy="6858000"/>
            </a:xfrm>
            <a:prstGeom prst="rect">
              <a:avLst/>
            </a:prstGeom>
            <a:solidFill>
              <a:schemeClr val="accent1"/>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1" sz="4800">
                <a:solidFill>
                  <a:srgbClr val="FFFFFF"/>
                </a:solidFill>
                <a:latin typeface="Montserrat"/>
                <a:ea typeface="Montserrat"/>
                <a:cs typeface="Montserrat"/>
                <a:sym typeface="Montserrat"/>
              </a:endParaRPr>
            </a:p>
          </p:txBody>
        </p:sp>
        <p:sp>
          <p:nvSpPr>
            <p:cNvPr id="39" name="Google Shape;39;p7"/>
            <p:cNvSpPr/>
            <p:nvPr/>
          </p:nvSpPr>
          <p:spPr>
            <a:xfrm>
              <a:off x="6636162" y="2574262"/>
              <a:ext cx="672300" cy="672300"/>
            </a:xfrm>
            <a:prstGeom prst="diamond">
              <a:avLst/>
            </a:prstGeom>
            <a:solidFill>
              <a:schemeClr val="accent1"/>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Open Sans"/>
                <a:ea typeface="Open Sans"/>
                <a:cs typeface="Open Sans"/>
                <a:sym typeface="Open Sans"/>
              </a:endParaRPr>
            </a:p>
          </p:txBody>
        </p:sp>
      </p:gr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2" presetSubtype="2">
                                  <p:stCondLst>
                                    <p:cond delay="0"/>
                                  </p:stCondLst>
                                  <p:childTnLst>
                                    <p:set>
                                      <p:cBhvr>
                                        <p:cTn dur="1" fill="hold">
                                          <p:stCondLst>
                                            <p:cond delay="0"/>
                                          </p:stCondLst>
                                        </p:cTn>
                                        <p:tgtEl>
                                          <p:spTgt spid="37"/>
                                        </p:tgtEl>
                                        <p:attrNameLst>
                                          <p:attrName>style.visibility</p:attrName>
                                        </p:attrNameLst>
                                      </p:cBhvr>
                                      <p:to>
                                        <p:strVal val="visible"/>
                                      </p:to>
                                    </p:set>
                                    <p:anim calcmode="lin" valueType="num">
                                      <p:cBhvr additive="base">
                                        <p:cTn dur="750"/>
                                        <p:tgtEl>
                                          <p:spTgt spid="37"/>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3_Title Slide">
  <p:cSld name="133_Title Slide">
    <p:spTree>
      <p:nvGrpSpPr>
        <p:cNvPr id="40" name="Shape 40"/>
        <p:cNvGrpSpPr/>
        <p:nvPr/>
      </p:nvGrpSpPr>
      <p:grpSpPr>
        <a:xfrm>
          <a:off x="0" y="0"/>
          <a:ext cx="0" cy="0"/>
          <a:chOff x="0" y="0"/>
          <a:chExt cx="0" cy="0"/>
        </a:xfrm>
      </p:grpSpPr>
      <p:sp>
        <p:nvSpPr>
          <p:cNvPr id="41" name="Google Shape;41;p8"/>
          <p:cNvSpPr/>
          <p:nvPr/>
        </p:nvSpPr>
        <p:spPr>
          <a:xfrm>
            <a:off x="3442716" y="0"/>
            <a:ext cx="5701200" cy="5143500"/>
          </a:xfrm>
          <a:prstGeom prst="rect">
            <a:avLst/>
          </a:prstGeom>
          <a:solidFill>
            <a:schemeClr val="accent1"/>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1" sz="4800">
              <a:solidFill>
                <a:srgbClr val="FFFFFF"/>
              </a:solidFill>
              <a:latin typeface="Montserrat"/>
              <a:ea typeface="Montserrat"/>
              <a:cs typeface="Montserrat"/>
              <a:sym typeface="Montserrat"/>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Team-2">
  <p:cSld name="29_Title Slide_1_3_1_1">
    <p:spTree>
      <p:nvGrpSpPr>
        <p:cNvPr id="42" name="Shape 42"/>
        <p:cNvGrpSpPr/>
        <p:nvPr/>
      </p:nvGrpSpPr>
      <p:grpSpPr>
        <a:xfrm>
          <a:off x="0" y="0"/>
          <a:ext cx="0" cy="0"/>
          <a:chOff x="0" y="0"/>
          <a:chExt cx="0" cy="0"/>
        </a:xfrm>
      </p:grpSpPr>
      <p:sp>
        <p:nvSpPr>
          <p:cNvPr id="43" name="Google Shape;43;p9"/>
          <p:cNvSpPr txBox="1"/>
          <p:nvPr>
            <p:ph type="ctrTitle"/>
          </p:nvPr>
        </p:nvSpPr>
        <p:spPr>
          <a:xfrm>
            <a:off x="1200150" y="1200149"/>
            <a:ext cx="2424900" cy="757200"/>
          </a:xfrm>
          <a:prstGeom prst="rect">
            <a:avLst/>
          </a:prstGeom>
          <a:noFill/>
          <a:ln>
            <a:noFill/>
          </a:ln>
        </p:spPr>
        <p:txBody>
          <a:bodyPr anchorCtr="0" anchor="t" bIns="0" lIns="0" spcFirstLastPara="1" rIns="0" wrap="square" tIns="0">
            <a:normAutofit/>
          </a:bodyPr>
          <a:lstStyle>
            <a:lvl1pPr lvl="0" algn="l">
              <a:lnSpc>
                <a:spcPct val="90000"/>
              </a:lnSpc>
              <a:spcBef>
                <a:spcPts val="0"/>
              </a:spcBef>
              <a:spcAft>
                <a:spcPts val="0"/>
              </a:spcAft>
              <a:buClr>
                <a:schemeClr val="dk1"/>
              </a:buClr>
              <a:buSzPts val="2400"/>
              <a:buFont typeface="Montserrat"/>
              <a:buNone/>
              <a:defRPr b="1" sz="2400">
                <a:latin typeface="Montserrat"/>
                <a:ea typeface="Montserrat"/>
                <a:cs typeface="Montserrat"/>
                <a:sym typeface="Montserrat"/>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44" name="Google Shape;44;p9"/>
          <p:cNvSpPr/>
          <p:nvPr>
            <p:ph idx="2" type="pic"/>
          </p:nvPr>
        </p:nvSpPr>
        <p:spPr>
          <a:xfrm>
            <a:off x="4461374" y="1200150"/>
            <a:ext cx="1816500" cy="1816500"/>
          </a:xfrm>
          <a:prstGeom prst="rect">
            <a:avLst/>
          </a:prstGeom>
          <a:noFill/>
          <a:ln>
            <a:noFill/>
          </a:ln>
        </p:spPr>
      </p:sp>
      <p:sp>
        <p:nvSpPr>
          <p:cNvPr id="45" name="Google Shape;45;p9"/>
          <p:cNvSpPr/>
          <p:nvPr>
            <p:ph idx="3" type="pic"/>
          </p:nvPr>
        </p:nvSpPr>
        <p:spPr>
          <a:xfrm>
            <a:off x="6503606" y="1200150"/>
            <a:ext cx="1816500" cy="1816500"/>
          </a:xfrm>
          <a:prstGeom prst="rect">
            <a:avLst/>
          </a:prstGeom>
          <a:noFill/>
          <a:ln>
            <a:noFill/>
          </a:ln>
        </p:spPr>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300"/>
                                  </p:stCondLst>
                                  <p:childTnLst>
                                    <p:set>
                                      <p:cBhvr>
                                        <p:cTn dur="1" fill="hold">
                                          <p:stCondLst>
                                            <p:cond delay="0"/>
                                          </p:stCondLst>
                                        </p:cTn>
                                        <p:tgtEl>
                                          <p:spTgt spid="43"/>
                                        </p:tgtEl>
                                        <p:attrNameLst>
                                          <p:attrName>style.visibility</p:attrName>
                                        </p:attrNameLst>
                                      </p:cBhvr>
                                      <p:to>
                                        <p:strVal val="visible"/>
                                      </p:to>
                                    </p:set>
                                    <p:animEffect filter="fade" transition="in">
                                      <p:cBhvr>
                                        <p:cTn dur="500"/>
                                        <p:tgtEl>
                                          <p:spTgt spid="4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Team-3">
  <p:cSld name="29_Title Slide_1_3_1_2">
    <p:spTree>
      <p:nvGrpSpPr>
        <p:cNvPr id="46" name="Shape 46"/>
        <p:cNvGrpSpPr/>
        <p:nvPr/>
      </p:nvGrpSpPr>
      <p:grpSpPr>
        <a:xfrm>
          <a:off x="0" y="0"/>
          <a:ext cx="0" cy="0"/>
          <a:chOff x="0" y="0"/>
          <a:chExt cx="0" cy="0"/>
        </a:xfrm>
      </p:grpSpPr>
      <p:sp>
        <p:nvSpPr>
          <p:cNvPr id="47" name="Google Shape;47;p10"/>
          <p:cNvSpPr txBox="1"/>
          <p:nvPr>
            <p:ph type="ctrTitle"/>
          </p:nvPr>
        </p:nvSpPr>
        <p:spPr>
          <a:xfrm>
            <a:off x="1200150" y="1200149"/>
            <a:ext cx="2424900" cy="757200"/>
          </a:xfrm>
          <a:prstGeom prst="rect">
            <a:avLst/>
          </a:prstGeom>
          <a:noFill/>
          <a:ln>
            <a:noFill/>
          </a:ln>
        </p:spPr>
        <p:txBody>
          <a:bodyPr anchorCtr="0" anchor="t" bIns="0" lIns="0" spcFirstLastPara="1" rIns="0" wrap="square" tIns="0">
            <a:normAutofit/>
          </a:bodyPr>
          <a:lstStyle>
            <a:lvl1pPr lvl="0" algn="l">
              <a:lnSpc>
                <a:spcPct val="90000"/>
              </a:lnSpc>
              <a:spcBef>
                <a:spcPts val="0"/>
              </a:spcBef>
              <a:spcAft>
                <a:spcPts val="0"/>
              </a:spcAft>
              <a:buClr>
                <a:schemeClr val="dk1"/>
              </a:buClr>
              <a:buSzPts val="2400"/>
              <a:buFont typeface="Montserrat"/>
              <a:buNone/>
              <a:defRPr b="1" sz="2400">
                <a:latin typeface="Montserrat"/>
                <a:ea typeface="Montserrat"/>
                <a:cs typeface="Montserrat"/>
                <a:sym typeface="Montserrat"/>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48" name="Google Shape;48;p10"/>
          <p:cNvSpPr/>
          <p:nvPr>
            <p:ph idx="2" type="pic"/>
          </p:nvPr>
        </p:nvSpPr>
        <p:spPr>
          <a:xfrm>
            <a:off x="4009850" y="1200150"/>
            <a:ext cx="1418100" cy="1418100"/>
          </a:xfrm>
          <a:prstGeom prst="rect">
            <a:avLst/>
          </a:prstGeom>
          <a:noFill/>
          <a:ln>
            <a:noFill/>
          </a:ln>
        </p:spPr>
      </p:sp>
      <p:sp>
        <p:nvSpPr>
          <p:cNvPr id="49" name="Google Shape;49;p10"/>
          <p:cNvSpPr/>
          <p:nvPr>
            <p:ph idx="3" type="pic"/>
          </p:nvPr>
        </p:nvSpPr>
        <p:spPr>
          <a:xfrm>
            <a:off x="5604202" y="1200150"/>
            <a:ext cx="1418100" cy="1418100"/>
          </a:xfrm>
          <a:prstGeom prst="rect">
            <a:avLst/>
          </a:prstGeom>
          <a:noFill/>
          <a:ln>
            <a:noFill/>
          </a:ln>
        </p:spPr>
      </p:sp>
      <p:sp>
        <p:nvSpPr>
          <p:cNvPr id="50" name="Google Shape;50;p10"/>
          <p:cNvSpPr/>
          <p:nvPr>
            <p:ph idx="4" type="pic"/>
          </p:nvPr>
        </p:nvSpPr>
        <p:spPr>
          <a:xfrm>
            <a:off x="7198553" y="1200150"/>
            <a:ext cx="1418100" cy="1418100"/>
          </a:xfrm>
          <a:prstGeom prst="rect">
            <a:avLst/>
          </a:prstGeom>
          <a:noFill/>
          <a:ln>
            <a:noFill/>
          </a:ln>
        </p:spPr>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300"/>
                                  </p:stCondLst>
                                  <p:childTnLst>
                                    <p:set>
                                      <p:cBhvr>
                                        <p:cTn dur="1" fill="hold">
                                          <p:stCondLst>
                                            <p:cond delay="0"/>
                                          </p:stCondLst>
                                        </p:cTn>
                                        <p:tgtEl>
                                          <p:spTgt spid="47"/>
                                        </p:tgtEl>
                                        <p:attrNameLst>
                                          <p:attrName>style.visibility</p:attrName>
                                        </p:attrNameLst>
                                      </p:cBhvr>
                                      <p:to>
                                        <p:strVal val="visible"/>
                                      </p:to>
                                    </p:set>
                                    <p:animEffect filter="fade" transition="in">
                                      <p:cBhvr>
                                        <p:cTn dur="500"/>
                                        <p:tgtEl>
                                          <p:spTgt spid="4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Team-4">
  <p:cSld name="29_Title Slide_1_4">
    <p:spTree>
      <p:nvGrpSpPr>
        <p:cNvPr id="51" name="Shape 51"/>
        <p:cNvGrpSpPr/>
        <p:nvPr/>
      </p:nvGrpSpPr>
      <p:grpSpPr>
        <a:xfrm>
          <a:off x="0" y="0"/>
          <a:ext cx="0" cy="0"/>
          <a:chOff x="0" y="0"/>
          <a:chExt cx="0" cy="0"/>
        </a:xfrm>
      </p:grpSpPr>
      <p:sp>
        <p:nvSpPr>
          <p:cNvPr id="52" name="Google Shape;52;p11"/>
          <p:cNvSpPr txBox="1"/>
          <p:nvPr>
            <p:ph type="ctrTitle"/>
          </p:nvPr>
        </p:nvSpPr>
        <p:spPr>
          <a:xfrm>
            <a:off x="1200150" y="1200149"/>
            <a:ext cx="2424900" cy="757200"/>
          </a:xfrm>
          <a:prstGeom prst="rect">
            <a:avLst/>
          </a:prstGeom>
          <a:noFill/>
          <a:ln>
            <a:noFill/>
          </a:ln>
        </p:spPr>
        <p:txBody>
          <a:bodyPr anchorCtr="0" anchor="t" bIns="0" lIns="0" spcFirstLastPara="1" rIns="0" wrap="square" tIns="0">
            <a:normAutofit/>
          </a:bodyPr>
          <a:lstStyle>
            <a:lvl1pPr lvl="0" algn="l">
              <a:lnSpc>
                <a:spcPct val="90000"/>
              </a:lnSpc>
              <a:spcBef>
                <a:spcPts val="0"/>
              </a:spcBef>
              <a:spcAft>
                <a:spcPts val="0"/>
              </a:spcAft>
              <a:buClr>
                <a:schemeClr val="dk1"/>
              </a:buClr>
              <a:buSzPts val="2400"/>
              <a:buFont typeface="Montserrat"/>
              <a:buNone/>
              <a:defRPr b="1" sz="2400">
                <a:latin typeface="Montserrat"/>
                <a:ea typeface="Montserrat"/>
                <a:cs typeface="Montserrat"/>
                <a:sym typeface="Montserrat"/>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3" name="Google Shape;53;p11"/>
          <p:cNvSpPr/>
          <p:nvPr>
            <p:ph idx="2" type="pic"/>
          </p:nvPr>
        </p:nvSpPr>
        <p:spPr>
          <a:xfrm>
            <a:off x="4857225" y="698300"/>
            <a:ext cx="1377000" cy="1377000"/>
          </a:xfrm>
          <a:prstGeom prst="rect">
            <a:avLst/>
          </a:prstGeom>
          <a:noFill/>
          <a:ln>
            <a:noFill/>
          </a:ln>
        </p:spPr>
      </p:sp>
      <p:sp>
        <p:nvSpPr>
          <p:cNvPr id="54" name="Google Shape;54;p11"/>
          <p:cNvSpPr/>
          <p:nvPr>
            <p:ph idx="3" type="pic"/>
          </p:nvPr>
        </p:nvSpPr>
        <p:spPr>
          <a:xfrm>
            <a:off x="6571189" y="698300"/>
            <a:ext cx="1377000" cy="1377000"/>
          </a:xfrm>
          <a:prstGeom prst="rect">
            <a:avLst/>
          </a:prstGeom>
          <a:noFill/>
          <a:ln>
            <a:noFill/>
          </a:ln>
        </p:spPr>
      </p:sp>
      <p:sp>
        <p:nvSpPr>
          <p:cNvPr id="55" name="Google Shape;55;p11"/>
          <p:cNvSpPr/>
          <p:nvPr>
            <p:ph idx="4" type="pic"/>
          </p:nvPr>
        </p:nvSpPr>
        <p:spPr>
          <a:xfrm>
            <a:off x="4857225" y="2819943"/>
            <a:ext cx="1377000" cy="1377000"/>
          </a:xfrm>
          <a:prstGeom prst="rect">
            <a:avLst/>
          </a:prstGeom>
          <a:noFill/>
          <a:ln>
            <a:noFill/>
          </a:ln>
        </p:spPr>
      </p:sp>
      <p:sp>
        <p:nvSpPr>
          <p:cNvPr id="56" name="Google Shape;56;p11"/>
          <p:cNvSpPr/>
          <p:nvPr>
            <p:ph idx="5" type="pic"/>
          </p:nvPr>
        </p:nvSpPr>
        <p:spPr>
          <a:xfrm>
            <a:off x="6571189" y="2819943"/>
            <a:ext cx="1377000" cy="1377000"/>
          </a:xfrm>
          <a:prstGeom prst="rect">
            <a:avLst/>
          </a:prstGeom>
          <a:noFill/>
          <a:ln>
            <a:noFill/>
          </a:ln>
        </p:spPr>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300"/>
                                  </p:stCondLst>
                                  <p:childTnLst>
                                    <p:set>
                                      <p:cBhvr>
                                        <p:cTn dur="1" fill="hold">
                                          <p:stCondLst>
                                            <p:cond delay="0"/>
                                          </p:stCondLst>
                                        </p:cTn>
                                        <p:tgtEl>
                                          <p:spTgt spid="52"/>
                                        </p:tgtEl>
                                        <p:attrNameLst>
                                          <p:attrName>style.visibility</p:attrName>
                                        </p:attrNameLst>
                                      </p:cBhvr>
                                      <p:to>
                                        <p:strVal val="visible"/>
                                      </p:to>
                                    </p:set>
                                    <p:animEffect filter="fade" transition="in">
                                      <p:cBhvr>
                                        <p:cTn dur="500"/>
                                        <p:tgtEl>
                                          <p:spTgt spid="5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Team-5">
  <p:cSld name="29_Title Slide_1_3">
    <p:spTree>
      <p:nvGrpSpPr>
        <p:cNvPr id="57" name="Shape 57"/>
        <p:cNvGrpSpPr/>
        <p:nvPr/>
      </p:nvGrpSpPr>
      <p:grpSpPr>
        <a:xfrm>
          <a:off x="0" y="0"/>
          <a:ext cx="0" cy="0"/>
          <a:chOff x="0" y="0"/>
          <a:chExt cx="0" cy="0"/>
        </a:xfrm>
      </p:grpSpPr>
      <p:sp>
        <p:nvSpPr>
          <p:cNvPr id="58" name="Google Shape;58;p12"/>
          <p:cNvSpPr txBox="1"/>
          <p:nvPr>
            <p:ph type="ctrTitle"/>
          </p:nvPr>
        </p:nvSpPr>
        <p:spPr>
          <a:xfrm>
            <a:off x="1200150" y="1200149"/>
            <a:ext cx="2424900" cy="757200"/>
          </a:xfrm>
          <a:prstGeom prst="rect">
            <a:avLst/>
          </a:prstGeom>
          <a:noFill/>
          <a:ln>
            <a:noFill/>
          </a:ln>
        </p:spPr>
        <p:txBody>
          <a:bodyPr anchorCtr="0" anchor="t" bIns="0" lIns="0" spcFirstLastPara="1" rIns="0" wrap="square" tIns="0">
            <a:normAutofit/>
          </a:bodyPr>
          <a:lstStyle>
            <a:lvl1pPr lvl="0" algn="l">
              <a:lnSpc>
                <a:spcPct val="90000"/>
              </a:lnSpc>
              <a:spcBef>
                <a:spcPts val="0"/>
              </a:spcBef>
              <a:spcAft>
                <a:spcPts val="0"/>
              </a:spcAft>
              <a:buClr>
                <a:schemeClr val="dk1"/>
              </a:buClr>
              <a:buSzPts val="2400"/>
              <a:buFont typeface="Montserrat"/>
              <a:buNone/>
              <a:defRPr b="1" sz="2400">
                <a:latin typeface="Montserrat"/>
                <a:ea typeface="Montserrat"/>
                <a:cs typeface="Montserrat"/>
                <a:sym typeface="Montserrat"/>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9" name="Google Shape;59;p12"/>
          <p:cNvSpPr/>
          <p:nvPr>
            <p:ph idx="2" type="pic"/>
          </p:nvPr>
        </p:nvSpPr>
        <p:spPr>
          <a:xfrm>
            <a:off x="4213225" y="698300"/>
            <a:ext cx="1266600" cy="1266600"/>
          </a:xfrm>
          <a:prstGeom prst="rect">
            <a:avLst/>
          </a:prstGeom>
          <a:noFill/>
          <a:ln>
            <a:noFill/>
          </a:ln>
        </p:spPr>
      </p:sp>
      <p:sp>
        <p:nvSpPr>
          <p:cNvPr id="60" name="Google Shape;60;p12"/>
          <p:cNvSpPr/>
          <p:nvPr>
            <p:ph idx="3" type="pic"/>
          </p:nvPr>
        </p:nvSpPr>
        <p:spPr>
          <a:xfrm>
            <a:off x="5637150" y="698300"/>
            <a:ext cx="1266600" cy="1266600"/>
          </a:xfrm>
          <a:prstGeom prst="rect">
            <a:avLst/>
          </a:prstGeom>
          <a:noFill/>
          <a:ln>
            <a:noFill/>
          </a:ln>
        </p:spPr>
      </p:sp>
      <p:sp>
        <p:nvSpPr>
          <p:cNvPr id="61" name="Google Shape;61;p12"/>
          <p:cNvSpPr/>
          <p:nvPr>
            <p:ph idx="4" type="pic"/>
          </p:nvPr>
        </p:nvSpPr>
        <p:spPr>
          <a:xfrm>
            <a:off x="7061075" y="698300"/>
            <a:ext cx="1266600" cy="1266600"/>
          </a:xfrm>
          <a:prstGeom prst="rect">
            <a:avLst/>
          </a:prstGeom>
          <a:noFill/>
          <a:ln>
            <a:noFill/>
          </a:ln>
        </p:spPr>
      </p:sp>
      <p:sp>
        <p:nvSpPr>
          <p:cNvPr id="62" name="Google Shape;62;p12"/>
          <p:cNvSpPr/>
          <p:nvPr>
            <p:ph idx="5" type="pic"/>
          </p:nvPr>
        </p:nvSpPr>
        <p:spPr>
          <a:xfrm>
            <a:off x="4925188" y="2649725"/>
            <a:ext cx="1266600" cy="1266600"/>
          </a:xfrm>
          <a:prstGeom prst="rect">
            <a:avLst/>
          </a:prstGeom>
          <a:noFill/>
          <a:ln>
            <a:noFill/>
          </a:ln>
        </p:spPr>
      </p:sp>
      <p:sp>
        <p:nvSpPr>
          <p:cNvPr id="63" name="Google Shape;63;p12"/>
          <p:cNvSpPr/>
          <p:nvPr>
            <p:ph idx="6" type="pic"/>
          </p:nvPr>
        </p:nvSpPr>
        <p:spPr>
          <a:xfrm>
            <a:off x="6349113" y="2649725"/>
            <a:ext cx="1266600" cy="1266600"/>
          </a:xfrm>
          <a:prstGeom prst="rect">
            <a:avLst/>
          </a:prstGeom>
          <a:noFill/>
          <a:ln>
            <a:noFill/>
          </a:ln>
        </p:spPr>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300"/>
                                  </p:stCondLst>
                                  <p:childTnLst>
                                    <p:set>
                                      <p:cBhvr>
                                        <p:cTn dur="1" fill="hold">
                                          <p:stCondLst>
                                            <p:cond delay="0"/>
                                          </p:stCondLst>
                                        </p:cTn>
                                        <p:tgtEl>
                                          <p:spTgt spid="58"/>
                                        </p:tgtEl>
                                        <p:attrNameLst>
                                          <p:attrName>style.visibility</p:attrName>
                                        </p:attrNameLst>
                                      </p:cBhvr>
                                      <p:to>
                                        <p:strVal val="visible"/>
                                      </p:to>
                                    </p:set>
                                    <p:animEffect filter="fade" transition="in">
                                      <p:cBhvr>
                                        <p:cTn dur="500"/>
                                        <p:tgtEl>
                                          <p:spTgt spid="5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Team-6 ">
  <p:cSld name="29_Title Slide_1_5">
    <p:spTree>
      <p:nvGrpSpPr>
        <p:cNvPr id="64" name="Shape 64"/>
        <p:cNvGrpSpPr/>
        <p:nvPr/>
      </p:nvGrpSpPr>
      <p:grpSpPr>
        <a:xfrm>
          <a:off x="0" y="0"/>
          <a:ext cx="0" cy="0"/>
          <a:chOff x="0" y="0"/>
          <a:chExt cx="0" cy="0"/>
        </a:xfrm>
      </p:grpSpPr>
      <p:sp>
        <p:nvSpPr>
          <p:cNvPr id="65" name="Google Shape;65;p13"/>
          <p:cNvSpPr txBox="1"/>
          <p:nvPr>
            <p:ph type="ctrTitle"/>
          </p:nvPr>
        </p:nvSpPr>
        <p:spPr>
          <a:xfrm>
            <a:off x="1200150" y="1200149"/>
            <a:ext cx="2424900" cy="757200"/>
          </a:xfrm>
          <a:prstGeom prst="rect">
            <a:avLst/>
          </a:prstGeom>
          <a:noFill/>
          <a:ln>
            <a:noFill/>
          </a:ln>
        </p:spPr>
        <p:txBody>
          <a:bodyPr anchorCtr="0" anchor="t" bIns="0" lIns="0" spcFirstLastPara="1" rIns="0" wrap="square" tIns="0">
            <a:normAutofit/>
          </a:bodyPr>
          <a:lstStyle>
            <a:lvl1pPr lvl="0" algn="l">
              <a:lnSpc>
                <a:spcPct val="90000"/>
              </a:lnSpc>
              <a:spcBef>
                <a:spcPts val="0"/>
              </a:spcBef>
              <a:spcAft>
                <a:spcPts val="0"/>
              </a:spcAft>
              <a:buClr>
                <a:schemeClr val="dk1"/>
              </a:buClr>
              <a:buSzPts val="2400"/>
              <a:buFont typeface="Montserrat"/>
              <a:buNone/>
              <a:defRPr b="1" sz="2400">
                <a:latin typeface="Montserrat"/>
                <a:ea typeface="Montserrat"/>
                <a:cs typeface="Montserrat"/>
                <a:sym typeface="Montserrat"/>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6" name="Google Shape;66;p13"/>
          <p:cNvSpPr/>
          <p:nvPr>
            <p:ph idx="2" type="pic"/>
          </p:nvPr>
        </p:nvSpPr>
        <p:spPr>
          <a:xfrm>
            <a:off x="4213225" y="698300"/>
            <a:ext cx="1266600" cy="1266600"/>
          </a:xfrm>
          <a:prstGeom prst="rect">
            <a:avLst/>
          </a:prstGeom>
          <a:noFill/>
          <a:ln>
            <a:noFill/>
          </a:ln>
        </p:spPr>
      </p:sp>
      <p:sp>
        <p:nvSpPr>
          <p:cNvPr id="67" name="Google Shape;67;p13"/>
          <p:cNvSpPr/>
          <p:nvPr>
            <p:ph idx="3" type="pic"/>
          </p:nvPr>
        </p:nvSpPr>
        <p:spPr>
          <a:xfrm>
            <a:off x="5637150" y="698300"/>
            <a:ext cx="1266600" cy="1266600"/>
          </a:xfrm>
          <a:prstGeom prst="rect">
            <a:avLst/>
          </a:prstGeom>
          <a:noFill/>
          <a:ln>
            <a:noFill/>
          </a:ln>
        </p:spPr>
      </p:sp>
      <p:sp>
        <p:nvSpPr>
          <p:cNvPr id="68" name="Google Shape;68;p13"/>
          <p:cNvSpPr/>
          <p:nvPr>
            <p:ph idx="4" type="pic"/>
          </p:nvPr>
        </p:nvSpPr>
        <p:spPr>
          <a:xfrm>
            <a:off x="7061075" y="698300"/>
            <a:ext cx="1266600" cy="1266600"/>
          </a:xfrm>
          <a:prstGeom prst="rect">
            <a:avLst/>
          </a:prstGeom>
          <a:noFill/>
          <a:ln>
            <a:noFill/>
          </a:ln>
        </p:spPr>
      </p:sp>
      <p:sp>
        <p:nvSpPr>
          <p:cNvPr id="69" name="Google Shape;69;p13"/>
          <p:cNvSpPr/>
          <p:nvPr>
            <p:ph idx="5" type="pic"/>
          </p:nvPr>
        </p:nvSpPr>
        <p:spPr>
          <a:xfrm>
            <a:off x="4213225" y="2649725"/>
            <a:ext cx="1266600" cy="1266600"/>
          </a:xfrm>
          <a:prstGeom prst="rect">
            <a:avLst/>
          </a:prstGeom>
          <a:noFill/>
          <a:ln>
            <a:noFill/>
          </a:ln>
        </p:spPr>
      </p:sp>
      <p:sp>
        <p:nvSpPr>
          <p:cNvPr id="70" name="Google Shape;70;p13"/>
          <p:cNvSpPr/>
          <p:nvPr>
            <p:ph idx="6" type="pic"/>
          </p:nvPr>
        </p:nvSpPr>
        <p:spPr>
          <a:xfrm>
            <a:off x="5637150" y="2649725"/>
            <a:ext cx="1266600" cy="1266600"/>
          </a:xfrm>
          <a:prstGeom prst="rect">
            <a:avLst/>
          </a:prstGeom>
          <a:noFill/>
          <a:ln>
            <a:noFill/>
          </a:ln>
        </p:spPr>
      </p:sp>
      <p:sp>
        <p:nvSpPr>
          <p:cNvPr id="71" name="Google Shape;71;p13"/>
          <p:cNvSpPr/>
          <p:nvPr>
            <p:ph idx="7" type="pic"/>
          </p:nvPr>
        </p:nvSpPr>
        <p:spPr>
          <a:xfrm>
            <a:off x="7061075" y="2649725"/>
            <a:ext cx="1266600" cy="1266600"/>
          </a:xfrm>
          <a:prstGeom prst="rect">
            <a:avLst/>
          </a:prstGeom>
          <a:noFill/>
          <a:ln>
            <a:noFill/>
          </a:ln>
        </p:spPr>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300"/>
                                  </p:stCondLst>
                                  <p:childTnLst>
                                    <p:set>
                                      <p:cBhvr>
                                        <p:cTn dur="1" fill="hold">
                                          <p:stCondLst>
                                            <p:cond delay="0"/>
                                          </p:stCondLst>
                                        </p:cTn>
                                        <p:tgtEl>
                                          <p:spTgt spid="65"/>
                                        </p:tgtEl>
                                        <p:attrNameLst>
                                          <p:attrName>style.visibility</p:attrName>
                                        </p:attrNameLst>
                                      </p:cBhvr>
                                      <p:to>
                                        <p:strVal val="visible"/>
                                      </p:to>
                                    </p:set>
                                    <p:animEffect filter="fade" transition="in">
                                      <p:cBhvr>
                                        <p:cTn dur="500"/>
                                        <p:tgtEl>
                                          <p:spTgt spid="6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Template 1">
  <p:cSld name="148_Title Slide">
    <p:spTree>
      <p:nvGrpSpPr>
        <p:cNvPr id="72" name="Shape 72"/>
        <p:cNvGrpSpPr/>
        <p:nvPr/>
      </p:nvGrpSpPr>
      <p:grpSpPr>
        <a:xfrm>
          <a:off x="0" y="0"/>
          <a:ext cx="0" cy="0"/>
          <a:chOff x="0" y="0"/>
          <a:chExt cx="0" cy="0"/>
        </a:xfrm>
      </p:grpSpPr>
      <p:sp>
        <p:nvSpPr>
          <p:cNvPr id="73" name="Google Shape;73;p14"/>
          <p:cNvSpPr txBox="1"/>
          <p:nvPr>
            <p:ph type="ctrTitle"/>
          </p:nvPr>
        </p:nvSpPr>
        <p:spPr>
          <a:xfrm>
            <a:off x="1200150" y="1116824"/>
            <a:ext cx="7161300" cy="757200"/>
          </a:xfrm>
          <a:prstGeom prst="rect">
            <a:avLst/>
          </a:prstGeom>
          <a:noFill/>
          <a:ln>
            <a:noFill/>
          </a:ln>
        </p:spPr>
        <p:txBody>
          <a:bodyPr anchorCtr="0" anchor="t" bIns="0" lIns="0" spcFirstLastPara="1" rIns="0" wrap="square" tIns="0">
            <a:normAutofit/>
          </a:bodyPr>
          <a:lstStyle>
            <a:lvl1pPr lvl="0" algn="l">
              <a:lnSpc>
                <a:spcPct val="90000"/>
              </a:lnSpc>
              <a:spcBef>
                <a:spcPts val="0"/>
              </a:spcBef>
              <a:spcAft>
                <a:spcPts val="0"/>
              </a:spcAft>
              <a:buClr>
                <a:schemeClr val="dk1"/>
              </a:buClr>
              <a:buSzPts val="2400"/>
              <a:buNone/>
              <a:defRPr sz="2400"/>
            </a:lvl1pPr>
            <a:lvl2pPr lvl="1">
              <a:spcBef>
                <a:spcPts val="0"/>
              </a:spcBef>
              <a:spcAft>
                <a:spcPts val="0"/>
              </a:spcAft>
              <a:buSzPts val="1100"/>
              <a:buFont typeface="Proxima Nova"/>
              <a:buNone/>
              <a:defRPr>
                <a:latin typeface="Proxima Nova"/>
                <a:ea typeface="Proxima Nova"/>
                <a:cs typeface="Proxima Nova"/>
                <a:sym typeface="Proxima Nova"/>
              </a:defRPr>
            </a:lvl2pPr>
            <a:lvl3pPr lvl="2">
              <a:spcBef>
                <a:spcPts val="0"/>
              </a:spcBef>
              <a:spcAft>
                <a:spcPts val="0"/>
              </a:spcAft>
              <a:buSzPts val="1100"/>
              <a:buFont typeface="Proxima Nova"/>
              <a:buNone/>
              <a:defRPr>
                <a:latin typeface="Proxima Nova"/>
                <a:ea typeface="Proxima Nova"/>
                <a:cs typeface="Proxima Nova"/>
                <a:sym typeface="Proxima Nova"/>
              </a:defRPr>
            </a:lvl3pPr>
            <a:lvl4pPr lvl="3">
              <a:spcBef>
                <a:spcPts val="0"/>
              </a:spcBef>
              <a:spcAft>
                <a:spcPts val="0"/>
              </a:spcAft>
              <a:buSzPts val="1100"/>
              <a:buFont typeface="Proxima Nova"/>
              <a:buNone/>
              <a:defRPr>
                <a:latin typeface="Proxima Nova"/>
                <a:ea typeface="Proxima Nova"/>
                <a:cs typeface="Proxima Nova"/>
                <a:sym typeface="Proxima Nova"/>
              </a:defRPr>
            </a:lvl4pPr>
            <a:lvl5pPr lvl="4">
              <a:spcBef>
                <a:spcPts val="0"/>
              </a:spcBef>
              <a:spcAft>
                <a:spcPts val="0"/>
              </a:spcAft>
              <a:buSzPts val="1100"/>
              <a:buFont typeface="Proxima Nova"/>
              <a:buNone/>
              <a:defRPr>
                <a:latin typeface="Proxima Nova"/>
                <a:ea typeface="Proxima Nova"/>
                <a:cs typeface="Proxima Nova"/>
                <a:sym typeface="Proxima Nova"/>
              </a:defRPr>
            </a:lvl5pPr>
            <a:lvl6pPr lvl="5">
              <a:spcBef>
                <a:spcPts val="0"/>
              </a:spcBef>
              <a:spcAft>
                <a:spcPts val="0"/>
              </a:spcAft>
              <a:buSzPts val="1100"/>
              <a:buFont typeface="Proxima Nova"/>
              <a:buNone/>
              <a:defRPr>
                <a:latin typeface="Proxima Nova"/>
                <a:ea typeface="Proxima Nova"/>
                <a:cs typeface="Proxima Nova"/>
                <a:sym typeface="Proxima Nova"/>
              </a:defRPr>
            </a:lvl6pPr>
            <a:lvl7pPr lvl="6">
              <a:spcBef>
                <a:spcPts val="0"/>
              </a:spcBef>
              <a:spcAft>
                <a:spcPts val="0"/>
              </a:spcAft>
              <a:buSzPts val="1100"/>
              <a:buFont typeface="Proxima Nova"/>
              <a:buNone/>
              <a:defRPr>
                <a:latin typeface="Proxima Nova"/>
                <a:ea typeface="Proxima Nova"/>
                <a:cs typeface="Proxima Nova"/>
                <a:sym typeface="Proxima Nova"/>
              </a:defRPr>
            </a:lvl7pPr>
            <a:lvl8pPr lvl="7">
              <a:spcBef>
                <a:spcPts val="0"/>
              </a:spcBef>
              <a:spcAft>
                <a:spcPts val="0"/>
              </a:spcAft>
              <a:buSzPts val="1100"/>
              <a:buFont typeface="Proxima Nova"/>
              <a:buNone/>
              <a:defRPr>
                <a:latin typeface="Proxima Nova"/>
                <a:ea typeface="Proxima Nova"/>
                <a:cs typeface="Proxima Nova"/>
                <a:sym typeface="Proxima Nova"/>
              </a:defRPr>
            </a:lvl8pPr>
            <a:lvl9pPr lvl="8">
              <a:spcBef>
                <a:spcPts val="0"/>
              </a:spcBef>
              <a:spcAft>
                <a:spcPts val="0"/>
              </a:spcAft>
              <a:buSzPts val="1100"/>
              <a:buFont typeface="Proxima Nova"/>
              <a:buNone/>
              <a:defRPr>
                <a:latin typeface="Proxima Nova"/>
                <a:ea typeface="Proxima Nova"/>
                <a:cs typeface="Proxima Nova"/>
                <a:sym typeface="Proxima Nova"/>
              </a:defRPr>
            </a:lvl9pPr>
          </a:lstStyle>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400"/>
                                  </p:stCondLst>
                                  <p:childTnLst>
                                    <p:set>
                                      <p:cBhvr>
                                        <p:cTn dur="1" fill="hold">
                                          <p:stCondLst>
                                            <p:cond delay="0"/>
                                          </p:stCondLst>
                                        </p:cTn>
                                        <p:tgtEl>
                                          <p:spTgt spid="73"/>
                                        </p:tgtEl>
                                        <p:attrNameLst>
                                          <p:attrName>style.visibility</p:attrName>
                                        </p:attrNameLst>
                                      </p:cBhvr>
                                      <p:to>
                                        <p:strVal val="visible"/>
                                      </p:to>
                                    </p:set>
                                    <p:animEffect filter="fade" transition="in">
                                      <p:cBhvr>
                                        <p:cTn dur="750"/>
                                        <p:tgtEl>
                                          <p:spTgt spid="7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Team-4 1">
  <p:cSld name="29_Title Slide_1_4_1">
    <p:spTree>
      <p:nvGrpSpPr>
        <p:cNvPr id="74" name="Shape 74"/>
        <p:cNvGrpSpPr/>
        <p:nvPr/>
      </p:nvGrpSpPr>
      <p:grpSpPr>
        <a:xfrm>
          <a:off x="0" y="0"/>
          <a:ext cx="0" cy="0"/>
          <a:chOff x="0" y="0"/>
          <a:chExt cx="0" cy="0"/>
        </a:xfrm>
      </p:grpSpPr>
      <p:sp>
        <p:nvSpPr>
          <p:cNvPr id="75" name="Google Shape;75;p15"/>
          <p:cNvSpPr txBox="1"/>
          <p:nvPr>
            <p:ph type="ctrTitle"/>
          </p:nvPr>
        </p:nvSpPr>
        <p:spPr>
          <a:xfrm>
            <a:off x="1200150" y="1200149"/>
            <a:ext cx="2424900" cy="757200"/>
          </a:xfrm>
          <a:prstGeom prst="rect">
            <a:avLst/>
          </a:prstGeom>
          <a:noFill/>
          <a:ln>
            <a:noFill/>
          </a:ln>
        </p:spPr>
        <p:txBody>
          <a:bodyPr anchorCtr="0" anchor="t" bIns="0" lIns="0" spcFirstLastPara="1" rIns="0" wrap="square" tIns="0">
            <a:normAutofit/>
          </a:bodyPr>
          <a:lstStyle>
            <a:lvl1pPr lvl="0" algn="l">
              <a:lnSpc>
                <a:spcPct val="90000"/>
              </a:lnSpc>
              <a:spcBef>
                <a:spcPts val="0"/>
              </a:spcBef>
              <a:spcAft>
                <a:spcPts val="0"/>
              </a:spcAft>
              <a:buClr>
                <a:schemeClr val="dk1"/>
              </a:buClr>
              <a:buSzPts val="2400"/>
              <a:buFont typeface="Montserrat"/>
              <a:buNone/>
              <a:defRPr b="1" sz="2400">
                <a:latin typeface="Montserrat"/>
                <a:ea typeface="Montserrat"/>
                <a:cs typeface="Montserrat"/>
                <a:sym typeface="Montserrat"/>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6" name="Google Shape;76;p15"/>
          <p:cNvSpPr/>
          <p:nvPr>
            <p:ph idx="2" type="pic"/>
          </p:nvPr>
        </p:nvSpPr>
        <p:spPr>
          <a:xfrm>
            <a:off x="4857225" y="698300"/>
            <a:ext cx="1377000" cy="1377000"/>
          </a:xfrm>
          <a:prstGeom prst="rect">
            <a:avLst/>
          </a:prstGeom>
          <a:noFill/>
          <a:ln>
            <a:noFill/>
          </a:ln>
        </p:spPr>
      </p:sp>
      <p:sp>
        <p:nvSpPr>
          <p:cNvPr id="77" name="Google Shape;77;p15"/>
          <p:cNvSpPr/>
          <p:nvPr>
            <p:ph idx="3" type="pic"/>
          </p:nvPr>
        </p:nvSpPr>
        <p:spPr>
          <a:xfrm>
            <a:off x="6571189" y="698300"/>
            <a:ext cx="1377000" cy="1377000"/>
          </a:xfrm>
          <a:prstGeom prst="rect">
            <a:avLst/>
          </a:prstGeom>
          <a:noFill/>
          <a:ln>
            <a:noFill/>
          </a:ln>
        </p:spPr>
      </p:sp>
      <p:sp>
        <p:nvSpPr>
          <p:cNvPr id="78" name="Google Shape;78;p15"/>
          <p:cNvSpPr/>
          <p:nvPr>
            <p:ph idx="4" type="pic"/>
          </p:nvPr>
        </p:nvSpPr>
        <p:spPr>
          <a:xfrm>
            <a:off x="4857225" y="2819943"/>
            <a:ext cx="1377000" cy="1377000"/>
          </a:xfrm>
          <a:prstGeom prst="rect">
            <a:avLst/>
          </a:prstGeom>
          <a:noFill/>
          <a:ln>
            <a:noFill/>
          </a:ln>
        </p:spPr>
      </p:sp>
      <p:sp>
        <p:nvSpPr>
          <p:cNvPr id="79" name="Google Shape;79;p15"/>
          <p:cNvSpPr/>
          <p:nvPr>
            <p:ph idx="5" type="pic"/>
          </p:nvPr>
        </p:nvSpPr>
        <p:spPr>
          <a:xfrm>
            <a:off x="6571189" y="2819943"/>
            <a:ext cx="1377000" cy="1377000"/>
          </a:xfrm>
          <a:prstGeom prst="rect">
            <a:avLst/>
          </a:prstGeom>
          <a:noFill/>
          <a:ln>
            <a:noFill/>
          </a:ln>
        </p:spPr>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300"/>
                                  </p:stCondLst>
                                  <p:childTnLst>
                                    <p:set>
                                      <p:cBhvr>
                                        <p:cTn dur="1" fill="hold">
                                          <p:stCondLst>
                                            <p:cond delay="0"/>
                                          </p:stCondLst>
                                        </p:cTn>
                                        <p:tgtEl>
                                          <p:spTgt spid="75"/>
                                        </p:tgtEl>
                                        <p:attrNameLst>
                                          <p:attrName>style.visibility</p:attrName>
                                        </p:attrNameLst>
                                      </p:cBhvr>
                                      <p:to>
                                        <p:strVal val="visible"/>
                                      </p:to>
                                    </p:set>
                                    <p:animEffect filter="fade" transition="in">
                                      <p:cBhvr>
                                        <p:cTn dur="500"/>
                                        <p:tgtEl>
                                          <p:spTgt spid="7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80" name="Shape 80"/>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3_Title Slide 1">
  <p:cSld name="133_Title Slide_1">
    <p:spTree>
      <p:nvGrpSpPr>
        <p:cNvPr id="81" name="Shape 81"/>
        <p:cNvGrpSpPr/>
        <p:nvPr/>
      </p:nvGrpSpPr>
      <p:grpSpPr>
        <a:xfrm>
          <a:off x="0" y="0"/>
          <a:ext cx="0" cy="0"/>
          <a:chOff x="0" y="0"/>
          <a:chExt cx="0" cy="0"/>
        </a:xfrm>
      </p:grpSpPr>
      <p:sp>
        <p:nvSpPr>
          <p:cNvPr id="82" name="Google Shape;82;p17"/>
          <p:cNvSpPr/>
          <p:nvPr/>
        </p:nvSpPr>
        <p:spPr>
          <a:xfrm>
            <a:off x="6167767" y="0"/>
            <a:ext cx="2976000" cy="5143500"/>
          </a:xfrm>
          <a:prstGeom prst="rect">
            <a:avLst/>
          </a:prstGeom>
          <a:solidFill>
            <a:schemeClr val="accent2"/>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1" sz="4800">
              <a:solidFill>
                <a:srgbClr val="FFFFFF"/>
              </a:solidFill>
              <a:latin typeface="Montserrat"/>
              <a:ea typeface="Montserrat"/>
              <a:cs typeface="Montserrat"/>
              <a:sym typeface="Montserrat"/>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 – End Slide – Blue">
  <p:cSld name="CUSTOM_1_2_1_2">
    <p:bg>
      <p:bgPr>
        <a:solidFill>
          <a:srgbClr val="183A9E"/>
        </a:solidFill>
      </p:bgPr>
    </p:bg>
    <p:spTree>
      <p:nvGrpSpPr>
        <p:cNvPr id="83" name="Shape 83"/>
        <p:cNvGrpSpPr/>
        <p:nvPr/>
      </p:nvGrpSpPr>
      <p:grpSpPr>
        <a:xfrm>
          <a:off x="0" y="0"/>
          <a:ext cx="0" cy="0"/>
          <a:chOff x="0" y="0"/>
          <a:chExt cx="0" cy="0"/>
        </a:xfrm>
      </p:grpSpPr>
      <p:sp>
        <p:nvSpPr>
          <p:cNvPr id="84" name="Google Shape;84;p18"/>
          <p:cNvSpPr/>
          <p:nvPr/>
        </p:nvSpPr>
        <p:spPr>
          <a:xfrm>
            <a:off x="0" y="0"/>
            <a:ext cx="9144000" cy="5143500"/>
          </a:xfrm>
          <a:prstGeom prst="rect">
            <a:avLst/>
          </a:prstGeom>
          <a:solidFill>
            <a:srgbClr val="204E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5" name="Google Shape;85;p18"/>
          <p:cNvPicPr preferRelativeResize="0"/>
          <p:nvPr/>
        </p:nvPicPr>
        <p:blipFill>
          <a:blip r:embed="rId2">
            <a:alphaModFix/>
          </a:blip>
          <a:stretch>
            <a:fillRect/>
          </a:stretch>
        </p:blipFill>
        <p:spPr>
          <a:xfrm>
            <a:off x="3227875" y="2200201"/>
            <a:ext cx="2688249" cy="74310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 – End Slide – Dark Blue">
  <p:cSld name="CUSTOM_1_2_1_3">
    <p:bg>
      <p:bgPr>
        <a:solidFill>
          <a:srgbClr val="183A9E"/>
        </a:solidFill>
      </p:bgPr>
    </p:bg>
    <p:spTree>
      <p:nvGrpSpPr>
        <p:cNvPr id="86" name="Shape 86"/>
        <p:cNvGrpSpPr/>
        <p:nvPr/>
      </p:nvGrpSpPr>
      <p:grpSpPr>
        <a:xfrm>
          <a:off x="0" y="0"/>
          <a:ext cx="0" cy="0"/>
          <a:chOff x="0" y="0"/>
          <a:chExt cx="0" cy="0"/>
        </a:xfrm>
      </p:grpSpPr>
      <p:sp>
        <p:nvSpPr>
          <p:cNvPr id="87" name="Google Shape;87;p19"/>
          <p:cNvSpPr/>
          <p:nvPr/>
        </p:nvSpPr>
        <p:spPr>
          <a:xfrm>
            <a:off x="0" y="0"/>
            <a:ext cx="9144000" cy="5143500"/>
          </a:xfrm>
          <a:prstGeom prst="rect">
            <a:avLst/>
          </a:prstGeom>
          <a:solidFill>
            <a:srgbClr val="0F256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8" name="Google Shape;88;p19"/>
          <p:cNvPicPr preferRelativeResize="0"/>
          <p:nvPr/>
        </p:nvPicPr>
        <p:blipFill>
          <a:blip r:embed="rId2">
            <a:alphaModFix/>
          </a:blip>
          <a:stretch>
            <a:fillRect/>
          </a:stretch>
        </p:blipFill>
        <p:spPr>
          <a:xfrm>
            <a:off x="3227875" y="2200201"/>
            <a:ext cx="2688249" cy="7431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theme" Target="../theme/theme2.xml"/><Relationship Id="rId11" Type="http://schemas.openxmlformats.org/officeDocument/2006/relationships/slideLayout" Target="../slideLayouts/slideLayout10.xml"/><Relationship Id="rId10" Type="http://schemas.openxmlformats.org/officeDocument/2006/relationships/slideLayout" Target="../slideLayouts/slideLayout9.xml"/><Relationship Id="rId13" Type="http://schemas.openxmlformats.org/officeDocument/2006/relationships/slideLayout" Target="../slideLayouts/slideLayout12.xml"/><Relationship Id="rId12" Type="http://schemas.openxmlformats.org/officeDocument/2006/relationships/slideLayout" Target="../slideLayouts/slideLayout11.xml"/><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slideLayout" Target="../slideLayouts/slideLayout8.xml"/><Relationship Id="rId15" Type="http://schemas.openxmlformats.org/officeDocument/2006/relationships/slideLayout" Target="../slideLayouts/slideLayout14.xml"/><Relationship Id="rId14" Type="http://schemas.openxmlformats.org/officeDocument/2006/relationships/slideLayout" Target="../slideLayouts/slideLayout13.xml"/><Relationship Id="rId17" Type="http://schemas.openxmlformats.org/officeDocument/2006/relationships/slideLayout" Target="../slideLayouts/slideLayout16.xml"/><Relationship Id="rId16" Type="http://schemas.openxmlformats.org/officeDocument/2006/relationships/slideLayout" Target="../slideLayouts/slideLayout15.xml"/><Relationship Id="rId5" Type="http://schemas.openxmlformats.org/officeDocument/2006/relationships/slideLayout" Target="../slideLayouts/slideLayout4.xml"/><Relationship Id="rId19" Type="http://schemas.openxmlformats.org/officeDocument/2006/relationships/slideLayout" Target="../slideLayouts/slideLayout18.xml"/><Relationship Id="rId6" Type="http://schemas.openxmlformats.org/officeDocument/2006/relationships/slideLayout" Target="../slideLayouts/slideLayout5.xml"/><Relationship Id="rId18" Type="http://schemas.openxmlformats.org/officeDocument/2006/relationships/slideLayout" Target="../slideLayouts/slideLayout17.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p:nvPr/>
        </p:nvSpPr>
        <p:spPr>
          <a:xfrm>
            <a:off x="0" y="0"/>
            <a:ext cx="217200" cy="5143500"/>
          </a:xfrm>
          <a:prstGeom prst="rect">
            <a:avLst/>
          </a:prstGeom>
          <a:solidFill>
            <a:srgbClr val="204ECF"/>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FFFFFF"/>
              </a:solidFill>
              <a:latin typeface="Open Sans"/>
              <a:ea typeface="Open Sans"/>
              <a:cs typeface="Open Sans"/>
              <a:sym typeface="Open Sans"/>
            </a:endParaRPr>
          </a:p>
        </p:txBody>
      </p:sp>
      <p:sp>
        <p:nvSpPr>
          <p:cNvPr id="7" name="Google Shape;7;p1"/>
          <p:cNvSpPr txBox="1"/>
          <p:nvPr>
            <p:ph type="title"/>
          </p:nvPr>
        </p:nvSpPr>
        <p:spPr>
          <a:xfrm>
            <a:off x="1200149" y="273844"/>
            <a:ext cx="7315200" cy="994200"/>
          </a:xfrm>
          <a:prstGeom prst="rect">
            <a:avLst/>
          </a:prstGeom>
          <a:noFill/>
          <a:ln>
            <a:noFill/>
          </a:ln>
        </p:spPr>
        <p:txBody>
          <a:bodyPr anchorCtr="0" anchor="ctr" bIns="34275" lIns="68575" spcFirstLastPara="1" rIns="68575" wrap="square" tIns="34275">
            <a:normAutofit/>
          </a:bodyPr>
          <a:lstStyle>
            <a:lvl1pPr lvl="0" marR="0" rtl="0" algn="l">
              <a:lnSpc>
                <a:spcPct val="90000"/>
              </a:lnSpc>
              <a:spcBef>
                <a:spcPts val="0"/>
              </a:spcBef>
              <a:spcAft>
                <a:spcPts val="0"/>
              </a:spcAft>
              <a:buClr>
                <a:schemeClr val="dk1"/>
              </a:buClr>
              <a:buSzPts val="2100"/>
              <a:buFont typeface="Proxima Nova"/>
              <a:buNone/>
              <a:defRPr b="1" i="0" sz="2100" u="none" cap="none" strike="noStrike">
                <a:solidFill>
                  <a:schemeClr val="dk1"/>
                </a:solidFill>
                <a:latin typeface="Proxima Nova"/>
                <a:ea typeface="Proxima Nova"/>
                <a:cs typeface="Proxima Nova"/>
                <a:sym typeface="Proxima Nova"/>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8" name="Google Shape;8;p1"/>
          <p:cNvSpPr txBox="1"/>
          <p:nvPr>
            <p:ph idx="1" type="body"/>
          </p:nvPr>
        </p:nvSpPr>
        <p:spPr>
          <a:xfrm>
            <a:off x="1200150" y="1369219"/>
            <a:ext cx="7315200" cy="3263400"/>
          </a:xfrm>
          <a:prstGeom prst="rect">
            <a:avLst/>
          </a:prstGeom>
          <a:noFill/>
          <a:ln>
            <a:noFill/>
          </a:ln>
        </p:spPr>
        <p:txBody>
          <a:bodyPr anchorCtr="0" anchor="t" bIns="34275" lIns="68575" spcFirstLastPara="1" rIns="68575" wrap="square" tIns="34275">
            <a:normAutofit/>
          </a:bodyPr>
          <a:lstStyle>
            <a:lvl1pPr indent="-317500" lvl="0" marL="457200" marR="0" rtl="0" algn="l">
              <a:lnSpc>
                <a:spcPct val="90000"/>
              </a:lnSpc>
              <a:spcBef>
                <a:spcPts val="800"/>
              </a:spcBef>
              <a:spcAft>
                <a:spcPts val="0"/>
              </a:spcAft>
              <a:buClr>
                <a:schemeClr val="dk2"/>
              </a:buClr>
              <a:buSzPts val="1400"/>
              <a:buFont typeface="Arial"/>
              <a:buChar char="•"/>
              <a:defRPr b="0" i="0" sz="1400" u="none" cap="none" strike="noStrike">
                <a:solidFill>
                  <a:schemeClr val="dk2"/>
                </a:solidFill>
                <a:latin typeface="Proxima Nova"/>
                <a:ea typeface="Proxima Nova"/>
                <a:cs typeface="Proxima Nova"/>
                <a:sym typeface="Proxima Nova"/>
              </a:defRPr>
            </a:lvl1pPr>
            <a:lvl2pPr indent="-298450" lvl="1" marL="914400" marR="0" rtl="0" algn="l">
              <a:lnSpc>
                <a:spcPct val="90000"/>
              </a:lnSpc>
              <a:spcBef>
                <a:spcPts val="400"/>
              </a:spcBef>
              <a:spcAft>
                <a:spcPts val="0"/>
              </a:spcAft>
              <a:buClr>
                <a:schemeClr val="dk2"/>
              </a:buClr>
              <a:buSzPts val="1100"/>
              <a:buFont typeface="Arial"/>
              <a:buChar char="•"/>
              <a:defRPr b="0" i="0" sz="1100" u="none" cap="none" strike="noStrike">
                <a:solidFill>
                  <a:schemeClr val="dk2"/>
                </a:solidFill>
                <a:latin typeface="Proxima Nova"/>
                <a:ea typeface="Proxima Nova"/>
                <a:cs typeface="Proxima Nova"/>
                <a:sym typeface="Proxima Nova"/>
              </a:defRPr>
            </a:lvl2pPr>
            <a:lvl3pPr indent="-285750" lvl="2" marL="1371600" marR="0" rtl="0" algn="l">
              <a:lnSpc>
                <a:spcPct val="90000"/>
              </a:lnSpc>
              <a:spcBef>
                <a:spcPts val="400"/>
              </a:spcBef>
              <a:spcAft>
                <a:spcPts val="0"/>
              </a:spcAft>
              <a:buClr>
                <a:schemeClr val="dk2"/>
              </a:buClr>
              <a:buSzPts val="900"/>
              <a:buFont typeface="Arial"/>
              <a:buChar char="•"/>
              <a:defRPr b="0" i="0" sz="900" u="none" cap="none" strike="noStrike">
                <a:solidFill>
                  <a:schemeClr val="dk2"/>
                </a:solidFill>
                <a:latin typeface="Proxima Nova"/>
                <a:ea typeface="Proxima Nova"/>
                <a:cs typeface="Proxima Nova"/>
                <a:sym typeface="Proxima Nova"/>
              </a:defRPr>
            </a:lvl3pPr>
            <a:lvl4pPr indent="-279400" lvl="3" marL="1828800" marR="0" rtl="0" algn="l">
              <a:lnSpc>
                <a:spcPct val="90000"/>
              </a:lnSpc>
              <a:spcBef>
                <a:spcPts val="400"/>
              </a:spcBef>
              <a:spcAft>
                <a:spcPts val="0"/>
              </a:spcAft>
              <a:buClr>
                <a:schemeClr val="dk2"/>
              </a:buClr>
              <a:buSzPts val="800"/>
              <a:buFont typeface="Arial"/>
              <a:buChar char="•"/>
              <a:defRPr b="0" i="0" sz="800" u="none" cap="none" strike="noStrike">
                <a:solidFill>
                  <a:schemeClr val="dk2"/>
                </a:solidFill>
                <a:latin typeface="Proxima Nova"/>
                <a:ea typeface="Proxima Nova"/>
                <a:cs typeface="Proxima Nova"/>
                <a:sym typeface="Proxima Nova"/>
              </a:defRPr>
            </a:lvl4pPr>
            <a:lvl5pPr indent="-266700" lvl="4" marL="2286000" marR="0" rtl="0" algn="l">
              <a:lnSpc>
                <a:spcPct val="90000"/>
              </a:lnSpc>
              <a:spcBef>
                <a:spcPts val="400"/>
              </a:spcBef>
              <a:spcAft>
                <a:spcPts val="0"/>
              </a:spcAft>
              <a:buClr>
                <a:schemeClr val="dk2"/>
              </a:buClr>
              <a:buSzPts val="600"/>
              <a:buFont typeface="Arial"/>
              <a:buChar char="•"/>
              <a:defRPr b="0" i="0" sz="600" u="none" cap="none" strike="noStrike">
                <a:solidFill>
                  <a:schemeClr val="dk2"/>
                </a:solidFill>
                <a:latin typeface="Proxima Nova"/>
                <a:ea typeface="Proxima Nova"/>
                <a:cs typeface="Proxima Nova"/>
                <a:sym typeface="Proxima Nova"/>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Open Sans"/>
                <a:ea typeface="Open Sans"/>
                <a:cs typeface="Open Sans"/>
                <a:sym typeface="Open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Open Sans"/>
                <a:ea typeface="Open Sans"/>
                <a:cs typeface="Open Sans"/>
                <a:sym typeface="Open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Open Sans"/>
                <a:ea typeface="Open Sans"/>
                <a:cs typeface="Open Sans"/>
                <a:sym typeface="Open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Open Sans"/>
                <a:ea typeface="Open Sans"/>
                <a:cs typeface="Open Sans"/>
                <a:sym typeface="Open Sans"/>
              </a:defRPr>
            </a:lvl9pPr>
          </a:lstStyle>
          <a:p/>
        </p:txBody>
      </p:sp>
      <p:sp>
        <p:nvSpPr>
          <p:cNvPr id="9" name="Google Shape;9;p1"/>
          <p:cNvSpPr txBox="1"/>
          <p:nvPr/>
        </p:nvSpPr>
        <p:spPr>
          <a:xfrm>
            <a:off x="7578175" y="4767750"/>
            <a:ext cx="1367700" cy="174600"/>
          </a:xfrm>
          <a:prstGeom prst="rect">
            <a:avLst/>
          </a:prstGeom>
          <a:noFill/>
          <a:ln>
            <a:noFill/>
          </a:ln>
        </p:spPr>
        <p:txBody>
          <a:bodyPr anchorCtr="0" anchor="b" bIns="0" lIns="0" spcFirstLastPara="1" rIns="0" wrap="square" tIns="0">
            <a:noAutofit/>
          </a:bodyPr>
          <a:lstStyle/>
          <a:p>
            <a:pPr indent="0" lvl="0" marL="0" rtl="0" algn="r">
              <a:spcBef>
                <a:spcPts val="0"/>
              </a:spcBef>
              <a:spcAft>
                <a:spcPts val="0"/>
              </a:spcAft>
              <a:buNone/>
            </a:pPr>
            <a:r>
              <a:rPr lang="en" sz="800">
                <a:solidFill>
                  <a:srgbClr val="204ECF"/>
                </a:solidFill>
                <a:latin typeface="Proxima Nova"/>
                <a:ea typeface="Proxima Nova"/>
                <a:cs typeface="Proxima Nova"/>
                <a:sym typeface="Proxima Nova"/>
              </a:rPr>
              <a:t> </a:t>
            </a:r>
            <a:r>
              <a:rPr lang="en" sz="600">
                <a:solidFill>
                  <a:srgbClr val="204ECF"/>
                </a:solidFill>
                <a:latin typeface="Proxima Nova"/>
                <a:ea typeface="Proxima Nova"/>
                <a:cs typeface="Proxima Nova"/>
                <a:sym typeface="Proxima Nova"/>
              </a:rPr>
              <a:t>Confidential </a:t>
            </a:r>
            <a:r>
              <a:rPr lang="en" sz="800">
                <a:solidFill>
                  <a:srgbClr val="204ECF"/>
                </a:solidFill>
                <a:latin typeface="Proxima Nova"/>
                <a:ea typeface="Proxima Nova"/>
                <a:cs typeface="Proxima Nova"/>
                <a:sym typeface="Proxima Nova"/>
              </a:rPr>
              <a:t> | </a:t>
            </a:r>
            <a:fld id="{00000000-1234-1234-1234-123412341234}" type="slidenum">
              <a:rPr lang="en" sz="800">
                <a:solidFill>
                  <a:srgbClr val="204ECF"/>
                </a:solidFill>
                <a:latin typeface="Proxima Nova"/>
                <a:ea typeface="Proxima Nova"/>
                <a:cs typeface="Proxima Nova"/>
                <a:sym typeface="Proxima Nova"/>
              </a:rPr>
              <a:t>‹#›</a:t>
            </a:fld>
            <a:endParaRPr sz="800">
              <a:solidFill>
                <a:srgbClr val="204ECF"/>
              </a:solidFill>
              <a:latin typeface="Proxima Nova"/>
              <a:ea typeface="Proxima Nova"/>
              <a:cs typeface="Proxima Nova"/>
              <a:sym typeface="Proxima Nova"/>
            </a:endParaRPr>
          </a:p>
        </p:txBody>
      </p:sp>
      <p:pic>
        <p:nvPicPr>
          <p:cNvPr id="10" name="Google Shape;10;p1"/>
          <p:cNvPicPr preferRelativeResize="0"/>
          <p:nvPr/>
        </p:nvPicPr>
        <p:blipFill rotWithShape="1">
          <a:blip r:embed="rId1">
            <a:alphaModFix/>
          </a:blip>
          <a:srcRect b="0" l="0" r="0" t="0"/>
          <a:stretch/>
        </p:blipFill>
        <p:spPr>
          <a:xfrm>
            <a:off x="54287" y="69900"/>
            <a:ext cx="108625" cy="15397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756">
          <p15:clr>
            <a:srgbClr val="F26B43"/>
          </p15:clr>
        </p15:guide>
        <p15:guide id="2" pos="329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5.jpg"/><Relationship Id="rId4" Type="http://schemas.openxmlformats.org/officeDocument/2006/relationships/image" Target="../media/image13.jpg"/><Relationship Id="rId5" Type="http://schemas.openxmlformats.org/officeDocument/2006/relationships/image" Target="../media/image6.png"/><Relationship Id="rId6" Type="http://schemas.openxmlformats.org/officeDocument/2006/relationships/image" Target="../media/image12.png"/><Relationship Id="rId7" Type="http://schemas.openxmlformats.org/officeDocument/2006/relationships/image" Target="../media/image7.png"/><Relationship Id="rId8" Type="http://schemas.openxmlformats.org/officeDocument/2006/relationships/image" Target="../media/image4.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3.xml"/><Relationship Id="rId3" Type="http://schemas.openxmlformats.org/officeDocument/2006/relationships/image" Target="../media/image10.png"/><Relationship Id="rId4" Type="http://schemas.openxmlformats.org/officeDocument/2006/relationships/image" Target="../media/image8.png"/><Relationship Id="rId5"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20"/>
          <p:cNvSpPr txBox="1"/>
          <p:nvPr>
            <p:ph type="title"/>
          </p:nvPr>
        </p:nvSpPr>
        <p:spPr>
          <a:xfrm>
            <a:off x="343675" y="2712227"/>
            <a:ext cx="3016200" cy="819300"/>
          </a:xfrm>
          <a:prstGeom prst="rect">
            <a:avLst/>
          </a:prstGeom>
        </p:spPr>
        <p:txBody>
          <a:bodyPr anchorCtr="0" anchor="t" bIns="34275" lIns="68575" spcFirstLastPara="1" rIns="68575" wrap="square" tIns="34275">
            <a:normAutofit fontScale="90000"/>
          </a:bodyPr>
          <a:lstStyle/>
          <a:p>
            <a:pPr indent="0" lvl="0" marL="0" rtl="0" algn="l">
              <a:lnSpc>
                <a:spcPct val="115000"/>
              </a:lnSpc>
              <a:spcBef>
                <a:spcPts val="0"/>
              </a:spcBef>
              <a:spcAft>
                <a:spcPts val="0"/>
              </a:spcAft>
              <a:buNone/>
            </a:pPr>
            <a:r>
              <a:rPr lang="en">
                <a:solidFill>
                  <a:srgbClr val="204ECF"/>
                </a:solidFill>
              </a:rPr>
              <a:t>[Client Name]</a:t>
            </a:r>
            <a:br>
              <a:rPr lang="en"/>
            </a:br>
            <a:r>
              <a:rPr lang="en"/>
              <a:t>[Project Name] Governance </a:t>
            </a:r>
            <a:r>
              <a:rPr lang="en"/>
              <a:t>Kickoff </a:t>
            </a:r>
            <a:endParaRPr/>
          </a:p>
        </p:txBody>
      </p:sp>
      <p:sp>
        <p:nvSpPr>
          <p:cNvPr id="94" name="Google Shape;94;p20"/>
          <p:cNvSpPr txBox="1"/>
          <p:nvPr>
            <p:ph idx="2" type="subTitle"/>
          </p:nvPr>
        </p:nvSpPr>
        <p:spPr>
          <a:xfrm>
            <a:off x="366153" y="4153150"/>
            <a:ext cx="7146600" cy="335700"/>
          </a:xfrm>
          <a:prstGeom prst="rect">
            <a:avLst/>
          </a:prstGeom>
        </p:spPr>
        <p:txBody>
          <a:bodyPr anchorCtr="0" anchor="t" bIns="34275" lIns="68575" spcFirstLastPara="1" rIns="68575" wrap="square" tIns="34275">
            <a:normAutofit/>
          </a:bodyPr>
          <a:lstStyle/>
          <a:p>
            <a:pPr indent="0" lvl="0" marL="0" rtl="0" algn="l">
              <a:spcBef>
                <a:spcPts val="800"/>
              </a:spcBef>
              <a:spcAft>
                <a:spcPts val="0"/>
              </a:spcAft>
              <a:buNone/>
            </a:pPr>
            <a:r>
              <a:rPr lang="en"/>
              <a:t>O</a:t>
            </a:r>
            <a:r>
              <a:rPr lang="en"/>
              <a:t>nboarding for Project Managers staffed on professional services projects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21"/>
          <p:cNvSpPr/>
          <p:nvPr/>
        </p:nvSpPr>
        <p:spPr>
          <a:xfrm>
            <a:off x="4674449" y="1412000"/>
            <a:ext cx="3760500" cy="2370600"/>
          </a:xfrm>
          <a:prstGeom prst="roundRect">
            <a:avLst>
              <a:gd fmla="val 2051" name="adj"/>
            </a:avLst>
          </a:prstGeom>
          <a:solidFill>
            <a:srgbClr val="FFFFFF"/>
          </a:solidFill>
          <a:ln cap="flat" cmpd="sng" w="9525">
            <a:solidFill>
              <a:srgbClr val="D3DCEC"/>
            </a:solidFill>
            <a:prstDash val="solid"/>
            <a:round/>
            <a:headEnd len="sm" w="sm" type="none"/>
            <a:tailEnd len="sm" w="sm" type="none"/>
          </a:ln>
          <a:effectLst>
            <a:outerShdw blurRad="85727" rotWithShape="0" algn="bl" dir="5400000" dist="28576">
              <a:srgbClr val="0B1836">
                <a:alpha val="16080"/>
              </a:srgbClr>
            </a:outerShdw>
          </a:effectLst>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00" name="Google Shape;100;p21"/>
          <p:cNvSpPr/>
          <p:nvPr/>
        </p:nvSpPr>
        <p:spPr>
          <a:xfrm>
            <a:off x="644975" y="1412000"/>
            <a:ext cx="3760500" cy="2370600"/>
          </a:xfrm>
          <a:prstGeom prst="roundRect">
            <a:avLst>
              <a:gd fmla="val 2051" name="adj"/>
            </a:avLst>
          </a:prstGeom>
          <a:solidFill>
            <a:srgbClr val="FFFFFF"/>
          </a:solidFill>
          <a:ln cap="flat" cmpd="sng" w="9525">
            <a:solidFill>
              <a:srgbClr val="D3DCEC"/>
            </a:solidFill>
            <a:prstDash val="solid"/>
            <a:round/>
            <a:headEnd len="sm" w="sm" type="none"/>
            <a:tailEnd len="sm" w="sm" type="none"/>
          </a:ln>
          <a:effectLst>
            <a:outerShdw blurRad="85727" rotWithShape="0" algn="bl" dir="5400000" dist="28576">
              <a:srgbClr val="0B1836">
                <a:alpha val="16080"/>
              </a:srgbClr>
            </a:outerShdw>
          </a:effectLst>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01" name="Google Shape;101;p21"/>
          <p:cNvSpPr/>
          <p:nvPr/>
        </p:nvSpPr>
        <p:spPr>
          <a:xfrm>
            <a:off x="633776" y="356650"/>
            <a:ext cx="8023800" cy="251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5AAC"/>
              </a:buClr>
              <a:buSzPts val="1200"/>
              <a:buFont typeface="Calibri"/>
              <a:buNone/>
            </a:pPr>
            <a:r>
              <a:rPr b="1" i="0" lang="en" sz="900" u="none" cap="none" strike="noStrike">
                <a:solidFill>
                  <a:srgbClr val="2E5AAC"/>
                </a:solidFill>
                <a:latin typeface="Proxima Nova"/>
                <a:ea typeface="Proxima Nova"/>
                <a:cs typeface="Proxima Nova"/>
                <a:sym typeface="Proxima Nova"/>
              </a:rPr>
              <a:t>WHY WE'RE HERE TODAY</a:t>
            </a:r>
            <a:endParaRPr i="0" sz="900" u="none" cap="none" strike="noStrike">
              <a:solidFill>
                <a:srgbClr val="000000"/>
              </a:solidFill>
              <a:latin typeface="Proxima Nova"/>
              <a:ea typeface="Proxima Nova"/>
              <a:cs typeface="Proxima Nova"/>
              <a:sym typeface="Proxima Nova"/>
            </a:endParaRPr>
          </a:p>
        </p:txBody>
      </p:sp>
      <p:sp>
        <p:nvSpPr>
          <p:cNvPr id="102" name="Google Shape;102;p21"/>
          <p:cNvSpPr/>
          <p:nvPr/>
        </p:nvSpPr>
        <p:spPr>
          <a:xfrm>
            <a:off x="804863" y="1604888"/>
            <a:ext cx="453300" cy="179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0C9"/>
              </a:buClr>
              <a:buSzPts val="900"/>
              <a:buFont typeface="Inter"/>
              <a:buNone/>
            </a:pPr>
            <a:r>
              <a:rPr b="1" i="0" lang="en" sz="900" u="none" cap="none" strike="noStrike">
                <a:solidFill>
                  <a:srgbClr val="2550C9"/>
                </a:solidFill>
                <a:latin typeface="Proxima Nova"/>
                <a:ea typeface="Proxima Nova"/>
                <a:cs typeface="Proxima Nova"/>
                <a:sym typeface="Proxima Nova"/>
              </a:rPr>
              <a:t>PART 1</a:t>
            </a:r>
            <a:endParaRPr i="0" sz="900" u="none" cap="none" strike="noStrike">
              <a:solidFill>
                <a:schemeClr val="dk1"/>
              </a:solidFill>
              <a:latin typeface="Proxima Nova"/>
              <a:ea typeface="Proxima Nova"/>
              <a:cs typeface="Proxima Nova"/>
              <a:sym typeface="Proxima Nova"/>
            </a:endParaRPr>
          </a:p>
        </p:txBody>
      </p:sp>
      <p:sp>
        <p:nvSpPr>
          <p:cNvPr id="103" name="Google Shape;103;p21"/>
          <p:cNvSpPr/>
          <p:nvPr/>
        </p:nvSpPr>
        <p:spPr>
          <a:xfrm>
            <a:off x="3839319" y="1604888"/>
            <a:ext cx="461400" cy="179100"/>
          </a:xfrm>
          <a:prstGeom prst="rect">
            <a:avLst/>
          </a:prstGeom>
          <a:noFill/>
          <a:ln>
            <a:noFill/>
          </a:ln>
        </p:spPr>
        <p:txBody>
          <a:bodyPr anchorCtr="0" anchor="t" bIns="0" lIns="0" spcFirstLastPara="1" rIns="0" wrap="square" tIns="0">
            <a:noAutofit/>
          </a:bodyPr>
          <a:lstStyle/>
          <a:p>
            <a:pPr indent="0" lvl="0" marL="0" marR="0" rtl="0" algn="r">
              <a:lnSpc>
                <a:spcPct val="140000"/>
              </a:lnSpc>
              <a:spcBef>
                <a:spcPts val="0"/>
              </a:spcBef>
              <a:spcAft>
                <a:spcPts val="0"/>
              </a:spcAft>
              <a:buClr>
                <a:srgbClr val="5A6272"/>
              </a:buClr>
              <a:buSzPts val="900"/>
              <a:buFont typeface="Inter"/>
              <a:buNone/>
            </a:pPr>
            <a:r>
              <a:rPr b="1" lang="en" sz="900">
                <a:solidFill>
                  <a:srgbClr val="5A6272"/>
                </a:solidFill>
                <a:latin typeface="Proxima Nova"/>
                <a:ea typeface="Proxima Nova"/>
                <a:cs typeface="Proxima Nova"/>
                <a:sym typeface="Proxima Nova"/>
              </a:rPr>
              <a:t>15</a:t>
            </a:r>
            <a:r>
              <a:rPr b="1" i="0" lang="en" sz="900" u="none" cap="none" strike="noStrike">
                <a:solidFill>
                  <a:srgbClr val="5A6272"/>
                </a:solidFill>
                <a:latin typeface="Proxima Nova"/>
                <a:ea typeface="Proxima Nova"/>
                <a:cs typeface="Proxima Nova"/>
                <a:sym typeface="Proxima Nova"/>
              </a:rPr>
              <a:t> min</a:t>
            </a:r>
            <a:endParaRPr i="0" sz="900" u="none" cap="none" strike="noStrike">
              <a:solidFill>
                <a:schemeClr val="dk1"/>
              </a:solidFill>
              <a:latin typeface="Proxima Nova"/>
              <a:ea typeface="Proxima Nova"/>
              <a:cs typeface="Proxima Nova"/>
              <a:sym typeface="Proxima Nova"/>
            </a:endParaRPr>
          </a:p>
        </p:txBody>
      </p:sp>
      <p:sp>
        <p:nvSpPr>
          <p:cNvPr id="104" name="Google Shape;104;p21"/>
          <p:cNvSpPr/>
          <p:nvPr/>
        </p:nvSpPr>
        <p:spPr>
          <a:xfrm>
            <a:off x="804863" y="1860128"/>
            <a:ext cx="3600600" cy="2478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13A"/>
              </a:buClr>
              <a:buSzPts val="1500"/>
              <a:buFont typeface="Plus Jakarta Sans"/>
              <a:buNone/>
            </a:pPr>
            <a:r>
              <a:rPr b="1" i="0" lang="en" sz="1500" u="none" cap="none" strike="noStrike">
                <a:solidFill>
                  <a:srgbClr val="16213A"/>
                </a:solidFill>
                <a:latin typeface="Proxima Nova"/>
                <a:ea typeface="Proxima Nova"/>
                <a:cs typeface="Proxima Nova"/>
                <a:sym typeface="Proxima Nova"/>
              </a:rPr>
              <a:t>How Toptal projects work</a:t>
            </a:r>
            <a:endParaRPr i="0" sz="1500" u="none" cap="none" strike="noStrike">
              <a:solidFill>
                <a:schemeClr val="dk1"/>
              </a:solidFill>
              <a:latin typeface="Proxima Nova"/>
              <a:ea typeface="Proxima Nova"/>
              <a:cs typeface="Proxima Nova"/>
              <a:sym typeface="Proxima Nova"/>
            </a:endParaRPr>
          </a:p>
        </p:txBody>
      </p:sp>
      <p:cxnSp>
        <p:nvCxnSpPr>
          <p:cNvPr id="105" name="Google Shape;105;p21"/>
          <p:cNvCxnSpPr/>
          <p:nvPr/>
        </p:nvCxnSpPr>
        <p:spPr>
          <a:xfrm>
            <a:off x="804863" y="2533055"/>
            <a:ext cx="3495600" cy="0"/>
          </a:xfrm>
          <a:prstGeom prst="straightConnector1">
            <a:avLst/>
          </a:prstGeom>
          <a:noFill/>
          <a:ln cap="flat" cmpd="sng" w="7150">
            <a:solidFill>
              <a:srgbClr val="DED9CE"/>
            </a:solidFill>
            <a:prstDash val="solid"/>
            <a:round/>
            <a:headEnd len="sm" w="sm" type="none"/>
            <a:tailEnd len="sm" w="sm" type="none"/>
          </a:ln>
        </p:spPr>
      </p:cxnSp>
      <p:sp>
        <p:nvSpPr>
          <p:cNvPr id="106" name="Google Shape;106;p21"/>
          <p:cNvSpPr/>
          <p:nvPr/>
        </p:nvSpPr>
        <p:spPr>
          <a:xfrm>
            <a:off x="804863" y="2260178"/>
            <a:ext cx="304800" cy="205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0C9"/>
              </a:buClr>
              <a:buSzPts val="1100"/>
              <a:buFont typeface="Plus Jakarta Sans"/>
              <a:buNone/>
            </a:pPr>
            <a:r>
              <a:rPr b="1" i="0" lang="en" sz="1100" u="none" cap="none" strike="noStrike">
                <a:solidFill>
                  <a:srgbClr val="2550C9"/>
                </a:solidFill>
                <a:latin typeface="Proxima Nova"/>
                <a:ea typeface="Proxima Nova"/>
                <a:cs typeface="Proxima Nova"/>
                <a:sym typeface="Proxima Nova"/>
              </a:rPr>
              <a:t>01</a:t>
            </a:r>
            <a:endParaRPr i="0" sz="1100" u="none" cap="none" strike="noStrike">
              <a:solidFill>
                <a:schemeClr val="dk1"/>
              </a:solidFill>
              <a:latin typeface="Proxima Nova"/>
              <a:ea typeface="Proxima Nova"/>
              <a:cs typeface="Proxima Nova"/>
              <a:sym typeface="Proxima Nova"/>
            </a:endParaRPr>
          </a:p>
        </p:txBody>
      </p:sp>
      <p:sp>
        <p:nvSpPr>
          <p:cNvPr id="107" name="Google Shape;107;p21"/>
          <p:cNvSpPr/>
          <p:nvPr/>
        </p:nvSpPr>
        <p:spPr>
          <a:xfrm>
            <a:off x="1185863" y="2274466"/>
            <a:ext cx="3208200" cy="19920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1C2230"/>
              </a:buClr>
              <a:buSzPts val="1100"/>
              <a:buFont typeface="Inter"/>
              <a:buNone/>
            </a:pPr>
            <a:r>
              <a:rPr i="0" lang="en" sz="1100" u="none" cap="none" strike="noStrike">
                <a:solidFill>
                  <a:srgbClr val="1C2230"/>
                </a:solidFill>
                <a:latin typeface="Proxima Nova"/>
                <a:ea typeface="Proxima Nova"/>
                <a:cs typeface="Proxima Nova"/>
                <a:sym typeface="Proxima Nova"/>
              </a:rPr>
              <a:t>Who you represent</a:t>
            </a:r>
            <a:endParaRPr i="0" sz="1100" u="none" cap="none" strike="noStrike">
              <a:solidFill>
                <a:schemeClr val="dk1"/>
              </a:solidFill>
              <a:latin typeface="Proxima Nova"/>
              <a:ea typeface="Proxima Nova"/>
              <a:cs typeface="Proxima Nova"/>
              <a:sym typeface="Proxima Nova"/>
            </a:endParaRPr>
          </a:p>
        </p:txBody>
      </p:sp>
      <p:cxnSp>
        <p:nvCxnSpPr>
          <p:cNvPr id="108" name="Google Shape;108;p21"/>
          <p:cNvCxnSpPr/>
          <p:nvPr/>
        </p:nvCxnSpPr>
        <p:spPr>
          <a:xfrm>
            <a:off x="804863" y="2884512"/>
            <a:ext cx="3495600" cy="0"/>
          </a:xfrm>
          <a:prstGeom prst="straightConnector1">
            <a:avLst/>
          </a:prstGeom>
          <a:noFill/>
          <a:ln cap="flat" cmpd="sng" w="7150">
            <a:solidFill>
              <a:srgbClr val="DED9CE"/>
            </a:solidFill>
            <a:prstDash val="solid"/>
            <a:round/>
            <a:headEnd len="sm" w="sm" type="none"/>
            <a:tailEnd len="sm" w="sm" type="none"/>
          </a:ln>
        </p:spPr>
      </p:cxnSp>
      <p:sp>
        <p:nvSpPr>
          <p:cNvPr id="109" name="Google Shape;109;p21"/>
          <p:cNvSpPr/>
          <p:nvPr/>
        </p:nvSpPr>
        <p:spPr>
          <a:xfrm>
            <a:off x="804863" y="2611636"/>
            <a:ext cx="304800" cy="205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0C9"/>
              </a:buClr>
              <a:buSzPts val="1100"/>
              <a:buFont typeface="Plus Jakarta Sans"/>
              <a:buNone/>
            </a:pPr>
            <a:r>
              <a:rPr b="1" i="0" lang="en" sz="1100" u="none" cap="none" strike="noStrike">
                <a:solidFill>
                  <a:srgbClr val="2550C9"/>
                </a:solidFill>
                <a:latin typeface="Proxima Nova"/>
                <a:ea typeface="Proxima Nova"/>
                <a:cs typeface="Proxima Nova"/>
                <a:sym typeface="Proxima Nova"/>
              </a:rPr>
              <a:t>02</a:t>
            </a:r>
            <a:endParaRPr i="0" sz="1100" u="none" cap="none" strike="noStrike">
              <a:solidFill>
                <a:schemeClr val="dk1"/>
              </a:solidFill>
              <a:latin typeface="Proxima Nova"/>
              <a:ea typeface="Proxima Nova"/>
              <a:cs typeface="Proxima Nova"/>
              <a:sym typeface="Proxima Nova"/>
            </a:endParaRPr>
          </a:p>
        </p:txBody>
      </p:sp>
      <p:sp>
        <p:nvSpPr>
          <p:cNvPr id="110" name="Google Shape;110;p21"/>
          <p:cNvSpPr/>
          <p:nvPr/>
        </p:nvSpPr>
        <p:spPr>
          <a:xfrm>
            <a:off x="1185863" y="2625923"/>
            <a:ext cx="3208200" cy="19920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1C2230"/>
              </a:buClr>
              <a:buSzPts val="1100"/>
              <a:buFont typeface="Inter"/>
              <a:buNone/>
            </a:pPr>
            <a:r>
              <a:rPr i="0" lang="en" sz="1100" u="none" cap="none" strike="noStrike">
                <a:solidFill>
                  <a:srgbClr val="1C2230"/>
                </a:solidFill>
                <a:latin typeface="Proxima Nova"/>
                <a:ea typeface="Proxima Nova"/>
                <a:cs typeface="Proxima Nova"/>
                <a:sym typeface="Proxima Nova"/>
              </a:rPr>
              <a:t>Roles and responsibilities</a:t>
            </a:r>
            <a:endParaRPr i="0" sz="1100" u="none" cap="none" strike="noStrike">
              <a:solidFill>
                <a:schemeClr val="dk1"/>
              </a:solidFill>
              <a:latin typeface="Proxima Nova"/>
              <a:ea typeface="Proxima Nova"/>
              <a:cs typeface="Proxima Nova"/>
              <a:sym typeface="Proxima Nova"/>
            </a:endParaRPr>
          </a:p>
        </p:txBody>
      </p:sp>
      <p:cxnSp>
        <p:nvCxnSpPr>
          <p:cNvPr id="111" name="Google Shape;111;p21"/>
          <p:cNvCxnSpPr/>
          <p:nvPr/>
        </p:nvCxnSpPr>
        <p:spPr>
          <a:xfrm>
            <a:off x="804863" y="3235970"/>
            <a:ext cx="3495600" cy="0"/>
          </a:xfrm>
          <a:prstGeom prst="straightConnector1">
            <a:avLst/>
          </a:prstGeom>
          <a:noFill/>
          <a:ln cap="flat" cmpd="sng" w="7150">
            <a:solidFill>
              <a:srgbClr val="DED9CE"/>
            </a:solidFill>
            <a:prstDash val="solid"/>
            <a:round/>
            <a:headEnd len="sm" w="sm" type="none"/>
            <a:tailEnd len="sm" w="sm" type="none"/>
          </a:ln>
        </p:spPr>
      </p:cxnSp>
      <p:sp>
        <p:nvSpPr>
          <p:cNvPr id="112" name="Google Shape;112;p21"/>
          <p:cNvSpPr/>
          <p:nvPr/>
        </p:nvSpPr>
        <p:spPr>
          <a:xfrm>
            <a:off x="804863" y="2963093"/>
            <a:ext cx="304800" cy="205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0C9"/>
              </a:buClr>
              <a:buSzPts val="1100"/>
              <a:buFont typeface="Plus Jakarta Sans"/>
              <a:buNone/>
            </a:pPr>
            <a:r>
              <a:rPr b="1" i="0" lang="en" sz="1100" u="none" cap="none" strike="noStrike">
                <a:solidFill>
                  <a:srgbClr val="2550C9"/>
                </a:solidFill>
                <a:latin typeface="Proxima Nova"/>
                <a:ea typeface="Proxima Nova"/>
                <a:cs typeface="Proxima Nova"/>
                <a:sym typeface="Proxima Nova"/>
              </a:rPr>
              <a:t>03</a:t>
            </a:r>
            <a:endParaRPr i="0" sz="1100" u="none" cap="none" strike="noStrike">
              <a:solidFill>
                <a:schemeClr val="dk1"/>
              </a:solidFill>
              <a:latin typeface="Proxima Nova"/>
              <a:ea typeface="Proxima Nova"/>
              <a:cs typeface="Proxima Nova"/>
              <a:sym typeface="Proxima Nova"/>
            </a:endParaRPr>
          </a:p>
        </p:txBody>
      </p:sp>
      <p:sp>
        <p:nvSpPr>
          <p:cNvPr id="113" name="Google Shape;113;p21"/>
          <p:cNvSpPr/>
          <p:nvPr/>
        </p:nvSpPr>
        <p:spPr>
          <a:xfrm>
            <a:off x="1185863" y="2977381"/>
            <a:ext cx="3208200" cy="19920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1C2230"/>
              </a:buClr>
              <a:buSzPts val="1100"/>
              <a:buFont typeface="Inter"/>
              <a:buNone/>
            </a:pPr>
            <a:r>
              <a:rPr lang="en" sz="1100">
                <a:solidFill>
                  <a:srgbClr val="1C2230"/>
                </a:solidFill>
                <a:latin typeface="Proxima Nova"/>
                <a:ea typeface="Proxima Nova"/>
                <a:cs typeface="Proxima Nova"/>
                <a:sym typeface="Proxima Nova"/>
              </a:rPr>
              <a:t>Delivery lifecycle</a:t>
            </a:r>
            <a:endParaRPr i="0" sz="1100" u="none" cap="none" strike="noStrike">
              <a:solidFill>
                <a:schemeClr val="dk1"/>
              </a:solidFill>
              <a:latin typeface="Proxima Nova"/>
              <a:ea typeface="Proxima Nova"/>
              <a:cs typeface="Proxima Nova"/>
              <a:sym typeface="Proxima Nova"/>
            </a:endParaRPr>
          </a:p>
        </p:txBody>
      </p:sp>
      <p:cxnSp>
        <p:nvCxnSpPr>
          <p:cNvPr id="114" name="Google Shape;114;p21"/>
          <p:cNvCxnSpPr/>
          <p:nvPr/>
        </p:nvCxnSpPr>
        <p:spPr>
          <a:xfrm>
            <a:off x="804863" y="3587428"/>
            <a:ext cx="3495600" cy="0"/>
          </a:xfrm>
          <a:prstGeom prst="straightConnector1">
            <a:avLst/>
          </a:prstGeom>
          <a:noFill/>
          <a:ln cap="flat" cmpd="sng" w="7150">
            <a:solidFill>
              <a:srgbClr val="DED9CE"/>
            </a:solidFill>
            <a:prstDash val="solid"/>
            <a:round/>
            <a:headEnd len="sm" w="sm" type="none"/>
            <a:tailEnd len="sm" w="sm" type="none"/>
          </a:ln>
        </p:spPr>
      </p:cxnSp>
      <p:sp>
        <p:nvSpPr>
          <p:cNvPr id="115" name="Google Shape;115;p21"/>
          <p:cNvSpPr/>
          <p:nvPr/>
        </p:nvSpPr>
        <p:spPr>
          <a:xfrm>
            <a:off x="804863" y="3314552"/>
            <a:ext cx="304800" cy="205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0C9"/>
              </a:buClr>
              <a:buSzPts val="1100"/>
              <a:buFont typeface="Plus Jakarta Sans"/>
              <a:buNone/>
            </a:pPr>
            <a:r>
              <a:rPr b="1" i="0" lang="en" sz="1100" u="none" cap="none" strike="noStrike">
                <a:solidFill>
                  <a:srgbClr val="2550C9"/>
                </a:solidFill>
                <a:latin typeface="Proxima Nova"/>
                <a:ea typeface="Proxima Nova"/>
                <a:cs typeface="Proxima Nova"/>
                <a:sym typeface="Proxima Nova"/>
              </a:rPr>
              <a:t>04</a:t>
            </a:r>
            <a:endParaRPr i="0" sz="1100" u="none" cap="none" strike="noStrike">
              <a:solidFill>
                <a:schemeClr val="dk1"/>
              </a:solidFill>
              <a:latin typeface="Proxima Nova"/>
              <a:ea typeface="Proxima Nova"/>
              <a:cs typeface="Proxima Nova"/>
              <a:sym typeface="Proxima Nova"/>
            </a:endParaRPr>
          </a:p>
        </p:txBody>
      </p:sp>
      <p:sp>
        <p:nvSpPr>
          <p:cNvPr id="116" name="Google Shape;116;p21"/>
          <p:cNvSpPr/>
          <p:nvPr/>
        </p:nvSpPr>
        <p:spPr>
          <a:xfrm>
            <a:off x="1185863" y="3328839"/>
            <a:ext cx="3208200" cy="19920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1C2230"/>
              </a:buClr>
              <a:buSzPts val="1100"/>
              <a:buFont typeface="Inter"/>
              <a:buNone/>
            </a:pPr>
            <a:r>
              <a:rPr lang="en" sz="1100">
                <a:solidFill>
                  <a:srgbClr val="1C2230"/>
                </a:solidFill>
                <a:latin typeface="Proxima Nova"/>
                <a:ea typeface="Proxima Nova"/>
                <a:cs typeface="Proxima Nova"/>
                <a:sym typeface="Proxima Nova"/>
              </a:rPr>
              <a:t>Decision rights and boundaries</a:t>
            </a:r>
            <a:endParaRPr sz="1100">
              <a:solidFill>
                <a:srgbClr val="1C2230"/>
              </a:solidFill>
              <a:latin typeface="Proxima Nova"/>
              <a:ea typeface="Proxima Nova"/>
              <a:cs typeface="Proxima Nova"/>
              <a:sym typeface="Proxima Nova"/>
            </a:endParaRPr>
          </a:p>
        </p:txBody>
      </p:sp>
      <p:sp>
        <p:nvSpPr>
          <p:cNvPr id="117" name="Google Shape;117;p21"/>
          <p:cNvSpPr/>
          <p:nvPr/>
        </p:nvSpPr>
        <p:spPr>
          <a:xfrm>
            <a:off x="4843463" y="1604888"/>
            <a:ext cx="480600" cy="179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21A"/>
              </a:buClr>
              <a:buSzPts val="900"/>
              <a:buFont typeface="Inter"/>
              <a:buNone/>
            </a:pPr>
            <a:r>
              <a:rPr b="1" i="0" lang="en" sz="900" u="none" cap="none" strike="noStrike">
                <a:solidFill>
                  <a:srgbClr val="07947C"/>
                </a:solidFill>
                <a:latin typeface="Proxima Nova"/>
                <a:ea typeface="Proxima Nova"/>
                <a:cs typeface="Proxima Nova"/>
                <a:sym typeface="Proxima Nova"/>
              </a:rPr>
              <a:t>PART 2</a:t>
            </a:r>
            <a:endParaRPr i="0" sz="900" u="none" cap="none" strike="noStrike">
              <a:solidFill>
                <a:srgbClr val="07947C"/>
              </a:solidFill>
              <a:latin typeface="Proxima Nova"/>
              <a:ea typeface="Proxima Nova"/>
              <a:cs typeface="Proxima Nova"/>
              <a:sym typeface="Proxima Nova"/>
            </a:endParaRPr>
          </a:p>
        </p:txBody>
      </p:sp>
      <p:sp>
        <p:nvSpPr>
          <p:cNvPr id="118" name="Google Shape;118;p21"/>
          <p:cNvSpPr/>
          <p:nvPr/>
        </p:nvSpPr>
        <p:spPr>
          <a:xfrm>
            <a:off x="7877919" y="1604888"/>
            <a:ext cx="461400" cy="179100"/>
          </a:xfrm>
          <a:prstGeom prst="rect">
            <a:avLst/>
          </a:prstGeom>
          <a:noFill/>
          <a:ln>
            <a:noFill/>
          </a:ln>
        </p:spPr>
        <p:txBody>
          <a:bodyPr anchorCtr="0" anchor="t" bIns="0" lIns="0" spcFirstLastPara="1" rIns="0" wrap="square" tIns="0">
            <a:noAutofit/>
          </a:bodyPr>
          <a:lstStyle/>
          <a:p>
            <a:pPr indent="0" lvl="0" marL="0" marR="0" rtl="0" algn="r">
              <a:lnSpc>
                <a:spcPct val="140000"/>
              </a:lnSpc>
              <a:spcBef>
                <a:spcPts val="0"/>
              </a:spcBef>
              <a:spcAft>
                <a:spcPts val="0"/>
              </a:spcAft>
              <a:buClr>
                <a:srgbClr val="5A6272"/>
              </a:buClr>
              <a:buSzPts val="900"/>
              <a:buFont typeface="Inter"/>
              <a:buNone/>
            </a:pPr>
            <a:r>
              <a:rPr b="1" lang="en" sz="900">
                <a:solidFill>
                  <a:srgbClr val="5A6272"/>
                </a:solidFill>
                <a:latin typeface="Proxima Nova"/>
                <a:ea typeface="Proxima Nova"/>
                <a:cs typeface="Proxima Nova"/>
                <a:sym typeface="Proxima Nova"/>
              </a:rPr>
              <a:t>20</a:t>
            </a:r>
            <a:r>
              <a:rPr b="1" i="0" lang="en" sz="900" u="none" cap="none" strike="noStrike">
                <a:solidFill>
                  <a:srgbClr val="5A6272"/>
                </a:solidFill>
                <a:latin typeface="Proxima Nova"/>
                <a:ea typeface="Proxima Nova"/>
                <a:cs typeface="Proxima Nova"/>
                <a:sym typeface="Proxima Nova"/>
              </a:rPr>
              <a:t> min</a:t>
            </a:r>
            <a:endParaRPr i="0" sz="900" u="none" cap="none" strike="noStrike">
              <a:solidFill>
                <a:schemeClr val="dk1"/>
              </a:solidFill>
              <a:latin typeface="Proxima Nova"/>
              <a:ea typeface="Proxima Nova"/>
              <a:cs typeface="Proxima Nova"/>
              <a:sym typeface="Proxima Nova"/>
            </a:endParaRPr>
          </a:p>
        </p:txBody>
      </p:sp>
      <p:sp>
        <p:nvSpPr>
          <p:cNvPr id="119" name="Google Shape;119;p21"/>
          <p:cNvSpPr/>
          <p:nvPr/>
        </p:nvSpPr>
        <p:spPr>
          <a:xfrm>
            <a:off x="4843463" y="1860128"/>
            <a:ext cx="3600600" cy="2478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13A"/>
              </a:buClr>
              <a:buSzPts val="1500"/>
              <a:buFont typeface="Plus Jakarta Sans"/>
              <a:buNone/>
            </a:pPr>
            <a:r>
              <a:rPr b="1" i="0" lang="en" sz="1500" u="none" cap="none" strike="noStrike">
                <a:solidFill>
                  <a:srgbClr val="16213A"/>
                </a:solidFill>
                <a:latin typeface="Proxima Nova"/>
                <a:ea typeface="Proxima Nova"/>
                <a:cs typeface="Proxima Nova"/>
                <a:sym typeface="Proxima Nova"/>
              </a:rPr>
              <a:t>Your project</a:t>
            </a:r>
            <a:endParaRPr i="0" sz="1500" u="none" cap="none" strike="noStrike">
              <a:solidFill>
                <a:schemeClr val="dk1"/>
              </a:solidFill>
              <a:latin typeface="Proxima Nova"/>
              <a:ea typeface="Proxima Nova"/>
              <a:cs typeface="Proxima Nova"/>
              <a:sym typeface="Proxima Nova"/>
            </a:endParaRPr>
          </a:p>
        </p:txBody>
      </p:sp>
      <p:cxnSp>
        <p:nvCxnSpPr>
          <p:cNvPr id="120" name="Google Shape;120;p21"/>
          <p:cNvCxnSpPr/>
          <p:nvPr/>
        </p:nvCxnSpPr>
        <p:spPr>
          <a:xfrm>
            <a:off x="4843463" y="2533055"/>
            <a:ext cx="3495600" cy="0"/>
          </a:xfrm>
          <a:prstGeom prst="straightConnector1">
            <a:avLst/>
          </a:prstGeom>
          <a:noFill/>
          <a:ln cap="flat" cmpd="sng" w="7150">
            <a:solidFill>
              <a:srgbClr val="DED9CE"/>
            </a:solidFill>
            <a:prstDash val="solid"/>
            <a:round/>
            <a:headEnd len="sm" w="sm" type="none"/>
            <a:tailEnd len="sm" w="sm" type="none"/>
          </a:ln>
        </p:spPr>
      </p:cxnSp>
      <p:sp>
        <p:nvSpPr>
          <p:cNvPr id="121" name="Google Shape;121;p21"/>
          <p:cNvSpPr/>
          <p:nvPr/>
        </p:nvSpPr>
        <p:spPr>
          <a:xfrm>
            <a:off x="4843463" y="2260178"/>
            <a:ext cx="304800" cy="205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21A"/>
              </a:buClr>
              <a:buSzPts val="1100"/>
              <a:buFont typeface="Plus Jakarta Sans"/>
              <a:buNone/>
            </a:pPr>
            <a:r>
              <a:rPr b="1" i="0" lang="en" sz="1100" u="none" cap="none" strike="noStrike">
                <a:solidFill>
                  <a:srgbClr val="07947C"/>
                </a:solidFill>
                <a:latin typeface="Proxima Nova"/>
                <a:ea typeface="Proxima Nova"/>
                <a:cs typeface="Proxima Nova"/>
                <a:sym typeface="Proxima Nova"/>
              </a:rPr>
              <a:t>05</a:t>
            </a:r>
            <a:endParaRPr i="0" sz="1100" u="none" cap="none" strike="noStrike">
              <a:solidFill>
                <a:srgbClr val="07947C"/>
              </a:solidFill>
              <a:latin typeface="Proxima Nova"/>
              <a:ea typeface="Proxima Nova"/>
              <a:cs typeface="Proxima Nova"/>
              <a:sym typeface="Proxima Nova"/>
            </a:endParaRPr>
          </a:p>
        </p:txBody>
      </p:sp>
      <p:sp>
        <p:nvSpPr>
          <p:cNvPr id="122" name="Google Shape;122;p21"/>
          <p:cNvSpPr/>
          <p:nvPr/>
        </p:nvSpPr>
        <p:spPr>
          <a:xfrm>
            <a:off x="5224463" y="2274466"/>
            <a:ext cx="3208200" cy="19920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1C2230"/>
              </a:buClr>
              <a:buSzPts val="1100"/>
              <a:buFont typeface="Inter"/>
              <a:buNone/>
            </a:pPr>
            <a:r>
              <a:rPr i="0" lang="en" sz="1100" u="none" cap="none" strike="noStrike">
                <a:solidFill>
                  <a:srgbClr val="1C2230"/>
                </a:solidFill>
                <a:latin typeface="Proxima Nova"/>
                <a:ea typeface="Proxima Nova"/>
                <a:cs typeface="Proxima Nova"/>
                <a:sym typeface="Proxima Nova"/>
              </a:rPr>
              <a:t>Project at a glance</a:t>
            </a:r>
            <a:endParaRPr i="0" sz="1100" u="none" cap="none" strike="noStrike">
              <a:solidFill>
                <a:schemeClr val="dk1"/>
              </a:solidFill>
              <a:latin typeface="Proxima Nova"/>
              <a:ea typeface="Proxima Nova"/>
              <a:cs typeface="Proxima Nova"/>
              <a:sym typeface="Proxima Nova"/>
            </a:endParaRPr>
          </a:p>
        </p:txBody>
      </p:sp>
      <p:cxnSp>
        <p:nvCxnSpPr>
          <p:cNvPr id="123" name="Google Shape;123;p21"/>
          <p:cNvCxnSpPr/>
          <p:nvPr/>
        </p:nvCxnSpPr>
        <p:spPr>
          <a:xfrm>
            <a:off x="4843463" y="2884512"/>
            <a:ext cx="3495600" cy="0"/>
          </a:xfrm>
          <a:prstGeom prst="straightConnector1">
            <a:avLst/>
          </a:prstGeom>
          <a:noFill/>
          <a:ln cap="flat" cmpd="sng" w="7150">
            <a:solidFill>
              <a:srgbClr val="DED9CE"/>
            </a:solidFill>
            <a:prstDash val="solid"/>
            <a:round/>
            <a:headEnd len="sm" w="sm" type="none"/>
            <a:tailEnd len="sm" w="sm" type="none"/>
          </a:ln>
        </p:spPr>
      </p:cxnSp>
      <p:sp>
        <p:nvSpPr>
          <p:cNvPr id="124" name="Google Shape;124;p21"/>
          <p:cNvSpPr/>
          <p:nvPr/>
        </p:nvSpPr>
        <p:spPr>
          <a:xfrm>
            <a:off x="4843463" y="2611636"/>
            <a:ext cx="304800" cy="205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21A"/>
              </a:buClr>
              <a:buSzPts val="1100"/>
              <a:buFont typeface="Plus Jakarta Sans"/>
              <a:buNone/>
            </a:pPr>
            <a:r>
              <a:rPr b="1" i="0" lang="en" sz="1100" u="none" cap="none" strike="noStrike">
                <a:solidFill>
                  <a:srgbClr val="07947C"/>
                </a:solidFill>
                <a:latin typeface="Proxima Nova"/>
                <a:ea typeface="Proxima Nova"/>
                <a:cs typeface="Proxima Nova"/>
                <a:sym typeface="Proxima Nova"/>
              </a:rPr>
              <a:t>06</a:t>
            </a:r>
            <a:endParaRPr i="0" sz="1100" u="none" cap="none" strike="noStrike">
              <a:solidFill>
                <a:srgbClr val="07947C"/>
              </a:solidFill>
              <a:latin typeface="Proxima Nova"/>
              <a:ea typeface="Proxima Nova"/>
              <a:cs typeface="Proxima Nova"/>
              <a:sym typeface="Proxima Nova"/>
            </a:endParaRPr>
          </a:p>
        </p:txBody>
      </p:sp>
      <p:sp>
        <p:nvSpPr>
          <p:cNvPr id="125" name="Google Shape;125;p21"/>
          <p:cNvSpPr/>
          <p:nvPr/>
        </p:nvSpPr>
        <p:spPr>
          <a:xfrm>
            <a:off x="5224463" y="2625923"/>
            <a:ext cx="3208200" cy="19920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1C2230"/>
              </a:buClr>
              <a:buSzPts val="1100"/>
              <a:buFont typeface="Inter"/>
              <a:buNone/>
            </a:pPr>
            <a:r>
              <a:rPr i="0" lang="en" sz="1100" u="none" cap="none" strike="noStrike">
                <a:solidFill>
                  <a:srgbClr val="1C2230"/>
                </a:solidFill>
                <a:latin typeface="Proxima Nova"/>
                <a:ea typeface="Proxima Nova"/>
                <a:cs typeface="Proxima Nova"/>
                <a:sym typeface="Proxima Nova"/>
              </a:rPr>
              <a:t>Contract </a:t>
            </a:r>
            <a:r>
              <a:rPr lang="en" sz="1100">
                <a:solidFill>
                  <a:srgbClr val="1C2230"/>
                </a:solidFill>
                <a:latin typeface="Proxima Nova"/>
                <a:ea typeface="Proxima Nova"/>
                <a:cs typeface="Proxima Nova"/>
                <a:sym typeface="Proxima Nova"/>
              </a:rPr>
              <a:t>walkthrough</a:t>
            </a:r>
            <a:endParaRPr i="0" sz="1100" u="none" cap="none" strike="noStrike">
              <a:solidFill>
                <a:schemeClr val="dk1"/>
              </a:solidFill>
              <a:latin typeface="Proxima Nova"/>
              <a:ea typeface="Proxima Nova"/>
              <a:cs typeface="Proxima Nova"/>
              <a:sym typeface="Proxima Nova"/>
            </a:endParaRPr>
          </a:p>
        </p:txBody>
      </p:sp>
      <p:cxnSp>
        <p:nvCxnSpPr>
          <p:cNvPr id="126" name="Google Shape;126;p21"/>
          <p:cNvCxnSpPr/>
          <p:nvPr/>
        </p:nvCxnSpPr>
        <p:spPr>
          <a:xfrm>
            <a:off x="4843463" y="3235970"/>
            <a:ext cx="3495600" cy="0"/>
          </a:xfrm>
          <a:prstGeom prst="straightConnector1">
            <a:avLst/>
          </a:prstGeom>
          <a:noFill/>
          <a:ln cap="flat" cmpd="sng" w="7150">
            <a:solidFill>
              <a:srgbClr val="DED9CE"/>
            </a:solidFill>
            <a:prstDash val="solid"/>
            <a:round/>
            <a:headEnd len="sm" w="sm" type="none"/>
            <a:tailEnd len="sm" w="sm" type="none"/>
          </a:ln>
        </p:spPr>
      </p:cxnSp>
      <p:sp>
        <p:nvSpPr>
          <p:cNvPr id="127" name="Google Shape;127;p21"/>
          <p:cNvSpPr/>
          <p:nvPr/>
        </p:nvSpPr>
        <p:spPr>
          <a:xfrm>
            <a:off x="4843463" y="2963093"/>
            <a:ext cx="304800" cy="205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21A"/>
              </a:buClr>
              <a:buSzPts val="1100"/>
              <a:buFont typeface="Plus Jakarta Sans"/>
              <a:buNone/>
            </a:pPr>
            <a:r>
              <a:rPr b="1" i="0" lang="en" sz="1100" u="none" cap="none" strike="noStrike">
                <a:solidFill>
                  <a:srgbClr val="07947C"/>
                </a:solidFill>
                <a:latin typeface="Proxima Nova"/>
                <a:ea typeface="Proxima Nova"/>
                <a:cs typeface="Proxima Nova"/>
                <a:sym typeface="Proxima Nova"/>
              </a:rPr>
              <a:t>07</a:t>
            </a:r>
            <a:endParaRPr i="0" sz="1100" u="none" cap="none" strike="noStrike">
              <a:solidFill>
                <a:srgbClr val="07947C"/>
              </a:solidFill>
              <a:latin typeface="Proxima Nova"/>
              <a:ea typeface="Proxima Nova"/>
              <a:cs typeface="Proxima Nova"/>
              <a:sym typeface="Proxima Nova"/>
            </a:endParaRPr>
          </a:p>
        </p:txBody>
      </p:sp>
      <p:sp>
        <p:nvSpPr>
          <p:cNvPr id="128" name="Google Shape;128;p21"/>
          <p:cNvSpPr/>
          <p:nvPr/>
        </p:nvSpPr>
        <p:spPr>
          <a:xfrm>
            <a:off x="5224463" y="2977381"/>
            <a:ext cx="3208200" cy="19920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1C2230"/>
              </a:buClr>
              <a:buSzPts val="1100"/>
              <a:buFont typeface="Inter"/>
              <a:buNone/>
            </a:pPr>
            <a:r>
              <a:rPr i="0" lang="en" sz="1100" u="none" cap="none" strike="noStrike">
                <a:solidFill>
                  <a:srgbClr val="1C2230"/>
                </a:solidFill>
                <a:latin typeface="Proxima Nova"/>
                <a:ea typeface="Proxima Nova"/>
                <a:cs typeface="Proxima Nova"/>
                <a:sym typeface="Proxima Nova"/>
              </a:rPr>
              <a:t>Baseline walkthrough</a:t>
            </a:r>
            <a:endParaRPr i="0" sz="1100" u="none" cap="none" strike="noStrike">
              <a:solidFill>
                <a:schemeClr val="dk1"/>
              </a:solidFill>
              <a:latin typeface="Proxima Nova"/>
              <a:ea typeface="Proxima Nova"/>
              <a:cs typeface="Proxima Nova"/>
              <a:sym typeface="Proxima Nova"/>
            </a:endParaRPr>
          </a:p>
        </p:txBody>
      </p:sp>
      <p:cxnSp>
        <p:nvCxnSpPr>
          <p:cNvPr id="129" name="Google Shape;129;p21"/>
          <p:cNvCxnSpPr/>
          <p:nvPr/>
        </p:nvCxnSpPr>
        <p:spPr>
          <a:xfrm>
            <a:off x="4843463" y="3587428"/>
            <a:ext cx="3495600" cy="0"/>
          </a:xfrm>
          <a:prstGeom prst="straightConnector1">
            <a:avLst/>
          </a:prstGeom>
          <a:noFill/>
          <a:ln cap="flat" cmpd="sng" w="7150">
            <a:solidFill>
              <a:srgbClr val="DED9CE"/>
            </a:solidFill>
            <a:prstDash val="solid"/>
            <a:round/>
            <a:headEnd len="sm" w="sm" type="none"/>
            <a:tailEnd len="sm" w="sm" type="none"/>
          </a:ln>
        </p:spPr>
      </p:cxnSp>
      <p:sp>
        <p:nvSpPr>
          <p:cNvPr id="130" name="Google Shape;130;p21"/>
          <p:cNvSpPr/>
          <p:nvPr/>
        </p:nvSpPr>
        <p:spPr>
          <a:xfrm>
            <a:off x="4843463" y="3314552"/>
            <a:ext cx="304800" cy="205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21A"/>
              </a:buClr>
              <a:buSzPts val="1100"/>
              <a:buFont typeface="Plus Jakarta Sans"/>
              <a:buNone/>
            </a:pPr>
            <a:r>
              <a:rPr b="1" i="0" lang="en" sz="1100" u="none" cap="none" strike="noStrike">
                <a:solidFill>
                  <a:srgbClr val="07947C"/>
                </a:solidFill>
                <a:latin typeface="Proxima Nova"/>
                <a:ea typeface="Proxima Nova"/>
                <a:cs typeface="Proxima Nova"/>
                <a:sym typeface="Proxima Nova"/>
              </a:rPr>
              <a:t>08</a:t>
            </a:r>
            <a:endParaRPr i="0" sz="1100" u="none" cap="none" strike="noStrike">
              <a:solidFill>
                <a:srgbClr val="07947C"/>
              </a:solidFill>
              <a:latin typeface="Proxima Nova"/>
              <a:ea typeface="Proxima Nova"/>
              <a:cs typeface="Proxima Nova"/>
              <a:sym typeface="Proxima Nova"/>
            </a:endParaRPr>
          </a:p>
        </p:txBody>
      </p:sp>
      <p:sp>
        <p:nvSpPr>
          <p:cNvPr id="131" name="Google Shape;131;p21"/>
          <p:cNvSpPr/>
          <p:nvPr/>
        </p:nvSpPr>
        <p:spPr>
          <a:xfrm>
            <a:off x="5224463" y="3328839"/>
            <a:ext cx="3208200" cy="19920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1C2230"/>
              </a:buClr>
              <a:buSzPts val="1100"/>
              <a:buFont typeface="Inter"/>
              <a:buNone/>
            </a:pPr>
            <a:r>
              <a:rPr i="0" lang="en" sz="1100" u="none" cap="none" strike="noStrike">
                <a:solidFill>
                  <a:srgbClr val="1C2230"/>
                </a:solidFill>
                <a:latin typeface="Proxima Nova"/>
                <a:ea typeface="Proxima Nova"/>
                <a:cs typeface="Proxima Nova"/>
                <a:sym typeface="Proxima Nova"/>
              </a:rPr>
              <a:t>Immediate priorities </a:t>
            </a:r>
            <a:endParaRPr i="0" sz="1100" u="none" cap="none" strike="noStrike">
              <a:solidFill>
                <a:schemeClr val="dk1"/>
              </a:solidFill>
              <a:latin typeface="Proxima Nova"/>
              <a:ea typeface="Proxima Nova"/>
              <a:cs typeface="Proxima Nova"/>
              <a:sym typeface="Proxima Nova"/>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2"/>
          <p:cNvSpPr/>
          <p:nvPr/>
        </p:nvSpPr>
        <p:spPr>
          <a:xfrm>
            <a:off x="214200" y="-29275"/>
            <a:ext cx="8929800" cy="5143500"/>
          </a:xfrm>
          <a:prstGeom prst="rect">
            <a:avLst/>
          </a:prstGeom>
          <a:solidFill>
            <a:schemeClr val="accent3"/>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lang="en">
                <a:solidFill>
                  <a:schemeClr val="lt1"/>
                </a:solidFill>
                <a:latin typeface="Open Sans"/>
                <a:ea typeface="Open Sans"/>
                <a:cs typeface="Open Sans"/>
                <a:sym typeface="Open Sans"/>
              </a:rPr>
              <a:t> </a:t>
            </a:r>
            <a:endParaRPr sz="1400">
              <a:solidFill>
                <a:schemeClr val="lt1"/>
              </a:solidFill>
              <a:latin typeface="Open Sans"/>
              <a:ea typeface="Open Sans"/>
              <a:cs typeface="Open Sans"/>
              <a:sym typeface="Open Sans"/>
            </a:endParaRPr>
          </a:p>
        </p:txBody>
      </p:sp>
      <p:sp>
        <p:nvSpPr>
          <p:cNvPr id="137" name="Google Shape;137;p22"/>
          <p:cNvSpPr txBox="1"/>
          <p:nvPr>
            <p:ph type="ctrTitle"/>
          </p:nvPr>
        </p:nvSpPr>
        <p:spPr>
          <a:xfrm>
            <a:off x="666750" y="1001575"/>
            <a:ext cx="5575500" cy="11676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latin typeface="Proxima Nova"/>
                <a:ea typeface="Proxima Nova"/>
                <a:cs typeface="Proxima Nova"/>
                <a:sym typeface="Proxima Nova"/>
              </a:rPr>
              <a:t>How Toptal Projects Work</a:t>
            </a:r>
            <a:endParaRPr sz="1800">
              <a:solidFill>
                <a:schemeClr val="accent4"/>
              </a:solidFill>
              <a:latin typeface="Proxima Nova"/>
              <a:ea typeface="Proxima Nova"/>
              <a:cs typeface="Proxima Nova"/>
              <a:sym typeface="Proxima Nova"/>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3"/>
          <p:cNvSpPr/>
          <p:nvPr/>
        </p:nvSpPr>
        <p:spPr>
          <a:xfrm>
            <a:off x="633776" y="356650"/>
            <a:ext cx="8023800" cy="251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5AAC"/>
              </a:buClr>
              <a:buSzPts val="1200"/>
              <a:buFont typeface="Calibri"/>
              <a:buNone/>
            </a:pPr>
            <a:r>
              <a:rPr b="1" lang="en" sz="900">
                <a:solidFill>
                  <a:srgbClr val="2E5AAC"/>
                </a:solidFill>
                <a:latin typeface="Proxima Nova"/>
                <a:ea typeface="Proxima Nova"/>
                <a:cs typeface="Proxima Nova"/>
                <a:sym typeface="Proxima Nova"/>
              </a:rPr>
              <a:t>WHO YOU REPRESENT</a:t>
            </a:r>
            <a:endParaRPr i="0" sz="900" u="none" cap="none" strike="noStrike">
              <a:solidFill>
                <a:srgbClr val="000000"/>
              </a:solidFill>
              <a:latin typeface="Proxima Nova"/>
              <a:ea typeface="Proxima Nova"/>
              <a:cs typeface="Proxima Nova"/>
              <a:sym typeface="Proxima Nova"/>
            </a:endParaRPr>
          </a:p>
        </p:txBody>
      </p:sp>
      <p:graphicFrame>
        <p:nvGraphicFramePr>
          <p:cNvPr id="143" name="Google Shape;143;p23"/>
          <p:cNvGraphicFramePr/>
          <p:nvPr/>
        </p:nvGraphicFramePr>
        <p:xfrm>
          <a:off x="824463" y="1410499"/>
          <a:ext cx="3000000" cy="3000000"/>
        </p:xfrm>
        <a:graphic>
          <a:graphicData uri="http://schemas.openxmlformats.org/drawingml/2006/table">
            <a:tbl>
              <a:tblPr>
                <a:noFill/>
                <a:tableStyleId>{CCF2D8BE-1765-4251-A71B-D7E14FF0B7AB}</a:tableStyleId>
              </a:tblPr>
              <a:tblGrid>
                <a:gridCol w="1538700"/>
                <a:gridCol w="2978175"/>
                <a:gridCol w="2978175"/>
              </a:tblGrid>
              <a:tr h="381000">
                <a:tc>
                  <a:txBody>
                    <a:bodyPr/>
                    <a:lstStyle/>
                    <a:p>
                      <a:pPr indent="0" lvl="0" marL="0" rtl="0" algn="l">
                        <a:spcBef>
                          <a:spcPts val="0"/>
                        </a:spcBef>
                        <a:spcAft>
                          <a:spcPts val="0"/>
                        </a:spcAft>
                        <a:buNone/>
                      </a:pPr>
                      <a:r>
                        <a:t/>
                      </a:r>
                      <a:endParaRPr sz="1200">
                        <a:latin typeface="Proxima Nova"/>
                        <a:ea typeface="Proxima Nova"/>
                        <a:cs typeface="Proxima Nova"/>
                        <a:sym typeface="Proxima Nova"/>
                      </a:endParaRPr>
                    </a:p>
                  </a:txBody>
                  <a:tcPr marT="91425" marB="91425" marR="91425" marL="91425">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solidFill>
                      <a:srgbClr val="0F256E"/>
                    </a:solidFill>
                  </a:tcPr>
                </a:tc>
                <a:tc>
                  <a:txBody>
                    <a:bodyPr/>
                    <a:lstStyle/>
                    <a:p>
                      <a:pPr indent="0" lvl="0" marL="0" rtl="0" algn="l">
                        <a:spcBef>
                          <a:spcPts val="0"/>
                        </a:spcBef>
                        <a:spcAft>
                          <a:spcPts val="0"/>
                        </a:spcAft>
                        <a:buNone/>
                      </a:pPr>
                      <a:r>
                        <a:rPr b="1" lang="en" sz="1100">
                          <a:solidFill>
                            <a:schemeClr val="lt1"/>
                          </a:solidFill>
                          <a:latin typeface="Proxima Nova"/>
                          <a:ea typeface="Proxima Nova"/>
                          <a:cs typeface="Proxima Nova"/>
                          <a:sym typeface="Proxima Nova"/>
                        </a:rPr>
                        <a:t>Talent Engagement</a:t>
                      </a:r>
                      <a:endParaRPr b="1" sz="1100">
                        <a:solidFill>
                          <a:schemeClr val="lt1"/>
                        </a:solidFill>
                        <a:latin typeface="Proxima Nova"/>
                        <a:ea typeface="Proxima Nova"/>
                        <a:cs typeface="Proxima Nova"/>
                        <a:sym typeface="Proxima Nova"/>
                      </a:endParaRPr>
                    </a:p>
                  </a:txBody>
                  <a:tcPr marT="91425" marB="91425" marR="91425" marL="91425">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solidFill>
                      <a:srgbClr val="0F256E"/>
                    </a:solidFill>
                  </a:tcPr>
                </a:tc>
                <a:tc>
                  <a:txBody>
                    <a:bodyPr/>
                    <a:lstStyle/>
                    <a:p>
                      <a:pPr indent="0" lvl="0" marL="0" rtl="0" algn="l">
                        <a:spcBef>
                          <a:spcPts val="0"/>
                        </a:spcBef>
                        <a:spcAft>
                          <a:spcPts val="0"/>
                        </a:spcAft>
                        <a:buNone/>
                      </a:pPr>
                      <a:r>
                        <a:rPr b="1" lang="en" sz="1100">
                          <a:solidFill>
                            <a:schemeClr val="lt1"/>
                          </a:solidFill>
                          <a:latin typeface="Proxima Nova"/>
                          <a:ea typeface="Proxima Nova"/>
                          <a:cs typeface="Proxima Nova"/>
                          <a:sym typeface="Proxima Nova"/>
                        </a:rPr>
                        <a:t>Professional Services Project</a:t>
                      </a:r>
                      <a:endParaRPr b="1" sz="1100">
                        <a:solidFill>
                          <a:schemeClr val="lt1"/>
                        </a:solidFill>
                        <a:latin typeface="Proxima Nova"/>
                        <a:ea typeface="Proxima Nova"/>
                        <a:cs typeface="Proxima Nova"/>
                        <a:sym typeface="Proxima Nova"/>
                      </a:endParaRPr>
                    </a:p>
                  </a:txBody>
                  <a:tcPr marT="91425" marB="91425" marR="91425" marL="91425">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solidFill>
                      <a:srgbClr val="0F256E"/>
                    </a:solidFill>
                  </a:tcPr>
                </a:tc>
              </a:tr>
              <a:tr h="381000">
                <a:tc>
                  <a:txBody>
                    <a:bodyPr/>
                    <a:lstStyle/>
                    <a:p>
                      <a:pPr indent="0" lvl="0" marL="0" rtl="0" algn="l">
                        <a:spcBef>
                          <a:spcPts val="0"/>
                        </a:spcBef>
                        <a:spcAft>
                          <a:spcPts val="0"/>
                        </a:spcAft>
                        <a:buNone/>
                      </a:pPr>
                      <a:r>
                        <a:rPr i="1" lang="en" sz="1000">
                          <a:latin typeface="Proxima Nova"/>
                          <a:ea typeface="Proxima Nova"/>
                          <a:cs typeface="Proxima Nova"/>
                          <a:sym typeface="Proxima Nova"/>
                        </a:rPr>
                        <a:t>You work for</a:t>
                      </a:r>
                      <a:endParaRPr i="1" sz="1000">
                        <a:latin typeface="Proxima Nova"/>
                        <a:ea typeface="Proxima Nova"/>
                        <a:cs typeface="Proxima Nova"/>
                        <a:sym typeface="Proxima Nova"/>
                      </a:endParaRPr>
                    </a:p>
                  </a:txBody>
                  <a:tcPr marT="91425" marB="91425" marR="91425" marL="91425">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rtl="0" algn="l">
                        <a:spcBef>
                          <a:spcPts val="0"/>
                        </a:spcBef>
                        <a:spcAft>
                          <a:spcPts val="0"/>
                        </a:spcAft>
                        <a:buNone/>
                      </a:pPr>
                      <a:r>
                        <a:rPr lang="en" sz="1100">
                          <a:latin typeface="Proxima Nova"/>
                          <a:ea typeface="Proxima Nova"/>
                          <a:cs typeface="Proxima Nova"/>
                          <a:sym typeface="Proxima Nova"/>
                        </a:rPr>
                        <a:t>The client, as an extension of their team</a:t>
                      </a:r>
                      <a:endParaRPr sz="1100">
                        <a:latin typeface="Proxima Nova"/>
                        <a:ea typeface="Proxima Nova"/>
                        <a:cs typeface="Proxima Nova"/>
                        <a:sym typeface="Proxima Nova"/>
                      </a:endParaRPr>
                    </a:p>
                  </a:txBody>
                  <a:tcPr marT="91425" marB="91425" marR="91425" marL="91425">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rtl="0" algn="l">
                        <a:spcBef>
                          <a:spcPts val="0"/>
                        </a:spcBef>
                        <a:spcAft>
                          <a:spcPts val="0"/>
                        </a:spcAft>
                        <a:buNone/>
                      </a:pPr>
                      <a:r>
                        <a:rPr lang="en" sz="1100">
                          <a:solidFill>
                            <a:schemeClr val="accent2"/>
                          </a:solidFill>
                          <a:latin typeface="Proxima Nova"/>
                          <a:ea typeface="Proxima Nova"/>
                          <a:cs typeface="Proxima Nova"/>
                          <a:sym typeface="Proxima Nova"/>
                        </a:rPr>
                        <a:t>Toptal, leading delivery on Toptal’s behalf</a:t>
                      </a:r>
                      <a:endParaRPr sz="1100">
                        <a:solidFill>
                          <a:schemeClr val="accent2"/>
                        </a:solidFill>
                        <a:latin typeface="Proxima Nova"/>
                        <a:ea typeface="Proxima Nova"/>
                        <a:cs typeface="Proxima Nova"/>
                        <a:sym typeface="Proxima Nova"/>
                      </a:endParaRPr>
                    </a:p>
                  </a:txBody>
                  <a:tcPr marT="91425" marB="91425" marR="91425" marL="91425">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r>
              <a:tr h="381000">
                <a:tc>
                  <a:txBody>
                    <a:bodyPr/>
                    <a:lstStyle/>
                    <a:p>
                      <a:pPr indent="0" lvl="0" marL="0" rtl="0" algn="l">
                        <a:spcBef>
                          <a:spcPts val="0"/>
                        </a:spcBef>
                        <a:spcAft>
                          <a:spcPts val="0"/>
                        </a:spcAft>
                        <a:buNone/>
                      </a:pPr>
                      <a:r>
                        <a:rPr i="1" lang="en" sz="1000">
                          <a:latin typeface="Proxima Nova"/>
                          <a:ea typeface="Proxima Nova"/>
                          <a:cs typeface="Proxima Nova"/>
                          <a:sym typeface="Proxima Nova"/>
                        </a:rPr>
                        <a:t>The work is defined by</a:t>
                      </a:r>
                      <a:endParaRPr i="1" sz="1000">
                        <a:latin typeface="Proxima Nova"/>
                        <a:ea typeface="Proxima Nova"/>
                        <a:cs typeface="Proxima Nova"/>
                        <a:sym typeface="Proxima Nova"/>
                      </a:endParaRPr>
                    </a:p>
                  </a:txBody>
                  <a:tcPr marT="91425" marB="91425" marR="91425" marL="91425">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rtl="0" algn="l">
                        <a:spcBef>
                          <a:spcPts val="0"/>
                        </a:spcBef>
                        <a:spcAft>
                          <a:spcPts val="0"/>
                        </a:spcAft>
                        <a:buNone/>
                      </a:pPr>
                      <a:r>
                        <a:rPr lang="en" sz="1100">
                          <a:latin typeface="Proxima Nova"/>
                          <a:ea typeface="Proxima Nova"/>
                          <a:cs typeface="Proxima Nova"/>
                          <a:sym typeface="Proxima Nova"/>
                        </a:rPr>
                        <a:t>The client</a:t>
                      </a:r>
                      <a:endParaRPr sz="1100">
                        <a:latin typeface="Proxima Nova"/>
                        <a:ea typeface="Proxima Nova"/>
                        <a:cs typeface="Proxima Nova"/>
                        <a:sym typeface="Proxima Nova"/>
                      </a:endParaRPr>
                    </a:p>
                  </a:txBody>
                  <a:tcPr marT="91425" marB="91425" marR="91425" marL="91425">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rtl="0" algn="l">
                        <a:spcBef>
                          <a:spcPts val="0"/>
                        </a:spcBef>
                        <a:spcAft>
                          <a:spcPts val="0"/>
                        </a:spcAft>
                        <a:buNone/>
                      </a:pPr>
                      <a:r>
                        <a:rPr lang="en" sz="1100">
                          <a:solidFill>
                            <a:schemeClr val="accent2"/>
                          </a:solidFill>
                          <a:latin typeface="Proxima Nova"/>
                          <a:ea typeface="Proxima Nova"/>
                          <a:cs typeface="Proxima Nova"/>
                          <a:sym typeface="Proxima Nova"/>
                        </a:rPr>
                        <a:t>The contract </a:t>
                      </a:r>
                      <a:endParaRPr sz="1100">
                        <a:solidFill>
                          <a:schemeClr val="accent2"/>
                        </a:solidFill>
                        <a:latin typeface="Proxima Nova"/>
                        <a:ea typeface="Proxima Nova"/>
                        <a:cs typeface="Proxima Nova"/>
                        <a:sym typeface="Proxima Nova"/>
                      </a:endParaRPr>
                    </a:p>
                  </a:txBody>
                  <a:tcPr marT="91425" marB="91425" marR="91425" marL="91425">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r>
              <a:tr h="381000">
                <a:tc>
                  <a:txBody>
                    <a:bodyPr/>
                    <a:lstStyle/>
                    <a:p>
                      <a:pPr indent="0" lvl="0" marL="0" rtl="0" algn="l">
                        <a:spcBef>
                          <a:spcPts val="0"/>
                        </a:spcBef>
                        <a:spcAft>
                          <a:spcPts val="0"/>
                        </a:spcAft>
                        <a:buNone/>
                      </a:pPr>
                      <a:r>
                        <a:rPr i="1" lang="en" sz="1000">
                          <a:latin typeface="Proxima Nova"/>
                          <a:ea typeface="Proxima Nova"/>
                          <a:cs typeface="Proxima Nova"/>
                          <a:sym typeface="Proxima Nova"/>
                        </a:rPr>
                        <a:t>Toptal is accountable for</a:t>
                      </a:r>
                      <a:endParaRPr i="1" sz="1000">
                        <a:latin typeface="Proxima Nova"/>
                        <a:ea typeface="Proxima Nova"/>
                        <a:cs typeface="Proxima Nova"/>
                        <a:sym typeface="Proxima Nova"/>
                      </a:endParaRPr>
                    </a:p>
                  </a:txBody>
                  <a:tcPr marT="91425" marB="91425" marR="91425" marL="91425">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rtl="0" algn="l">
                        <a:spcBef>
                          <a:spcPts val="0"/>
                        </a:spcBef>
                        <a:spcAft>
                          <a:spcPts val="0"/>
                        </a:spcAft>
                        <a:buNone/>
                      </a:pPr>
                      <a:r>
                        <a:rPr lang="en" sz="1100">
                          <a:latin typeface="Proxima Nova"/>
                          <a:ea typeface="Proxima Nova"/>
                          <a:cs typeface="Proxima Nova"/>
                          <a:sym typeface="Proxima Nova"/>
                        </a:rPr>
                        <a:t>Finding the right talent with sufficient capacity to meet client needs</a:t>
                      </a:r>
                      <a:endParaRPr sz="1100">
                        <a:latin typeface="Proxima Nova"/>
                        <a:ea typeface="Proxima Nova"/>
                        <a:cs typeface="Proxima Nova"/>
                        <a:sym typeface="Proxima Nova"/>
                      </a:endParaRPr>
                    </a:p>
                  </a:txBody>
                  <a:tcPr marT="91425" marB="91425" marR="91425" marL="91425">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rtl="0" algn="l">
                        <a:spcBef>
                          <a:spcPts val="0"/>
                        </a:spcBef>
                        <a:spcAft>
                          <a:spcPts val="0"/>
                        </a:spcAft>
                        <a:buNone/>
                      </a:pPr>
                      <a:r>
                        <a:rPr lang="en" sz="1100">
                          <a:solidFill>
                            <a:schemeClr val="accent2"/>
                          </a:solidFill>
                          <a:latin typeface="Proxima Nova"/>
                          <a:ea typeface="Proxima Nova"/>
                          <a:cs typeface="Proxima Nova"/>
                          <a:sym typeface="Proxima Nova"/>
                        </a:rPr>
                        <a:t>Contracted outcomes, deliverables, schedule, and budget</a:t>
                      </a:r>
                      <a:endParaRPr sz="1100">
                        <a:solidFill>
                          <a:schemeClr val="accent2"/>
                        </a:solidFill>
                        <a:latin typeface="Proxima Nova"/>
                        <a:ea typeface="Proxima Nova"/>
                        <a:cs typeface="Proxima Nova"/>
                        <a:sym typeface="Proxima Nova"/>
                      </a:endParaRPr>
                    </a:p>
                  </a:txBody>
                  <a:tcPr marT="91425" marB="91425" marR="91425" marL="91425">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r>
              <a:tr h="381000">
                <a:tc>
                  <a:txBody>
                    <a:bodyPr/>
                    <a:lstStyle/>
                    <a:p>
                      <a:pPr indent="0" lvl="0" marL="0" rtl="0" algn="l">
                        <a:spcBef>
                          <a:spcPts val="0"/>
                        </a:spcBef>
                        <a:spcAft>
                          <a:spcPts val="0"/>
                        </a:spcAft>
                        <a:buNone/>
                      </a:pPr>
                      <a:r>
                        <a:rPr i="1" lang="en" sz="1000">
                          <a:latin typeface="Proxima Nova"/>
                          <a:ea typeface="Proxima Nova"/>
                          <a:cs typeface="Proxima Nova"/>
                          <a:sym typeface="Proxima Nova"/>
                        </a:rPr>
                        <a:t>Health is judged by</a:t>
                      </a:r>
                      <a:endParaRPr i="1" sz="1000">
                        <a:latin typeface="Proxima Nova"/>
                        <a:ea typeface="Proxima Nova"/>
                        <a:cs typeface="Proxima Nova"/>
                        <a:sym typeface="Proxima Nova"/>
                      </a:endParaRPr>
                    </a:p>
                  </a:txBody>
                  <a:tcPr marT="91425" marB="91425" marR="91425" marL="91425">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rtl="0" algn="l">
                        <a:spcBef>
                          <a:spcPts val="0"/>
                        </a:spcBef>
                        <a:spcAft>
                          <a:spcPts val="0"/>
                        </a:spcAft>
                        <a:buNone/>
                      </a:pPr>
                      <a:r>
                        <a:rPr lang="en" sz="1100">
                          <a:latin typeface="Proxima Nova"/>
                          <a:ea typeface="Proxima Nova"/>
                          <a:cs typeface="Proxima Nova"/>
                          <a:sym typeface="Proxima Nova"/>
                        </a:rPr>
                        <a:t>Client perception of your performance</a:t>
                      </a:r>
                      <a:endParaRPr sz="1100">
                        <a:latin typeface="Proxima Nova"/>
                        <a:ea typeface="Proxima Nova"/>
                        <a:cs typeface="Proxima Nova"/>
                        <a:sym typeface="Proxima Nova"/>
                      </a:endParaRPr>
                    </a:p>
                  </a:txBody>
                  <a:tcPr marT="91425" marB="91425" marR="91425" marL="91425">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rtl="0" algn="l">
                        <a:spcBef>
                          <a:spcPts val="0"/>
                        </a:spcBef>
                        <a:spcAft>
                          <a:spcPts val="0"/>
                        </a:spcAft>
                        <a:buNone/>
                      </a:pPr>
                      <a:r>
                        <a:rPr lang="en" sz="1100">
                          <a:solidFill>
                            <a:schemeClr val="accent2"/>
                          </a:solidFill>
                          <a:latin typeface="Proxima Nova"/>
                          <a:ea typeface="Proxima Nova"/>
                          <a:cs typeface="Proxima Nova"/>
                          <a:sym typeface="Proxima Nova"/>
                        </a:rPr>
                        <a:t>An </a:t>
                      </a:r>
                      <a:r>
                        <a:rPr lang="en" sz="1100">
                          <a:solidFill>
                            <a:schemeClr val="accent2"/>
                          </a:solidFill>
                          <a:latin typeface="Proxima Nova"/>
                          <a:ea typeface="Proxima Nova"/>
                          <a:cs typeface="Proxima Nova"/>
                          <a:sym typeface="Proxima Nova"/>
                        </a:rPr>
                        <a:t>independent PMO rating against contracted outcomes </a:t>
                      </a:r>
                      <a:endParaRPr sz="1100">
                        <a:solidFill>
                          <a:schemeClr val="accent2"/>
                        </a:solidFill>
                        <a:latin typeface="Proxima Nova"/>
                        <a:ea typeface="Proxima Nova"/>
                        <a:cs typeface="Proxima Nova"/>
                        <a:sym typeface="Proxima Nova"/>
                      </a:endParaRPr>
                    </a:p>
                  </a:txBody>
                  <a:tcPr marT="91425" marB="91425" marR="91425" marL="91425">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r>
              <a:tr h="381000">
                <a:tc>
                  <a:txBody>
                    <a:bodyPr/>
                    <a:lstStyle/>
                    <a:p>
                      <a:pPr indent="0" lvl="0" marL="0" rtl="0" algn="l">
                        <a:spcBef>
                          <a:spcPts val="0"/>
                        </a:spcBef>
                        <a:spcAft>
                          <a:spcPts val="0"/>
                        </a:spcAft>
                        <a:buNone/>
                      </a:pPr>
                      <a:r>
                        <a:rPr i="1" lang="en" sz="1000">
                          <a:latin typeface="Proxima Nova"/>
                          <a:ea typeface="Proxima Nova"/>
                          <a:cs typeface="Proxima Nova"/>
                          <a:sym typeface="Proxima Nova"/>
                        </a:rPr>
                        <a:t>A new client request</a:t>
                      </a:r>
                      <a:endParaRPr i="1" sz="1000">
                        <a:latin typeface="Proxima Nova"/>
                        <a:ea typeface="Proxima Nova"/>
                        <a:cs typeface="Proxima Nova"/>
                        <a:sym typeface="Proxima Nova"/>
                      </a:endParaRPr>
                    </a:p>
                  </a:txBody>
                  <a:tcPr marT="91425" marB="91425" marR="91425" marL="91425">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rtl="0" algn="l">
                        <a:spcBef>
                          <a:spcPts val="0"/>
                        </a:spcBef>
                        <a:spcAft>
                          <a:spcPts val="0"/>
                        </a:spcAft>
                        <a:buNone/>
                      </a:pPr>
                      <a:r>
                        <a:rPr lang="en" sz="1100">
                          <a:latin typeface="Proxima Nova"/>
                          <a:ea typeface="Proxima Nova"/>
                          <a:cs typeface="Proxima Nova"/>
                          <a:sym typeface="Proxima Nova"/>
                        </a:rPr>
                        <a:t>Is assigned by the client and worked by the talent</a:t>
                      </a:r>
                      <a:endParaRPr sz="1100">
                        <a:latin typeface="Proxima Nova"/>
                        <a:ea typeface="Proxima Nova"/>
                        <a:cs typeface="Proxima Nova"/>
                        <a:sym typeface="Proxima Nova"/>
                      </a:endParaRPr>
                    </a:p>
                  </a:txBody>
                  <a:tcPr marT="91425" marB="91425" marR="91425" marL="91425">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rtl="0" algn="l">
                        <a:spcBef>
                          <a:spcPts val="0"/>
                        </a:spcBef>
                        <a:spcAft>
                          <a:spcPts val="0"/>
                        </a:spcAft>
                        <a:buNone/>
                      </a:pPr>
                      <a:r>
                        <a:rPr lang="en" sz="1100">
                          <a:solidFill>
                            <a:schemeClr val="accent2"/>
                          </a:solidFill>
                          <a:latin typeface="Proxima Nova"/>
                          <a:ea typeface="Proxima Nova"/>
                          <a:cs typeface="Proxima Nova"/>
                          <a:sym typeface="Proxima Nova"/>
                        </a:rPr>
                        <a:t>Is logged, assessed for impact, and mutually agreed to before work begins</a:t>
                      </a:r>
                      <a:endParaRPr sz="1100">
                        <a:solidFill>
                          <a:schemeClr val="accent2"/>
                        </a:solidFill>
                        <a:latin typeface="Proxima Nova"/>
                        <a:ea typeface="Proxima Nova"/>
                        <a:cs typeface="Proxima Nova"/>
                        <a:sym typeface="Proxima Nova"/>
                      </a:endParaRPr>
                    </a:p>
                  </a:txBody>
                  <a:tcPr marT="91425" marB="91425" marR="91425" marL="91425">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r>
            </a:tbl>
          </a:graphicData>
        </a:graphic>
      </p:graphicFrame>
      <p:sp>
        <p:nvSpPr>
          <p:cNvPr id="144" name="Google Shape;144;p23"/>
          <p:cNvSpPr/>
          <p:nvPr/>
        </p:nvSpPr>
        <p:spPr>
          <a:xfrm>
            <a:off x="610362" y="4272972"/>
            <a:ext cx="7923300" cy="480300"/>
          </a:xfrm>
          <a:prstGeom prst="roundRect">
            <a:avLst>
              <a:gd fmla="val 11429" name="adj"/>
            </a:avLst>
          </a:prstGeom>
          <a:solidFill>
            <a:srgbClr val="0F256E"/>
          </a:solidFill>
          <a:ln cap="flat" cmpd="sng" w="9525">
            <a:solidFill>
              <a:srgbClr val="0F256E"/>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45" name="Google Shape;145;p23"/>
          <p:cNvSpPr/>
          <p:nvPr/>
        </p:nvSpPr>
        <p:spPr>
          <a:xfrm>
            <a:off x="816102" y="4362126"/>
            <a:ext cx="41100" cy="301800"/>
          </a:xfrm>
          <a:prstGeom prst="rect">
            <a:avLst/>
          </a:prstGeom>
          <a:solidFill>
            <a:srgbClr val="00CC83"/>
          </a:solidFill>
          <a:ln cap="flat" cmpd="sng" w="9525">
            <a:solidFill>
              <a:srgbClr val="00CC83"/>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sz="1100">
              <a:latin typeface="Proxima Nova"/>
              <a:ea typeface="Proxima Nova"/>
              <a:cs typeface="Proxima Nova"/>
              <a:sym typeface="Proxima Nova"/>
            </a:endParaRPr>
          </a:p>
        </p:txBody>
      </p:sp>
      <p:sp>
        <p:nvSpPr>
          <p:cNvPr id="146" name="Google Shape;146;p23"/>
          <p:cNvSpPr txBox="1"/>
          <p:nvPr/>
        </p:nvSpPr>
        <p:spPr>
          <a:xfrm>
            <a:off x="987552" y="4272972"/>
            <a:ext cx="7374300" cy="480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6FB"/>
              </a:buClr>
              <a:buSzPts val="1100"/>
              <a:buFont typeface="Inter"/>
              <a:buNone/>
            </a:pPr>
            <a:r>
              <a:rPr lang="en" sz="1100">
                <a:solidFill>
                  <a:srgbClr val="F4F6FB"/>
                </a:solidFill>
                <a:latin typeface="Proxima Nova"/>
                <a:ea typeface="Proxima Nova"/>
                <a:cs typeface="Proxima Nova"/>
                <a:sym typeface="Proxima Nova"/>
              </a:rPr>
              <a:t>Core principle: </a:t>
            </a:r>
            <a:r>
              <a:rPr b="1" lang="en" sz="1100">
                <a:solidFill>
                  <a:srgbClr val="F4F6FB"/>
                </a:solidFill>
                <a:latin typeface="Proxima Nova"/>
                <a:ea typeface="Proxima Nova"/>
                <a:cs typeface="Proxima Nova"/>
                <a:sym typeface="Proxima Nova"/>
              </a:rPr>
              <a:t>The contract </a:t>
            </a:r>
            <a:r>
              <a:rPr b="1" lang="en" sz="1100">
                <a:solidFill>
                  <a:srgbClr val="F4F6FB"/>
                </a:solidFill>
                <a:latin typeface="Proxima Nova"/>
                <a:ea typeface="Proxima Nova"/>
                <a:cs typeface="Proxima Nova"/>
                <a:sym typeface="Proxima Nova"/>
              </a:rPr>
              <a:t>defines</a:t>
            </a:r>
            <a:r>
              <a:rPr b="1" lang="en" sz="1100">
                <a:solidFill>
                  <a:srgbClr val="F4F6FB"/>
                </a:solidFill>
                <a:latin typeface="Proxima Nova"/>
                <a:ea typeface="Proxima Nova"/>
                <a:cs typeface="Proxima Nova"/>
                <a:sym typeface="Proxima Nova"/>
              </a:rPr>
              <a:t> the work</a:t>
            </a:r>
            <a:r>
              <a:rPr lang="en" sz="1100">
                <a:solidFill>
                  <a:srgbClr val="F4F6FB"/>
                </a:solidFill>
                <a:latin typeface="Proxima Nova"/>
                <a:ea typeface="Proxima Nova"/>
                <a:cs typeface="Proxima Nova"/>
                <a:sym typeface="Proxima Nova"/>
              </a:rPr>
              <a:t>. Client requests do not automatically become authorized work. </a:t>
            </a:r>
            <a:endParaRPr i="0" sz="1100" u="none" cap="none" strike="noStrike">
              <a:solidFill>
                <a:schemeClr val="dk1"/>
              </a:solidFill>
              <a:latin typeface="Proxima Nova"/>
              <a:ea typeface="Proxima Nova"/>
              <a:cs typeface="Proxima Nova"/>
              <a:sym typeface="Proxima Nova"/>
            </a:endParaRPr>
          </a:p>
        </p:txBody>
      </p:sp>
      <p:sp>
        <p:nvSpPr>
          <p:cNvPr id="147" name="Google Shape;147;p23"/>
          <p:cNvSpPr txBox="1"/>
          <p:nvPr/>
        </p:nvSpPr>
        <p:spPr>
          <a:xfrm>
            <a:off x="610369" y="857250"/>
            <a:ext cx="79233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336"/>
              </a:buClr>
              <a:buSzPts val="2100"/>
              <a:buFont typeface="Inter"/>
              <a:buNone/>
            </a:pPr>
            <a:r>
              <a:rPr b="1" lang="en" sz="2100">
                <a:solidFill>
                  <a:srgbClr val="1B2336"/>
                </a:solidFill>
                <a:latin typeface="Proxima Nova"/>
                <a:ea typeface="Proxima Nova"/>
                <a:cs typeface="Proxima Nova"/>
                <a:sym typeface="Proxima Nova"/>
              </a:rPr>
              <a:t>Two delivery models, two different jobs</a:t>
            </a:r>
            <a:endParaRPr i="0" sz="2100" u="none" cap="none" strike="noStrike">
              <a:solidFill>
                <a:schemeClr val="dk1"/>
              </a:solidFill>
              <a:latin typeface="Proxima Nova"/>
              <a:ea typeface="Proxima Nova"/>
              <a:cs typeface="Proxima Nova"/>
              <a:sym typeface="Proxima Nova"/>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4"/>
          <p:cNvSpPr txBox="1"/>
          <p:nvPr/>
        </p:nvSpPr>
        <p:spPr>
          <a:xfrm>
            <a:off x="610369" y="857250"/>
            <a:ext cx="79233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336"/>
              </a:buClr>
              <a:buSzPts val="2100"/>
              <a:buFont typeface="Inter"/>
              <a:buNone/>
            </a:pPr>
            <a:r>
              <a:rPr b="1" lang="en" sz="2100">
                <a:solidFill>
                  <a:srgbClr val="1B2336"/>
                </a:solidFill>
                <a:latin typeface="Proxima Nova"/>
                <a:ea typeface="Proxima Nova"/>
                <a:cs typeface="Proxima Nova"/>
                <a:sym typeface="Proxima Nova"/>
              </a:rPr>
              <a:t>Three roles govern every professional services project</a:t>
            </a:r>
            <a:endParaRPr i="0" sz="2100" u="none" cap="none" strike="noStrike">
              <a:solidFill>
                <a:schemeClr val="dk1"/>
              </a:solidFill>
              <a:latin typeface="Proxima Nova"/>
              <a:ea typeface="Proxima Nova"/>
              <a:cs typeface="Proxima Nova"/>
              <a:sym typeface="Proxima Nova"/>
            </a:endParaRPr>
          </a:p>
        </p:txBody>
      </p:sp>
      <p:sp>
        <p:nvSpPr>
          <p:cNvPr id="153" name="Google Shape;153;p24"/>
          <p:cNvSpPr/>
          <p:nvPr/>
        </p:nvSpPr>
        <p:spPr>
          <a:xfrm>
            <a:off x="3301670" y="1531620"/>
            <a:ext cx="2540400" cy="2846100"/>
          </a:xfrm>
          <a:prstGeom prst="roundRect">
            <a:avLst>
              <a:gd fmla="val 2160" name="adj"/>
            </a:avLst>
          </a:prstGeom>
          <a:solidFill>
            <a:srgbClr val="FDFDFE"/>
          </a:solidFill>
          <a:ln cap="flat" cmpd="sng" w="7150">
            <a:solidFill>
              <a:srgbClr val="DDE3EE"/>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54" name="Google Shape;154;p24"/>
          <p:cNvSpPr txBox="1"/>
          <p:nvPr/>
        </p:nvSpPr>
        <p:spPr>
          <a:xfrm>
            <a:off x="3507410" y="1745943"/>
            <a:ext cx="2129100" cy="20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B6475"/>
              </a:buClr>
              <a:buSzPts val="900"/>
              <a:buFont typeface="Inter"/>
              <a:buNone/>
            </a:pPr>
            <a:r>
              <a:rPr b="1" i="0" lang="en" sz="900" u="none" cap="none" strike="noStrike">
                <a:solidFill>
                  <a:srgbClr val="5B6475"/>
                </a:solidFill>
                <a:latin typeface="Proxima Nova"/>
                <a:ea typeface="Proxima Nova"/>
                <a:cs typeface="Proxima Nova"/>
                <a:sym typeface="Proxima Nova"/>
              </a:rPr>
              <a:t>VALUE REALIZATION</a:t>
            </a:r>
            <a:endParaRPr i="0" sz="900" u="none" cap="none" strike="noStrike">
              <a:solidFill>
                <a:schemeClr val="dk1"/>
              </a:solidFill>
              <a:latin typeface="Proxima Nova"/>
              <a:ea typeface="Proxima Nova"/>
              <a:cs typeface="Proxima Nova"/>
              <a:sym typeface="Proxima Nova"/>
            </a:endParaRPr>
          </a:p>
        </p:txBody>
      </p:sp>
      <p:sp>
        <p:nvSpPr>
          <p:cNvPr id="155" name="Google Shape;155;p24"/>
          <p:cNvSpPr txBox="1"/>
          <p:nvPr/>
        </p:nvSpPr>
        <p:spPr>
          <a:xfrm>
            <a:off x="3507410" y="2020263"/>
            <a:ext cx="2129100" cy="30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2336"/>
              </a:buClr>
              <a:buSzPts val="1400"/>
              <a:buFont typeface="Inter"/>
              <a:buNone/>
            </a:pPr>
            <a:r>
              <a:rPr b="1" i="0" lang="en" sz="1400" u="none" cap="none" strike="noStrike">
                <a:solidFill>
                  <a:srgbClr val="1B2336"/>
                </a:solidFill>
                <a:latin typeface="Proxima Nova"/>
                <a:ea typeface="Proxima Nova"/>
                <a:cs typeface="Proxima Nova"/>
                <a:sym typeface="Proxima Nova"/>
              </a:rPr>
              <a:t>Delivery Manager</a:t>
            </a:r>
            <a:endParaRPr i="0" sz="1400" u="none" cap="none" strike="noStrike">
              <a:solidFill>
                <a:schemeClr val="dk1"/>
              </a:solidFill>
              <a:latin typeface="Proxima Nova"/>
              <a:ea typeface="Proxima Nova"/>
              <a:cs typeface="Proxima Nova"/>
              <a:sym typeface="Proxima Nova"/>
            </a:endParaRPr>
          </a:p>
        </p:txBody>
      </p:sp>
      <p:sp>
        <p:nvSpPr>
          <p:cNvPr id="156" name="Google Shape;156;p24"/>
          <p:cNvSpPr txBox="1"/>
          <p:nvPr/>
        </p:nvSpPr>
        <p:spPr>
          <a:xfrm>
            <a:off x="3507410" y="2363163"/>
            <a:ext cx="2129100" cy="20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B6475"/>
              </a:buClr>
              <a:buSzPts val="1000"/>
              <a:buFont typeface="Inter"/>
              <a:buNone/>
            </a:pPr>
            <a:r>
              <a:rPr i="1" lang="en" sz="1000">
                <a:solidFill>
                  <a:srgbClr val="5B6475"/>
                </a:solidFill>
                <a:latin typeface="Proxima Nova"/>
                <a:ea typeface="Proxima Nova"/>
                <a:cs typeface="Proxima Nova"/>
                <a:sym typeface="Proxima Nova"/>
              </a:rPr>
              <a:t>Outcomes advocate</a:t>
            </a:r>
            <a:endParaRPr i="0" sz="1000" u="none" cap="none" strike="noStrike">
              <a:solidFill>
                <a:schemeClr val="dk1"/>
              </a:solidFill>
              <a:latin typeface="Proxima Nova"/>
              <a:ea typeface="Proxima Nova"/>
              <a:cs typeface="Proxima Nova"/>
              <a:sym typeface="Proxima Nova"/>
            </a:endParaRPr>
          </a:p>
        </p:txBody>
      </p:sp>
      <p:sp>
        <p:nvSpPr>
          <p:cNvPr id="157" name="Google Shape;157;p24"/>
          <p:cNvSpPr txBox="1"/>
          <p:nvPr/>
        </p:nvSpPr>
        <p:spPr>
          <a:xfrm>
            <a:off x="3507410" y="2663190"/>
            <a:ext cx="2129100" cy="1611600"/>
          </a:xfrm>
          <a:prstGeom prst="rect">
            <a:avLst/>
          </a:prstGeom>
          <a:noFill/>
          <a:ln>
            <a:noFill/>
          </a:ln>
        </p:spPr>
        <p:txBody>
          <a:bodyPr anchorCtr="0" anchor="t" bIns="0" lIns="0" spcFirstLastPara="1" rIns="0" wrap="square" tIns="0">
            <a:noAutofit/>
          </a:bodyPr>
          <a:lstStyle/>
          <a:p>
            <a:pPr indent="-254000" lvl="0" marL="254000" marR="0" rtl="0" algn="l">
              <a:spcBef>
                <a:spcPts val="0"/>
              </a:spcBef>
              <a:spcAft>
                <a:spcPts val="0"/>
              </a:spcAft>
              <a:buClr>
                <a:srgbClr val="1B2336"/>
              </a:buClr>
              <a:buSzPts val="1000"/>
              <a:buFont typeface="Proxima Nova"/>
              <a:buChar char="•"/>
            </a:pPr>
            <a:r>
              <a:rPr i="0" lang="en" sz="1000" u="none" cap="none" strike="noStrike">
                <a:solidFill>
                  <a:srgbClr val="1B2336"/>
                </a:solidFill>
                <a:latin typeface="Proxima Nova"/>
                <a:ea typeface="Proxima Nova"/>
                <a:cs typeface="Proxima Nova"/>
                <a:sym typeface="Proxima Nova"/>
              </a:rPr>
              <a:t>Advocates for client outcomes</a:t>
            </a:r>
            <a:endParaRPr i="0" sz="1000" u="none" cap="none" strike="noStrike">
              <a:solidFill>
                <a:schemeClr val="dk1"/>
              </a:solidFill>
              <a:latin typeface="Proxima Nova"/>
              <a:ea typeface="Proxima Nova"/>
              <a:cs typeface="Proxima Nova"/>
              <a:sym typeface="Proxima Nova"/>
            </a:endParaRPr>
          </a:p>
          <a:p>
            <a:pPr indent="-254000" lvl="0" marL="254000" marR="0" rtl="0" algn="l">
              <a:spcBef>
                <a:spcPts val="400"/>
              </a:spcBef>
              <a:spcAft>
                <a:spcPts val="0"/>
              </a:spcAft>
              <a:buClr>
                <a:srgbClr val="1B2336"/>
              </a:buClr>
              <a:buSzPts val="1000"/>
              <a:buFont typeface="Proxima Nova"/>
              <a:buChar char="•"/>
            </a:pPr>
            <a:r>
              <a:rPr i="0" lang="en" sz="1000" u="none" cap="none" strike="noStrike">
                <a:solidFill>
                  <a:srgbClr val="1B2336"/>
                </a:solidFill>
                <a:latin typeface="Proxima Nova"/>
                <a:ea typeface="Proxima Nova"/>
                <a:cs typeface="Proxima Nova"/>
                <a:sym typeface="Proxima Nova"/>
              </a:rPr>
              <a:t>Keeps stakeholders aligned</a:t>
            </a:r>
            <a:endParaRPr i="0" sz="1000" u="none" cap="none" strike="noStrike">
              <a:solidFill>
                <a:schemeClr val="dk1"/>
              </a:solidFill>
              <a:latin typeface="Proxima Nova"/>
              <a:ea typeface="Proxima Nova"/>
              <a:cs typeface="Proxima Nova"/>
              <a:sym typeface="Proxima Nova"/>
            </a:endParaRPr>
          </a:p>
          <a:p>
            <a:pPr indent="-254000" lvl="0" marL="254000" marR="0" rtl="0" algn="l">
              <a:spcBef>
                <a:spcPts val="400"/>
              </a:spcBef>
              <a:spcAft>
                <a:spcPts val="0"/>
              </a:spcAft>
              <a:buClr>
                <a:srgbClr val="1B2336"/>
              </a:buClr>
              <a:buSzPts val="1000"/>
              <a:buFont typeface="Proxima Nova"/>
              <a:buChar char="•"/>
            </a:pPr>
            <a:r>
              <a:rPr i="0" lang="en" sz="1000" u="none" cap="none" strike="noStrike">
                <a:solidFill>
                  <a:srgbClr val="1B2336"/>
                </a:solidFill>
                <a:latin typeface="Proxima Nova"/>
                <a:ea typeface="Proxima Nova"/>
                <a:cs typeface="Proxima Nova"/>
                <a:sym typeface="Proxima Nova"/>
              </a:rPr>
              <a:t>Owns value realization for the </a:t>
            </a:r>
            <a:r>
              <a:rPr lang="en" sz="1000">
                <a:solidFill>
                  <a:srgbClr val="1B2336"/>
                </a:solidFill>
                <a:latin typeface="Proxima Nova"/>
                <a:ea typeface="Proxima Nova"/>
                <a:cs typeface="Proxima Nova"/>
                <a:sym typeface="Proxima Nova"/>
              </a:rPr>
              <a:t>project</a:t>
            </a:r>
            <a:endParaRPr sz="1000">
              <a:solidFill>
                <a:srgbClr val="1B2336"/>
              </a:solidFill>
              <a:latin typeface="Proxima Nova"/>
              <a:ea typeface="Proxima Nova"/>
              <a:cs typeface="Proxima Nova"/>
              <a:sym typeface="Proxima Nova"/>
            </a:endParaRPr>
          </a:p>
          <a:p>
            <a:pPr indent="-254000" lvl="0" marL="254000" marR="0" rtl="0" algn="l">
              <a:spcBef>
                <a:spcPts val="400"/>
              </a:spcBef>
              <a:spcAft>
                <a:spcPts val="0"/>
              </a:spcAft>
              <a:buClr>
                <a:srgbClr val="1B2336"/>
              </a:buClr>
              <a:buSzPts val="1000"/>
              <a:buFont typeface="Proxima Nova"/>
              <a:buChar char="•"/>
            </a:pPr>
            <a:r>
              <a:rPr b="1" lang="en" sz="1000">
                <a:solidFill>
                  <a:srgbClr val="1B2336"/>
                </a:solidFill>
                <a:latin typeface="Proxima Nova"/>
                <a:ea typeface="Proxima Nova"/>
                <a:cs typeface="Proxima Nova"/>
                <a:sym typeface="Proxima Nova"/>
              </a:rPr>
              <a:t>Leads the client conversation when </a:t>
            </a:r>
            <a:r>
              <a:rPr b="1" lang="en" sz="1000">
                <a:solidFill>
                  <a:srgbClr val="1B2336"/>
                </a:solidFill>
                <a:latin typeface="Proxima Nova"/>
                <a:ea typeface="Proxima Nova"/>
                <a:cs typeface="Proxima Nova"/>
                <a:sym typeface="Proxima Nova"/>
              </a:rPr>
              <a:t>delivery</a:t>
            </a:r>
            <a:r>
              <a:rPr b="1" lang="en" sz="1000">
                <a:solidFill>
                  <a:srgbClr val="1B2336"/>
                </a:solidFill>
                <a:latin typeface="Proxima Nova"/>
                <a:ea typeface="Proxima Nova"/>
                <a:cs typeface="Proxima Nova"/>
                <a:sym typeface="Proxima Nova"/>
              </a:rPr>
              <a:t> is at risk</a:t>
            </a:r>
            <a:endParaRPr b="1" sz="1000">
              <a:solidFill>
                <a:srgbClr val="1B2336"/>
              </a:solidFill>
              <a:latin typeface="Proxima Nova"/>
              <a:ea typeface="Proxima Nova"/>
              <a:cs typeface="Proxima Nova"/>
              <a:sym typeface="Proxima Nova"/>
            </a:endParaRPr>
          </a:p>
        </p:txBody>
      </p:sp>
      <p:sp>
        <p:nvSpPr>
          <p:cNvPr id="158" name="Google Shape;158;p24"/>
          <p:cNvSpPr/>
          <p:nvPr/>
        </p:nvSpPr>
        <p:spPr>
          <a:xfrm>
            <a:off x="610378" y="1531620"/>
            <a:ext cx="2540400" cy="2846100"/>
          </a:xfrm>
          <a:prstGeom prst="roundRect">
            <a:avLst>
              <a:gd fmla="val 2160" name="adj"/>
            </a:avLst>
          </a:prstGeom>
          <a:solidFill>
            <a:srgbClr val="FDFDFE"/>
          </a:solidFill>
          <a:ln cap="flat" cmpd="sng" w="9525">
            <a:solidFill>
              <a:srgbClr val="DDE3EE"/>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59" name="Google Shape;159;p24"/>
          <p:cNvSpPr txBox="1"/>
          <p:nvPr/>
        </p:nvSpPr>
        <p:spPr>
          <a:xfrm>
            <a:off x="816118" y="1745943"/>
            <a:ext cx="2129100" cy="20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CC83"/>
              </a:buClr>
              <a:buSzPts val="900"/>
              <a:buFont typeface="Inter"/>
              <a:buNone/>
            </a:pPr>
            <a:r>
              <a:rPr b="1" i="0" lang="en" sz="900" u="none" cap="none" strike="noStrike">
                <a:solidFill>
                  <a:srgbClr val="5B6475"/>
                </a:solidFill>
                <a:latin typeface="Proxima Nova"/>
                <a:ea typeface="Proxima Nova"/>
                <a:cs typeface="Proxima Nova"/>
                <a:sym typeface="Proxima Nova"/>
              </a:rPr>
              <a:t>DELIVERY ASSURANCE</a:t>
            </a:r>
            <a:endParaRPr i="0" sz="900" u="none" cap="none" strike="noStrike">
              <a:solidFill>
                <a:srgbClr val="5B6475"/>
              </a:solidFill>
              <a:latin typeface="Proxima Nova"/>
              <a:ea typeface="Proxima Nova"/>
              <a:cs typeface="Proxima Nova"/>
              <a:sym typeface="Proxima Nova"/>
            </a:endParaRPr>
          </a:p>
        </p:txBody>
      </p:sp>
      <p:sp>
        <p:nvSpPr>
          <p:cNvPr id="160" name="Google Shape;160;p24"/>
          <p:cNvSpPr txBox="1"/>
          <p:nvPr/>
        </p:nvSpPr>
        <p:spPr>
          <a:xfrm>
            <a:off x="816118" y="2020263"/>
            <a:ext cx="2129100" cy="30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4F6FB"/>
              </a:buClr>
              <a:buSzPts val="1400"/>
              <a:buFont typeface="Inter"/>
              <a:buNone/>
            </a:pPr>
            <a:r>
              <a:rPr b="1" i="0" lang="en" sz="1400" u="none" cap="none" strike="noStrike">
                <a:solidFill>
                  <a:srgbClr val="1B2336"/>
                </a:solidFill>
                <a:latin typeface="Proxima Nova"/>
                <a:ea typeface="Proxima Nova"/>
                <a:cs typeface="Proxima Nova"/>
                <a:sym typeface="Proxima Nova"/>
              </a:rPr>
              <a:t>PMO Portfolio Lead</a:t>
            </a:r>
            <a:endParaRPr i="0" sz="1400" u="none" cap="none" strike="noStrike">
              <a:solidFill>
                <a:srgbClr val="1B2336"/>
              </a:solidFill>
              <a:latin typeface="Proxima Nova"/>
              <a:ea typeface="Proxima Nova"/>
              <a:cs typeface="Proxima Nova"/>
              <a:sym typeface="Proxima Nova"/>
            </a:endParaRPr>
          </a:p>
        </p:txBody>
      </p:sp>
      <p:sp>
        <p:nvSpPr>
          <p:cNvPr id="161" name="Google Shape;161;p24"/>
          <p:cNvSpPr txBox="1"/>
          <p:nvPr/>
        </p:nvSpPr>
        <p:spPr>
          <a:xfrm>
            <a:off x="816118" y="2363163"/>
            <a:ext cx="2129100" cy="20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A9B3C7"/>
              </a:buClr>
              <a:buSzPts val="1000"/>
              <a:buFont typeface="Inter"/>
              <a:buNone/>
            </a:pPr>
            <a:r>
              <a:rPr i="1" lang="en" sz="1000" u="none" cap="none" strike="noStrike">
                <a:solidFill>
                  <a:srgbClr val="5B6475"/>
                </a:solidFill>
                <a:latin typeface="Proxima Nova"/>
                <a:ea typeface="Proxima Nova"/>
                <a:cs typeface="Proxima Nova"/>
                <a:sym typeface="Proxima Nova"/>
              </a:rPr>
              <a:t>The independent auditor</a:t>
            </a:r>
            <a:endParaRPr i="0" sz="1000" u="none" cap="none" strike="noStrike">
              <a:solidFill>
                <a:srgbClr val="5B6475"/>
              </a:solidFill>
              <a:latin typeface="Proxima Nova"/>
              <a:ea typeface="Proxima Nova"/>
              <a:cs typeface="Proxima Nova"/>
              <a:sym typeface="Proxima Nova"/>
            </a:endParaRPr>
          </a:p>
        </p:txBody>
      </p:sp>
      <p:sp>
        <p:nvSpPr>
          <p:cNvPr id="162" name="Google Shape;162;p24"/>
          <p:cNvSpPr txBox="1"/>
          <p:nvPr/>
        </p:nvSpPr>
        <p:spPr>
          <a:xfrm>
            <a:off x="816118" y="2663190"/>
            <a:ext cx="2129100" cy="1611600"/>
          </a:xfrm>
          <a:prstGeom prst="rect">
            <a:avLst/>
          </a:prstGeom>
          <a:noFill/>
          <a:ln>
            <a:noFill/>
          </a:ln>
        </p:spPr>
        <p:txBody>
          <a:bodyPr anchorCtr="0" anchor="t" bIns="0" lIns="0" spcFirstLastPara="1" rIns="0" wrap="square" tIns="0">
            <a:noAutofit/>
          </a:bodyPr>
          <a:lstStyle/>
          <a:p>
            <a:pPr indent="-254000" lvl="0" marL="254000" marR="0" rtl="0" algn="l">
              <a:spcBef>
                <a:spcPts val="0"/>
              </a:spcBef>
              <a:spcAft>
                <a:spcPts val="0"/>
              </a:spcAft>
              <a:buClr>
                <a:srgbClr val="1B2336"/>
              </a:buClr>
              <a:buSzPts val="1000"/>
              <a:buFont typeface="Proxima Nova"/>
              <a:buChar char="•"/>
            </a:pPr>
            <a:r>
              <a:rPr i="0" lang="en" sz="1000" u="none" cap="none" strike="noStrike">
                <a:solidFill>
                  <a:srgbClr val="1B2336"/>
                </a:solidFill>
                <a:latin typeface="Proxima Nova"/>
                <a:ea typeface="Proxima Nova"/>
                <a:cs typeface="Proxima Nova"/>
                <a:sym typeface="Proxima Nova"/>
              </a:rPr>
              <a:t>Independent and PMI-certified</a:t>
            </a:r>
            <a:endParaRPr i="0" sz="1000" u="none" cap="none" strike="noStrike">
              <a:solidFill>
                <a:srgbClr val="1B2336"/>
              </a:solidFill>
              <a:latin typeface="Proxima Nova"/>
              <a:ea typeface="Proxima Nova"/>
              <a:cs typeface="Proxima Nova"/>
              <a:sym typeface="Proxima Nova"/>
            </a:endParaRPr>
          </a:p>
          <a:p>
            <a:pPr indent="-254000" lvl="0" marL="254000" marR="0" rtl="0" algn="l">
              <a:spcBef>
                <a:spcPts val="400"/>
              </a:spcBef>
              <a:spcAft>
                <a:spcPts val="0"/>
              </a:spcAft>
              <a:buClr>
                <a:srgbClr val="1B2336"/>
              </a:buClr>
              <a:buSzPts val="1000"/>
              <a:buFont typeface="Proxima Nova"/>
              <a:buChar char="•"/>
            </a:pPr>
            <a:r>
              <a:rPr i="0" lang="en" sz="1000" u="none" cap="none" strike="noStrike">
                <a:solidFill>
                  <a:srgbClr val="1B2336"/>
                </a:solidFill>
                <a:latin typeface="Proxima Nova"/>
                <a:ea typeface="Proxima Nova"/>
                <a:cs typeface="Proxima Nova"/>
                <a:sym typeface="Proxima Nova"/>
              </a:rPr>
              <a:t>Sets day-one baselines (WBS, RAID)</a:t>
            </a:r>
            <a:endParaRPr i="0" sz="1000" u="none" cap="none" strike="noStrike">
              <a:solidFill>
                <a:srgbClr val="1B2336"/>
              </a:solidFill>
              <a:latin typeface="Proxima Nova"/>
              <a:ea typeface="Proxima Nova"/>
              <a:cs typeface="Proxima Nova"/>
              <a:sym typeface="Proxima Nova"/>
            </a:endParaRPr>
          </a:p>
          <a:p>
            <a:pPr indent="-254000" lvl="0" marL="254000" marR="0" rtl="0" algn="l">
              <a:spcBef>
                <a:spcPts val="400"/>
              </a:spcBef>
              <a:spcAft>
                <a:spcPts val="0"/>
              </a:spcAft>
              <a:buClr>
                <a:srgbClr val="1B2336"/>
              </a:buClr>
              <a:buSzPts val="1000"/>
              <a:buFont typeface="Proxima Nova"/>
              <a:buChar char="•"/>
            </a:pPr>
            <a:r>
              <a:rPr i="0" lang="en" sz="1000" u="none" cap="none" strike="noStrike">
                <a:solidFill>
                  <a:srgbClr val="1B2336"/>
                </a:solidFill>
                <a:latin typeface="Proxima Nova"/>
                <a:ea typeface="Proxima Nova"/>
                <a:cs typeface="Proxima Nova"/>
                <a:sym typeface="Proxima Nova"/>
              </a:rPr>
              <a:t>Flags </a:t>
            </a:r>
            <a:r>
              <a:rPr lang="en" sz="1000">
                <a:solidFill>
                  <a:srgbClr val="1B2336"/>
                </a:solidFill>
                <a:latin typeface="Proxima Nova"/>
                <a:ea typeface="Proxima Nova"/>
                <a:cs typeface="Proxima Nova"/>
                <a:sym typeface="Proxima Nova"/>
              </a:rPr>
              <a:t>unplanned</a:t>
            </a:r>
            <a:r>
              <a:rPr i="0" lang="en" sz="1000" u="none" cap="none" strike="noStrike">
                <a:solidFill>
                  <a:srgbClr val="1B2336"/>
                </a:solidFill>
                <a:latin typeface="Proxima Nova"/>
                <a:ea typeface="Proxima Nova"/>
                <a:cs typeface="Proxima Nova"/>
                <a:sym typeface="Proxima Nova"/>
              </a:rPr>
              <a:t> scope </a:t>
            </a:r>
            <a:r>
              <a:rPr lang="en" sz="1000">
                <a:solidFill>
                  <a:srgbClr val="1B2336"/>
                </a:solidFill>
                <a:latin typeface="Proxima Nova"/>
                <a:ea typeface="Proxima Nova"/>
                <a:cs typeface="Proxima Nova"/>
                <a:sym typeface="Proxima Nova"/>
              </a:rPr>
              <a:t>and unassessed risks / blockers</a:t>
            </a:r>
            <a:endParaRPr i="0" sz="1000" u="none" cap="none" strike="noStrike">
              <a:solidFill>
                <a:srgbClr val="1B2336"/>
              </a:solidFill>
              <a:latin typeface="Proxima Nova"/>
              <a:ea typeface="Proxima Nova"/>
              <a:cs typeface="Proxima Nova"/>
              <a:sym typeface="Proxima Nova"/>
            </a:endParaRPr>
          </a:p>
          <a:p>
            <a:pPr indent="-254000" lvl="0" marL="254000" marR="0" rtl="0" algn="l">
              <a:spcBef>
                <a:spcPts val="400"/>
              </a:spcBef>
              <a:spcAft>
                <a:spcPts val="0"/>
              </a:spcAft>
              <a:buClr>
                <a:srgbClr val="1B2336"/>
              </a:buClr>
              <a:buSzPts val="1000"/>
              <a:buFont typeface="Proxima Nova"/>
              <a:buChar char="•"/>
            </a:pPr>
            <a:r>
              <a:rPr lang="en" sz="1000">
                <a:solidFill>
                  <a:srgbClr val="1B2336"/>
                </a:solidFill>
                <a:latin typeface="Proxima Nova"/>
                <a:ea typeface="Proxima Nova"/>
                <a:cs typeface="Proxima Nova"/>
                <a:sym typeface="Proxima Nova"/>
              </a:rPr>
              <a:t>Issues the health </a:t>
            </a:r>
            <a:r>
              <a:rPr lang="en" sz="1000">
                <a:solidFill>
                  <a:srgbClr val="1B2336"/>
                </a:solidFill>
                <a:latin typeface="Proxima Nova"/>
                <a:ea typeface="Proxima Nova"/>
                <a:cs typeface="Proxima Nova"/>
                <a:sym typeface="Proxima Nova"/>
              </a:rPr>
              <a:t>rating</a:t>
            </a:r>
            <a:r>
              <a:rPr lang="en" sz="1000">
                <a:solidFill>
                  <a:srgbClr val="1B2336"/>
                </a:solidFill>
                <a:latin typeface="Proxima Nova"/>
                <a:ea typeface="Proxima Nova"/>
                <a:cs typeface="Proxima Nova"/>
                <a:sym typeface="Proxima Nova"/>
              </a:rPr>
              <a:t>; </a:t>
            </a:r>
            <a:r>
              <a:rPr b="1" lang="en" sz="1000">
                <a:solidFill>
                  <a:srgbClr val="1B2336"/>
                </a:solidFill>
                <a:latin typeface="Proxima Nova"/>
                <a:ea typeface="Proxima Nova"/>
                <a:cs typeface="Proxima Nova"/>
                <a:sym typeface="Proxima Nova"/>
              </a:rPr>
              <a:t>d</a:t>
            </a:r>
            <a:r>
              <a:rPr b="1" lang="en" sz="1000">
                <a:solidFill>
                  <a:srgbClr val="1B2336"/>
                </a:solidFill>
                <a:latin typeface="Proxima Nova"/>
                <a:ea typeface="Proxima Nova"/>
                <a:cs typeface="Proxima Nova"/>
                <a:sym typeface="Proxima Nova"/>
              </a:rPr>
              <a:t>rafts</a:t>
            </a:r>
            <a:r>
              <a:rPr b="1" i="0" lang="en" sz="1000" u="none" cap="none" strike="noStrike">
                <a:solidFill>
                  <a:srgbClr val="1B2336"/>
                </a:solidFill>
                <a:latin typeface="Proxima Nova"/>
                <a:ea typeface="Proxima Nova"/>
                <a:cs typeface="Proxima Nova"/>
                <a:sym typeface="Proxima Nova"/>
              </a:rPr>
              <a:t> the status report</a:t>
            </a:r>
            <a:endParaRPr b="1" i="0" sz="1000" u="none" cap="none" strike="noStrike">
              <a:solidFill>
                <a:srgbClr val="1B2336"/>
              </a:solidFill>
              <a:latin typeface="Proxima Nova"/>
              <a:ea typeface="Proxima Nova"/>
              <a:cs typeface="Proxima Nova"/>
              <a:sym typeface="Proxima Nova"/>
            </a:endParaRPr>
          </a:p>
          <a:p>
            <a:pPr indent="-254000" lvl="0" marL="254000" marR="0" rtl="0" algn="l">
              <a:spcBef>
                <a:spcPts val="400"/>
              </a:spcBef>
              <a:spcAft>
                <a:spcPts val="0"/>
              </a:spcAft>
              <a:buClr>
                <a:srgbClr val="1B2336"/>
              </a:buClr>
              <a:buSzPts val="1000"/>
              <a:buFont typeface="Proxima Nova"/>
              <a:buChar char="•"/>
            </a:pPr>
            <a:r>
              <a:rPr lang="en" sz="1000">
                <a:solidFill>
                  <a:srgbClr val="1B2336"/>
                </a:solidFill>
                <a:latin typeface="Proxima Nova"/>
                <a:ea typeface="Proxima Nova"/>
                <a:cs typeface="Proxima Nova"/>
                <a:sym typeface="Proxima Nova"/>
              </a:rPr>
              <a:t>Enforces execution standards </a:t>
            </a:r>
            <a:endParaRPr sz="1000">
              <a:solidFill>
                <a:srgbClr val="1B2336"/>
              </a:solidFill>
              <a:latin typeface="Proxima Nova"/>
              <a:ea typeface="Proxima Nova"/>
              <a:cs typeface="Proxima Nova"/>
              <a:sym typeface="Proxima Nova"/>
            </a:endParaRPr>
          </a:p>
        </p:txBody>
      </p:sp>
      <p:sp>
        <p:nvSpPr>
          <p:cNvPr id="163" name="Google Shape;163;p24"/>
          <p:cNvSpPr/>
          <p:nvPr/>
        </p:nvSpPr>
        <p:spPr>
          <a:xfrm>
            <a:off x="5992962" y="1531620"/>
            <a:ext cx="2540400" cy="2846100"/>
          </a:xfrm>
          <a:prstGeom prst="roundRect">
            <a:avLst>
              <a:gd fmla="val 2160" name="adj"/>
            </a:avLst>
          </a:prstGeom>
          <a:solidFill>
            <a:srgbClr val="0F256E"/>
          </a:solidFill>
          <a:ln cap="flat" cmpd="sng" w="7150">
            <a:solidFill>
              <a:srgbClr val="DDE3EE"/>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64" name="Google Shape;164;p24"/>
          <p:cNvSpPr txBox="1"/>
          <p:nvPr/>
        </p:nvSpPr>
        <p:spPr>
          <a:xfrm>
            <a:off x="6198702" y="1745943"/>
            <a:ext cx="2129100" cy="20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B6475"/>
              </a:buClr>
              <a:buSzPts val="900"/>
              <a:buFont typeface="Inter"/>
              <a:buNone/>
            </a:pPr>
            <a:r>
              <a:rPr b="1" i="0" lang="en" sz="900" u="none" cap="none" strike="noStrike">
                <a:solidFill>
                  <a:srgbClr val="00CC83"/>
                </a:solidFill>
                <a:latin typeface="Proxima Nova"/>
                <a:ea typeface="Proxima Nova"/>
                <a:cs typeface="Proxima Nova"/>
                <a:sym typeface="Proxima Nova"/>
              </a:rPr>
              <a:t>PROJECT EXECUTION</a:t>
            </a:r>
            <a:endParaRPr i="0" sz="900" u="none" cap="none" strike="noStrike">
              <a:solidFill>
                <a:srgbClr val="00CC83"/>
              </a:solidFill>
              <a:latin typeface="Proxima Nova"/>
              <a:ea typeface="Proxima Nova"/>
              <a:cs typeface="Proxima Nova"/>
              <a:sym typeface="Proxima Nova"/>
            </a:endParaRPr>
          </a:p>
        </p:txBody>
      </p:sp>
      <p:sp>
        <p:nvSpPr>
          <p:cNvPr id="165" name="Google Shape;165;p24"/>
          <p:cNvSpPr txBox="1"/>
          <p:nvPr/>
        </p:nvSpPr>
        <p:spPr>
          <a:xfrm>
            <a:off x="6198702" y="2020263"/>
            <a:ext cx="2129100" cy="30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2336"/>
              </a:buClr>
              <a:buSzPts val="1400"/>
              <a:buFont typeface="Inter"/>
              <a:buNone/>
            </a:pPr>
            <a:r>
              <a:rPr b="1" lang="en">
                <a:solidFill>
                  <a:schemeClr val="lt1"/>
                </a:solidFill>
                <a:latin typeface="Proxima Nova"/>
                <a:ea typeface="Proxima Nova"/>
                <a:cs typeface="Proxima Nova"/>
                <a:sym typeface="Proxima Nova"/>
              </a:rPr>
              <a:t>Project Manager</a:t>
            </a:r>
            <a:endParaRPr i="0" sz="1400" u="none" cap="none" strike="noStrike">
              <a:solidFill>
                <a:schemeClr val="lt1"/>
              </a:solidFill>
              <a:latin typeface="Proxima Nova"/>
              <a:ea typeface="Proxima Nova"/>
              <a:cs typeface="Proxima Nova"/>
              <a:sym typeface="Proxima Nova"/>
            </a:endParaRPr>
          </a:p>
        </p:txBody>
      </p:sp>
      <p:sp>
        <p:nvSpPr>
          <p:cNvPr id="166" name="Google Shape;166;p24"/>
          <p:cNvSpPr txBox="1"/>
          <p:nvPr/>
        </p:nvSpPr>
        <p:spPr>
          <a:xfrm>
            <a:off x="6198702" y="2363163"/>
            <a:ext cx="2129100" cy="20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B6475"/>
              </a:buClr>
              <a:buSzPts val="1000"/>
              <a:buFont typeface="Inter"/>
              <a:buNone/>
            </a:pPr>
            <a:r>
              <a:rPr i="1" lang="en" sz="1000">
                <a:solidFill>
                  <a:srgbClr val="A9B3C7"/>
                </a:solidFill>
                <a:latin typeface="Proxima Nova"/>
                <a:ea typeface="Proxima Nova"/>
                <a:cs typeface="Proxima Nova"/>
                <a:sym typeface="Proxima Nova"/>
              </a:rPr>
              <a:t>The day-to-day leader</a:t>
            </a:r>
            <a:endParaRPr i="0" sz="1000" u="none" cap="none" strike="noStrike">
              <a:solidFill>
                <a:schemeClr val="dk1"/>
              </a:solidFill>
              <a:latin typeface="Proxima Nova"/>
              <a:ea typeface="Proxima Nova"/>
              <a:cs typeface="Proxima Nova"/>
              <a:sym typeface="Proxima Nova"/>
            </a:endParaRPr>
          </a:p>
        </p:txBody>
      </p:sp>
      <p:sp>
        <p:nvSpPr>
          <p:cNvPr id="167" name="Google Shape;167;p24"/>
          <p:cNvSpPr txBox="1"/>
          <p:nvPr/>
        </p:nvSpPr>
        <p:spPr>
          <a:xfrm>
            <a:off x="6198702" y="2663190"/>
            <a:ext cx="2129100" cy="1611600"/>
          </a:xfrm>
          <a:prstGeom prst="rect">
            <a:avLst/>
          </a:prstGeom>
          <a:noFill/>
          <a:ln>
            <a:noFill/>
          </a:ln>
        </p:spPr>
        <p:txBody>
          <a:bodyPr anchorCtr="0" anchor="t" bIns="0" lIns="0" spcFirstLastPara="1" rIns="0" wrap="square" tIns="0">
            <a:noAutofit/>
          </a:bodyPr>
          <a:lstStyle/>
          <a:p>
            <a:pPr indent="-254000" lvl="0" marL="254000" marR="0" rtl="0" algn="l">
              <a:spcBef>
                <a:spcPts val="400"/>
              </a:spcBef>
              <a:spcAft>
                <a:spcPts val="0"/>
              </a:spcAft>
              <a:buClr>
                <a:schemeClr val="lt1"/>
              </a:buClr>
              <a:buSzPts val="1000"/>
              <a:buFont typeface="Proxima Nova"/>
              <a:buChar char="•"/>
            </a:pPr>
            <a:r>
              <a:rPr b="1" i="0" lang="en" sz="1000" u="none" cap="none" strike="noStrike">
                <a:solidFill>
                  <a:schemeClr val="lt1"/>
                </a:solidFill>
                <a:latin typeface="Proxima Nova"/>
                <a:ea typeface="Proxima Nova"/>
                <a:cs typeface="Proxima Nova"/>
                <a:sym typeface="Proxima Nova"/>
              </a:rPr>
              <a:t>Coordinates daily work and sprints</a:t>
            </a:r>
            <a:endParaRPr b="1" i="0" sz="1000" u="none" cap="none" strike="noStrike">
              <a:solidFill>
                <a:schemeClr val="lt1"/>
              </a:solidFill>
              <a:latin typeface="Proxima Nova"/>
              <a:ea typeface="Proxima Nova"/>
              <a:cs typeface="Proxima Nova"/>
              <a:sym typeface="Proxima Nova"/>
            </a:endParaRPr>
          </a:p>
          <a:p>
            <a:pPr indent="-254000" lvl="0" marL="254000" marR="0" rtl="0" algn="l">
              <a:spcBef>
                <a:spcPts val="400"/>
              </a:spcBef>
              <a:spcAft>
                <a:spcPts val="0"/>
              </a:spcAft>
              <a:buClr>
                <a:schemeClr val="lt1"/>
              </a:buClr>
              <a:buSzPts val="1000"/>
              <a:buFont typeface="Proxima Nova"/>
              <a:buChar char="•"/>
            </a:pPr>
            <a:r>
              <a:rPr i="0" lang="en" sz="1000" u="none" cap="none" strike="noStrike">
                <a:solidFill>
                  <a:schemeClr val="lt1"/>
                </a:solidFill>
                <a:latin typeface="Proxima Nova"/>
                <a:ea typeface="Proxima Nova"/>
                <a:cs typeface="Proxima Nova"/>
                <a:sym typeface="Proxima Nova"/>
              </a:rPr>
              <a:t>Maintains the RAID log and schedule</a:t>
            </a:r>
            <a:endParaRPr i="0" sz="1000" u="none" cap="none" strike="noStrike">
              <a:solidFill>
                <a:schemeClr val="lt1"/>
              </a:solidFill>
              <a:latin typeface="Proxima Nova"/>
              <a:ea typeface="Proxima Nova"/>
              <a:cs typeface="Proxima Nova"/>
              <a:sym typeface="Proxima Nova"/>
            </a:endParaRPr>
          </a:p>
          <a:p>
            <a:pPr indent="-254000" lvl="0" marL="254000" marR="0" rtl="0" algn="l">
              <a:spcBef>
                <a:spcPts val="400"/>
              </a:spcBef>
              <a:spcAft>
                <a:spcPts val="0"/>
              </a:spcAft>
              <a:buClr>
                <a:schemeClr val="lt1"/>
              </a:buClr>
              <a:buSzPts val="1000"/>
              <a:buFont typeface="Proxima Nova"/>
              <a:buChar char="•"/>
            </a:pPr>
            <a:r>
              <a:rPr i="0" lang="en" sz="1000" u="none" cap="none" strike="noStrike">
                <a:solidFill>
                  <a:schemeClr val="lt1"/>
                </a:solidFill>
                <a:latin typeface="Proxima Nova"/>
                <a:ea typeface="Proxima Nova"/>
                <a:cs typeface="Proxima Nova"/>
                <a:sym typeface="Proxima Nova"/>
              </a:rPr>
              <a:t>Produces the delivery evidence</a:t>
            </a:r>
            <a:endParaRPr i="0" sz="1000" u="none" cap="none" strike="noStrike">
              <a:solidFill>
                <a:schemeClr val="lt1"/>
              </a:solidFill>
              <a:latin typeface="Proxima Nova"/>
              <a:ea typeface="Proxima Nova"/>
              <a:cs typeface="Proxima Nova"/>
              <a:sym typeface="Proxima Nova"/>
            </a:endParaRPr>
          </a:p>
        </p:txBody>
      </p:sp>
      <p:sp>
        <p:nvSpPr>
          <p:cNvPr id="168" name="Google Shape;168;p24"/>
          <p:cNvSpPr/>
          <p:nvPr/>
        </p:nvSpPr>
        <p:spPr>
          <a:xfrm>
            <a:off x="633776" y="356650"/>
            <a:ext cx="8023800" cy="251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5AAC"/>
              </a:buClr>
              <a:buSzPts val="1200"/>
              <a:buFont typeface="Calibri"/>
              <a:buNone/>
            </a:pPr>
            <a:r>
              <a:rPr b="1" lang="en" sz="900">
                <a:solidFill>
                  <a:srgbClr val="2E5AAC"/>
                </a:solidFill>
                <a:latin typeface="Proxima Nova"/>
                <a:ea typeface="Proxima Nova"/>
                <a:cs typeface="Proxima Nova"/>
                <a:sym typeface="Proxima Nova"/>
              </a:rPr>
              <a:t>ROLES &amp; RESPONSIBILITIES</a:t>
            </a:r>
            <a:endParaRPr i="0" sz="900" u="none" cap="none" strike="noStrike">
              <a:solidFill>
                <a:srgbClr val="000000"/>
              </a:solidFill>
              <a:latin typeface="Proxima Nova"/>
              <a:ea typeface="Proxima Nova"/>
              <a:cs typeface="Proxima Nova"/>
              <a:sym typeface="Proxima Nova"/>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25"/>
          <p:cNvSpPr/>
          <p:nvPr/>
        </p:nvSpPr>
        <p:spPr>
          <a:xfrm>
            <a:off x="611981" y="1412007"/>
            <a:ext cx="3881400" cy="1343700"/>
          </a:xfrm>
          <a:prstGeom prst="roundRect">
            <a:avLst>
              <a:gd fmla="val 4076" name="adj"/>
            </a:avLst>
          </a:prstGeom>
          <a:solidFill>
            <a:srgbClr val="F4F6FB"/>
          </a:solidFill>
          <a:ln cap="flat" cmpd="sng" w="7150">
            <a:solidFill>
              <a:srgbClr val="DED9CE"/>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4" name="Google Shape;174;p25"/>
          <p:cNvSpPr/>
          <p:nvPr/>
        </p:nvSpPr>
        <p:spPr>
          <a:xfrm>
            <a:off x="804863" y="1585838"/>
            <a:ext cx="3600600" cy="179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0C9"/>
              </a:buClr>
              <a:buSzPts val="900"/>
              <a:buFont typeface="Inter"/>
              <a:buNone/>
            </a:pPr>
            <a:r>
              <a:rPr b="1" i="0" lang="en" sz="900" u="none" cap="none" strike="noStrike">
                <a:solidFill>
                  <a:srgbClr val="2550C9"/>
                </a:solidFill>
                <a:latin typeface="Proxima Nova"/>
                <a:ea typeface="Proxima Nova"/>
                <a:cs typeface="Proxima Nova"/>
                <a:sym typeface="Proxima Nova"/>
              </a:rPr>
              <a:t>1 · THE PLAN</a:t>
            </a:r>
            <a:endParaRPr i="0" sz="900" u="none" cap="none" strike="noStrike">
              <a:solidFill>
                <a:schemeClr val="dk1"/>
              </a:solidFill>
              <a:latin typeface="Proxima Nova"/>
              <a:ea typeface="Proxima Nova"/>
              <a:cs typeface="Proxima Nova"/>
              <a:sym typeface="Proxima Nova"/>
            </a:endParaRPr>
          </a:p>
        </p:txBody>
      </p:sp>
      <p:sp>
        <p:nvSpPr>
          <p:cNvPr id="175" name="Google Shape;175;p25"/>
          <p:cNvSpPr/>
          <p:nvPr/>
        </p:nvSpPr>
        <p:spPr>
          <a:xfrm>
            <a:off x="804863" y="1812503"/>
            <a:ext cx="3600600" cy="2019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13A"/>
              </a:buClr>
              <a:buSzPts val="1200"/>
              <a:buFont typeface="Plus Jakarta Sans"/>
              <a:buNone/>
            </a:pPr>
            <a:r>
              <a:rPr b="1" i="0" lang="en" sz="1200" u="none" cap="none" strike="noStrike">
                <a:solidFill>
                  <a:srgbClr val="16213A"/>
                </a:solidFill>
                <a:latin typeface="Proxima Nova"/>
                <a:ea typeface="Proxima Nova"/>
                <a:cs typeface="Proxima Nova"/>
                <a:sym typeface="Proxima Nova"/>
              </a:rPr>
              <a:t>Own a current, credible delivery plan</a:t>
            </a:r>
            <a:endParaRPr i="0" sz="1200" u="none" cap="none" strike="noStrike">
              <a:solidFill>
                <a:schemeClr val="dk1"/>
              </a:solidFill>
              <a:latin typeface="Proxima Nova"/>
              <a:ea typeface="Proxima Nova"/>
              <a:cs typeface="Proxima Nova"/>
              <a:sym typeface="Proxima Nova"/>
            </a:endParaRPr>
          </a:p>
        </p:txBody>
      </p:sp>
      <p:sp>
        <p:nvSpPr>
          <p:cNvPr id="176" name="Google Shape;176;p25"/>
          <p:cNvSpPr/>
          <p:nvPr/>
        </p:nvSpPr>
        <p:spPr>
          <a:xfrm>
            <a:off x="804863" y="2062014"/>
            <a:ext cx="3600600" cy="5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272"/>
              </a:buClr>
              <a:buSzPts val="1000"/>
              <a:buFont typeface="Inter"/>
              <a:buNone/>
            </a:pPr>
            <a:r>
              <a:rPr i="0" lang="en" sz="1000" u="none" cap="none" strike="noStrike">
                <a:solidFill>
                  <a:srgbClr val="5A6272"/>
                </a:solidFill>
                <a:latin typeface="Proxima Nova"/>
                <a:ea typeface="Proxima Nova"/>
                <a:cs typeface="Proxima Nova"/>
                <a:sym typeface="Proxima Nova"/>
              </a:rPr>
              <a:t>Keep the plan current and know what threatens it. The plan is not a collection of Jira tickets; you are accountable for the big picture.</a:t>
            </a:r>
            <a:endParaRPr i="0" sz="1000" u="none" cap="none" strike="noStrike">
              <a:solidFill>
                <a:schemeClr val="dk1"/>
              </a:solidFill>
              <a:latin typeface="Proxima Nova"/>
              <a:ea typeface="Proxima Nova"/>
              <a:cs typeface="Proxima Nova"/>
              <a:sym typeface="Proxima Nova"/>
            </a:endParaRPr>
          </a:p>
        </p:txBody>
      </p:sp>
      <p:sp>
        <p:nvSpPr>
          <p:cNvPr id="177" name="Google Shape;177;p25"/>
          <p:cNvSpPr/>
          <p:nvPr/>
        </p:nvSpPr>
        <p:spPr>
          <a:xfrm>
            <a:off x="4650581" y="1412007"/>
            <a:ext cx="3881400" cy="1343700"/>
          </a:xfrm>
          <a:prstGeom prst="roundRect">
            <a:avLst>
              <a:gd fmla="val 4076" name="adj"/>
            </a:avLst>
          </a:prstGeom>
          <a:solidFill>
            <a:srgbClr val="F4F6FB"/>
          </a:solidFill>
          <a:ln cap="flat" cmpd="sng" w="7150">
            <a:solidFill>
              <a:srgbClr val="DED9CE"/>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8" name="Google Shape;178;p25"/>
          <p:cNvSpPr/>
          <p:nvPr/>
        </p:nvSpPr>
        <p:spPr>
          <a:xfrm>
            <a:off x="4843463" y="1585838"/>
            <a:ext cx="3600600" cy="179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0C9"/>
              </a:buClr>
              <a:buSzPts val="900"/>
              <a:buFont typeface="Inter"/>
              <a:buNone/>
            </a:pPr>
            <a:r>
              <a:rPr b="1" i="0" lang="en" sz="900" u="none" cap="none" strike="noStrike">
                <a:solidFill>
                  <a:srgbClr val="2550C9"/>
                </a:solidFill>
                <a:latin typeface="Proxima Nova"/>
                <a:ea typeface="Proxima Nova"/>
                <a:cs typeface="Proxima Nova"/>
                <a:sym typeface="Proxima Nova"/>
              </a:rPr>
              <a:t>2 · THE WORK</a:t>
            </a:r>
            <a:endParaRPr i="0" sz="900" u="none" cap="none" strike="noStrike">
              <a:solidFill>
                <a:schemeClr val="dk1"/>
              </a:solidFill>
              <a:latin typeface="Proxima Nova"/>
              <a:ea typeface="Proxima Nova"/>
              <a:cs typeface="Proxima Nova"/>
              <a:sym typeface="Proxima Nova"/>
            </a:endParaRPr>
          </a:p>
        </p:txBody>
      </p:sp>
      <p:sp>
        <p:nvSpPr>
          <p:cNvPr id="179" name="Google Shape;179;p25"/>
          <p:cNvSpPr/>
          <p:nvPr/>
        </p:nvSpPr>
        <p:spPr>
          <a:xfrm>
            <a:off x="4843463" y="1812503"/>
            <a:ext cx="3600600" cy="2019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13A"/>
              </a:buClr>
              <a:buSzPts val="1200"/>
              <a:buFont typeface="Plus Jakarta Sans"/>
              <a:buNone/>
            </a:pPr>
            <a:r>
              <a:rPr b="1" i="0" lang="en" sz="1200" u="none" cap="none" strike="noStrike">
                <a:solidFill>
                  <a:srgbClr val="16213A"/>
                </a:solidFill>
                <a:latin typeface="Proxima Nova"/>
                <a:ea typeface="Proxima Nova"/>
                <a:cs typeface="Proxima Nova"/>
                <a:sym typeface="Proxima Nova"/>
              </a:rPr>
              <a:t>Drive execution within the approved plan</a:t>
            </a:r>
            <a:endParaRPr i="0" sz="1200" u="none" cap="none" strike="noStrike">
              <a:solidFill>
                <a:schemeClr val="dk1"/>
              </a:solidFill>
              <a:latin typeface="Proxima Nova"/>
              <a:ea typeface="Proxima Nova"/>
              <a:cs typeface="Proxima Nova"/>
              <a:sym typeface="Proxima Nova"/>
            </a:endParaRPr>
          </a:p>
        </p:txBody>
      </p:sp>
      <p:sp>
        <p:nvSpPr>
          <p:cNvPr id="180" name="Google Shape;180;p25"/>
          <p:cNvSpPr/>
          <p:nvPr/>
        </p:nvSpPr>
        <p:spPr>
          <a:xfrm>
            <a:off x="4843463" y="2062014"/>
            <a:ext cx="3600600" cy="5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272"/>
              </a:buClr>
              <a:buSzPts val="1000"/>
              <a:buFont typeface="Inter"/>
              <a:buNone/>
            </a:pPr>
            <a:r>
              <a:rPr i="0" lang="en" sz="1000" u="none" cap="none" strike="noStrike">
                <a:solidFill>
                  <a:srgbClr val="5A6272"/>
                </a:solidFill>
                <a:latin typeface="Proxima Nova"/>
                <a:ea typeface="Proxima Nova"/>
                <a:cs typeface="Proxima Nova"/>
                <a:sym typeface="Proxima Nova"/>
              </a:rPr>
              <a:t>Drive the team’s work, dependencies, actions and issue resolution. Run stand-ups, follow up on actions, and check deliverable readiness.</a:t>
            </a:r>
            <a:endParaRPr i="0" sz="1000" u="none" cap="none" strike="noStrike">
              <a:solidFill>
                <a:schemeClr val="dk1"/>
              </a:solidFill>
              <a:latin typeface="Proxima Nova"/>
              <a:ea typeface="Proxima Nova"/>
              <a:cs typeface="Proxima Nova"/>
              <a:sym typeface="Proxima Nova"/>
            </a:endParaRPr>
          </a:p>
        </p:txBody>
      </p:sp>
      <p:sp>
        <p:nvSpPr>
          <p:cNvPr id="181" name="Google Shape;181;p25"/>
          <p:cNvSpPr/>
          <p:nvPr/>
        </p:nvSpPr>
        <p:spPr>
          <a:xfrm>
            <a:off x="609600" y="2948657"/>
            <a:ext cx="8162700" cy="179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21A"/>
              </a:buClr>
              <a:buSzPts val="900"/>
              <a:buFont typeface="Inter"/>
              <a:buNone/>
            </a:pPr>
            <a:r>
              <a:rPr b="1" i="0" lang="en" sz="900" u="none" cap="none" strike="noStrike">
                <a:solidFill>
                  <a:srgbClr val="B5521A"/>
                </a:solidFill>
                <a:latin typeface="Proxima Nova"/>
                <a:ea typeface="Proxima Nova"/>
                <a:cs typeface="Proxima Nova"/>
                <a:sym typeface="Proxima Nova"/>
              </a:rPr>
              <a:t>THE DECISION LOOP</a:t>
            </a:r>
            <a:endParaRPr i="0" sz="900" u="none" cap="none" strike="noStrike">
              <a:solidFill>
                <a:schemeClr val="dk1"/>
              </a:solidFill>
              <a:latin typeface="Proxima Nova"/>
              <a:ea typeface="Proxima Nova"/>
              <a:cs typeface="Proxima Nova"/>
              <a:sym typeface="Proxima Nova"/>
            </a:endParaRPr>
          </a:p>
        </p:txBody>
      </p:sp>
      <p:sp>
        <p:nvSpPr>
          <p:cNvPr id="182" name="Google Shape;182;p25"/>
          <p:cNvSpPr/>
          <p:nvPr/>
        </p:nvSpPr>
        <p:spPr>
          <a:xfrm>
            <a:off x="611981" y="3187229"/>
            <a:ext cx="2408100" cy="1058100"/>
          </a:xfrm>
          <a:prstGeom prst="roundRect">
            <a:avLst>
              <a:gd fmla="val 5176" name="adj"/>
            </a:avLst>
          </a:prstGeom>
          <a:solidFill>
            <a:srgbClr val="FCFBF8"/>
          </a:solidFill>
          <a:ln cap="flat" cmpd="sng" w="7150">
            <a:solidFill>
              <a:srgbClr val="DED9CE"/>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83" name="Google Shape;183;p25"/>
          <p:cNvSpPr/>
          <p:nvPr/>
        </p:nvSpPr>
        <p:spPr>
          <a:xfrm>
            <a:off x="785813" y="3342010"/>
            <a:ext cx="2122500" cy="1905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13A"/>
              </a:buClr>
              <a:buSzPts val="1100"/>
              <a:buFont typeface="Plus Jakarta Sans"/>
              <a:buNone/>
            </a:pPr>
            <a:r>
              <a:rPr b="1" i="0" lang="en" sz="1100" u="none" cap="none" strike="noStrike">
                <a:solidFill>
                  <a:srgbClr val="16213A"/>
                </a:solidFill>
                <a:latin typeface="Proxima Nova"/>
                <a:ea typeface="Proxima Nova"/>
                <a:cs typeface="Proxima Nova"/>
                <a:sym typeface="Proxima Nova"/>
              </a:rPr>
              <a:t>3 · Propose</a:t>
            </a:r>
            <a:endParaRPr i="0" sz="1100" u="none" cap="none" strike="noStrike">
              <a:solidFill>
                <a:schemeClr val="dk1"/>
              </a:solidFill>
              <a:latin typeface="Proxima Nova"/>
              <a:ea typeface="Proxima Nova"/>
              <a:cs typeface="Proxima Nova"/>
              <a:sym typeface="Proxima Nova"/>
            </a:endParaRPr>
          </a:p>
        </p:txBody>
      </p:sp>
      <p:sp>
        <p:nvSpPr>
          <p:cNvPr id="184" name="Google Shape;184;p25"/>
          <p:cNvSpPr/>
          <p:nvPr/>
        </p:nvSpPr>
        <p:spPr>
          <a:xfrm>
            <a:off x="785813" y="3570610"/>
            <a:ext cx="2122500" cy="5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272"/>
              </a:buClr>
              <a:buSzPts val="1000"/>
              <a:buFont typeface="Inter"/>
              <a:buNone/>
            </a:pPr>
            <a:r>
              <a:rPr i="0" lang="en" sz="1000" u="none" cap="none" strike="noStrike">
                <a:solidFill>
                  <a:srgbClr val="5A6272"/>
                </a:solidFill>
                <a:latin typeface="Proxima Nova"/>
                <a:ea typeface="Proxima Nova"/>
                <a:cs typeface="Proxima Nova"/>
                <a:sym typeface="Proxima Nova"/>
              </a:rPr>
              <a:t>Bring proposed decisions to Toptal with context, impact, options and a recommended solution.</a:t>
            </a:r>
            <a:endParaRPr i="0" sz="1000" u="none" cap="none" strike="noStrike">
              <a:solidFill>
                <a:schemeClr val="dk1"/>
              </a:solidFill>
              <a:latin typeface="Proxima Nova"/>
              <a:ea typeface="Proxima Nova"/>
              <a:cs typeface="Proxima Nova"/>
              <a:sym typeface="Proxima Nova"/>
            </a:endParaRPr>
          </a:p>
        </p:txBody>
      </p:sp>
      <p:sp>
        <p:nvSpPr>
          <p:cNvPr id="185" name="Google Shape;185;p25"/>
          <p:cNvSpPr/>
          <p:nvPr/>
        </p:nvSpPr>
        <p:spPr>
          <a:xfrm>
            <a:off x="3098750" y="3582888"/>
            <a:ext cx="228600" cy="285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21A"/>
              </a:buClr>
              <a:buSzPts val="1500"/>
              <a:buFont typeface="Inter"/>
              <a:buNone/>
            </a:pPr>
            <a:r>
              <a:rPr b="0" i="0" lang="en" sz="1500" u="none" cap="none" strike="noStrike">
                <a:solidFill>
                  <a:srgbClr val="B5521A"/>
                </a:solidFill>
                <a:latin typeface="Inter"/>
                <a:ea typeface="Inter"/>
                <a:cs typeface="Inter"/>
                <a:sym typeface="Inter"/>
              </a:rPr>
              <a:t>→</a:t>
            </a:r>
            <a:endParaRPr b="0" i="0" sz="1500" u="none" cap="none" strike="noStrike">
              <a:solidFill>
                <a:schemeClr val="dk1"/>
              </a:solidFill>
              <a:latin typeface="Calibri"/>
              <a:ea typeface="Calibri"/>
              <a:cs typeface="Calibri"/>
              <a:sym typeface="Calibri"/>
            </a:endParaRPr>
          </a:p>
        </p:txBody>
      </p:sp>
      <p:sp>
        <p:nvSpPr>
          <p:cNvPr id="186" name="Google Shape;186;p25"/>
          <p:cNvSpPr/>
          <p:nvPr/>
        </p:nvSpPr>
        <p:spPr>
          <a:xfrm>
            <a:off x="3367832" y="3187229"/>
            <a:ext cx="2408100" cy="1058100"/>
          </a:xfrm>
          <a:prstGeom prst="roundRect">
            <a:avLst>
              <a:gd fmla="val 5176" name="adj"/>
            </a:avLst>
          </a:prstGeom>
          <a:solidFill>
            <a:srgbClr val="FCFBF8"/>
          </a:solidFill>
          <a:ln cap="flat" cmpd="sng" w="7150">
            <a:solidFill>
              <a:srgbClr val="DED9CE"/>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87" name="Google Shape;187;p25"/>
          <p:cNvSpPr/>
          <p:nvPr/>
        </p:nvSpPr>
        <p:spPr>
          <a:xfrm>
            <a:off x="3541663" y="3342010"/>
            <a:ext cx="2122500" cy="1905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13A"/>
              </a:buClr>
              <a:buSzPts val="1100"/>
              <a:buFont typeface="Plus Jakarta Sans"/>
              <a:buNone/>
            </a:pPr>
            <a:r>
              <a:rPr b="1" i="0" lang="en" sz="1100" u="none" cap="none" strike="noStrike">
                <a:solidFill>
                  <a:srgbClr val="16213A"/>
                </a:solidFill>
                <a:latin typeface="Proxima Nova"/>
                <a:ea typeface="Proxima Nova"/>
                <a:cs typeface="Proxima Nova"/>
                <a:sym typeface="Proxima Nova"/>
              </a:rPr>
              <a:t>4 · Get approval</a:t>
            </a:r>
            <a:endParaRPr i="0" sz="1100" u="none" cap="none" strike="noStrike">
              <a:solidFill>
                <a:schemeClr val="dk1"/>
              </a:solidFill>
              <a:latin typeface="Proxima Nova"/>
              <a:ea typeface="Proxima Nova"/>
              <a:cs typeface="Proxima Nova"/>
              <a:sym typeface="Proxima Nova"/>
            </a:endParaRPr>
          </a:p>
        </p:txBody>
      </p:sp>
      <p:sp>
        <p:nvSpPr>
          <p:cNvPr id="188" name="Google Shape;188;p25"/>
          <p:cNvSpPr/>
          <p:nvPr/>
        </p:nvSpPr>
        <p:spPr>
          <a:xfrm>
            <a:off x="3541663" y="3570610"/>
            <a:ext cx="2122500" cy="5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272"/>
              </a:buClr>
              <a:buSzPts val="1000"/>
              <a:buFont typeface="Inter"/>
              <a:buNone/>
            </a:pPr>
            <a:r>
              <a:rPr i="0" lang="en" sz="1000" u="none" cap="none" strike="noStrike">
                <a:solidFill>
                  <a:srgbClr val="5A6272"/>
                </a:solidFill>
                <a:latin typeface="Proxima Nova"/>
                <a:ea typeface="Proxima Nova"/>
                <a:cs typeface="Proxima Nova"/>
                <a:sym typeface="Proxima Nova"/>
              </a:rPr>
              <a:t>Obtain Toptal approval before changing the agreed approach or making commitments to the client.</a:t>
            </a:r>
            <a:endParaRPr i="0" sz="1000" u="none" cap="none" strike="noStrike">
              <a:solidFill>
                <a:schemeClr val="dk1"/>
              </a:solidFill>
              <a:latin typeface="Proxima Nova"/>
              <a:ea typeface="Proxima Nova"/>
              <a:cs typeface="Proxima Nova"/>
              <a:sym typeface="Proxima Nova"/>
            </a:endParaRPr>
          </a:p>
        </p:txBody>
      </p:sp>
      <p:sp>
        <p:nvSpPr>
          <p:cNvPr id="189" name="Google Shape;189;p25"/>
          <p:cNvSpPr/>
          <p:nvPr/>
        </p:nvSpPr>
        <p:spPr>
          <a:xfrm>
            <a:off x="5854676" y="3582888"/>
            <a:ext cx="228600" cy="285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21A"/>
              </a:buClr>
              <a:buSzPts val="1500"/>
              <a:buFont typeface="Inter"/>
              <a:buNone/>
            </a:pPr>
            <a:r>
              <a:rPr b="0" i="0" lang="en" sz="1500" u="none" cap="none" strike="noStrike">
                <a:solidFill>
                  <a:srgbClr val="B5521A"/>
                </a:solidFill>
                <a:latin typeface="Inter"/>
                <a:ea typeface="Inter"/>
                <a:cs typeface="Inter"/>
                <a:sym typeface="Inter"/>
              </a:rPr>
              <a:t>→</a:t>
            </a:r>
            <a:endParaRPr b="0" i="0" sz="1500" u="none" cap="none" strike="noStrike">
              <a:solidFill>
                <a:schemeClr val="dk1"/>
              </a:solidFill>
              <a:latin typeface="Calibri"/>
              <a:ea typeface="Calibri"/>
              <a:cs typeface="Calibri"/>
              <a:sym typeface="Calibri"/>
            </a:endParaRPr>
          </a:p>
        </p:txBody>
      </p:sp>
      <p:sp>
        <p:nvSpPr>
          <p:cNvPr id="190" name="Google Shape;190;p25"/>
          <p:cNvSpPr/>
          <p:nvPr/>
        </p:nvSpPr>
        <p:spPr>
          <a:xfrm>
            <a:off x="6123757" y="3187229"/>
            <a:ext cx="2408100" cy="1058100"/>
          </a:xfrm>
          <a:prstGeom prst="roundRect">
            <a:avLst>
              <a:gd fmla="val 5176" name="adj"/>
            </a:avLst>
          </a:prstGeom>
          <a:solidFill>
            <a:srgbClr val="FCFBF8"/>
          </a:solidFill>
          <a:ln cap="flat" cmpd="sng" w="7150">
            <a:solidFill>
              <a:srgbClr val="DED9CE"/>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91" name="Google Shape;191;p25"/>
          <p:cNvSpPr/>
          <p:nvPr/>
        </p:nvSpPr>
        <p:spPr>
          <a:xfrm>
            <a:off x="6297588" y="3342010"/>
            <a:ext cx="2122500" cy="1905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13A"/>
              </a:buClr>
              <a:buSzPts val="1100"/>
              <a:buFont typeface="Plus Jakarta Sans"/>
              <a:buNone/>
            </a:pPr>
            <a:r>
              <a:rPr b="1" i="0" lang="en" sz="1100" u="none" cap="none" strike="noStrike">
                <a:solidFill>
                  <a:srgbClr val="16213A"/>
                </a:solidFill>
                <a:latin typeface="Proxima Nova"/>
                <a:ea typeface="Proxima Nova"/>
                <a:cs typeface="Proxima Nova"/>
                <a:sym typeface="Proxima Nova"/>
              </a:rPr>
              <a:t>5 · Implement and track</a:t>
            </a:r>
            <a:endParaRPr i="0" sz="1100" u="none" cap="none" strike="noStrike">
              <a:solidFill>
                <a:schemeClr val="dk1"/>
              </a:solidFill>
              <a:latin typeface="Proxima Nova"/>
              <a:ea typeface="Proxima Nova"/>
              <a:cs typeface="Proxima Nova"/>
              <a:sym typeface="Proxima Nova"/>
            </a:endParaRPr>
          </a:p>
        </p:txBody>
      </p:sp>
      <p:sp>
        <p:nvSpPr>
          <p:cNvPr id="192" name="Google Shape;192;p25"/>
          <p:cNvSpPr/>
          <p:nvPr/>
        </p:nvSpPr>
        <p:spPr>
          <a:xfrm>
            <a:off x="6297588" y="3570610"/>
            <a:ext cx="2122500" cy="3657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272"/>
              </a:buClr>
              <a:buSzPts val="1000"/>
              <a:buFont typeface="Inter"/>
              <a:buNone/>
            </a:pPr>
            <a:r>
              <a:rPr i="0" lang="en" sz="1000" u="none" cap="none" strike="noStrike">
                <a:solidFill>
                  <a:srgbClr val="5A6272"/>
                </a:solidFill>
                <a:latin typeface="Proxima Nova"/>
                <a:ea typeface="Proxima Nova"/>
                <a:cs typeface="Proxima Nova"/>
                <a:sym typeface="Proxima Nova"/>
              </a:rPr>
              <a:t>Implement the agreed decision and track it through to completion.</a:t>
            </a:r>
            <a:endParaRPr i="0" sz="1000" u="none" cap="none" strike="noStrike">
              <a:solidFill>
                <a:schemeClr val="dk1"/>
              </a:solidFill>
              <a:latin typeface="Proxima Nova"/>
              <a:ea typeface="Proxima Nova"/>
              <a:cs typeface="Proxima Nova"/>
              <a:sym typeface="Proxima Nova"/>
            </a:endParaRPr>
          </a:p>
        </p:txBody>
      </p:sp>
      <p:sp>
        <p:nvSpPr>
          <p:cNvPr id="193" name="Google Shape;193;p25"/>
          <p:cNvSpPr txBox="1"/>
          <p:nvPr/>
        </p:nvSpPr>
        <p:spPr>
          <a:xfrm>
            <a:off x="610369" y="857250"/>
            <a:ext cx="79233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336"/>
              </a:buClr>
              <a:buSzPts val="2100"/>
              <a:buFont typeface="Inter"/>
              <a:buNone/>
            </a:pPr>
            <a:r>
              <a:rPr b="1" lang="en" sz="2100">
                <a:solidFill>
                  <a:srgbClr val="1B2336"/>
                </a:solidFill>
                <a:latin typeface="Proxima Nova"/>
                <a:ea typeface="Proxima Nova"/>
                <a:cs typeface="Proxima Nova"/>
                <a:sym typeface="Proxima Nova"/>
              </a:rPr>
              <a:t>The Project </a:t>
            </a:r>
            <a:r>
              <a:rPr b="1" lang="en" sz="2100">
                <a:solidFill>
                  <a:srgbClr val="1B2336"/>
                </a:solidFill>
                <a:latin typeface="Proxima Nova"/>
                <a:ea typeface="Proxima Nova"/>
                <a:cs typeface="Proxima Nova"/>
                <a:sym typeface="Proxima Nova"/>
              </a:rPr>
              <a:t>Manager</a:t>
            </a:r>
            <a:r>
              <a:rPr b="1" lang="en" sz="2100">
                <a:solidFill>
                  <a:srgbClr val="1B2336"/>
                </a:solidFill>
                <a:latin typeface="Proxima Nova"/>
                <a:ea typeface="Proxima Nova"/>
                <a:cs typeface="Proxima Nova"/>
                <a:sym typeface="Proxima Nova"/>
              </a:rPr>
              <a:t> owns the plan and the day-to-day work</a:t>
            </a:r>
            <a:endParaRPr i="0" sz="2100" u="none" cap="none" strike="noStrike">
              <a:solidFill>
                <a:schemeClr val="dk1"/>
              </a:solidFill>
              <a:latin typeface="Proxima Nova"/>
              <a:ea typeface="Proxima Nova"/>
              <a:cs typeface="Proxima Nova"/>
              <a:sym typeface="Proxima Nova"/>
            </a:endParaRPr>
          </a:p>
        </p:txBody>
      </p:sp>
      <p:sp>
        <p:nvSpPr>
          <p:cNvPr id="194" name="Google Shape;194;p25"/>
          <p:cNvSpPr/>
          <p:nvPr/>
        </p:nvSpPr>
        <p:spPr>
          <a:xfrm>
            <a:off x="633776" y="356650"/>
            <a:ext cx="8023800" cy="251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5AAC"/>
              </a:buClr>
              <a:buSzPts val="1200"/>
              <a:buFont typeface="Calibri"/>
              <a:buNone/>
            </a:pPr>
            <a:r>
              <a:rPr b="1" lang="en" sz="900">
                <a:solidFill>
                  <a:srgbClr val="2E5AAC"/>
                </a:solidFill>
                <a:latin typeface="Proxima Nova"/>
                <a:ea typeface="Proxima Nova"/>
                <a:cs typeface="Proxima Nova"/>
                <a:sym typeface="Proxima Nova"/>
              </a:rPr>
              <a:t>ROLES &amp; RESPONSIBILITIES</a:t>
            </a:r>
            <a:endParaRPr i="0" sz="900" u="none" cap="none" strike="noStrike">
              <a:solidFill>
                <a:srgbClr val="000000"/>
              </a:solidFill>
              <a:latin typeface="Proxima Nova"/>
              <a:ea typeface="Proxima Nova"/>
              <a:cs typeface="Proxima Nova"/>
              <a:sym typeface="Proxima Nova"/>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 name="Shape 199"/>
        <p:cNvGrpSpPr/>
        <p:nvPr/>
      </p:nvGrpSpPr>
      <p:grpSpPr>
        <a:xfrm>
          <a:off x="0" y="0"/>
          <a:ext cx="0" cy="0"/>
          <a:chOff x="0" y="0"/>
          <a:chExt cx="0" cy="0"/>
        </a:xfrm>
      </p:grpSpPr>
      <p:sp>
        <p:nvSpPr>
          <p:cNvPr id="200" name="Google Shape;200;p26"/>
          <p:cNvSpPr/>
          <p:nvPr/>
        </p:nvSpPr>
        <p:spPr>
          <a:xfrm>
            <a:off x="542901" y="1460751"/>
            <a:ext cx="4114800" cy="20580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6B7280"/>
              </a:buClr>
              <a:buSzPts val="800"/>
              <a:buFont typeface="Arial"/>
              <a:buNone/>
            </a:pPr>
            <a:r>
              <a:rPr b="1" lang="en" sz="800">
                <a:solidFill>
                  <a:srgbClr val="6B7280"/>
                </a:solidFill>
                <a:latin typeface="Arial"/>
                <a:ea typeface="Arial"/>
                <a:cs typeface="Arial"/>
                <a:sym typeface="Arial"/>
              </a:rPr>
              <a:t>DELIVERY METHODOLOGY PHASES</a:t>
            </a:r>
            <a:endParaRPr sz="800">
              <a:solidFill>
                <a:schemeClr val="dk1"/>
              </a:solidFill>
              <a:latin typeface="Calibri"/>
              <a:ea typeface="Calibri"/>
              <a:cs typeface="Calibri"/>
              <a:sym typeface="Calibri"/>
            </a:endParaRPr>
          </a:p>
        </p:txBody>
      </p:sp>
      <p:sp>
        <p:nvSpPr>
          <p:cNvPr id="201" name="Google Shape;201;p26"/>
          <p:cNvSpPr/>
          <p:nvPr/>
        </p:nvSpPr>
        <p:spPr>
          <a:xfrm>
            <a:off x="542901" y="3208546"/>
            <a:ext cx="5486400" cy="20580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6B7280"/>
              </a:buClr>
              <a:buSzPts val="800"/>
              <a:buFont typeface="Arial"/>
              <a:buNone/>
            </a:pPr>
            <a:r>
              <a:rPr b="1" lang="en" sz="800">
                <a:solidFill>
                  <a:srgbClr val="6B7280"/>
                </a:solidFill>
                <a:latin typeface="Arial"/>
                <a:ea typeface="Arial"/>
                <a:cs typeface="Arial"/>
                <a:sym typeface="Arial"/>
              </a:rPr>
              <a:t>PMO GOVERNANCE PHASES (OVERLAY)</a:t>
            </a:r>
            <a:endParaRPr sz="800">
              <a:solidFill>
                <a:schemeClr val="dk1"/>
              </a:solidFill>
              <a:latin typeface="Calibri"/>
              <a:ea typeface="Calibri"/>
              <a:cs typeface="Calibri"/>
              <a:sym typeface="Calibri"/>
            </a:endParaRPr>
          </a:p>
        </p:txBody>
      </p:sp>
      <p:sp>
        <p:nvSpPr>
          <p:cNvPr id="202" name="Google Shape;202;p26"/>
          <p:cNvSpPr/>
          <p:nvPr/>
        </p:nvSpPr>
        <p:spPr>
          <a:xfrm>
            <a:off x="572988" y="3482866"/>
            <a:ext cx="1133700" cy="720000"/>
          </a:xfrm>
          <a:prstGeom prst="roundRect">
            <a:avLst>
              <a:gd fmla="val 4762" name="adj"/>
            </a:avLst>
          </a:prstGeom>
          <a:solidFill>
            <a:srgbClr val="0F256E"/>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03" name="Google Shape;203;p26"/>
          <p:cNvSpPr/>
          <p:nvPr/>
        </p:nvSpPr>
        <p:spPr>
          <a:xfrm>
            <a:off x="641568" y="3537730"/>
            <a:ext cx="996300" cy="377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Clr>
                <a:srgbClr val="FFFFFF"/>
              </a:buClr>
              <a:buSzPts val="900"/>
              <a:buFont typeface="Arial"/>
              <a:buNone/>
            </a:pPr>
            <a:r>
              <a:rPr b="1" lang="en" sz="900">
                <a:solidFill>
                  <a:srgbClr val="FFFFFF"/>
                </a:solidFill>
                <a:latin typeface="Arial"/>
                <a:ea typeface="Arial"/>
                <a:cs typeface="Arial"/>
                <a:sym typeface="Arial"/>
              </a:rPr>
              <a:t>Readiness</a:t>
            </a:r>
            <a:endParaRPr sz="900">
              <a:solidFill>
                <a:schemeClr val="dk1"/>
              </a:solidFill>
              <a:latin typeface="Calibri"/>
              <a:ea typeface="Calibri"/>
              <a:cs typeface="Calibri"/>
              <a:sym typeface="Calibri"/>
            </a:endParaRPr>
          </a:p>
        </p:txBody>
      </p:sp>
      <p:sp>
        <p:nvSpPr>
          <p:cNvPr id="204" name="Google Shape;204;p26"/>
          <p:cNvSpPr/>
          <p:nvPr/>
        </p:nvSpPr>
        <p:spPr>
          <a:xfrm>
            <a:off x="641568" y="3969784"/>
            <a:ext cx="996300" cy="2058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E4ECFF"/>
              </a:buClr>
              <a:buSzPts val="700"/>
              <a:buFont typeface="Arial"/>
              <a:buNone/>
            </a:pPr>
            <a:r>
              <a:rPr lang="en" sz="700">
                <a:solidFill>
                  <a:srgbClr val="E4ECFF"/>
                </a:solidFill>
                <a:latin typeface="Arial"/>
                <a:ea typeface="Arial"/>
                <a:cs typeface="Arial"/>
                <a:sym typeface="Arial"/>
              </a:rPr>
              <a:t>Owner: </a:t>
            </a:r>
            <a:r>
              <a:rPr lang="en" sz="700">
                <a:solidFill>
                  <a:srgbClr val="E4ECFF"/>
                </a:solidFill>
              </a:rPr>
              <a:t>PMO</a:t>
            </a:r>
            <a:endParaRPr sz="700">
              <a:solidFill>
                <a:schemeClr val="dk1"/>
              </a:solidFill>
              <a:latin typeface="Calibri"/>
              <a:ea typeface="Calibri"/>
              <a:cs typeface="Calibri"/>
              <a:sym typeface="Calibri"/>
            </a:endParaRPr>
          </a:p>
        </p:txBody>
      </p:sp>
      <p:sp>
        <p:nvSpPr>
          <p:cNvPr id="205" name="Google Shape;205;p26"/>
          <p:cNvSpPr/>
          <p:nvPr/>
        </p:nvSpPr>
        <p:spPr>
          <a:xfrm>
            <a:off x="1816246" y="3482866"/>
            <a:ext cx="1133700" cy="720000"/>
          </a:xfrm>
          <a:prstGeom prst="roundRect">
            <a:avLst>
              <a:gd fmla="val 4762" name="adj"/>
            </a:avLst>
          </a:prstGeom>
          <a:solidFill>
            <a:srgbClr val="183A9E"/>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06" name="Google Shape;206;p26"/>
          <p:cNvSpPr/>
          <p:nvPr/>
        </p:nvSpPr>
        <p:spPr>
          <a:xfrm>
            <a:off x="1884826" y="3537730"/>
            <a:ext cx="996300" cy="377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Clr>
                <a:srgbClr val="FFFFFF"/>
              </a:buClr>
              <a:buSzPts val="900"/>
              <a:buFont typeface="Arial"/>
              <a:buNone/>
            </a:pPr>
            <a:r>
              <a:rPr b="1" lang="en" sz="900">
                <a:solidFill>
                  <a:srgbClr val="FFFFFF"/>
                </a:solidFill>
                <a:latin typeface="Arial"/>
                <a:ea typeface="Arial"/>
                <a:cs typeface="Arial"/>
                <a:sym typeface="Arial"/>
              </a:rPr>
              <a:t>Planning</a:t>
            </a:r>
            <a:endParaRPr sz="900">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900"/>
              <a:buFont typeface="Arial"/>
              <a:buNone/>
            </a:pPr>
            <a:r>
              <a:rPr b="1" lang="en" sz="900">
                <a:solidFill>
                  <a:srgbClr val="FFFFFF"/>
                </a:solidFill>
                <a:latin typeface="Arial"/>
                <a:ea typeface="Arial"/>
                <a:cs typeface="Arial"/>
                <a:sym typeface="Arial"/>
              </a:rPr>
              <a:t>(Mobilize)</a:t>
            </a:r>
            <a:endParaRPr sz="900">
              <a:solidFill>
                <a:schemeClr val="dk1"/>
              </a:solidFill>
              <a:latin typeface="Calibri"/>
              <a:ea typeface="Calibri"/>
              <a:cs typeface="Calibri"/>
              <a:sym typeface="Calibri"/>
            </a:endParaRPr>
          </a:p>
        </p:txBody>
      </p:sp>
      <p:sp>
        <p:nvSpPr>
          <p:cNvPr id="207" name="Google Shape;207;p26"/>
          <p:cNvSpPr/>
          <p:nvPr/>
        </p:nvSpPr>
        <p:spPr>
          <a:xfrm>
            <a:off x="1884826" y="3969784"/>
            <a:ext cx="996300" cy="2058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E4ECFF"/>
              </a:buClr>
              <a:buSzPts val="700"/>
              <a:buFont typeface="Arial"/>
              <a:buNone/>
            </a:pPr>
            <a:r>
              <a:rPr lang="en" sz="700">
                <a:solidFill>
                  <a:srgbClr val="E4ECFF"/>
                </a:solidFill>
                <a:latin typeface="Arial"/>
                <a:ea typeface="Arial"/>
                <a:cs typeface="Arial"/>
                <a:sym typeface="Arial"/>
              </a:rPr>
              <a:t>Owner: </a:t>
            </a:r>
            <a:r>
              <a:rPr lang="en" sz="700">
                <a:solidFill>
                  <a:srgbClr val="E4ECFF"/>
                </a:solidFill>
              </a:rPr>
              <a:t>PMO → PM</a:t>
            </a:r>
            <a:endParaRPr sz="700">
              <a:solidFill>
                <a:schemeClr val="dk1"/>
              </a:solidFill>
              <a:latin typeface="Calibri"/>
              <a:ea typeface="Calibri"/>
              <a:cs typeface="Calibri"/>
              <a:sym typeface="Calibri"/>
            </a:endParaRPr>
          </a:p>
        </p:txBody>
      </p:sp>
      <p:sp>
        <p:nvSpPr>
          <p:cNvPr id="208" name="Google Shape;208;p26"/>
          <p:cNvSpPr/>
          <p:nvPr/>
        </p:nvSpPr>
        <p:spPr>
          <a:xfrm>
            <a:off x="3059503" y="3482866"/>
            <a:ext cx="4698600" cy="720000"/>
          </a:xfrm>
          <a:prstGeom prst="roundRect">
            <a:avLst>
              <a:gd fmla="val 4762" name="adj"/>
            </a:avLst>
          </a:prstGeom>
          <a:solidFill>
            <a:srgbClr val="204ECF"/>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09" name="Google Shape;209;p26"/>
          <p:cNvSpPr/>
          <p:nvPr/>
        </p:nvSpPr>
        <p:spPr>
          <a:xfrm>
            <a:off x="3128083" y="3537730"/>
            <a:ext cx="4561800" cy="377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Clr>
                <a:srgbClr val="FFFFFF"/>
              </a:buClr>
              <a:buSzPts val="900"/>
              <a:buFont typeface="Arial"/>
              <a:buNone/>
            </a:pPr>
            <a:r>
              <a:rPr b="1" lang="en" sz="900">
                <a:solidFill>
                  <a:srgbClr val="FFFFFF"/>
                </a:solidFill>
                <a:latin typeface="Arial"/>
                <a:ea typeface="Arial"/>
                <a:cs typeface="Arial"/>
                <a:sym typeface="Arial"/>
              </a:rPr>
              <a:t>Project Execution</a:t>
            </a:r>
            <a:endParaRPr sz="900">
              <a:solidFill>
                <a:schemeClr val="dk1"/>
              </a:solidFill>
              <a:latin typeface="Calibri"/>
              <a:ea typeface="Calibri"/>
              <a:cs typeface="Calibri"/>
              <a:sym typeface="Calibri"/>
            </a:endParaRPr>
          </a:p>
        </p:txBody>
      </p:sp>
      <p:sp>
        <p:nvSpPr>
          <p:cNvPr id="210" name="Google Shape;210;p26"/>
          <p:cNvSpPr/>
          <p:nvPr/>
        </p:nvSpPr>
        <p:spPr>
          <a:xfrm>
            <a:off x="3128083" y="3969784"/>
            <a:ext cx="4561800" cy="2058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E4ECFF"/>
              </a:buClr>
              <a:buSzPts val="700"/>
              <a:buFont typeface="Arial"/>
              <a:buNone/>
            </a:pPr>
            <a:r>
              <a:rPr lang="en" sz="700">
                <a:solidFill>
                  <a:srgbClr val="E4ECFF"/>
                </a:solidFill>
                <a:latin typeface="Arial"/>
                <a:ea typeface="Arial"/>
                <a:cs typeface="Arial"/>
                <a:sym typeface="Arial"/>
              </a:rPr>
              <a:t>Owner: PM  ·  PMO verifies</a:t>
            </a:r>
            <a:endParaRPr sz="700">
              <a:solidFill>
                <a:schemeClr val="dk1"/>
              </a:solidFill>
              <a:latin typeface="Calibri"/>
              <a:ea typeface="Calibri"/>
              <a:cs typeface="Calibri"/>
              <a:sym typeface="Calibri"/>
            </a:endParaRPr>
          </a:p>
        </p:txBody>
      </p:sp>
      <p:sp>
        <p:nvSpPr>
          <p:cNvPr id="211" name="Google Shape;211;p26"/>
          <p:cNvSpPr/>
          <p:nvPr/>
        </p:nvSpPr>
        <p:spPr>
          <a:xfrm>
            <a:off x="7867946" y="3482862"/>
            <a:ext cx="1044600" cy="720000"/>
          </a:xfrm>
          <a:prstGeom prst="roundRect">
            <a:avLst>
              <a:gd fmla="val 4762" name="adj"/>
            </a:avLst>
          </a:prstGeom>
          <a:solidFill>
            <a:srgbClr val="25A9EF"/>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12" name="Google Shape;212;p26"/>
          <p:cNvSpPr/>
          <p:nvPr/>
        </p:nvSpPr>
        <p:spPr>
          <a:xfrm>
            <a:off x="7892021" y="3537730"/>
            <a:ext cx="996300" cy="377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Clr>
                <a:srgbClr val="FFFFFF"/>
              </a:buClr>
              <a:buSzPts val="900"/>
              <a:buFont typeface="Arial"/>
              <a:buNone/>
            </a:pPr>
            <a:r>
              <a:rPr b="1" lang="en" sz="900">
                <a:solidFill>
                  <a:srgbClr val="FFFFFF"/>
                </a:solidFill>
                <a:latin typeface="Arial"/>
                <a:ea typeface="Arial"/>
                <a:cs typeface="Arial"/>
                <a:sym typeface="Arial"/>
              </a:rPr>
              <a:t>Acceptance &amp; Closure</a:t>
            </a:r>
            <a:endParaRPr sz="900">
              <a:solidFill>
                <a:schemeClr val="dk1"/>
              </a:solidFill>
              <a:latin typeface="Calibri"/>
              <a:ea typeface="Calibri"/>
              <a:cs typeface="Calibri"/>
              <a:sym typeface="Calibri"/>
            </a:endParaRPr>
          </a:p>
        </p:txBody>
      </p:sp>
      <p:sp>
        <p:nvSpPr>
          <p:cNvPr id="213" name="Google Shape;213;p26"/>
          <p:cNvSpPr/>
          <p:nvPr/>
        </p:nvSpPr>
        <p:spPr>
          <a:xfrm>
            <a:off x="7892021" y="3969784"/>
            <a:ext cx="996300" cy="2058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E4ECFF"/>
              </a:buClr>
              <a:buSzPts val="700"/>
              <a:buFont typeface="Arial"/>
              <a:buNone/>
            </a:pPr>
            <a:r>
              <a:rPr lang="en" sz="700">
                <a:solidFill>
                  <a:srgbClr val="E4ECFF"/>
                </a:solidFill>
                <a:latin typeface="Arial"/>
                <a:ea typeface="Arial"/>
                <a:cs typeface="Arial"/>
                <a:sym typeface="Arial"/>
              </a:rPr>
              <a:t>Owner: </a:t>
            </a:r>
            <a:r>
              <a:rPr lang="en" sz="700">
                <a:solidFill>
                  <a:srgbClr val="E4ECFF"/>
                </a:solidFill>
              </a:rPr>
              <a:t>P</a:t>
            </a:r>
            <a:r>
              <a:rPr lang="en" sz="700">
                <a:solidFill>
                  <a:srgbClr val="E4ECFF"/>
                </a:solidFill>
                <a:latin typeface="Arial"/>
                <a:ea typeface="Arial"/>
                <a:cs typeface="Arial"/>
                <a:sym typeface="Arial"/>
              </a:rPr>
              <a:t>M → PMO</a:t>
            </a:r>
            <a:endParaRPr sz="700">
              <a:solidFill>
                <a:schemeClr val="dk1"/>
              </a:solidFill>
              <a:latin typeface="Calibri"/>
              <a:ea typeface="Calibri"/>
              <a:cs typeface="Calibri"/>
              <a:sym typeface="Calibri"/>
            </a:endParaRPr>
          </a:p>
        </p:txBody>
      </p:sp>
      <p:grpSp>
        <p:nvGrpSpPr>
          <p:cNvPr id="214" name="Google Shape;214;p26"/>
          <p:cNvGrpSpPr/>
          <p:nvPr/>
        </p:nvGrpSpPr>
        <p:grpSpPr>
          <a:xfrm>
            <a:off x="572992" y="1787650"/>
            <a:ext cx="1133730" cy="891600"/>
            <a:chOff x="610362" y="1714500"/>
            <a:chExt cx="1073100" cy="891600"/>
          </a:xfrm>
        </p:grpSpPr>
        <p:sp>
          <p:nvSpPr>
            <p:cNvPr id="215" name="Google Shape;215;p26"/>
            <p:cNvSpPr/>
            <p:nvPr/>
          </p:nvSpPr>
          <p:spPr>
            <a:xfrm>
              <a:off x="610362" y="1714500"/>
              <a:ext cx="1073100" cy="891600"/>
            </a:xfrm>
            <a:prstGeom prst="roundRect">
              <a:avLst>
                <a:gd fmla="val 6154" name="adj"/>
              </a:avLst>
            </a:prstGeom>
            <a:solidFill>
              <a:srgbClr val="0F256E"/>
            </a:solidFill>
            <a:ln cap="flat" cmpd="sng" w="9525">
              <a:solidFill>
                <a:srgbClr val="0F256E"/>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16" name="Google Shape;216;p26"/>
            <p:cNvSpPr txBox="1"/>
            <p:nvPr/>
          </p:nvSpPr>
          <p:spPr>
            <a:xfrm>
              <a:off x="699516" y="1810512"/>
              <a:ext cx="894900" cy="30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4F6FB"/>
                </a:buClr>
                <a:buSzPts val="900"/>
                <a:buFont typeface="Inter"/>
                <a:buNone/>
              </a:pPr>
              <a:r>
                <a:rPr b="1" i="0" lang="en" sz="900" u="none" cap="none" strike="noStrike">
                  <a:solidFill>
                    <a:srgbClr val="F4F6FB"/>
                  </a:solidFill>
                  <a:latin typeface="Proxima Nova"/>
                  <a:ea typeface="Proxima Nova"/>
                  <a:cs typeface="Proxima Nova"/>
                  <a:sym typeface="Proxima Nova"/>
                </a:rPr>
                <a:t>1 Readiness</a:t>
              </a:r>
              <a:endParaRPr i="0" sz="900" u="none" cap="none" strike="noStrike">
                <a:solidFill>
                  <a:schemeClr val="dk1"/>
                </a:solidFill>
                <a:latin typeface="Proxima Nova"/>
                <a:ea typeface="Proxima Nova"/>
                <a:cs typeface="Proxima Nova"/>
                <a:sym typeface="Proxima Nova"/>
              </a:endParaRPr>
            </a:p>
          </p:txBody>
        </p:sp>
        <p:sp>
          <p:nvSpPr>
            <p:cNvPr id="217" name="Google Shape;217;p26"/>
            <p:cNvSpPr txBox="1"/>
            <p:nvPr/>
          </p:nvSpPr>
          <p:spPr>
            <a:xfrm>
              <a:off x="699516" y="2139696"/>
              <a:ext cx="894900" cy="411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A9B3C7"/>
                </a:buClr>
                <a:buSzPts val="800"/>
                <a:buFont typeface="Inter"/>
                <a:buNone/>
              </a:pPr>
              <a:r>
                <a:rPr i="0" lang="en" sz="800" u="none" cap="none" strike="noStrike">
                  <a:solidFill>
                    <a:srgbClr val="A9B3C7"/>
                  </a:solidFill>
                  <a:latin typeface="Proxima Nova"/>
                  <a:ea typeface="Proxima Nova"/>
                  <a:cs typeface="Proxima Nova"/>
                  <a:sym typeface="Proxima Nova"/>
                </a:rPr>
                <a:t>Sales handoff</a:t>
              </a:r>
              <a:endParaRPr i="0" sz="800" u="none" cap="none" strike="noStrike">
                <a:solidFill>
                  <a:schemeClr val="dk1"/>
                </a:solidFill>
                <a:latin typeface="Proxima Nova"/>
                <a:ea typeface="Proxima Nova"/>
                <a:cs typeface="Proxima Nova"/>
                <a:sym typeface="Proxima Nova"/>
              </a:endParaRPr>
            </a:p>
          </p:txBody>
        </p:sp>
      </p:grpSp>
      <p:grpSp>
        <p:nvGrpSpPr>
          <p:cNvPr id="218" name="Google Shape;218;p26"/>
          <p:cNvGrpSpPr/>
          <p:nvPr/>
        </p:nvGrpSpPr>
        <p:grpSpPr>
          <a:xfrm>
            <a:off x="1850132" y="1789803"/>
            <a:ext cx="1073100" cy="891600"/>
            <a:chOff x="1752023" y="1714500"/>
            <a:chExt cx="1073100" cy="891600"/>
          </a:xfrm>
        </p:grpSpPr>
        <p:sp>
          <p:nvSpPr>
            <p:cNvPr id="219" name="Google Shape;219;p26"/>
            <p:cNvSpPr/>
            <p:nvPr/>
          </p:nvSpPr>
          <p:spPr>
            <a:xfrm>
              <a:off x="1752023" y="1714500"/>
              <a:ext cx="1073100" cy="891600"/>
            </a:xfrm>
            <a:prstGeom prst="roundRect">
              <a:avLst>
                <a:gd fmla="val 6154" name="adj"/>
              </a:avLst>
            </a:prstGeom>
            <a:solidFill>
              <a:srgbClr val="FDFDFE"/>
            </a:solidFill>
            <a:ln cap="flat" cmpd="sng" w="7150">
              <a:solidFill>
                <a:srgbClr val="DDE3EE"/>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20" name="Google Shape;220;p26"/>
            <p:cNvSpPr txBox="1"/>
            <p:nvPr/>
          </p:nvSpPr>
          <p:spPr>
            <a:xfrm>
              <a:off x="1841177" y="1810512"/>
              <a:ext cx="894900" cy="30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2336"/>
                </a:buClr>
                <a:buSzPts val="900"/>
                <a:buFont typeface="Inter"/>
                <a:buNone/>
              </a:pPr>
              <a:r>
                <a:rPr b="1" i="0" lang="en" sz="900" u="none" cap="none" strike="noStrike">
                  <a:solidFill>
                    <a:srgbClr val="1B2336"/>
                  </a:solidFill>
                  <a:latin typeface="Proxima Nova"/>
                  <a:ea typeface="Proxima Nova"/>
                  <a:cs typeface="Proxima Nova"/>
                  <a:sym typeface="Proxima Nova"/>
                </a:rPr>
                <a:t>2 Mobilize &amp; Align</a:t>
              </a:r>
              <a:endParaRPr i="0" sz="900" u="none" cap="none" strike="noStrike">
                <a:solidFill>
                  <a:schemeClr val="dk1"/>
                </a:solidFill>
                <a:latin typeface="Proxima Nova"/>
                <a:ea typeface="Proxima Nova"/>
                <a:cs typeface="Proxima Nova"/>
                <a:sym typeface="Proxima Nova"/>
              </a:endParaRPr>
            </a:p>
          </p:txBody>
        </p:sp>
        <p:sp>
          <p:nvSpPr>
            <p:cNvPr id="221" name="Google Shape;221;p26"/>
            <p:cNvSpPr txBox="1"/>
            <p:nvPr/>
          </p:nvSpPr>
          <p:spPr>
            <a:xfrm>
              <a:off x="1841177" y="2139696"/>
              <a:ext cx="894900" cy="411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B6475"/>
                </a:buClr>
                <a:buSzPts val="800"/>
                <a:buFont typeface="Inter"/>
                <a:buNone/>
              </a:pPr>
              <a:r>
                <a:rPr i="0" lang="en" sz="800" u="none" cap="none" strike="noStrike">
                  <a:solidFill>
                    <a:srgbClr val="5B6475"/>
                  </a:solidFill>
                  <a:latin typeface="Proxima Nova"/>
                  <a:ea typeface="Proxima Nova"/>
                  <a:cs typeface="Proxima Nova"/>
                  <a:sym typeface="Proxima Nova"/>
                </a:rPr>
                <a:t>Project </a:t>
              </a:r>
              <a:r>
                <a:rPr lang="en" sz="800">
                  <a:solidFill>
                    <a:srgbClr val="5B6475"/>
                  </a:solidFill>
                  <a:latin typeface="Proxima Nova"/>
                  <a:ea typeface="Proxima Nova"/>
                  <a:cs typeface="Proxima Nova"/>
                  <a:sym typeface="Proxima Nova"/>
                </a:rPr>
                <a:t>Success</a:t>
              </a:r>
              <a:r>
                <a:rPr i="0" lang="en" sz="800" u="none" cap="none" strike="noStrike">
                  <a:solidFill>
                    <a:srgbClr val="5B6475"/>
                  </a:solidFill>
                  <a:latin typeface="Proxima Nova"/>
                  <a:ea typeface="Proxima Nova"/>
                  <a:cs typeface="Proxima Nova"/>
                  <a:sym typeface="Proxima Nova"/>
                </a:rPr>
                <a:t> Review</a:t>
              </a:r>
              <a:endParaRPr i="0" sz="800" u="none" cap="none" strike="noStrike">
                <a:solidFill>
                  <a:schemeClr val="dk1"/>
                </a:solidFill>
                <a:latin typeface="Proxima Nova"/>
                <a:ea typeface="Proxima Nova"/>
                <a:cs typeface="Proxima Nova"/>
                <a:sym typeface="Proxima Nova"/>
              </a:endParaRPr>
            </a:p>
          </p:txBody>
        </p:sp>
      </p:grpSp>
      <p:grpSp>
        <p:nvGrpSpPr>
          <p:cNvPr id="222" name="Google Shape;222;p26"/>
          <p:cNvGrpSpPr/>
          <p:nvPr/>
        </p:nvGrpSpPr>
        <p:grpSpPr>
          <a:xfrm>
            <a:off x="3049918" y="1789803"/>
            <a:ext cx="1073100" cy="891600"/>
            <a:chOff x="2893684" y="1714500"/>
            <a:chExt cx="1073100" cy="891600"/>
          </a:xfrm>
        </p:grpSpPr>
        <p:sp>
          <p:nvSpPr>
            <p:cNvPr id="223" name="Google Shape;223;p26"/>
            <p:cNvSpPr/>
            <p:nvPr/>
          </p:nvSpPr>
          <p:spPr>
            <a:xfrm>
              <a:off x="2893684" y="1714500"/>
              <a:ext cx="1073100" cy="891600"/>
            </a:xfrm>
            <a:prstGeom prst="roundRect">
              <a:avLst>
                <a:gd fmla="val 6154" name="adj"/>
              </a:avLst>
            </a:prstGeom>
            <a:solidFill>
              <a:srgbClr val="FDFDFE"/>
            </a:solidFill>
            <a:ln cap="flat" cmpd="sng" w="7150">
              <a:solidFill>
                <a:srgbClr val="DDE3EE"/>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24" name="Google Shape;224;p26"/>
            <p:cNvSpPr txBox="1"/>
            <p:nvPr/>
          </p:nvSpPr>
          <p:spPr>
            <a:xfrm>
              <a:off x="2982838" y="1810512"/>
              <a:ext cx="894900" cy="30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2336"/>
                </a:buClr>
                <a:buSzPts val="900"/>
                <a:buFont typeface="Inter"/>
                <a:buNone/>
              </a:pPr>
              <a:r>
                <a:rPr b="1" i="0" lang="en" sz="900" u="none" cap="none" strike="noStrike">
                  <a:solidFill>
                    <a:srgbClr val="1B2336"/>
                  </a:solidFill>
                  <a:latin typeface="Proxima Nova"/>
                  <a:ea typeface="Proxima Nova"/>
                  <a:cs typeface="Proxima Nova"/>
                  <a:sym typeface="Proxima Nova"/>
                </a:rPr>
                <a:t>3 Discovery</a:t>
              </a:r>
              <a:endParaRPr i="0" sz="900" u="none" cap="none" strike="noStrike">
                <a:solidFill>
                  <a:schemeClr val="dk1"/>
                </a:solidFill>
                <a:latin typeface="Proxima Nova"/>
                <a:ea typeface="Proxima Nova"/>
                <a:cs typeface="Proxima Nova"/>
                <a:sym typeface="Proxima Nova"/>
              </a:endParaRPr>
            </a:p>
          </p:txBody>
        </p:sp>
        <p:sp>
          <p:nvSpPr>
            <p:cNvPr id="225" name="Google Shape;225;p26"/>
            <p:cNvSpPr txBox="1"/>
            <p:nvPr/>
          </p:nvSpPr>
          <p:spPr>
            <a:xfrm>
              <a:off x="2982838" y="2139696"/>
              <a:ext cx="894900" cy="411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B6475"/>
                </a:buClr>
                <a:buSzPts val="800"/>
                <a:buFont typeface="Inter"/>
                <a:buNone/>
              </a:pPr>
              <a:r>
                <a:rPr i="0" lang="en" sz="800" u="none" cap="none" strike="noStrike">
                  <a:solidFill>
                    <a:srgbClr val="5B6475"/>
                  </a:solidFill>
                  <a:latin typeface="Proxima Nova"/>
                  <a:ea typeface="Proxima Nova"/>
                  <a:cs typeface="Proxima Nova"/>
                  <a:sym typeface="Proxima Nova"/>
                </a:rPr>
                <a:t>Requirements, Tech Solution</a:t>
              </a:r>
              <a:r>
                <a:rPr lang="en" sz="800">
                  <a:solidFill>
                    <a:srgbClr val="5B6475"/>
                  </a:solidFill>
                  <a:latin typeface="Proxima Nova"/>
                  <a:ea typeface="Proxima Nova"/>
                  <a:cs typeface="Proxima Nova"/>
                  <a:sym typeface="Proxima Nova"/>
                </a:rPr>
                <a:t>, &amp; Design</a:t>
              </a:r>
              <a:r>
                <a:rPr i="0" lang="en" sz="800" u="none" cap="none" strike="noStrike">
                  <a:solidFill>
                    <a:srgbClr val="5B6475"/>
                  </a:solidFill>
                  <a:latin typeface="Proxima Nova"/>
                  <a:ea typeface="Proxima Nova"/>
                  <a:cs typeface="Proxima Nova"/>
                  <a:sym typeface="Proxima Nova"/>
                </a:rPr>
                <a:t> Review</a:t>
              </a:r>
              <a:endParaRPr i="0" sz="800" u="none" cap="none" strike="noStrike">
                <a:solidFill>
                  <a:schemeClr val="dk1"/>
                </a:solidFill>
                <a:latin typeface="Proxima Nova"/>
                <a:ea typeface="Proxima Nova"/>
                <a:cs typeface="Proxima Nova"/>
                <a:sym typeface="Proxima Nova"/>
              </a:endParaRPr>
            </a:p>
          </p:txBody>
        </p:sp>
      </p:grpSp>
      <p:grpSp>
        <p:nvGrpSpPr>
          <p:cNvPr id="226" name="Google Shape;226;p26"/>
          <p:cNvGrpSpPr/>
          <p:nvPr/>
        </p:nvGrpSpPr>
        <p:grpSpPr>
          <a:xfrm>
            <a:off x="4249704" y="1789803"/>
            <a:ext cx="1073100" cy="891600"/>
            <a:chOff x="4035345" y="1714500"/>
            <a:chExt cx="1073100" cy="891600"/>
          </a:xfrm>
        </p:grpSpPr>
        <p:sp>
          <p:nvSpPr>
            <p:cNvPr id="227" name="Google Shape;227;p26"/>
            <p:cNvSpPr/>
            <p:nvPr/>
          </p:nvSpPr>
          <p:spPr>
            <a:xfrm>
              <a:off x="4035345" y="1714500"/>
              <a:ext cx="1073100" cy="891600"/>
            </a:xfrm>
            <a:prstGeom prst="roundRect">
              <a:avLst>
                <a:gd fmla="val 6154" name="adj"/>
              </a:avLst>
            </a:prstGeom>
            <a:solidFill>
              <a:srgbClr val="FDFDFE"/>
            </a:solidFill>
            <a:ln cap="flat" cmpd="sng" w="7150">
              <a:solidFill>
                <a:srgbClr val="DDE3EE"/>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28" name="Google Shape;228;p26"/>
            <p:cNvSpPr txBox="1"/>
            <p:nvPr/>
          </p:nvSpPr>
          <p:spPr>
            <a:xfrm>
              <a:off x="4124499" y="1810512"/>
              <a:ext cx="894900" cy="30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2336"/>
                </a:buClr>
                <a:buSzPts val="900"/>
                <a:buFont typeface="Inter"/>
                <a:buNone/>
              </a:pPr>
              <a:r>
                <a:rPr b="1" i="0" lang="en" sz="900" u="none" cap="none" strike="noStrike">
                  <a:solidFill>
                    <a:srgbClr val="1B2336"/>
                  </a:solidFill>
                  <a:latin typeface="Proxima Nova"/>
                  <a:ea typeface="Proxima Nova"/>
                  <a:cs typeface="Proxima Nova"/>
                  <a:sym typeface="Proxima Nova"/>
                </a:rPr>
                <a:t>4 Build</a:t>
              </a:r>
              <a:endParaRPr i="0" sz="900" u="none" cap="none" strike="noStrike">
                <a:solidFill>
                  <a:schemeClr val="dk1"/>
                </a:solidFill>
                <a:latin typeface="Proxima Nova"/>
                <a:ea typeface="Proxima Nova"/>
                <a:cs typeface="Proxima Nova"/>
                <a:sym typeface="Proxima Nova"/>
              </a:endParaRPr>
            </a:p>
          </p:txBody>
        </p:sp>
        <p:sp>
          <p:nvSpPr>
            <p:cNvPr id="229" name="Google Shape;229;p26"/>
            <p:cNvSpPr txBox="1"/>
            <p:nvPr/>
          </p:nvSpPr>
          <p:spPr>
            <a:xfrm>
              <a:off x="4124499" y="2139696"/>
              <a:ext cx="894900" cy="411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B6475"/>
                </a:buClr>
                <a:buSzPts val="800"/>
                <a:buFont typeface="Inter"/>
                <a:buNone/>
              </a:pPr>
              <a:r>
                <a:rPr i="0" lang="en" sz="800" u="none" cap="none" strike="noStrike">
                  <a:solidFill>
                    <a:srgbClr val="5B6475"/>
                  </a:solidFill>
                  <a:latin typeface="Proxima Nova"/>
                  <a:ea typeface="Proxima Nova"/>
                  <a:cs typeface="Proxima Nova"/>
                  <a:sym typeface="Proxima Nova"/>
                </a:rPr>
                <a:t>Test Readiness Review</a:t>
              </a:r>
              <a:endParaRPr i="0" sz="800" u="none" cap="none" strike="noStrike">
                <a:solidFill>
                  <a:schemeClr val="dk1"/>
                </a:solidFill>
                <a:latin typeface="Proxima Nova"/>
                <a:ea typeface="Proxima Nova"/>
                <a:cs typeface="Proxima Nova"/>
                <a:sym typeface="Proxima Nova"/>
              </a:endParaRPr>
            </a:p>
          </p:txBody>
        </p:sp>
      </p:grpSp>
      <p:grpSp>
        <p:nvGrpSpPr>
          <p:cNvPr id="230" name="Google Shape;230;p26"/>
          <p:cNvGrpSpPr/>
          <p:nvPr/>
        </p:nvGrpSpPr>
        <p:grpSpPr>
          <a:xfrm>
            <a:off x="5449490" y="1789803"/>
            <a:ext cx="1073100" cy="891600"/>
            <a:chOff x="5177006" y="1714500"/>
            <a:chExt cx="1073100" cy="891600"/>
          </a:xfrm>
        </p:grpSpPr>
        <p:sp>
          <p:nvSpPr>
            <p:cNvPr id="231" name="Google Shape;231;p26"/>
            <p:cNvSpPr/>
            <p:nvPr/>
          </p:nvSpPr>
          <p:spPr>
            <a:xfrm>
              <a:off x="5177006" y="1714500"/>
              <a:ext cx="1073100" cy="891600"/>
            </a:xfrm>
            <a:prstGeom prst="roundRect">
              <a:avLst>
                <a:gd fmla="val 6154" name="adj"/>
              </a:avLst>
            </a:prstGeom>
            <a:solidFill>
              <a:srgbClr val="FDFDFE"/>
            </a:solidFill>
            <a:ln cap="flat" cmpd="sng" w="7150">
              <a:solidFill>
                <a:srgbClr val="DDE3EE"/>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32" name="Google Shape;232;p26"/>
            <p:cNvSpPr txBox="1"/>
            <p:nvPr/>
          </p:nvSpPr>
          <p:spPr>
            <a:xfrm>
              <a:off x="5266160" y="1810512"/>
              <a:ext cx="894900" cy="30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2336"/>
                </a:buClr>
                <a:buSzPts val="900"/>
                <a:buFont typeface="Inter"/>
                <a:buNone/>
              </a:pPr>
              <a:r>
                <a:rPr b="1" i="0" lang="en" sz="900" u="none" cap="none" strike="noStrike">
                  <a:solidFill>
                    <a:srgbClr val="1B2336"/>
                  </a:solidFill>
                  <a:latin typeface="Proxima Nova"/>
                  <a:ea typeface="Proxima Nova"/>
                  <a:cs typeface="Proxima Nova"/>
                  <a:sym typeface="Proxima Nova"/>
                </a:rPr>
                <a:t>5 Validate</a:t>
              </a:r>
              <a:endParaRPr i="0" sz="900" u="none" cap="none" strike="noStrike">
                <a:solidFill>
                  <a:schemeClr val="dk1"/>
                </a:solidFill>
                <a:latin typeface="Proxima Nova"/>
                <a:ea typeface="Proxima Nova"/>
                <a:cs typeface="Proxima Nova"/>
                <a:sym typeface="Proxima Nova"/>
              </a:endParaRPr>
            </a:p>
          </p:txBody>
        </p:sp>
        <p:sp>
          <p:nvSpPr>
            <p:cNvPr id="233" name="Google Shape;233;p26"/>
            <p:cNvSpPr txBox="1"/>
            <p:nvPr/>
          </p:nvSpPr>
          <p:spPr>
            <a:xfrm>
              <a:off x="5266160" y="2139696"/>
              <a:ext cx="894900" cy="411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B6475"/>
                </a:buClr>
                <a:buSzPts val="800"/>
                <a:buFont typeface="Inter"/>
                <a:buNone/>
              </a:pPr>
              <a:r>
                <a:rPr i="0" lang="en" sz="800" u="none" cap="none" strike="noStrike">
                  <a:solidFill>
                    <a:srgbClr val="5B6475"/>
                  </a:solidFill>
                  <a:latin typeface="Proxima Nova"/>
                  <a:ea typeface="Proxima Nova"/>
                  <a:cs typeface="Proxima Nova"/>
                  <a:sym typeface="Proxima Nova"/>
                </a:rPr>
                <a:t>UAT </a:t>
              </a:r>
              <a:endParaRPr i="0" sz="800" u="none" cap="none" strike="noStrike">
                <a:solidFill>
                  <a:schemeClr val="dk1"/>
                </a:solidFill>
                <a:latin typeface="Proxima Nova"/>
                <a:ea typeface="Proxima Nova"/>
                <a:cs typeface="Proxima Nova"/>
                <a:sym typeface="Proxima Nova"/>
              </a:endParaRPr>
            </a:p>
          </p:txBody>
        </p:sp>
      </p:grpSp>
      <p:grpSp>
        <p:nvGrpSpPr>
          <p:cNvPr id="234" name="Google Shape;234;p26"/>
          <p:cNvGrpSpPr/>
          <p:nvPr/>
        </p:nvGrpSpPr>
        <p:grpSpPr>
          <a:xfrm>
            <a:off x="6649276" y="1789803"/>
            <a:ext cx="1073100" cy="891600"/>
            <a:chOff x="6318668" y="1714500"/>
            <a:chExt cx="1073100" cy="891600"/>
          </a:xfrm>
        </p:grpSpPr>
        <p:sp>
          <p:nvSpPr>
            <p:cNvPr id="235" name="Google Shape;235;p26"/>
            <p:cNvSpPr/>
            <p:nvPr/>
          </p:nvSpPr>
          <p:spPr>
            <a:xfrm>
              <a:off x="6318668" y="1714500"/>
              <a:ext cx="1073100" cy="891600"/>
            </a:xfrm>
            <a:prstGeom prst="roundRect">
              <a:avLst>
                <a:gd fmla="val 6154" name="adj"/>
              </a:avLst>
            </a:prstGeom>
            <a:solidFill>
              <a:srgbClr val="FDFDFE"/>
            </a:solidFill>
            <a:ln cap="flat" cmpd="sng" w="7150">
              <a:solidFill>
                <a:srgbClr val="DDE3EE"/>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36" name="Google Shape;236;p26"/>
            <p:cNvSpPr txBox="1"/>
            <p:nvPr/>
          </p:nvSpPr>
          <p:spPr>
            <a:xfrm>
              <a:off x="6407822" y="1810512"/>
              <a:ext cx="894900" cy="30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2336"/>
                </a:buClr>
                <a:buSzPts val="900"/>
                <a:buFont typeface="Inter"/>
                <a:buNone/>
              </a:pPr>
              <a:r>
                <a:rPr b="1" i="0" lang="en" sz="900" u="none" cap="none" strike="noStrike">
                  <a:solidFill>
                    <a:srgbClr val="1B2336"/>
                  </a:solidFill>
                  <a:latin typeface="Proxima Nova"/>
                  <a:ea typeface="Proxima Nova"/>
                  <a:cs typeface="Proxima Nova"/>
                  <a:sym typeface="Proxima Nova"/>
                </a:rPr>
                <a:t>6 Deploy</a:t>
              </a:r>
              <a:endParaRPr i="0" sz="900" u="none" cap="none" strike="noStrike">
                <a:solidFill>
                  <a:schemeClr val="dk1"/>
                </a:solidFill>
                <a:latin typeface="Proxima Nova"/>
                <a:ea typeface="Proxima Nova"/>
                <a:cs typeface="Proxima Nova"/>
                <a:sym typeface="Proxima Nova"/>
              </a:endParaRPr>
            </a:p>
          </p:txBody>
        </p:sp>
        <p:sp>
          <p:nvSpPr>
            <p:cNvPr id="237" name="Google Shape;237;p26"/>
            <p:cNvSpPr txBox="1"/>
            <p:nvPr/>
          </p:nvSpPr>
          <p:spPr>
            <a:xfrm>
              <a:off x="6407822" y="2139696"/>
              <a:ext cx="894900" cy="411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B6475"/>
                </a:buClr>
                <a:buSzPts val="800"/>
                <a:buFont typeface="Inter"/>
                <a:buNone/>
              </a:pPr>
              <a:r>
                <a:rPr i="0" lang="en" sz="800" u="none" cap="none" strike="noStrike">
                  <a:solidFill>
                    <a:srgbClr val="5B6475"/>
                  </a:solidFill>
                  <a:latin typeface="Proxima Nova"/>
                  <a:ea typeface="Proxima Nova"/>
                  <a:cs typeface="Proxima Nova"/>
                  <a:sym typeface="Proxima Nova"/>
                </a:rPr>
                <a:t>Production Readiness Review</a:t>
              </a:r>
              <a:endParaRPr i="0" sz="800" u="none" cap="none" strike="noStrike">
                <a:solidFill>
                  <a:schemeClr val="dk1"/>
                </a:solidFill>
                <a:latin typeface="Proxima Nova"/>
                <a:ea typeface="Proxima Nova"/>
                <a:cs typeface="Proxima Nova"/>
                <a:sym typeface="Proxima Nova"/>
              </a:endParaRPr>
            </a:p>
          </p:txBody>
        </p:sp>
      </p:grpSp>
      <p:grpSp>
        <p:nvGrpSpPr>
          <p:cNvPr id="238" name="Google Shape;238;p26"/>
          <p:cNvGrpSpPr/>
          <p:nvPr/>
        </p:nvGrpSpPr>
        <p:grpSpPr>
          <a:xfrm>
            <a:off x="7849062" y="1789803"/>
            <a:ext cx="1073100" cy="891600"/>
            <a:chOff x="7460328" y="1714500"/>
            <a:chExt cx="1073100" cy="891600"/>
          </a:xfrm>
        </p:grpSpPr>
        <p:sp>
          <p:nvSpPr>
            <p:cNvPr id="239" name="Google Shape;239;p26"/>
            <p:cNvSpPr/>
            <p:nvPr/>
          </p:nvSpPr>
          <p:spPr>
            <a:xfrm>
              <a:off x="7460328" y="1714500"/>
              <a:ext cx="1073100" cy="891600"/>
            </a:xfrm>
            <a:prstGeom prst="roundRect">
              <a:avLst>
                <a:gd fmla="val 6154" name="adj"/>
              </a:avLst>
            </a:prstGeom>
            <a:solidFill>
              <a:srgbClr val="FDFDFE"/>
            </a:solidFill>
            <a:ln cap="flat" cmpd="sng" w="7150">
              <a:solidFill>
                <a:srgbClr val="DDE3EE"/>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40" name="Google Shape;240;p26"/>
            <p:cNvSpPr txBox="1"/>
            <p:nvPr/>
          </p:nvSpPr>
          <p:spPr>
            <a:xfrm>
              <a:off x="7549482" y="1810512"/>
              <a:ext cx="894900" cy="30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2336"/>
                </a:buClr>
                <a:buSzPts val="900"/>
                <a:buFont typeface="Inter"/>
                <a:buNone/>
              </a:pPr>
              <a:r>
                <a:rPr b="1" i="0" lang="en" sz="900" u="none" cap="none" strike="noStrike">
                  <a:solidFill>
                    <a:srgbClr val="1B2336"/>
                  </a:solidFill>
                  <a:latin typeface="Proxima Nova"/>
                  <a:ea typeface="Proxima Nova"/>
                  <a:cs typeface="Proxima Nova"/>
                  <a:sym typeface="Proxima Nova"/>
                </a:rPr>
                <a:t>7 Transition</a:t>
              </a:r>
              <a:endParaRPr i="0" sz="900" u="none" cap="none" strike="noStrike">
                <a:solidFill>
                  <a:schemeClr val="dk1"/>
                </a:solidFill>
                <a:latin typeface="Proxima Nova"/>
                <a:ea typeface="Proxima Nova"/>
                <a:cs typeface="Proxima Nova"/>
                <a:sym typeface="Proxima Nova"/>
              </a:endParaRPr>
            </a:p>
          </p:txBody>
        </p:sp>
        <p:sp>
          <p:nvSpPr>
            <p:cNvPr id="241" name="Google Shape;241;p26"/>
            <p:cNvSpPr txBox="1"/>
            <p:nvPr/>
          </p:nvSpPr>
          <p:spPr>
            <a:xfrm>
              <a:off x="7549482" y="2139696"/>
              <a:ext cx="894900" cy="411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B6475"/>
                </a:buClr>
                <a:buSzPts val="800"/>
                <a:buFont typeface="Inter"/>
                <a:buNone/>
              </a:pPr>
              <a:r>
                <a:rPr i="0" lang="en" sz="800" u="none" cap="none" strike="noStrike">
                  <a:solidFill>
                    <a:srgbClr val="5B6475"/>
                  </a:solidFill>
                  <a:latin typeface="Proxima Nova"/>
                  <a:ea typeface="Proxima Nova"/>
                  <a:cs typeface="Proxima Nova"/>
                  <a:sym typeface="Proxima Nova"/>
                </a:rPr>
                <a:t>Final Acceptance</a:t>
              </a:r>
              <a:endParaRPr i="0" sz="800" u="none" cap="none" strike="noStrike">
                <a:solidFill>
                  <a:schemeClr val="dk1"/>
                </a:solidFill>
                <a:latin typeface="Proxima Nova"/>
                <a:ea typeface="Proxima Nova"/>
                <a:cs typeface="Proxima Nova"/>
                <a:sym typeface="Proxima Nova"/>
              </a:endParaRPr>
            </a:p>
          </p:txBody>
        </p:sp>
      </p:grpSp>
      <p:sp>
        <p:nvSpPr>
          <p:cNvPr id="242" name="Google Shape;242;p26"/>
          <p:cNvSpPr/>
          <p:nvPr/>
        </p:nvSpPr>
        <p:spPr>
          <a:xfrm>
            <a:off x="633776" y="356650"/>
            <a:ext cx="8023800" cy="251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5AAC"/>
              </a:buClr>
              <a:buSzPts val="1200"/>
              <a:buFont typeface="Calibri"/>
              <a:buNone/>
            </a:pPr>
            <a:r>
              <a:rPr b="1" lang="en" sz="900">
                <a:solidFill>
                  <a:srgbClr val="2E5AAC"/>
                </a:solidFill>
                <a:latin typeface="Proxima Nova"/>
                <a:ea typeface="Proxima Nova"/>
                <a:cs typeface="Proxima Nova"/>
                <a:sym typeface="Proxima Nova"/>
              </a:rPr>
              <a:t>DELIVERY LIFECYCLE</a:t>
            </a:r>
            <a:endParaRPr i="0" sz="900" u="none" cap="none" strike="noStrike">
              <a:solidFill>
                <a:srgbClr val="000000"/>
              </a:solidFill>
              <a:latin typeface="Proxima Nova"/>
              <a:ea typeface="Proxima Nova"/>
              <a:cs typeface="Proxima Nova"/>
              <a:sym typeface="Proxima Nova"/>
            </a:endParaRPr>
          </a:p>
        </p:txBody>
      </p:sp>
      <p:sp>
        <p:nvSpPr>
          <p:cNvPr id="243" name="Google Shape;243;p26"/>
          <p:cNvSpPr txBox="1"/>
          <p:nvPr/>
        </p:nvSpPr>
        <p:spPr>
          <a:xfrm>
            <a:off x="610369" y="857250"/>
            <a:ext cx="79233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336"/>
              </a:buClr>
              <a:buSzPts val="2100"/>
              <a:buFont typeface="Inter"/>
              <a:buNone/>
            </a:pPr>
            <a:r>
              <a:rPr b="1" lang="en" sz="2100">
                <a:solidFill>
                  <a:srgbClr val="1B2336"/>
                </a:solidFill>
                <a:latin typeface="Proxima Nova"/>
                <a:ea typeface="Proxima Nova"/>
                <a:cs typeface="Proxima Nova"/>
                <a:sym typeface="Proxima Nova"/>
              </a:rPr>
              <a:t>One governance model, across the whole lifecycle</a:t>
            </a:r>
            <a:endParaRPr i="0" sz="2100" u="none" cap="none" strike="noStrike">
              <a:solidFill>
                <a:schemeClr val="dk1"/>
              </a:solidFill>
              <a:latin typeface="Proxima Nova"/>
              <a:ea typeface="Proxima Nova"/>
              <a:cs typeface="Proxima Nova"/>
              <a:sym typeface="Proxima Nova"/>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 name="Shape 248"/>
        <p:cNvGrpSpPr/>
        <p:nvPr/>
      </p:nvGrpSpPr>
      <p:grpSpPr>
        <a:xfrm>
          <a:off x="0" y="0"/>
          <a:ext cx="0" cy="0"/>
          <a:chOff x="0" y="0"/>
          <a:chExt cx="0" cy="0"/>
        </a:xfrm>
      </p:grpSpPr>
      <p:sp>
        <p:nvSpPr>
          <p:cNvPr id="249" name="Google Shape;249;p27"/>
          <p:cNvSpPr/>
          <p:nvPr/>
        </p:nvSpPr>
        <p:spPr>
          <a:xfrm>
            <a:off x="605613" y="3058200"/>
            <a:ext cx="5486400" cy="20580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6B7280"/>
              </a:buClr>
              <a:buSzPts val="800"/>
              <a:buFont typeface="Arial"/>
              <a:buNone/>
            </a:pPr>
            <a:r>
              <a:rPr b="1" lang="en" sz="800">
                <a:solidFill>
                  <a:srgbClr val="6B7280"/>
                </a:solidFill>
              </a:rPr>
              <a:t>WEEKLY GOVERNANCE RHYTHM</a:t>
            </a:r>
            <a:endParaRPr sz="800">
              <a:solidFill>
                <a:schemeClr val="dk1"/>
              </a:solidFill>
              <a:latin typeface="Calibri"/>
              <a:ea typeface="Calibri"/>
              <a:cs typeface="Calibri"/>
              <a:sym typeface="Calibri"/>
            </a:endParaRPr>
          </a:p>
        </p:txBody>
      </p:sp>
      <p:sp>
        <p:nvSpPr>
          <p:cNvPr id="250" name="Google Shape;250;p27"/>
          <p:cNvSpPr/>
          <p:nvPr/>
        </p:nvSpPr>
        <p:spPr>
          <a:xfrm>
            <a:off x="605613" y="3322233"/>
            <a:ext cx="288000" cy="288000"/>
          </a:xfrm>
          <a:prstGeom prst="ellipse">
            <a:avLst/>
          </a:prstGeom>
          <a:solidFill>
            <a:srgbClr val="183A9E"/>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51" name="Google Shape;251;p27"/>
          <p:cNvSpPr/>
          <p:nvPr/>
        </p:nvSpPr>
        <p:spPr>
          <a:xfrm>
            <a:off x="605613" y="3322233"/>
            <a:ext cx="288000" cy="2880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FFFFFF"/>
              </a:buClr>
              <a:buSzPts val="1100"/>
              <a:buFont typeface="Arial"/>
              <a:buNone/>
            </a:pPr>
            <a:r>
              <a:rPr b="1" lang="en" sz="1100">
                <a:solidFill>
                  <a:srgbClr val="FFFFFF"/>
                </a:solidFill>
                <a:latin typeface="Arial"/>
                <a:ea typeface="Arial"/>
                <a:cs typeface="Arial"/>
                <a:sym typeface="Arial"/>
              </a:rPr>
              <a:t>1</a:t>
            </a:r>
            <a:endParaRPr sz="1100">
              <a:solidFill>
                <a:schemeClr val="dk1"/>
              </a:solidFill>
              <a:latin typeface="Calibri"/>
              <a:ea typeface="Calibri"/>
              <a:cs typeface="Calibri"/>
              <a:sym typeface="Calibri"/>
            </a:endParaRPr>
          </a:p>
        </p:txBody>
      </p:sp>
      <p:sp>
        <p:nvSpPr>
          <p:cNvPr id="252" name="Google Shape;252;p27"/>
          <p:cNvSpPr/>
          <p:nvPr/>
        </p:nvSpPr>
        <p:spPr>
          <a:xfrm>
            <a:off x="982803" y="3322233"/>
            <a:ext cx="1549800" cy="28800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262D3D"/>
              </a:buClr>
              <a:buSzPts val="900"/>
              <a:buFont typeface="Arial"/>
              <a:buNone/>
            </a:pPr>
            <a:r>
              <a:rPr b="1" lang="en" sz="900">
                <a:solidFill>
                  <a:srgbClr val="262D3D"/>
                </a:solidFill>
                <a:latin typeface="Arial"/>
                <a:ea typeface="Arial"/>
                <a:cs typeface="Arial"/>
                <a:sym typeface="Arial"/>
              </a:rPr>
              <a:t>Weekly check-in</a:t>
            </a:r>
            <a:endParaRPr sz="900">
              <a:solidFill>
                <a:schemeClr val="dk1"/>
              </a:solidFill>
              <a:latin typeface="Calibri"/>
              <a:ea typeface="Calibri"/>
              <a:cs typeface="Calibri"/>
              <a:sym typeface="Calibri"/>
            </a:endParaRPr>
          </a:p>
        </p:txBody>
      </p:sp>
      <p:sp>
        <p:nvSpPr>
          <p:cNvPr id="253" name="Google Shape;253;p27"/>
          <p:cNvSpPr/>
          <p:nvPr/>
        </p:nvSpPr>
        <p:spPr>
          <a:xfrm>
            <a:off x="605613" y="3675420"/>
            <a:ext cx="1858500" cy="720000"/>
          </a:xfrm>
          <a:prstGeom prst="rect">
            <a:avLst/>
          </a:prstGeom>
          <a:noFill/>
          <a:ln>
            <a:noFill/>
          </a:ln>
        </p:spPr>
        <p:txBody>
          <a:bodyPr anchorCtr="0" anchor="t" bIns="34275" lIns="68575" spcFirstLastPara="1" rIns="68575" wrap="square" tIns="34275">
            <a:noAutofit/>
          </a:bodyPr>
          <a:lstStyle/>
          <a:p>
            <a:pPr indent="0" lvl="0" marL="0" marR="0" rtl="0" algn="l">
              <a:lnSpc>
                <a:spcPct val="112000"/>
              </a:lnSpc>
              <a:spcBef>
                <a:spcPts val="0"/>
              </a:spcBef>
              <a:spcAft>
                <a:spcPts val="0"/>
              </a:spcAft>
              <a:buClr>
                <a:srgbClr val="6B7280"/>
              </a:buClr>
              <a:buSzPts val="800"/>
              <a:buFont typeface="Arial"/>
              <a:buNone/>
            </a:pPr>
            <a:r>
              <a:rPr lang="en" sz="800">
                <a:solidFill>
                  <a:srgbClr val="6B7280"/>
                </a:solidFill>
              </a:rPr>
              <a:t>The PMO, DM and PM review progress, scope and blockers together.</a:t>
            </a:r>
            <a:endParaRPr sz="800">
              <a:solidFill>
                <a:schemeClr val="dk1"/>
              </a:solidFill>
              <a:latin typeface="Calibri"/>
              <a:ea typeface="Calibri"/>
              <a:cs typeface="Calibri"/>
              <a:sym typeface="Calibri"/>
            </a:endParaRPr>
          </a:p>
        </p:txBody>
      </p:sp>
      <p:sp>
        <p:nvSpPr>
          <p:cNvPr id="254" name="Google Shape;254;p27"/>
          <p:cNvSpPr/>
          <p:nvPr/>
        </p:nvSpPr>
        <p:spPr>
          <a:xfrm>
            <a:off x="2690445" y="3322233"/>
            <a:ext cx="288000" cy="288000"/>
          </a:xfrm>
          <a:prstGeom prst="ellipse">
            <a:avLst/>
          </a:prstGeom>
          <a:solidFill>
            <a:srgbClr val="07947C"/>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55" name="Google Shape;255;p27"/>
          <p:cNvSpPr/>
          <p:nvPr/>
        </p:nvSpPr>
        <p:spPr>
          <a:xfrm>
            <a:off x="2690458" y="3322233"/>
            <a:ext cx="288000" cy="2880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FFFFFF"/>
              </a:buClr>
              <a:buSzPts val="1100"/>
              <a:buFont typeface="Arial"/>
              <a:buNone/>
            </a:pPr>
            <a:r>
              <a:rPr b="1" lang="en" sz="1100">
                <a:solidFill>
                  <a:srgbClr val="FFFFFF"/>
                </a:solidFill>
                <a:latin typeface="Arial"/>
                <a:ea typeface="Arial"/>
                <a:cs typeface="Arial"/>
                <a:sym typeface="Arial"/>
              </a:rPr>
              <a:t>2</a:t>
            </a:r>
            <a:endParaRPr sz="1100">
              <a:solidFill>
                <a:schemeClr val="dk1"/>
              </a:solidFill>
              <a:latin typeface="Calibri"/>
              <a:ea typeface="Calibri"/>
              <a:cs typeface="Calibri"/>
              <a:sym typeface="Calibri"/>
            </a:endParaRPr>
          </a:p>
        </p:txBody>
      </p:sp>
      <p:sp>
        <p:nvSpPr>
          <p:cNvPr id="256" name="Google Shape;256;p27"/>
          <p:cNvSpPr/>
          <p:nvPr/>
        </p:nvSpPr>
        <p:spPr>
          <a:xfrm>
            <a:off x="3067635" y="3322233"/>
            <a:ext cx="1549800" cy="28800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262D3D"/>
              </a:buClr>
              <a:buSzPts val="900"/>
              <a:buFont typeface="Arial"/>
              <a:buNone/>
            </a:pPr>
            <a:r>
              <a:rPr b="1" lang="en" sz="900">
                <a:solidFill>
                  <a:srgbClr val="262D3D"/>
                </a:solidFill>
                <a:latin typeface="Arial"/>
                <a:ea typeface="Arial"/>
                <a:cs typeface="Arial"/>
                <a:sym typeface="Arial"/>
              </a:rPr>
              <a:t>PMO assessment</a:t>
            </a:r>
            <a:endParaRPr sz="900">
              <a:solidFill>
                <a:schemeClr val="dk1"/>
              </a:solidFill>
              <a:latin typeface="Calibri"/>
              <a:ea typeface="Calibri"/>
              <a:cs typeface="Calibri"/>
              <a:sym typeface="Calibri"/>
            </a:endParaRPr>
          </a:p>
        </p:txBody>
      </p:sp>
      <p:sp>
        <p:nvSpPr>
          <p:cNvPr id="257" name="Google Shape;257;p27"/>
          <p:cNvSpPr/>
          <p:nvPr/>
        </p:nvSpPr>
        <p:spPr>
          <a:xfrm>
            <a:off x="2690445" y="3675420"/>
            <a:ext cx="1858500" cy="720000"/>
          </a:xfrm>
          <a:prstGeom prst="rect">
            <a:avLst/>
          </a:prstGeom>
          <a:noFill/>
          <a:ln>
            <a:noFill/>
          </a:ln>
        </p:spPr>
        <p:txBody>
          <a:bodyPr anchorCtr="0" anchor="t" bIns="34275" lIns="68575" spcFirstLastPara="1" rIns="68575" wrap="square" tIns="34275">
            <a:noAutofit/>
          </a:bodyPr>
          <a:lstStyle/>
          <a:p>
            <a:pPr indent="0" lvl="0" marL="0" marR="0" rtl="0" algn="l">
              <a:lnSpc>
                <a:spcPct val="112000"/>
              </a:lnSpc>
              <a:spcBef>
                <a:spcPts val="0"/>
              </a:spcBef>
              <a:spcAft>
                <a:spcPts val="0"/>
              </a:spcAft>
              <a:buClr>
                <a:srgbClr val="6B7280"/>
              </a:buClr>
              <a:buSzPts val="800"/>
              <a:buFont typeface="Arial"/>
              <a:buNone/>
            </a:pPr>
            <a:r>
              <a:rPr lang="en" sz="800">
                <a:solidFill>
                  <a:srgbClr val="6B7280"/>
                </a:solidFill>
              </a:rPr>
              <a:t>The PMO independently issues the project’s health rating and drafts the weekly status report.</a:t>
            </a:r>
            <a:endParaRPr sz="800">
              <a:solidFill>
                <a:srgbClr val="6B7280"/>
              </a:solidFill>
            </a:endParaRPr>
          </a:p>
        </p:txBody>
      </p:sp>
      <p:sp>
        <p:nvSpPr>
          <p:cNvPr id="258" name="Google Shape;258;p27"/>
          <p:cNvSpPr/>
          <p:nvPr/>
        </p:nvSpPr>
        <p:spPr>
          <a:xfrm>
            <a:off x="4775277" y="3322233"/>
            <a:ext cx="288000" cy="288000"/>
          </a:xfrm>
          <a:prstGeom prst="ellipse">
            <a:avLst/>
          </a:prstGeom>
          <a:solidFill>
            <a:srgbClr val="183A9E"/>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59" name="Google Shape;259;p27"/>
          <p:cNvSpPr/>
          <p:nvPr/>
        </p:nvSpPr>
        <p:spPr>
          <a:xfrm>
            <a:off x="4775277" y="3322233"/>
            <a:ext cx="288000" cy="2880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FFFFFF"/>
              </a:buClr>
              <a:buSzPts val="1100"/>
              <a:buFont typeface="Arial"/>
              <a:buNone/>
            </a:pPr>
            <a:r>
              <a:rPr b="1" lang="en" sz="1100">
                <a:solidFill>
                  <a:srgbClr val="FFFFFF"/>
                </a:solidFill>
                <a:latin typeface="Arial"/>
                <a:ea typeface="Arial"/>
                <a:cs typeface="Arial"/>
                <a:sym typeface="Arial"/>
              </a:rPr>
              <a:t>3</a:t>
            </a:r>
            <a:endParaRPr sz="1100">
              <a:solidFill>
                <a:schemeClr val="dk1"/>
              </a:solidFill>
              <a:latin typeface="Calibri"/>
              <a:ea typeface="Calibri"/>
              <a:cs typeface="Calibri"/>
              <a:sym typeface="Calibri"/>
            </a:endParaRPr>
          </a:p>
        </p:txBody>
      </p:sp>
      <p:sp>
        <p:nvSpPr>
          <p:cNvPr id="260" name="Google Shape;260;p27"/>
          <p:cNvSpPr/>
          <p:nvPr/>
        </p:nvSpPr>
        <p:spPr>
          <a:xfrm>
            <a:off x="5152467" y="3322233"/>
            <a:ext cx="1549800" cy="28800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262D3D"/>
              </a:buClr>
              <a:buSzPts val="900"/>
              <a:buFont typeface="Arial"/>
              <a:buNone/>
            </a:pPr>
            <a:r>
              <a:rPr b="1" lang="en" sz="900">
                <a:solidFill>
                  <a:srgbClr val="262D3D"/>
                </a:solidFill>
              </a:rPr>
              <a:t>Reality, impact, fix</a:t>
            </a:r>
            <a:endParaRPr b="1" sz="900">
              <a:solidFill>
                <a:srgbClr val="262D3D"/>
              </a:solidFill>
            </a:endParaRPr>
          </a:p>
        </p:txBody>
      </p:sp>
      <p:sp>
        <p:nvSpPr>
          <p:cNvPr id="261" name="Google Shape;261;p27"/>
          <p:cNvSpPr/>
          <p:nvPr/>
        </p:nvSpPr>
        <p:spPr>
          <a:xfrm>
            <a:off x="4775277" y="3675420"/>
            <a:ext cx="1858500" cy="720000"/>
          </a:xfrm>
          <a:prstGeom prst="rect">
            <a:avLst/>
          </a:prstGeom>
          <a:noFill/>
          <a:ln>
            <a:noFill/>
          </a:ln>
        </p:spPr>
        <p:txBody>
          <a:bodyPr anchorCtr="0" anchor="t" bIns="34275" lIns="68575" spcFirstLastPara="1" rIns="68575" wrap="square" tIns="34275">
            <a:noAutofit/>
          </a:bodyPr>
          <a:lstStyle/>
          <a:p>
            <a:pPr indent="0" lvl="0" marL="0" marR="0" rtl="0" algn="l">
              <a:lnSpc>
                <a:spcPct val="112000"/>
              </a:lnSpc>
              <a:spcBef>
                <a:spcPts val="0"/>
              </a:spcBef>
              <a:spcAft>
                <a:spcPts val="0"/>
              </a:spcAft>
              <a:buClr>
                <a:srgbClr val="6B7280"/>
              </a:buClr>
              <a:buSzPts val="800"/>
              <a:buFont typeface="Arial"/>
              <a:buNone/>
            </a:pPr>
            <a:r>
              <a:rPr lang="en" sz="800">
                <a:solidFill>
                  <a:srgbClr val="6B7280"/>
                </a:solidFill>
              </a:rPr>
              <a:t>PMO gives the DM and PM what's really happening, what it means, and how we're fixing it.</a:t>
            </a:r>
            <a:endParaRPr sz="800">
              <a:solidFill>
                <a:srgbClr val="6B7280"/>
              </a:solidFill>
            </a:endParaRPr>
          </a:p>
        </p:txBody>
      </p:sp>
      <p:sp>
        <p:nvSpPr>
          <p:cNvPr id="262" name="Google Shape;262;p27"/>
          <p:cNvSpPr/>
          <p:nvPr/>
        </p:nvSpPr>
        <p:spPr>
          <a:xfrm>
            <a:off x="6860109" y="3322233"/>
            <a:ext cx="288000" cy="288000"/>
          </a:xfrm>
          <a:prstGeom prst="ellipse">
            <a:avLst/>
          </a:prstGeom>
          <a:solidFill>
            <a:srgbClr val="183A9E"/>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63" name="Google Shape;263;p27"/>
          <p:cNvSpPr/>
          <p:nvPr/>
        </p:nvSpPr>
        <p:spPr>
          <a:xfrm>
            <a:off x="6860109" y="3322233"/>
            <a:ext cx="288000" cy="2880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FFFFFF"/>
              </a:buClr>
              <a:buSzPts val="1100"/>
              <a:buFont typeface="Arial"/>
              <a:buNone/>
            </a:pPr>
            <a:r>
              <a:rPr b="1" lang="en" sz="1100">
                <a:solidFill>
                  <a:srgbClr val="FFFFFF"/>
                </a:solidFill>
                <a:latin typeface="Arial"/>
                <a:ea typeface="Arial"/>
                <a:cs typeface="Arial"/>
                <a:sym typeface="Arial"/>
              </a:rPr>
              <a:t>4</a:t>
            </a:r>
            <a:endParaRPr sz="1100">
              <a:solidFill>
                <a:schemeClr val="dk1"/>
              </a:solidFill>
              <a:latin typeface="Calibri"/>
              <a:ea typeface="Calibri"/>
              <a:cs typeface="Calibri"/>
              <a:sym typeface="Calibri"/>
            </a:endParaRPr>
          </a:p>
        </p:txBody>
      </p:sp>
      <p:sp>
        <p:nvSpPr>
          <p:cNvPr id="264" name="Google Shape;264;p27"/>
          <p:cNvSpPr/>
          <p:nvPr/>
        </p:nvSpPr>
        <p:spPr>
          <a:xfrm>
            <a:off x="7237299" y="3322233"/>
            <a:ext cx="1549800" cy="28800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262D3D"/>
              </a:buClr>
              <a:buSzPts val="900"/>
              <a:buFont typeface="Arial"/>
              <a:buNone/>
            </a:pPr>
            <a:r>
              <a:rPr b="1" lang="en" sz="900">
                <a:solidFill>
                  <a:srgbClr val="262D3D"/>
                </a:solidFill>
              </a:rPr>
              <a:t>Client Informed </a:t>
            </a:r>
            <a:endParaRPr sz="900">
              <a:solidFill>
                <a:schemeClr val="dk1"/>
              </a:solidFill>
              <a:latin typeface="Calibri"/>
              <a:ea typeface="Calibri"/>
              <a:cs typeface="Calibri"/>
              <a:sym typeface="Calibri"/>
            </a:endParaRPr>
          </a:p>
        </p:txBody>
      </p:sp>
      <p:sp>
        <p:nvSpPr>
          <p:cNvPr id="265" name="Google Shape;265;p27"/>
          <p:cNvSpPr/>
          <p:nvPr/>
        </p:nvSpPr>
        <p:spPr>
          <a:xfrm>
            <a:off x="6860109" y="3675420"/>
            <a:ext cx="1858500" cy="720000"/>
          </a:xfrm>
          <a:prstGeom prst="rect">
            <a:avLst/>
          </a:prstGeom>
          <a:noFill/>
          <a:ln>
            <a:noFill/>
          </a:ln>
        </p:spPr>
        <p:txBody>
          <a:bodyPr anchorCtr="0" anchor="t" bIns="34275" lIns="68575" spcFirstLastPara="1" rIns="68575" wrap="square" tIns="34275">
            <a:noAutofit/>
          </a:bodyPr>
          <a:lstStyle/>
          <a:p>
            <a:pPr indent="0" lvl="0" marL="0" marR="0" rtl="0" algn="l">
              <a:lnSpc>
                <a:spcPct val="112000"/>
              </a:lnSpc>
              <a:spcBef>
                <a:spcPts val="0"/>
              </a:spcBef>
              <a:spcAft>
                <a:spcPts val="0"/>
              </a:spcAft>
              <a:buClr>
                <a:srgbClr val="6B7280"/>
              </a:buClr>
              <a:buSzPts val="800"/>
              <a:buFont typeface="Arial"/>
              <a:buNone/>
            </a:pPr>
            <a:r>
              <a:rPr lang="en" sz="800">
                <a:solidFill>
                  <a:srgbClr val="6B7280"/>
                </a:solidFill>
              </a:rPr>
              <a:t>The DM leads the delivery response with the client. Bad news arrives early, with a plan attached.</a:t>
            </a:r>
            <a:endParaRPr sz="800">
              <a:solidFill>
                <a:srgbClr val="6B7280"/>
              </a:solidFill>
            </a:endParaRPr>
          </a:p>
        </p:txBody>
      </p:sp>
      <p:sp>
        <p:nvSpPr>
          <p:cNvPr id="266" name="Google Shape;266;p27"/>
          <p:cNvSpPr/>
          <p:nvPr/>
        </p:nvSpPr>
        <p:spPr>
          <a:xfrm>
            <a:off x="2226493" y="3784946"/>
            <a:ext cx="237600" cy="237600"/>
          </a:xfrm>
          <a:prstGeom prst="rightArrow">
            <a:avLst>
              <a:gd fmla="val 50000" name="adj1"/>
              <a:gd fmla="val 50000" name="adj2"/>
            </a:avLst>
          </a:prstGeom>
          <a:solidFill>
            <a:srgbClr val="A9B3C7"/>
          </a:solidFill>
          <a:ln cap="flat" cmpd="sng" w="12700">
            <a:solidFill>
              <a:srgbClr val="A9B3C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27"/>
          <p:cNvSpPr/>
          <p:nvPr/>
        </p:nvSpPr>
        <p:spPr>
          <a:xfrm>
            <a:off x="4477482" y="3784946"/>
            <a:ext cx="237600" cy="237600"/>
          </a:xfrm>
          <a:prstGeom prst="rightArrow">
            <a:avLst>
              <a:gd fmla="val 50000" name="adj1"/>
              <a:gd fmla="val 50000" name="adj2"/>
            </a:avLst>
          </a:prstGeom>
          <a:solidFill>
            <a:srgbClr val="A9B3C7"/>
          </a:solidFill>
          <a:ln cap="flat" cmpd="sng" w="12700">
            <a:solidFill>
              <a:srgbClr val="A9B3C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p27"/>
          <p:cNvSpPr/>
          <p:nvPr/>
        </p:nvSpPr>
        <p:spPr>
          <a:xfrm>
            <a:off x="6622518" y="3784946"/>
            <a:ext cx="237600" cy="237600"/>
          </a:xfrm>
          <a:prstGeom prst="rightArrow">
            <a:avLst>
              <a:gd fmla="val 50000" name="adj1"/>
              <a:gd fmla="val 50000" name="adj2"/>
            </a:avLst>
          </a:prstGeom>
          <a:solidFill>
            <a:srgbClr val="A9B3C7"/>
          </a:solidFill>
          <a:ln cap="flat" cmpd="sng" w="12700">
            <a:solidFill>
              <a:srgbClr val="A9B3C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 name="Google Shape;269;p27"/>
          <p:cNvSpPr/>
          <p:nvPr/>
        </p:nvSpPr>
        <p:spPr>
          <a:xfrm>
            <a:off x="542901" y="1409545"/>
            <a:ext cx="4114800" cy="20580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6B7280"/>
              </a:buClr>
              <a:buSzPts val="800"/>
              <a:buFont typeface="Arial"/>
              <a:buNone/>
            </a:pPr>
            <a:r>
              <a:rPr b="1" lang="en" sz="800">
                <a:solidFill>
                  <a:srgbClr val="6B7280"/>
                </a:solidFill>
              </a:rPr>
              <a:t>30 MINUTES  ·  WEEKLY  ·  ALL THREE ROLES</a:t>
            </a:r>
            <a:endParaRPr b="1" sz="800">
              <a:solidFill>
                <a:srgbClr val="6B7280"/>
              </a:solidFill>
            </a:endParaRPr>
          </a:p>
        </p:txBody>
      </p:sp>
      <p:sp>
        <p:nvSpPr>
          <p:cNvPr id="270" name="Google Shape;270;p27"/>
          <p:cNvSpPr/>
          <p:nvPr/>
        </p:nvSpPr>
        <p:spPr>
          <a:xfrm>
            <a:off x="535838" y="1701241"/>
            <a:ext cx="2709000" cy="1166100"/>
          </a:xfrm>
          <a:prstGeom prst="roundRect">
            <a:avLst>
              <a:gd fmla="val 3529" name="adj"/>
            </a:avLst>
          </a:prstGeom>
          <a:solidFill>
            <a:srgbClr val="F3F3F3"/>
          </a:solidFill>
          <a:ln cap="flat" cmpd="sng" w="9525">
            <a:solidFill>
              <a:srgbClr val="D9DEE8"/>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71" name="Google Shape;271;p27"/>
          <p:cNvSpPr/>
          <p:nvPr/>
        </p:nvSpPr>
        <p:spPr>
          <a:xfrm>
            <a:off x="686714" y="1804111"/>
            <a:ext cx="2407200" cy="24000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F256E"/>
              </a:buClr>
              <a:buSzPts val="1000"/>
              <a:buFont typeface="Arial"/>
              <a:buNone/>
            </a:pPr>
            <a:r>
              <a:rPr b="1" lang="en" sz="1000">
                <a:solidFill>
                  <a:srgbClr val="0F256E"/>
                </a:solidFill>
                <a:latin typeface="Arial"/>
                <a:ea typeface="Arial"/>
                <a:cs typeface="Arial"/>
                <a:sym typeface="Arial"/>
              </a:rPr>
              <a:t>Talent PM</a:t>
            </a:r>
            <a:endParaRPr sz="1000">
              <a:solidFill>
                <a:schemeClr val="dk1"/>
              </a:solidFill>
              <a:latin typeface="Calibri"/>
              <a:ea typeface="Calibri"/>
              <a:cs typeface="Calibri"/>
              <a:sym typeface="Calibri"/>
            </a:endParaRPr>
          </a:p>
        </p:txBody>
      </p:sp>
      <p:sp>
        <p:nvSpPr>
          <p:cNvPr id="272" name="Google Shape;272;p27"/>
          <p:cNvSpPr/>
          <p:nvPr/>
        </p:nvSpPr>
        <p:spPr>
          <a:xfrm>
            <a:off x="686714" y="2078431"/>
            <a:ext cx="2407200" cy="685800"/>
          </a:xfrm>
          <a:prstGeom prst="rect">
            <a:avLst/>
          </a:prstGeom>
          <a:noFill/>
          <a:ln>
            <a:noFill/>
          </a:ln>
        </p:spPr>
        <p:txBody>
          <a:bodyPr anchorCtr="0" anchor="t" bIns="34275" lIns="68575" spcFirstLastPara="1" rIns="68575" wrap="square" tIns="34275">
            <a:noAutofit/>
          </a:bodyPr>
          <a:lstStyle/>
          <a:p>
            <a:pPr indent="0" lvl="0" marL="0" marR="0" rtl="0" algn="l">
              <a:lnSpc>
                <a:spcPct val="112000"/>
              </a:lnSpc>
              <a:spcBef>
                <a:spcPts val="0"/>
              </a:spcBef>
              <a:spcAft>
                <a:spcPts val="0"/>
              </a:spcAft>
              <a:buClr>
                <a:srgbClr val="262D3D"/>
              </a:buClr>
              <a:buSzPts val="900"/>
              <a:buFont typeface="Arial"/>
              <a:buNone/>
            </a:pPr>
            <a:r>
              <a:rPr lang="en" sz="900">
                <a:solidFill>
                  <a:srgbClr val="262D3D"/>
                </a:solidFill>
                <a:latin typeface="Arial"/>
                <a:ea typeface="Arial"/>
                <a:cs typeface="Arial"/>
                <a:sym typeface="Arial"/>
              </a:rPr>
              <a:t>Plan, milestones, dependencies, decisions, actions, acceptance evidence — current as of the meeting.</a:t>
            </a:r>
            <a:endParaRPr sz="900">
              <a:solidFill>
                <a:schemeClr val="dk1"/>
              </a:solidFill>
              <a:latin typeface="Calibri"/>
              <a:ea typeface="Calibri"/>
              <a:cs typeface="Calibri"/>
              <a:sym typeface="Calibri"/>
            </a:endParaRPr>
          </a:p>
        </p:txBody>
      </p:sp>
      <p:sp>
        <p:nvSpPr>
          <p:cNvPr id="273" name="Google Shape;273;p27"/>
          <p:cNvSpPr/>
          <p:nvPr/>
        </p:nvSpPr>
        <p:spPr>
          <a:xfrm>
            <a:off x="3340760" y="1701241"/>
            <a:ext cx="2709000" cy="1166100"/>
          </a:xfrm>
          <a:prstGeom prst="roundRect">
            <a:avLst>
              <a:gd fmla="val 3529" name="adj"/>
            </a:avLst>
          </a:prstGeom>
          <a:solidFill>
            <a:srgbClr val="F3F3F3"/>
          </a:solidFill>
          <a:ln cap="flat" cmpd="sng" w="9525">
            <a:solidFill>
              <a:srgbClr val="D9DEE8"/>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74" name="Google Shape;274;p27"/>
          <p:cNvSpPr/>
          <p:nvPr/>
        </p:nvSpPr>
        <p:spPr>
          <a:xfrm>
            <a:off x="3491636" y="1804111"/>
            <a:ext cx="2407200" cy="24000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F256E"/>
              </a:buClr>
              <a:buSzPts val="1000"/>
              <a:buFont typeface="Arial"/>
              <a:buNone/>
            </a:pPr>
            <a:r>
              <a:rPr b="1" lang="en" sz="1000">
                <a:solidFill>
                  <a:srgbClr val="0F256E"/>
                </a:solidFill>
                <a:latin typeface="Arial"/>
                <a:ea typeface="Arial"/>
                <a:cs typeface="Arial"/>
                <a:sym typeface="Arial"/>
              </a:rPr>
              <a:t>Delivery Manager</a:t>
            </a:r>
            <a:endParaRPr sz="1000">
              <a:solidFill>
                <a:schemeClr val="dk1"/>
              </a:solidFill>
              <a:latin typeface="Calibri"/>
              <a:ea typeface="Calibri"/>
              <a:cs typeface="Calibri"/>
              <a:sym typeface="Calibri"/>
            </a:endParaRPr>
          </a:p>
        </p:txBody>
      </p:sp>
      <p:sp>
        <p:nvSpPr>
          <p:cNvPr id="275" name="Google Shape;275;p27"/>
          <p:cNvSpPr/>
          <p:nvPr/>
        </p:nvSpPr>
        <p:spPr>
          <a:xfrm>
            <a:off x="3491636" y="2078431"/>
            <a:ext cx="2407200" cy="685800"/>
          </a:xfrm>
          <a:prstGeom prst="rect">
            <a:avLst/>
          </a:prstGeom>
          <a:noFill/>
          <a:ln>
            <a:noFill/>
          </a:ln>
        </p:spPr>
        <p:txBody>
          <a:bodyPr anchorCtr="0" anchor="t" bIns="34275" lIns="68575" spcFirstLastPara="1" rIns="68575" wrap="square" tIns="34275">
            <a:noAutofit/>
          </a:bodyPr>
          <a:lstStyle/>
          <a:p>
            <a:pPr indent="0" lvl="0" marL="0" marR="0" rtl="0" algn="l">
              <a:lnSpc>
                <a:spcPct val="112000"/>
              </a:lnSpc>
              <a:spcBef>
                <a:spcPts val="0"/>
              </a:spcBef>
              <a:spcAft>
                <a:spcPts val="0"/>
              </a:spcAft>
              <a:buClr>
                <a:srgbClr val="262D3D"/>
              </a:buClr>
              <a:buSzPts val="900"/>
              <a:buFont typeface="Arial"/>
              <a:buNone/>
            </a:pPr>
            <a:r>
              <a:rPr lang="en" sz="900">
                <a:solidFill>
                  <a:srgbClr val="262D3D"/>
                </a:solidFill>
                <a:latin typeface="Arial"/>
                <a:ea typeface="Arial"/>
                <a:cs typeface="Arial"/>
                <a:sym typeface="Arial"/>
              </a:rPr>
              <a:t>Client signal: perception, expectation gaps, change on the horizon, decisions pending.</a:t>
            </a:r>
            <a:endParaRPr sz="900">
              <a:solidFill>
                <a:schemeClr val="dk1"/>
              </a:solidFill>
              <a:latin typeface="Calibri"/>
              <a:ea typeface="Calibri"/>
              <a:cs typeface="Calibri"/>
              <a:sym typeface="Calibri"/>
            </a:endParaRPr>
          </a:p>
        </p:txBody>
      </p:sp>
      <p:sp>
        <p:nvSpPr>
          <p:cNvPr id="276" name="Google Shape;276;p27"/>
          <p:cNvSpPr/>
          <p:nvPr/>
        </p:nvSpPr>
        <p:spPr>
          <a:xfrm>
            <a:off x="6145682" y="1701241"/>
            <a:ext cx="2709000" cy="1166100"/>
          </a:xfrm>
          <a:prstGeom prst="roundRect">
            <a:avLst>
              <a:gd fmla="val 3529" name="adj"/>
            </a:avLst>
          </a:prstGeom>
          <a:solidFill>
            <a:srgbClr val="F3F3F3"/>
          </a:solidFill>
          <a:ln cap="flat" cmpd="sng" w="9525">
            <a:solidFill>
              <a:srgbClr val="D9DEE8"/>
            </a:solidFill>
            <a:prstDash val="solid"/>
            <a:round/>
            <a:headEnd len="sm" w="sm" type="none"/>
            <a:tailEnd len="sm" w="sm" type="none"/>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77" name="Google Shape;277;p27"/>
          <p:cNvSpPr/>
          <p:nvPr/>
        </p:nvSpPr>
        <p:spPr>
          <a:xfrm>
            <a:off x="6296558" y="1804111"/>
            <a:ext cx="2407200" cy="24000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F256E"/>
              </a:buClr>
              <a:buSzPts val="1000"/>
              <a:buFont typeface="Arial"/>
              <a:buNone/>
            </a:pPr>
            <a:r>
              <a:rPr b="1" lang="en" sz="1000">
                <a:solidFill>
                  <a:srgbClr val="0F256E"/>
                </a:solidFill>
                <a:latin typeface="Arial"/>
                <a:ea typeface="Arial"/>
                <a:cs typeface="Arial"/>
                <a:sym typeface="Arial"/>
              </a:rPr>
              <a:t>PMO</a:t>
            </a:r>
            <a:endParaRPr sz="1000">
              <a:solidFill>
                <a:schemeClr val="dk1"/>
              </a:solidFill>
              <a:latin typeface="Calibri"/>
              <a:ea typeface="Calibri"/>
              <a:cs typeface="Calibri"/>
              <a:sym typeface="Calibri"/>
            </a:endParaRPr>
          </a:p>
        </p:txBody>
      </p:sp>
      <p:sp>
        <p:nvSpPr>
          <p:cNvPr id="278" name="Google Shape;278;p27"/>
          <p:cNvSpPr/>
          <p:nvPr/>
        </p:nvSpPr>
        <p:spPr>
          <a:xfrm>
            <a:off x="6296558" y="2078431"/>
            <a:ext cx="2407200" cy="685800"/>
          </a:xfrm>
          <a:prstGeom prst="rect">
            <a:avLst/>
          </a:prstGeom>
          <a:noFill/>
          <a:ln>
            <a:noFill/>
          </a:ln>
        </p:spPr>
        <p:txBody>
          <a:bodyPr anchorCtr="0" anchor="t" bIns="34275" lIns="68575" spcFirstLastPara="1" rIns="68575" wrap="square" tIns="34275">
            <a:noAutofit/>
          </a:bodyPr>
          <a:lstStyle/>
          <a:p>
            <a:pPr indent="0" lvl="0" marL="0" marR="0" rtl="0" algn="l">
              <a:lnSpc>
                <a:spcPct val="112000"/>
              </a:lnSpc>
              <a:spcBef>
                <a:spcPts val="0"/>
              </a:spcBef>
              <a:spcAft>
                <a:spcPts val="0"/>
              </a:spcAft>
              <a:buClr>
                <a:srgbClr val="262D3D"/>
              </a:buClr>
              <a:buSzPts val="900"/>
              <a:buFont typeface="Arial"/>
              <a:buNone/>
            </a:pPr>
            <a:r>
              <a:rPr lang="en" sz="900">
                <a:solidFill>
                  <a:srgbClr val="262D3D"/>
                </a:solidFill>
                <a:latin typeface="Arial"/>
                <a:ea typeface="Arial"/>
                <a:cs typeface="Arial"/>
                <a:sym typeface="Arial"/>
              </a:rPr>
              <a:t>Baseline variance, burn, margin position, and the open escalation set.</a:t>
            </a:r>
            <a:endParaRPr sz="900">
              <a:solidFill>
                <a:schemeClr val="dk1"/>
              </a:solidFill>
              <a:latin typeface="Calibri"/>
              <a:ea typeface="Calibri"/>
              <a:cs typeface="Calibri"/>
              <a:sym typeface="Calibri"/>
            </a:endParaRPr>
          </a:p>
        </p:txBody>
      </p:sp>
      <p:sp>
        <p:nvSpPr>
          <p:cNvPr id="279" name="Google Shape;279;p27"/>
          <p:cNvSpPr/>
          <p:nvPr/>
        </p:nvSpPr>
        <p:spPr>
          <a:xfrm>
            <a:off x="633776" y="356650"/>
            <a:ext cx="8023800" cy="251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5AAC"/>
              </a:buClr>
              <a:buSzPts val="1200"/>
              <a:buFont typeface="Calibri"/>
              <a:buNone/>
            </a:pPr>
            <a:r>
              <a:rPr b="1" lang="en" sz="900">
                <a:solidFill>
                  <a:srgbClr val="2E5AAC"/>
                </a:solidFill>
                <a:latin typeface="Proxima Nova"/>
                <a:ea typeface="Proxima Nova"/>
                <a:cs typeface="Proxima Nova"/>
                <a:sym typeface="Proxima Nova"/>
              </a:rPr>
              <a:t>DELIVERY LIFECYCLE</a:t>
            </a:r>
            <a:endParaRPr i="0" sz="900" u="none" cap="none" strike="noStrike">
              <a:solidFill>
                <a:srgbClr val="000000"/>
              </a:solidFill>
              <a:latin typeface="Proxima Nova"/>
              <a:ea typeface="Proxima Nova"/>
              <a:cs typeface="Proxima Nova"/>
              <a:sym typeface="Proxima Nova"/>
            </a:endParaRPr>
          </a:p>
        </p:txBody>
      </p:sp>
      <p:sp>
        <p:nvSpPr>
          <p:cNvPr id="280" name="Google Shape;280;p27"/>
          <p:cNvSpPr txBox="1"/>
          <p:nvPr/>
        </p:nvSpPr>
        <p:spPr>
          <a:xfrm>
            <a:off x="610369" y="857250"/>
            <a:ext cx="79233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336"/>
              </a:buClr>
              <a:buSzPts val="2100"/>
              <a:buFont typeface="Inter"/>
              <a:buNone/>
            </a:pPr>
            <a:r>
              <a:rPr b="1" lang="en" sz="2100">
                <a:solidFill>
                  <a:srgbClr val="1B2336"/>
                </a:solidFill>
                <a:latin typeface="Proxima Nova"/>
                <a:ea typeface="Proxima Nova"/>
                <a:cs typeface="Proxima Nova"/>
                <a:sym typeface="Proxima Nova"/>
              </a:rPr>
              <a:t>The weekly governance check-in</a:t>
            </a:r>
            <a:endParaRPr i="0" sz="2100" u="none" cap="none" strike="noStrike">
              <a:solidFill>
                <a:schemeClr val="dk1"/>
              </a:solidFill>
              <a:latin typeface="Proxima Nova"/>
              <a:ea typeface="Proxima Nova"/>
              <a:cs typeface="Proxima Nova"/>
              <a:sym typeface="Proxima Nova"/>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28"/>
          <p:cNvSpPr txBox="1"/>
          <p:nvPr/>
        </p:nvSpPr>
        <p:spPr>
          <a:xfrm>
            <a:off x="610369" y="857250"/>
            <a:ext cx="7923300" cy="685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1B2336"/>
              </a:buClr>
              <a:buSzPts val="2100"/>
              <a:buFont typeface="Inter"/>
              <a:buNone/>
            </a:pPr>
            <a:r>
              <a:rPr b="1" lang="en" sz="2100">
                <a:solidFill>
                  <a:srgbClr val="1B2336"/>
                </a:solidFill>
                <a:latin typeface="Proxima Nova"/>
                <a:ea typeface="Proxima Nova"/>
                <a:cs typeface="Proxima Nova"/>
                <a:sym typeface="Proxima Nova"/>
              </a:rPr>
              <a:t>Scenarios: requests and blockers </a:t>
            </a:r>
            <a:endParaRPr sz="2100">
              <a:solidFill>
                <a:schemeClr val="dk1"/>
              </a:solidFill>
              <a:latin typeface="Proxima Nova"/>
              <a:ea typeface="Proxima Nova"/>
              <a:cs typeface="Proxima Nova"/>
              <a:sym typeface="Proxima Nova"/>
            </a:endParaRPr>
          </a:p>
          <a:p>
            <a:pPr indent="0" lvl="0" marL="0" marR="0" rtl="0" algn="l">
              <a:lnSpc>
                <a:spcPct val="100000"/>
              </a:lnSpc>
              <a:spcBef>
                <a:spcPts val="0"/>
              </a:spcBef>
              <a:spcAft>
                <a:spcPts val="0"/>
              </a:spcAft>
              <a:buClr>
                <a:srgbClr val="1B2336"/>
              </a:buClr>
              <a:buSzPts val="2100"/>
              <a:buFont typeface="Inter"/>
              <a:buNone/>
            </a:pPr>
            <a:r>
              <a:t/>
            </a:r>
            <a:endParaRPr b="1" sz="2100">
              <a:solidFill>
                <a:srgbClr val="1B2336"/>
              </a:solidFill>
              <a:latin typeface="Proxima Nova"/>
              <a:ea typeface="Proxima Nova"/>
              <a:cs typeface="Proxima Nova"/>
              <a:sym typeface="Proxima Nova"/>
            </a:endParaRPr>
          </a:p>
        </p:txBody>
      </p:sp>
      <p:sp>
        <p:nvSpPr>
          <p:cNvPr id="286" name="Google Shape;286;p28"/>
          <p:cNvSpPr/>
          <p:nvPr/>
        </p:nvSpPr>
        <p:spPr>
          <a:xfrm>
            <a:off x="633776" y="356650"/>
            <a:ext cx="8023800" cy="251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5AAC"/>
              </a:buClr>
              <a:buSzPts val="1200"/>
              <a:buFont typeface="Calibri"/>
              <a:buNone/>
            </a:pPr>
            <a:r>
              <a:rPr b="1" lang="en" sz="900">
                <a:solidFill>
                  <a:srgbClr val="2E5AAC"/>
                </a:solidFill>
                <a:latin typeface="Proxima Nova"/>
                <a:ea typeface="Proxima Nova"/>
                <a:cs typeface="Proxima Nova"/>
                <a:sym typeface="Proxima Nova"/>
              </a:rPr>
              <a:t>DECISION RIGHTS IN PRACTICE</a:t>
            </a:r>
            <a:endParaRPr i="0" sz="900" u="none" cap="none" strike="noStrike">
              <a:solidFill>
                <a:srgbClr val="000000"/>
              </a:solidFill>
              <a:latin typeface="Proxima Nova"/>
              <a:ea typeface="Proxima Nova"/>
              <a:cs typeface="Proxima Nova"/>
              <a:sym typeface="Proxima Nova"/>
            </a:endParaRPr>
          </a:p>
        </p:txBody>
      </p:sp>
      <p:sp>
        <p:nvSpPr>
          <p:cNvPr id="287" name="Google Shape;287;p28"/>
          <p:cNvSpPr/>
          <p:nvPr/>
        </p:nvSpPr>
        <p:spPr>
          <a:xfrm>
            <a:off x="610350" y="1525630"/>
            <a:ext cx="2540400" cy="2478600"/>
          </a:xfrm>
          <a:prstGeom prst="roundRect">
            <a:avLst>
              <a:gd fmla="val 2540" name="adj"/>
            </a:avLst>
          </a:prstGeom>
          <a:solidFill>
            <a:srgbClr val="FDFDFE"/>
          </a:solidFill>
          <a:ln cap="flat" cmpd="sng" w="7150">
            <a:solidFill>
              <a:srgbClr val="DDE3EE"/>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88" name="Google Shape;288;p28"/>
          <p:cNvSpPr txBox="1"/>
          <p:nvPr/>
        </p:nvSpPr>
        <p:spPr>
          <a:xfrm>
            <a:off x="781812" y="2264036"/>
            <a:ext cx="2197500" cy="20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04ECF"/>
              </a:buClr>
              <a:buSzPts val="900"/>
              <a:buFont typeface="Inter"/>
              <a:buNone/>
            </a:pPr>
            <a:r>
              <a:rPr b="1" lang="en" sz="900">
                <a:solidFill>
                  <a:srgbClr val="204ECF"/>
                </a:solidFill>
                <a:latin typeface="Proxima Nova"/>
                <a:ea typeface="Proxima Nova"/>
                <a:cs typeface="Proxima Nova"/>
                <a:sym typeface="Proxima Nova"/>
              </a:rPr>
              <a:t>WHAT YOU DO</a:t>
            </a:r>
            <a:endParaRPr i="0" sz="900" u="none" cap="none" strike="noStrike">
              <a:solidFill>
                <a:schemeClr val="dk1"/>
              </a:solidFill>
              <a:latin typeface="Proxima Nova"/>
              <a:ea typeface="Proxima Nova"/>
              <a:cs typeface="Proxima Nova"/>
              <a:sym typeface="Proxima Nova"/>
            </a:endParaRPr>
          </a:p>
        </p:txBody>
      </p:sp>
      <p:sp>
        <p:nvSpPr>
          <p:cNvPr id="289" name="Google Shape;289;p28"/>
          <p:cNvSpPr txBox="1"/>
          <p:nvPr/>
        </p:nvSpPr>
        <p:spPr>
          <a:xfrm>
            <a:off x="781800" y="1646299"/>
            <a:ext cx="2197500" cy="514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2336"/>
              </a:buClr>
              <a:buSzPts val="1100"/>
              <a:buFont typeface="Inter"/>
              <a:buNone/>
            </a:pPr>
            <a:r>
              <a:rPr b="1" lang="en" sz="1100">
                <a:solidFill>
                  <a:srgbClr val="1B2336"/>
                </a:solidFill>
                <a:latin typeface="Proxima Nova"/>
                <a:ea typeface="Proxima Nova"/>
                <a:cs typeface="Proxima Nova"/>
                <a:sym typeface="Proxima Nova"/>
              </a:rPr>
              <a:t>“While you’re in there, can </a:t>
            </a:r>
            <a:r>
              <a:rPr b="1" lang="en" sz="1100">
                <a:solidFill>
                  <a:srgbClr val="1B2336"/>
                </a:solidFill>
                <a:latin typeface="Proxima Nova"/>
                <a:ea typeface="Proxima Nova"/>
                <a:cs typeface="Proxima Nova"/>
                <a:sym typeface="Proxima Nova"/>
              </a:rPr>
              <a:t>you</a:t>
            </a:r>
            <a:r>
              <a:rPr b="1" lang="en" sz="1100">
                <a:solidFill>
                  <a:srgbClr val="1B2336"/>
                </a:solidFill>
                <a:latin typeface="Proxima Nova"/>
                <a:ea typeface="Proxima Nova"/>
                <a:cs typeface="Proxima Nova"/>
                <a:sym typeface="Proxima Nova"/>
              </a:rPr>
              <a:t> add one more report?</a:t>
            </a:r>
            <a:endParaRPr i="0" sz="1100" u="none" cap="none" strike="noStrike">
              <a:solidFill>
                <a:schemeClr val="dk1"/>
              </a:solidFill>
              <a:latin typeface="Proxima Nova"/>
              <a:ea typeface="Proxima Nova"/>
              <a:cs typeface="Proxima Nova"/>
              <a:sym typeface="Proxima Nova"/>
            </a:endParaRPr>
          </a:p>
        </p:txBody>
      </p:sp>
      <p:sp>
        <p:nvSpPr>
          <p:cNvPr id="290" name="Google Shape;290;p28"/>
          <p:cNvSpPr txBox="1"/>
          <p:nvPr/>
        </p:nvSpPr>
        <p:spPr>
          <a:xfrm>
            <a:off x="781812" y="2529669"/>
            <a:ext cx="2197500" cy="7887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B6475"/>
              </a:buClr>
              <a:buSzPts val="900"/>
              <a:buFont typeface="Inter"/>
              <a:buNone/>
            </a:pPr>
            <a:r>
              <a:rPr lang="en" sz="900">
                <a:solidFill>
                  <a:srgbClr val="5B6475"/>
                </a:solidFill>
                <a:latin typeface="Proxima Nova"/>
                <a:ea typeface="Proxima Nova"/>
                <a:cs typeface="Proxima Nova"/>
                <a:sym typeface="Proxima Nova"/>
              </a:rPr>
              <a:t>Acknowledge the request without committing. Update the RAID log, check the ask </a:t>
            </a:r>
            <a:r>
              <a:rPr lang="en" sz="900">
                <a:solidFill>
                  <a:srgbClr val="5B6475"/>
                </a:solidFill>
                <a:latin typeface="Proxima Nova"/>
                <a:ea typeface="Proxima Nova"/>
                <a:cs typeface="Proxima Nova"/>
                <a:sym typeface="Proxima Nova"/>
              </a:rPr>
              <a:t>against</a:t>
            </a:r>
            <a:r>
              <a:rPr lang="en" sz="900">
                <a:solidFill>
                  <a:srgbClr val="5B6475"/>
                </a:solidFill>
                <a:latin typeface="Proxima Nova"/>
                <a:ea typeface="Proxima Nova"/>
                <a:cs typeface="Proxima Nova"/>
                <a:sym typeface="Proxima Nova"/>
              </a:rPr>
              <a:t> the contract scope, and assess effort and schedule impact. </a:t>
            </a:r>
            <a:endParaRPr i="0" sz="900" u="none" cap="none" strike="noStrike">
              <a:solidFill>
                <a:schemeClr val="dk1"/>
              </a:solidFill>
              <a:latin typeface="Proxima Nova"/>
              <a:ea typeface="Proxima Nova"/>
              <a:cs typeface="Proxima Nova"/>
              <a:sym typeface="Proxima Nova"/>
            </a:endParaRPr>
          </a:p>
        </p:txBody>
      </p:sp>
      <p:sp>
        <p:nvSpPr>
          <p:cNvPr id="291" name="Google Shape;291;p28"/>
          <p:cNvSpPr/>
          <p:nvPr/>
        </p:nvSpPr>
        <p:spPr>
          <a:xfrm>
            <a:off x="747522" y="3352629"/>
            <a:ext cx="2266200" cy="514500"/>
          </a:xfrm>
          <a:prstGeom prst="roundRect">
            <a:avLst>
              <a:gd fmla="val 8000" name="adj"/>
            </a:avLst>
          </a:prstGeom>
          <a:solidFill>
            <a:srgbClr val="EAEFF8"/>
          </a:solidFill>
          <a:ln cap="flat" cmpd="sng" w="9525">
            <a:solidFill>
              <a:srgbClr val="EAEFF8"/>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sz="1100">
              <a:latin typeface="Proxima Nova"/>
              <a:ea typeface="Proxima Nova"/>
              <a:cs typeface="Proxima Nova"/>
              <a:sym typeface="Proxima Nova"/>
            </a:endParaRPr>
          </a:p>
        </p:txBody>
      </p:sp>
      <p:sp>
        <p:nvSpPr>
          <p:cNvPr id="292" name="Google Shape;292;p28"/>
          <p:cNvSpPr txBox="1"/>
          <p:nvPr/>
        </p:nvSpPr>
        <p:spPr>
          <a:xfrm>
            <a:off x="850392" y="3352629"/>
            <a:ext cx="2060400" cy="5145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1B2336"/>
              </a:buClr>
              <a:buSzPts val="900"/>
              <a:buFont typeface="Inter"/>
              <a:buNone/>
            </a:pPr>
            <a:r>
              <a:rPr b="1" lang="en" sz="900">
                <a:solidFill>
                  <a:srgbClr val="1B2336"/>
                </a:solidFill>
                <a:latin typeface="Proxima Nova"/>
                <a:ea typeface="Proxima Nova"/>
                <a:cs typeface="Proxima Nova"/>
                <a:sym typeface="Proxima Nova"/>
              </a:rPr>
              <a:t>Engage Toptal.</a:t>
            </a:r>
            <a:r>
              <a:rPr lang="en" sz="900">
                <a:solidFill>
                  <a:srgbClr val="1B2336"/>
                </a:solidFill>
                <a:latin typeface="Proxima Nova"/>
                <a:ea typeface="Proxima Nova"/>
                <a:cs typeface="Proxima Nova"/>
                <a:sym typeface="Proxima Nova"/>
              </a:rPr>
              <a:t> Schedule time with the DM and PMO to discuss path forward.</a:t>
            </a:r>
            <a:endParaRPr i="0" sz="900" u="none" cap="none" strike="noStrike">
              <a:solidFill>
                <a:schemeClr val="dk1"/>
              </a:solidFill>
              <a:latin typeface="Proxima Nova"/>
              <a:ea typeface="Proxima Nova"/>
              <a:cs typeface="Proxima Nova"/>
              <a:sym typeface="Proxima Nova"/>
            </a:endParaRPr>
          </a:p>
        </p:txBody>
      </p:sp>
      <p:sp>
        <p:nvSpPr>
          <p:cNvPr id="293" name="Google Shape;293;p28"/>
          <p:cNvSpPr/>
          <p:nvPr/>
        </p:nvSpPr>
        <p:spPr>
          <a:xfrm>
            <a:off x="3301661" y="1525630"/>
            <a:ext cx="2540400" cy="2478600"/>
          </a:xfrm>
          <a:prstGeom prst="roundRect">
            <a:avLst>
              <a:gd fmla="val 2540" name="adj"/>
            </a:avLst>
          </a:prstGeom>
          <a:solidFill>
            <a:srgbClr val="FDFDFE"/>
          </a:solidFill>
          <a:ln cap="flat" cmpd="sng" w="7150">
            <a:solidFill>
              <a:srgbClr val="DDE3EE"/>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94" name="Google Shape;294;p28"/>
          <p:cNvSpPr txBox="1"/>
          <p:nvPr/>
        </p:nvSpPr>
        <p:spPr>
          <a:xfrm>
            <a:off x="3473120" y="2264036"/>
            <a:ext cx="2197500" cy="20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04ECF"/>
              </a:buClr>
              <a:buSzPts val="900"/>
              <a:buFont typeface="Inter"/>
              <a:buNone/>
            </a:pPr>
            <a:r>
              <a:rPr b="1" lang="en" sz="900">
                <a:solidFill>
                  <a:srgbClr val="204ECF"/>
                </a:solidFill>
                <a:latin typeface="Proxima Nova"/>
                <a:ea typeface="Proxima Nova"/>
                <a:cs typeface="Proxima Nova"/>
                <a:sym typeface="Proxima Nova"/>
              </a:rPr>
              <a:t>WHAT YOU DO</a:t>
            </a:r>
            <a:endParaRPr i="0" sz="900" u="none" cap="none" strike="noStrike">
              <a:solidFill>
                <a:schemeClr val="dk1"/>
              </a:solidFill>
              <a:latin typeface="Proxima Nova"/>
              <a:ea typeface="Proxima Nova"/>
              <a:cs typeface="Proxima Nova"/>
              <a:sym typeface="Proxima Nova"/>
            </a:endParaRPr>
          </a:p>
        </p:txBody>
      </p:sp>
      <p:sp>
        <p:nvSpPr>
          <p:cNvPr id="295" name="Google Shape;295;p28"/>
          <p:cNvSpPr txBox="1"/>
          <p:nvPr/>
        </p:nvSpPr>
        <p:spPr>
          <a:xfrm>
            <a:off x="3473120" y="2529669"/>
            <a:ext cx="2197500" cy="7887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B6475"/>
              </a:buClr>
              <a:buSzPts val="900"/>
              <a:buFont typeface="Inter"/>
              <a:buNone/>
            </a:pPr>
            <a:r>
              <a:rPr lang="en" sz="900">
                <a:solidFill>
                  <a:srgbClr val="5B6475"/>
                </a:solidFill>
                <a:latin typeface="Proxima Nova"/>
                <a:ea typeface="Proxima Nova"/>
                <a:cs typeface="Proxima Nova"/>
                <a:sym typeface="Proxima Nova"/>
              </a:rPr>
              <a:t>Log the blocker in the RAID log. Do not swap the contracted outcome for a workaround or other activity to be productive or charge time.</a:t>
            </a:r>
            <a:endParaRPr i="0" sz="900" u="none" cap="none" strike="noStrike">
              <a:solidFill>
                <a:schemeClr val="dk1"/>
              </a:solidFill>
              <a:latin typeface="Proxima Nova"/>
              <a:ea typeface="Proxima Nova"/>
              <a:cs typeface="Proxima Nova"/>
              <a:sym typeface="Proxima Nova"/>
            </a:endParaRPr>
          </a:p>
        </p:txBody>
      </p:sp>
      <p:sp>
        <p:nvSpPr>
          <p:cNvPr id="296" name="Google Shape;296;p28"/>
          <p:cNvSpPr/>
          <p:nvPr/>
        </p:nvSpPr>
        <p:spPr>
          <a:xfrm>
            <a:off x="3438830" y="3352629"/>
            <a:ext cx="2266200" cy="514500"/>
          </a:xfrm>
          <a:prstGeom prst="roundRect">
            <a:avLst>
              <a:gd fmla="val 8000" name="adj"/>
            </a:avLst>
          </a:prstGeom>
          <a:solidFill>
            <a:srgbClr val="EAEFF8"/>
          </a:solidFill>
          <a:ln cap="flat" cmpd="sng" w="9525">
            <a:solidFill>
              <a:srgbClr val="EAEFF8"/>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sz="1100">
              <a:latin typeface="Proxima Nova"/>
              <a:ea typeface="Proxima Nova"/>
              <a:cs typeface="Proxima Nova"/>
              <a:sym typeface="Proxima Nova"/>
            </a:endParaRPr>
          </a:p>
        </p:txBody>
      </p:sp>
      <p:sp>
        <p:nvSpPr>
          <p:cNvPr id="297" name="Google Shape;297;p28"/>
          <p:cNvSpPr txBox="1"/>
          <p:nvPr/>
        </p:nvSpPr>
        <p:spPr>
          <a:xfrm>
            <a:off x="3541700" y="3352629"/>
            <a:ext cx="2060400" cy="5145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1B2336"/>
              </a:buClr>
              <a:buSzPts val="900"/>
              <a:buFont typeface="Inter"/>
              <a:buNone/>
            </a:pPr>
            <a:r>
              <a:rPr b="1" lang="en" sz="900">
                <a:solidFill>
                  <a:srgbClr val="1B2336"/>
                </a:solidFill>
                <a:latin typeface="Proxima Nova"/>
                <a:ea typeface="Proxima Nova"/>
                <a:cs typeface="Proxima Nova"/>
                <a:sym typeface="Proxima Nova"/>
              </a:rPr>
              <a:t>Engage Toptal. </a:t>
            </a:r>
            <a:r>
              <a:rPr lang="en" sz="900">
                <a:solidFill>
                  <a:srgbClr val="1B2336"/>
                </a:solidFill>
                <a:latin typeface="Proxima Nova"/>
                <a:ea typeface="Proxima Nova"/>
                <a:cs typeface="Proxima Nova"/>
                <a:sym typeface="Proxima Nova"/>
              </a:rPr>
              <a:t>Escalate to the DM and PMO if the block persists &gt; 2 days</a:t>
            </a:r>
            <a:r>
              <a:rPr i="0" lang="en" sz="900" u="none" cap="none" strike="noStrike">
                <a:solidFill>
                  <a:srgbClr val="1B2336"/>
                </a:solidFill>
                <a:latin typeface="Proxima Nova"/>
                <a:ea typeface="Proxima Nova"/>
                <a:cs typeface="Proxima Nova"/>
                <a:sym typeface="Proxima Nova"/>
              </a:rPr>
              <a:t>. No workaround </a:t>
            </a:r>
            <a:r>
              <a:rPr lang="en" sz="900">
                <a:solidFill>
                  <a:srgbClr val="1B2336"/>
                </a:solidFill>
                <a:latin typeface="Proxima Nova"/>
                <a:ea typeface="Proxima Nova"/>
                <a:cs typeface="Proxima Nova"/>
                <a:sym typeface="Proxima Nova"/>
              </a:rPr>
              <a:t>that</a:t>
            </a:r>
            <a:r>
              <a:rPr i="0" lang="en" sz="900" u="none" cap="none" strike="noStrike">
                <a:solidFill>
                  <a:srgbClr val="1B2336"/>
                </a:solidFill>
                <a:latin typeface="Proxima Nova"/>
                <a:ea typeface="Proxima Nova"/>
                <a:cs typeface="Proxima Nova"/>
                <a:sym typeface="Proxima Nova"/>
              </a:rPr>
              <a:t> changes the approach.</a:t>
            </a:r>
            <a:endParaRPr i="0" sz="900" u="none" cap="none" strike="noStrike">
              <a:solidFill>
                <a:schemeClr val="dk1"/>
              </a:solidFill>
              <a:latin typeface="Proxima Nova"/>
              <a:ea typeface="Proxima Nova"/>
              <a:cs typeface="Proxima Nova"/>
              <a:sym typeface="Proxima Nova"/>
            </a:endParaRPr>
          </a:p>
        </p:txBody>
      </p:sp>
      <p:sp>
        <p:nvSpPr>
          <p:cNvPr id="298" name="Google Shape;298;p28"/>
          <p:cNvSpPr/>
          <p:nvPr/>
        </p:nvSpPr>
        <p:spPr>
          <a:xfrm>
            <a:off x="5992972" y="1525630"/>
            <a:ext cx="2540400" cy="2478600"/>
          </a:xfrm>
          <a:prstGeom prst="roundRect">
            <a:avLst>
              <a:gd fmla="val 2540" name="adj"/>
            </a:avLst>
          </a:prstGeom>
          <a:solidFill>
            <a:srgbClr val="FDFDFE"/>
          </a:solidFill>
          <a:ln cap="flat" cmpd="sng" w="7150">
            <a:solidFill>
              <a:srgbClr val="DDE3EE"/>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99" name="Google Shape;299;p28"/>
          <p:cNvSpPr txBox="1"/>
          <p:nvPr/>
        </p:nvSpPr>
        <p:spPr>
          <a:xfrm>
            <a:off x="6164428" y="2264036"/>
            <a:ext cx="2197500" cy="20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04ECF"/>
              </a:buClr>
              <a:buSzPts val="900"/>
              <a:buFont typeface="Inter"/>
              <a:buNone/>
            </a:pPr>
            <a:r>
              <a:rPr b="1" lang="en" sz="900">
                <a:solidFill>
                  <a:srgbClr val="204ECF"/>
                </a:solidFill>
                <a:latin typeface="Proxima Nova"/>
                <a:ea typeface="Proxima Nova"/>
                <a:cs typeface="Proxima Nova"/>
                <a:sym typeface="Proxima Nova"/>
              </a:rPr>
              <a:t>WHAT YOU DO</a:t>
            </a:r>
            <a:endParaRPr i="0" sz="900" u="none" cap="none" strike="noStrike">
              <a:solidFill>
                <a:schemeClr val="dk1"/>
              </a:solidFill>
              <a:latin typeface="Proxima Nova"/>
              <a:ea typeface="Proxima Nova"/>
              <a:cs typeface="Proxima Nova"/>
              <a:sym typeface="Proxima Nova"/>
            </a:endParaRPr>
          </a:p>
        </p:txBody>
      </p:sp>
      <p:sp>
        <p:nvSpPr>
          <p:cNvPr id="300" name="Google Shape;300;p28"/>
          <p:cNvSpPr txBox="1"/>
          <p:nvPr/>
        </p:nvSpPr>
        <p:spPr>
          <a:xfrm>
            <a:off x="6164428" y="2529669"/>
            <a:ext cx="2197500" cy="7887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B6475"/>
              </a:buClr>
              <a:buSzPts val="900"/>
              <a:buFont typeface="Inter"/>
              <a:buNone/>
            </a:pPr>
            <a:r>
              <a:rPr lang="en" sz="900">
                <a:solidFill>
                  <a:srgbClr val="5B6475"/>
                </a:solidFill>
                <a:latin typeface="Proxima Nova"/>
                <a:ea typeface="Proxima Nova"/>
                <a:cs typeface="Proxima Nova"/>
                <a:sym typeface="Proxima Nova"/>
              </a:rPr>
              <a:t>Thank the sponsor but redirect to the project scope. Update the RAID log. </a:t>
            </a:r>
            <a:endParaRPr i="0" sz="900" u="none" cap="none" strike="noStrike">
              <a:solidFill>
                <a:schemeClr val="dk1"/>
              </a:solidFill>
              <a:latin typeface="Proxima Nova"/>
              <a:ea typeface="Proxima Nova"/>
              <a:cs typeface="Proxima Nova"/>
              <a:sym typeface="Proxima Nova"/>
            </a:endParaRPr>
          </a:p>
        </p:txBody>
      </p:sp>
      <p:sp>
        <p:nvSpPr>
          <p:cNvPr id="301" name="Google Shape;301;p28"/>
          <p:cNvSpPr/>
          <p:nvPr/>
        </p:nvSpPr>
        <p:spPr>
          <a:xfrm>
            <a:off x="6130138" y="3352629"/>
            <a:ext cx="2266200" cy="514500"/>
          </a:xfrm>
          <a:prstGeom prst="roundRect">
            <a:avLst>
              <a:gd fmla="val 8000" name="adj"/>
            </a:avLst>
          </a:prstGeom>
          <a:solidFill>
            <a:srgbClr val="EAEFF8"/>
          </a:solidFill>
          <a:ln cap="flat" cmpd="sng" w="9525">
            <a:solidFill>
              <a:srgbClr val="EAEFF8"/>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sz="1100">
              <a:latin typeface="Proxima Nova"/>
              <a:ea typeface="Proxima Nova"/>
              <a:cs typeface="Proxima Nova"/>
              <a:sym typeface="Proxima Nova"/>
            </a:endParaRPr>
          </a:p>
        </p:txBody>
      </p:sp>
      <p:sp>
        <p:nvSpPr>
          <p:cNvPr id="302" name="Google Shape;302;p28"/>
          <p:cNvSpPr txBox="1"/>
          <p:nvPr/>
        </p:nvSpPr>
        <p:spPr>
          <a:xfrm>
            <a:off x="6233008" y="3352629"/>
            <a:ext cx="2060400" cy="5145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1B2336"/>
              </a:buClr>
              <a:buSzPts val="900"/>
              <a:buFont typeface="Inter"/>
              <a:buNone/>
            </a:pPr>
            <a:r>
              <a:rPr b="1" lang="en" sz="900">
                <a:solidFill>
                  <a:srgbClr val="1B2336"/>
                </a:solidFill>
                <a:latin typeface="Proxima Nova"/>
                <a:ea typeface="Proxima Nova"/>
                <a:cs typeface="Proxima Nova"/>
                <a:sym typeface="Proxima Nova"/>
              </a:rPr>
              <a:t>Engage Toptal.</a:t>
            </a:r>
            <a:r>
              <a:rPr b="1" i="0" lang="en" sz="900" u="none" cap="none" strike="noStrike">
                <a:solidFill>
                  <a:srgbClr val="1B2336"/>
                </a:solidFill>
                <a:latin typeface="Proxima Nova"/>
                <a:ea typeface="Proxima Nova"/>
                <a:cs typeface="Proxima Nova"/>
                <a:sym typeface="Proxima Nova"/>
              </a:rPr>
              <a:t> </a:t>
            </a:r>
            <a:r>
              <a:rPr lang="en" sz="900">
                <a:solidFill>
                  <a:srgbClr val="1B2336"/>
                </a:solidFill>
                <a:latin typeface="Proxima Nova"/>
                <a:ea typeface="Proxima Nova"/>
                <a:cs typeface="Proxima Nova"/>
                <a:sym typeface="Proxima Nova"/>
              </a:rPr>
              <a:t>Inform the DM who routes it to the Account Team if it is a new opportunity.</a:t>
            </a:r>
            <a:endParaRPr i="0" sz="900" u="none" cap="none" strike="noStrike">
              <a:solidFill>
                <a:schemeClr val="dk1"/>
              </a:solidFill>
              <a:latin typeface="Proxima Nova"/>
              <a:ea typeface="Proxima Nova"/>
              <a:cs typeface="Proxima Nova"/>
              <a:sym typeface="Proxima Nova"/>
            </a:endParaRPr>
          </a:p>
        </p:txBody>
      </p:sp>
      <p:sp>
        <p:nvSpPr>
          <p:cNvPr id="303" name="Google Shape;303;p28"/>
          <p:cNvSpPr txBox="1"/>
          <p:nvPr/>
        </p:nvSpPr>
        <p:spPr>
          <a:xfrm>
            <a:off x="3473113" y="1646299"/>
            <a:ext cx="2197500" cy="514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2336"/>
              </a:buClr>
              <a:buSzPts val="1100"/>
              <a:buFont typeface="Inter"/>
              <a:buNone/>
            </a:pPr>
            <a:r>
              <a:rPr b="1" lang="en" sz="1100">
                <a:solidFill>
                  <a:srgbClr val="1B2336"/>
                </a:solidFill>
                <a:latin typeface="Proxima Nova"/>
                <a:ea typeface="Proxima Nova"/>
                <a:cs typeface="Proxima Nova"/>
                <a:sym typeface="Proxima Nova"/>
              </a:rPr>
              <a:t>Day 3, still no environment access. The team offers to start in Toptal’s own environment.</a:t>
            </a:r>
            <a:endParaRPr i="0" sz="1100" u="none" cap="none" strike="noStrike">
              <a:solidFill>
                <a:schemeClr val="dk1"/>
              </a:solidFill>
              <a:latin typeface="Proxima Nova"/>
              <a:ea typeface="Proxima Nova"/>
              <a:cs typeface="Proxima Nova"/>
              <a:sym typeface="Proxima Nova"/>
            </a:endParaRPr>
          </a:p>
        </p:txBody>
      </p:sp>
      <p:sp>
        <p:nvSpPr>
          <p:cNvPr id="304" name="Google Shape;304;p28"/>
          <p:cNvSpPr txBox="1"/>
          <p:nvPr/>
        </p:nvSpPr>
        <p:spPr>
          <a:xfrm>
            <a:off x="6164400" y="1646299"/>
            <a:ext cx="2197500" cy="514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2336"/>
              </a:buClr>
              <a:buSzPts val="1100"/>
              <a:buFont typeface="Inter"/>
              <a:buNone/>
            </a:pPr>
            <a:r>
              <a:rPr b="1" lang="en" sz="1100">
                <a:solidFill>
                  <a:srgbClr val="1B2336"/>
                </a:solidFill>
                <a:latin typeface="Proxima Nova"/>
                <a:ea typeface="Proxima Nova"/>
                <a:cs typeface="Proxima Nova"/>
                <a:sym typeface="Proxima Nova"/>
              </a:rPr>
              <a:t>A client sponsor starts assigning the team work on another initiative.</a:t>
            </a:r>
            <a:endParaRPr i="0" sz="1100" u="none" cap="none" strike="noStrike">
              <a:solidFill>
                <a:schemeClr val="dk1"/>
              </a:solidFill>
              <a:latin typeface="Proxima Nova"/>
              <a:ea typeface="Proxima Nova"/>
              <a:cs typeface="Proxima Nova"/>
              <a:sym typeface="Proxima Nova"/>
            </a:endParaRPr>
          </a:p>
        </p:txBody>
      </p:sp>
      <p:sp>
        <p:nvSpPr>
          <p:cNvPr id="305" name="Google Shape;305;p28"/>
          <p:cNvSpPr/>
          <p:nvPr/>
        </p:nvSpPr>
        <p:spPr>
          <a:xfrm>
            <a:off x="610362" y="4199820"/>
            <a:ext cx="7923300" cy="480300"/>
          </a:xfrm>
          <a:prstGeom prst="roundRect">
            <a:avLst>
              <a:gd fmla="val 11429" name="adj"/>
            </a:avLst>
          </a:prstGeom>
          <a:solidFill>
            <a:srgbClr val="0F256E"/>
          </a:solidFill>
          <a:ln cap="flat" cmpd="sng" w="9525">
            <a:solidFill>
              <a:srgbClr val="0F256E"/>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06" name="Google Shape;306;p28"/>
          <p:cNvSpPr/>
          <p:nvPr/>
        </p:nvSpPr>
        <p:spPr>
          <a:xfrm>
            <a:off x="816102" y="4288974"/>
            <a:ext cx="41100" cy="301800"/>
          </a:xfrm>
          <a:prstGeom prst="rect">
            <a:avLst/>
          </a:prstGeom>
          <a:solidFill>
            <a:srgbClr val="00CC83"/>
          </a:solidFill>
          <a:ln cap="flat" cmpd="sng" w="9525">
            <a:solidFill>
              <a:srgbClr val="00CC83"/>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sz="1100">
              <a:latin typeface="Proxima Nova"/>
              <a:ea typeface="Proxima Nova"/>
              <a:cs typeface="Proxima Nova"/>
              <a:sym typeface="Proxima Nova"/>
            </a:endParaRPr>
          </a:p>
        </p:txBody>
      </p:sp>
      <p:sp>
        <p:nvSpPr>
          <p:cNvPr id="307" name="Google Shape;307;p28"/>
          <p:cNvSpPr txBox="1"/>
          <p:nvPr/>
        </p:nvSpPr>
        <p:spPr>
          <a:xfrm>
            <a:off x="987550" y="4199825"/>
            <a:ext cx="7545900" cy="480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6FB"/>
              </a:buClr>
              <a:buSzPts val="1100"/>
              <a:buFont typeface="Inter"/>
              <a:buNone/>
            </a:pPr>
            <a:r>
              <a:rPr lang="en" sz="1100">
                <a:solidFill>
                  <a:srgbClr val="F4F6FB"/>
                </a:solidFill>
                <a:latin typeface="Proxima Nova"/>
                <a:ea typeface="Proxima Nova"/>
                <a:cs typeface="Proxima Nova"/>
                <a:sym typeface="Proxima Nova"/>
              </a:rPr>
              <a:t>To keep commitments consistent, if a decision changes what Toptal delivers, when (dates), effort, or project team roles, </a:t>
            </a:r>
            <a:r>
              <a:rPr b="1" lang="en" sz="1100">
                <a:solidFill>
                  <a:srgbClr val="F4F6FB"/>
                </a:solidFill>
                <a:latin typeface="Proxima Nova"/>
                <a:ea typeface="Proxima Nova"/>
                <a:cs typeface="Proxima Nova"/>
                <a:sym typeface="Proxima Nova"/>
              </a:rPr>
              <a:t>engage the DM and PMO</a:t>
            </a:r>
            <a:r>
              <a:rPr lang="en" sz="1100">
                <a:solidFill>
                  <a:srgbClr val="F4F6FB"/>
                </a:solidFill>
                <a:latin typeface="Proxima Nova"/>
                <a:ea typeface="Proxima Nova"/>
                <a:cs typeface="Proxima Nova"/>
                <a:sym typeface="Proxima Nova"/>
              </a:rPr>
              <a:t>. Decisions around task sequencing, assignment, or plan refinements are yours to make.</a:t>
            </a:r>
            <a:endParaRPr i="0" sz="1100" u="none" cap="none" strike="noStrike">
              <a:solidFill>
                <a:schemeClr val="dk1"/>
              </a:solidFill>
              <a:latin typeface="Proxima Nova"/>
              <a:ea typeface="Proxima Nova"/>
              <a:cs typeface="Proxima Nova"/>
              <a:sym typeface="Proxima Nova"/>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1" name="Shape 311"/>
        <p:cNvGrpSpPr/>
        <p:nvPr/>
      </p:nvGrpSpPr>
      <p:grpSpPr>
        <a:xfrm>
          <a:off x="0" y="0"/>
          <a:ext cx="0" cy="0"/>
          <a:chOff x="0" y="0"/>
          <a:chExt cx="0" cy="0"/>
        </a:xfrm>
      </p:grpSpPr>
      <p:sp>
        <p:nvSpPr>
          <p:cNvPr id="312" name="Google Shape;312;p29"/>
          <p:cNvSpPr txBox="1"/>
          <p:nvPr/>
        </p:nvSpPr>
        <p:spPr>
          <a:xfrm>
            <a:off x="610369" y="857250"/>
            <a:ext cx="79233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336"/>
              </a:buClr>
              <a:buSzPts val="2100"/>
              <a:buFont typeface="Inter"/>
              <a:buNone/>
            </a:pPr>
            <a:r>
              <a:rPr b="1" lang="en" sz="2100">
                <a:solidFill>
                  <a:srgbClr val="1B2336"/>
                </a:solidFill>
                <a:latin typeface="Proxima Nova"/>
                <a:ea typeface="Proxima Nova"/>
                <a:cs typeface="Proxima Nova"/>
                <a:sym typeface="Proxima Nova"/>
              </a:rPr>
              <a:t>Scenarios: schedule, acceptance and status</a:t>
            </a:r>
            <a:endParaRPr b="1" sz="2100">
              <a:solidFill>
                <a:srgbClr val="1B2336"/>
              </a:solidFill>
              <a:latin typeface="Proxima Nova"/>
              <a:ea typeface="Proxima Nova"/>
              <a:cs typeface="Proxima Nova"/>
              <a:sym typeface="Proxima Nova"/>
            </a:endParaRPr>
          </a:p>
          <a:p>
            <a:pPr indent="0" lvl="0" marL="0" marR="0" rtl="0" algn="l">
              <a:lnSpc>
                <a:spcPct val="100000"/>
              </a:lnSpc>
              <a:spcBef>
                <a:spcPts val="0"/>
              </a:spcBef>
              <a:spcAft>
                <a:spcPts val="0"/>
              </a:spcAft>
              <a:buClr>
                <a:srgbClr val="1B2336"/>
              </a:buClr>
              <a:buSzPts val="2100"/>
              <a:buFont typeface="Inter"/>
              <a:buNone/>
            </a:pPr>
            <a:r>
              <a:t/>
            </a:r>
            <a:endParaRPr b="1" sz="2100">
              <a:solidFill>
                <a:srgbClr val="1B2336"/>
              </a:solidFill>
              <a:latin typeface="Proxima Nova"/>
              <a:ea typeface="Proxima Nova"/>
              <a:cs typeface="Proxima Nova"/>
              <a:sym typeface="Proxima Nova"/>
            </a:endParaRPr>
          </a:p>
        </p:txBody>
      </p:sp>
      <p:sp>
        <p:nvSpPr>
          <p:cNvPr id="313" name="Google Shape;313;p29"/>
          <p:cNvSpPr/>
          <p:nvPr/>
        </p:nvSpPr>
        <p:spPr>
          <a:xfrm>
            <a:off x="633776" y="356650"/>
            <a:ext cx="8023800" cy="251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5AAC"/>
              </a:buClr>
              <a:buSzPts val="1200"/>
              <a:buFont typeface="Calibri"/>
              <a:buNone/>
            </a:pPr>
            <a:r>
              <a:rPr b="1" lang="en" sz="900">
                <a:solidFill>
                  <a:srgbClr val="2E5AAC"/>
                </a:solidFill>
                <a:latin typeface="Proxima Nova"/>
                <a:ea typeface="Proxima Nova"/>
                <a:cs typeface="Proxima Nova"/>
                <a:sym typeface="Proxima Nova"/>
              </a:rPr>
              <a:t>DECISION RIGHTS IN PRACTICE</a:t>
            </a:r>
            <a:endParaRPr i="0" sz="900" u="none" cap="none" strike="noStrike">
              <a:solidFill>
                <a:srgbClr val="000000"/>
              </a:solidFill>
              <a:latin typeface="Proxima Nova"/>
              <a:ea typeface="Proxima Nova"/>
              <a:cs typeface="Proxima Nova"/>
              <a:sym typeface="Proxima Nova"/>
            </a:endParaRPr>
          </a:p>
        </p:txBody>
      </p:sp>
      <p:sp>
        <p:nvSpPr>
          <p:cNvPr id="314" name="Google Shape;314;p29"/>
          <p:cNvSpPr/>
          <p:nvPr/>
        </p:nvSpPr>
        <p:spPr>
          <a:xfrm>
            <a:off x="610350" y="1525630"/>
            <a:ext cx="2540400" cy="2478600"/>
          </a:xfrm>
          <a:prstGeom prst="roundRect">
            <a:avLst>
              <a:gd fmla="val 2540" name="adj"/>
            </a:avLst>
          </a:prstGeom>
          <a:solidFill>
            <a:srgbClr val="FDFDFE"/>
          </a:solidFill>
          <a:ln cap="flat" cmpd="sng" w="7150">
            <a:solidFill>
              <a:srgbClr val="DDE3EE"/>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15" name="Google Shape;315;p29"/>
          <p:cNvSpPr txBox="1"/>
          <p:nvPr/>
        </p:nvSpPr>
        <p:spPr>
          <a:xfrm>
            <a:off x="781812" y="2264036"/>
            <a:ext cx="2197500" cy="20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04ECF"/>
              </a:buClr>
              <a:buSzPts val="900"/>
              <a:buFont typeface="Inter"/>
              <a:buNone/>
            </a:pPr>
            <a:r>
              <a:rPr b="1" lang="en" sz="900">
                <a:solidFill>
                  <a:srgbClr val="204ECF"/>
                </a:solidFill>
                <a:latin typeface="Proxima Nova"/>
                <a:ea typeface="Proxima Nova"/>
                <a:cs typeface="Proxima Nova"/>
                <a:sym typeface="Proxima Nova"/>
              </a:rPr>
              <a:t>WHAT YOU DO</a:t>
            </a:r>
            <a:endParaRPr i="0" sz="900" u="none" cap="none" strike="noStrike">
              <a:solidFill>
                <a:schemeClr val="dk1"/>
              </a:solidFill>
              <a:latin typeface="Proxima Nova"/>
              <a:ea typeface="Proxima Nova"/>
              <a:cs typeface="Proxima Nova"/>
              <a:sym typeface="Proxima Nova"/>
            </a:endParaRPr>
          </a:p>
        </p:txBody>
      </p:sp>
      <p:sp>
        <p:nvSpPr>
          <p:cNvPr id="316" name="Google Shape;316;p29"/>
          <p:cNvSpPr txBox="1"/>
          <p:nvPr/>
        </p:nvSpPr>
        <p:spPr>
          <a:xfrm>
            <a:off x="781800" y="1646299"/>
            <a:ext cx="2197500" cy="514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2336"/>
              </a:buClr>
              <a:buSzPts val="1100"/>
              <a:buFont typeface="Inter"/>
              <a:buNone/>
            </a:pPr>
            <a:r>
              <a:rPr b="1" lang="en" sz="1100">
                <a:solidFill>
                  <a:srgbClr val="1B2336"/>
                </a:solidFill>
                <a:latin typeface="Proxima Nova"/>
                <a:ea typeface="Proxima Nova"/>
                <a:cs typeface="Proxima Nova"/>
                <a:sym typeface="Proxima Nova"/>
              </a:rPr>
              <a:t>“Can we bring the milestone forward two weeks?”</a:t>
            </a:r>
            <a:endParaRPr i="0" sz="1100" u="none" cap="none" strike="noStrike">
              <a:solidFill>
                <a:schemeClr val="dk1"/>
              </a:solidFill>
              <a:latin typeface="Proxima Nova"/>
              <a:ea typeface="Proxima Nova"/>
              <a:cs typeface="Proxima Nova"/>
              <a:sym typeface="Proxima Nova"/>
            </a:endParaRPr>
          </a:p>
        </p:txBody>
      </p:sp>
      <p:sp>
        <p:nvSpPr>
          <p:cNvPr id="317" name="Google Shape;317;p29"/>
          <p:cNvSpPr txBox="1"/>
          <p:nvPr/>
        </p:nvSpPr>
        <p:spPr>
          <a:xfrm>
            <a:off x="781812" y="2529669"/>
            <a:ext cx="2197500" cy="7887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B6475"/>
              </a:buClr>
              <a:buSzPts val="900"/>
              <a:buFont typeface="Inter"/>
              <a:buNone/>
            </a:pPr>
            <a:r>
              <a:rPr lang="en" sz="900">
                <a:solidFill>
                  <a:srgbClr val="5B6475"/>
                </a:solidFill>
                <a:latin typeface="Proxima Nova"/>
                <a:ea typeface="Proxima Nova"/>
                <a:cs typeface="Proxima Nova"/>
                <a:sym typeface="Proxima Nova"/>
              </a:rPr>
              <a:t>Acknowledge the request without committing. Log it, check it against the contract scope, and assess the impact on the plan, team and dependencies.</a:t>
            </a:r>
            <a:endParaRPr sz="900">
              <a:solidFill>
                <a:srgbClr val="5B6475"/>
              </a:solidFill>
              <a:latin typeface="Proxima Nova"/>
              <a:ea typeface="Proxima Nova"/>
              <a:cs typeface="Proxima Nova"/>
              <a:sym typeface="Proxima Nova"/>
            </a:endParaRPr>
          </a:p>
          <a:p>
            <a:pPr indent="0" lvl="0" marL="0" marR="0" rtl="0" algn="l">
              <a:lnSpc>
                <a:spcPct val="115000"/>
              </a:lnSpc>
              <a:spcBef>
                <a:spcPts val="0"/>
              </a:spcBef>
              <a:spcAft>
                <a:spcPts val="0"/>
              </a:spcAft>
              <a:buClr>
                <a:srgbClr val="5B6475"/>
              </a:buClr>
              <a:buSzPts val="900"/>
              <a:buFont typeface="Inter"/>
              <a:buNone/>
            </a:pPr>
            <a:r>
              <a:t/>
            </a:r>
            <a:endParaRPr sz="900">
              <a:solidFill>
                <a:srgbClr val="5B6475"/>
              </a:solidFill>
              <a:latin typeface="Proxima Nova"/>
              <a:ea typeface="Proxima Nova"/>
              <a:cs typeface="Proxima Nova"/>
              <a:sym typeface="Proxima Nova"/>
            </a:endParaRPr>
          </a:p>
        </p:txBody>
      </p:sp>
      <p:sp>
        <p:nvSpPr>
          <p:cNvPr id="318" name="Google Shape;318;p29"/>
          <p:cNvSpPr/>
          <p:nvPr/>
        </p:nvSpPr>
        <p:spPr>
          <a:xfrm>
            <a:off x="747522" y="3352629"/>
            <a:ext cx="2266200" cy="514500"/>
          </a:xfrm>
          <a:prstGeom prst="roundRect">
            <a:avLst>
              <a:gd fmla="val 8000" name="adj"/>
            </a:avLst>
          </a:prstGeom>
          <a:solidFill>
            <a:srgbClr val="EAEFF8"/>
          </a:solidFill>
          <a:ln cap="flat" cmpd="sng" w="9525">
            <a:solidFill>
              <a:srgbClr val="EAEFF8"/>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sz="1100">
              <a:latin typeface="Proxima Nova"/>
              <a:ea typeface="Proxima Nova"/>
              <a:cs typeface="Proxima Nova"/>
              <a:sym typeface="Proxima Nova"/>
            </a:endParaRPr>
          </a:p>
        </p:txBody>
      </p:sp>
      <p:sp>
        <p:nvSpPr>
          <p:cNvPr id="319" name="Google Shape;319;p29"/>
          <p:cNvSpPr txBox="1"/>
          <p:nvPr/>
        </p:nvSpPr>
        <p:spPr>
          <a:xfrm>
            <a:off x="850392" y="3352629"/>
            <a:ext cx="2060400" cy="5145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1B2336"/>
              </a:buClr>
              <a:buSzPts val="900"/>
              <a:buFont typeface="Inter"/>
              <a:buNone/>
            </a:pPr>
            <a:r>
              <a:rPr b="1" lang="en" sz="900">
                <a:solidFill>
                  <a:srgbClr val="1B2336"/>
                </a:solidFill>
                <a:latin typeface="Proxima Nova"/>
                <a:ea typeface="Proxima Nova"/>
                <a:cs typeface="Proxima Nova"/>
                <a:sym typeface="Proxima Nova"/>
              </a:rPr>
              <a:t>Engage Toptal.</a:t>
            </a:r>
            <a:r>
              <a:rPr lang="en" sz="900">
                <a:solidFill>
                  <a:srgbClr val="1B2336"/>
                </a:solidFill>
                <a:latin typeface="Proxima Nova"/>
                <a:ea typeface="Proxima Nova"/>
                <a:cs typeface="Proxima Nova"/>
                <a:sym typeface="Proxima Nova"/>
              </a:rPr>
              <a:t> Discuss with DM and PMO. DM gives the client the answer and the trade-offs. </a:t>
            </a:r>
            <a:endParaRPr i="0" sz="900" u="none" cap="none" strike="noStrike">
              <a:solidFill>
                <a:schemeClr val="dk1"/>
              </a:solidFill>
              <a:latin typeface="Proxima Nova"/>
              <a:ea typeface="Proxima Nova"/>
              <a:cs typeface="Proxima Nova"/>
              <a:sym typeface="Proxima Nova"/>
            </a:endParaRPr>
          </a:p>
        </p:txBody>
      </p:sp>
      <p:sp>
        <p:nvSpPr>
          <p:cNvPr id="320" name="Google Shape;320;p29"/>
          <p:cNvSpPr/>
          <p:nvPr/>
        </p:nvSpPr>
        <p:spPr>
          <a:xfrm>
            <a:off x="3301661" y="1525630"/>
            <a:ext cx="2540400" cy="2478600"/>
          </a:xfrm>
          <a:prstGeom prst="roundRect">
            <a:avLst>
              <a:gd fmla="val 2540" name="adj"/>
            </a:avLst>
          </a:prstGeom>
          <a:solidFill>
            <a:srgbClr val="FDFDFE"/>
          </a:solidFill>
          <a:ln cap="flat" cmpd="sng" w="7150">
            <a:solidFill>
              <a:srgbClr val="DDE3EE"/>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21" name="Google Shape;321;p29"/>
          <p:cNvSpPr txBox="1"/>
          <p:nvPr/>
        </p:nvSpPr>
        <p:spPr>
          <a:xfrm>
            <a:off x="3473120" y="2264036"/>
            <a:ext cx="2197500" cy="20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04ECF"/>
              </a:buClr>
              <a:buSzPts val="900"/>
              <a:buFont typeface="Inter"/>
              <a:buNone/>
            </a:pPr>
            <a:r>
              <a:rPr b="1" lang="en" sz="900">
                <a:solidFill>
                  <a:srgbClr val="204ECF"/>
                </a:solidFill>
                <a:latin typeface="Proxima Nova"/>
                <a:ea typeface="Proxima Nova"/>
                <a:cs typeface="Proxima Nova"/>
                <a:sym typeface="Proxima Nova"/>
              </a:rPr>
              <a:t>WHAT YOU DO</a:t>
            </a:r>
            <a:endParaRPr i="0" sz="900" u="none" cap="none" strike="noStrike">
              <a:solidFill>
                <a:schemeClr val="dk1"/>
              </a:solidFill>
              <a:latin typeface="Proxima Nova"/>
              <a:ea typeface="Proxima Nova"/>
              <a:cs typeface="Proxima Nova"/>
              <a:sym typeface="Proxima Nova"/>
            </a:endParaRPr>
          </a:p>
        </p:txBody>
      </p:sp>
      <p:sp>
        <p:nvSpPr>
          <p:cNvPr id="322" name="Google Shape;322;p29"/>
          <p:cNvSpPr txBox="1"/>
          <p:nvPr/>
        </p:nvSpPr>
        <p:spPr>
          <a:xfrm>
            <a:off x="3473120" y="2529669"/>
            <a:ext cx="2197500" cy="7887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B6475"/>
              </a:buClr>
              <a:buSzPts val="900"/>
              <a:buFont typeface="Inter"/>
              <a:buNone/>
            </a:pPr>
            <a:r>
              <a:rPr lang="en" sz="900">
                <a:solidFill>
                  <a:srgbClr val="5B6475"/>
                </a:solidFill>
                <a:latin typeface="Proxima Nova"/>
                <a:ea typeface="Proxima Nova"/>
                <a:cs typeface="Proxima Nova"/>
                <a:sym typeface="Proxima Nova"/>
              </a:rPr>
              <a:t>Thank the sponsor and let them know a formal </a:t>
            </a:r>
            <a:r>
              <a:rPr lang="en" sz="900">
                <a:solidFill>
                  <a:srgbClr val="5B6475"/>
                </a:solidFill>
                <a:latin typeface="Proxima Nova"/>
                <a:ea typeface="Proxima Nova"/>
                <a:cs typeface="Proxima Nova"/>
                <a:sym typeface="Proxima Nova"/>
              </a:rPr>
              <a:t>acceptance</a:t>
            </a:r>
            <a:r>
              <a:rPr lang="en" sz="900">
                <a:solidFill>
                  <a:srgbClr val="5B6475"/>
                </a:solidFill>
                <a:latin typeface="Proxima Nova"/>
                <a:ea typeface="Proxima Nova"/>
                <a:cs typeface="Proxima Nova"/>
                <a:sym typeface="Proxima Nova"/>
              </a:rPr>
              <a:t> sign-off will be sent. </a:t>
            </a:r>
            <a:endParaRPr i="0" sz="900" u="none" cap="none" strike="noStrike">
              <a:solidFill>
                <a:schemeClr val="dk1"/>
              </a:solidFill>
              <a:latin typeface="Proxima Nova"/>
              <a:ea typeface="Proxima Nova"/>
              <a:cs typeface="Proxima Nova"/>
              <a:sym typeface="Proxima Nova"/>
            </a:endParaRPr>
          </a:p>
        </p:txBody>
      </p:sp>
      <p:sp>
        <p:nvSpPr>
          <p:cNvPr id="323" name="Google Shape;323;p29"/>
          <p:cNvSpPr/>
          <p:nvPr/>
        </p:nvSpPr>
        <p:spPr>
          <a:xfrm>
            <a:off x="3438830" y="3352629"/>
            <a:ext cx="2266200" cy="514500"/>
          </a:xfrm>
          <a:prstGeom prst="roundRect">
            <a:avLst>
              <a:gd fmla="val 8000" name="adj"/>
            </a:avLst>
          </a:prstGeom>
          <a:solidFill>
            <a:srgbClr val="EAEFF8"/>
          </a:solidFill>
          <a:ln cap="flat" cmpd="sng" w="9525">
            <a:solidFill>
              <a:srgbClr val="EAEFF8"/>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sz="1100">
              <a:latin typeface="Proxima Nova"/>
              <a:ea typeface="Proxima Nova"/>
              <a:cs typeface="Proxima Nova"/>
              <a:sym typeface="Proxima Nova"/>
            </a:endParaRPr>
          </a:p>
        </p:txBody>
      </p:sp>
      <p:sp>
        <p:nvSpPr>
          <p:cNvPr id="324" name="Google Shape;324;p29"/>
          <p:cNvSpPr txBox="1"/>
          <p:nvPr/>
        </p:nvSpPr>
        <p:spPr>
          <a:xfrm>
            <a:off x="3541700" y="3352629"/>
            <a:ext cx="2060400" cy="5145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1B2336"/>
              </a:buClr>
              <a:buSzPts val="900"/>
              <a:buFont typeface="Inter"/>
              <a:buNone/>
            </a:pPr>
            <a:r>
              <a:rPr b="1" lang="en" sz="900">
                <a:solidFill>
                  <a:srgbClr val="1B2336"/>
                </a:solidFill>
                <a:latin typeface="Proxima Nova"/>
                <a:ea typeface="Proxima Nova"/>
                <a:cs typeface="Proxima Nova"/>
                <a:sym typeface="Proxima Nova"/>
              </a:rPr>
              <a:t>Engage Toptal. </a:t>
            </a:r>
            <a:r>
              <a:rPr lang="en" sz="900">
                <a:solidFill>
                  <a:srgbClr val="1B2336"/>
                </a:solidFill>
                <a:latin typeface="Proxima Nova"/>
                <a:ea typeface="Proxima Nova"/>
                <a:cs typeface="Proxima Nova"/>
                <a:sym typeface="Proxima Nova"/>
              </a:rPr>
              <a:t>Inform PMO to trigger deliverable or milestone acceptance.</a:t>
            </a:r>
            <a:endParaRPr i="0" sz="900" u="none" cap="none" strike="noStrike">
              <a:solidFill>
                <a:schemeClr val="dk1"/>
              </a:solidFill>
              <a:latin typeface="Proxima Nova"/>
              <a:ea typeface="Proxima Nova"/>
              <a:cs typeface="Proxima Nova"/>
              <a:sym typeface="Proxima Nova"/>
            </a:endParaRPr>
          </a:p>
        </p:txBody>
      </p:sp>
      <p:sp>
        <p:nvSpPr>
          <p:cNvPr id="325" name="Google Shape;325;p29"/>
          <p:cNvSpPr/>
          <p:nvPr/>
        </p:nvSpPr>
        <p:spPr>
          <a:xfrm>
            <a:off x="5992972" y="1525630"/>
            <a:ext cx="2540400" cy="2478600"/>
          </a:xfrm>
          <a:prstGeom prst="roundRect">
            <a:avLst>
              <a:gd fmla="val 2540" name="adj"/>
            </a:avLst>
          </a:prstGeom>
          <a:solidFill>
            <a:srgbClr val="FDFDFE"/>
          </a:solidFill>
          <a:ln cap="flat" cmpd="sng" w="7150">
            <a:solidFill>
              <a:srgbClr val="DDE3EE"/>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26" name="Google Shape;326;p29"/>
          <p:cNvSpPr txBox="1"/>
          <p:nvPr/>
        </p:nvSpPr>
        <p:spPr>
          <a:xfrm>
            <a:off x="6164428" y="2264036"/>
            <a:ext cx="2197500" cy="20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04ECF"/>
              </a:buClr>
              <a:buSzPts val="900"/>
              <a:buFont typeface="Inter"/>
              <a:buNone/>
            </a:pPr>
            <a:r>
              <a:rPr b="1" lang="en" sz="900">
                <a:solidFill>
                  <a:srgbClr val="204ECF"/>
                </a:solidFill>
                <a:latin typeface="Proxima Nova"/>
                <a:ea typeface="Proxima Nova"/>
                <a:cs typeface="Proxima Nova"/>
                <a:sym typeface="Proxima Nova"/>
              </a:rPr>
              <a:t>WHAT YOU DO</a:t>
            </a:r>
            <a:endParaRPr i="0" sz="900" u="none" cap="none" strike="noStrike">
              <a:solidFill>
                <a:schemeClr val="dk1"/>
              </a:solidFill>
              <a:latin typeface="Proxima Nova"/>
              <a:ea typeface="Proxima Nova"/>
              <a:cs typeface="Proxima Nova"/>
              <a:sym typeface="Proxima Nova"/>
            </a:endParaRPr>
          </a:p>
        </p:txBody>
      </p:sp>
      <p:sp>
        <p:nvSpPr>
          <p:cNvPr id="327" name="Google Shape;327;p29"/>
          <p:cNvSpPr txBox="1"/>
          <p:nvPr/>
        </p:nvSpPr>
        <p:spPr>
          <a:xfrm>
            <a:off x="6164428" y="2529669"/>
            <a:ext cx="2197500" cy="7887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B6475"/>
              </a:buClr>
              <a:buSzPts val="900"/>
              <a:buFont typeface="Inter"/>
              <a:buNone/>
            </a:pPr>
            <a:r>
              <a:rPr lang="en" sz="900">
                <a:solidFill>
                  <a:srgbClr val="5B6475"/>
                </a:solidFill>
                <a:latin typeface="Proxima Nova"/>
                <a:ea typeface="Proxima Nova"/>
                <a:cs typeface="Proxima Nova"/>
                <a:sym typeface="Proxima Nova"/>
              </a:rPr>
              <a:t>Report progress against contracted deliverables, not activity. Update the schedule and RAID log with the facts.</a:t>
            </a:r>
            <a:endParaRPr sz="900">
              <a:solidFill>
                <a:srgbClr val="5B6475"/>
              </a:solidFill>
              <a:latin typeface="Proxima Nova"/>
              <a:ea typeface="Proxima Nova"/>
              <a:cs typeface="Proxima Nova"/>
              <a:sym typeface="Proxima Nova"/>
            </a:endParaRPr>
          </a:p>
          <a:p>
            <a:pPr indent="0" lvl="0" marL="0" marR="0" rtl="0" algn="l">
              <a:lnSpc>
                <a:spcPct val="115000"/>
              </a:lnSpc>
              <a:spcBef>
                <a:spcPts val="0"/>
              </a:spcBef>
              <a:spcAft>
                <a:spcPts val="0"/>
              </a:spcAft>
              <a:buClr>
                <a:srgbClr val="5B6475"/>
              </a:buClr>
              <a:buSzPts val="900"/>
              <a:buFont typeface="Inter"/>
              <a:buNone/>
            </a:pPr>
            <a:r>
              <a:t/>
            </a:r>
            <a:endParaRPr sz="900">
              <a:solidFill>
                <a:srgbClr val="5B6475"/>
              </a:solidFill>
              <a:latin typeface="Proxima Nova"/>
              <a:ea typeface="Proxima Nova"/>
              <a:cs typeface="Proxima Nova"/>
              <a:sym typeface="Proxima Nova"/>
            </a:endParaRPr>
          </a:p>
        </p:txBody>
      </p:sp>
      <p:sp>
        <p:nvSpPr>
          <p:cNvPr id="328" name="Google Shape;328;p29"/>
          <p:cNvSpPr/>
          <p:nvPr/>
        </p:nvSpPr>
        <p:spPr>
          <a:xfrm>
            <a:off x="6130138" y="3352629"/>
            <a:ext cx="2266200" cy="514500"/>
          </a:xfrm>
          <a:prstGeom prst="roundRect">
            <a:avLst>
              <a:gd fmla="val 8000" name="adj"/>
            </a:avLst>
          </a:prstGeom>
          <a:solidFill>
            <a:srgbClr val="EAEFF8"/>
          </a:solidFill>
          <a:ln cap="flat" cmpd="sng" w="9525">
            <a:solidFill>
              <a:srgbClr val="EAEFF8"/>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sz="1100">
              <a:latin typeface="Proxima Nova"/>
              <a:ea typeface="Proxima Nova"/>
              <a:cs typeface="Proxima Nova"/>
              <a:sym typeface="Proxima Nova"/>
            </a:endParaRPr>
          </a:p>
        </p:txBody>
      </p:sp>
      <p:sp>
        <p:nvSpPr>
          <p:cNvPr id="329" name="Google Shape;329;p29"/>
          <p:cNvSpPr txBox="1"/>
          <p:nvPr/>
        </p:nvSpPr>
        <p:spPr>
          <a:xfrm>
            <a:off x="6233008" y="3352629"/>
            <a:ext cx="2060400" cy="5145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1B2336"/>
              </a:buClr>
              <a:buSzPts val="900"/>
              <a:buFont typeface="Inter"/>
              <a:buNone/>
            </a:pPr>
            <a:r>
              <a:rPr b="1" lang="en" sz="900">
                <a:solidFill>
                  <a:srgbClr val="1B2336"/>
                </a:solidFill>
                <a:latin typeface="Proxima Nova"/>
                <a:ea typeface="Proxima Nova"/>
                <a:cs typeface="Proxima Nova"/>
                <a:sym typeface="Proxima Nova"/>
              </a:rPr>
              <a:t>Engage Toptal. </a:t>
            </a:r>
            <a:r>
              <a:rPr lang="en" sz="900">
                <a:solidFill>
                  <a:srgbClr val="1B2336"/>
                </a:solidFill>
                <a:latin typeface="Proxima Nova"/>
                <a:ea typeface="Proxima Nova"/>
                <a:cs typeface="Proxima Nova"/>
                <a:sym typeface="Proxima Nova"/>
              </a:rPr>
              <a:t>Raise it at the weekly check-in. The PMO issues the health rating.</a:t>
            </a:r>
            <a:endParaRPr sz="900">
              <a:solidFill>
                <a:srgbClr val="1B2336"/>
              </a:solidFill>
              <a:latin typeface="Proxima Nova"/>
              <a:ea typeface="Proxima Nova"/>
              <a:cs typeface="Proxima Nova"/>
              <a:sym typeface="Proxima Nova"/>
            </a:endParaRPr>
          </a:p>
        </p:txBody>
      </p:sp>
      <p:sp>
        <p:nvSpPr>
          <p:cNvPr id="330" name="Google Shape;330;p29"/>
          <p:cNvSpPr txBox="1"/>
          <p:nvPr/>
        </p:nvSpPr>
        <p:spPr>
          <a:xfrm>
            <a:off x="3473113" y="1646299"/>
            <a:ext cx="2197500" cy="514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2336"/>
              </a:buClr>
              <a:buSzPts val="1100"/>
              <a:buFont typeface="Inter"/>
              <a:buNone/>
            </a:pPr>
            <a:r>
              <a:rPr b="1" lang="en" sz="1100">
                <a:solidFill>
                  <a:srgbClr val="1B2336"/>
                </a:solidFill>
                <a:latin typeface="Proxima Nova"/>
                <a:ea typeface="Proxima Nova"/>
                <a:cs typeface="Proxima Nova"/>
                <a:sym typeface="Proxima Nova"/>
              </a:rPr>
              <a:t>In a demo the sponsor says “Looks great, we’re happy.”</a:t>
            </a:r>
            <a:endParaRPr i="0" sz="1100" u="none" cap="none" strike="noStrike">
              <a:solidFill>
                <a:schemeClr val="dk1"/>
              </a:solidFill>
              <a:latin typeface="Proxima Nova"/>
              <a:ea typeface="Proxima Nova"/>
              <a:cs typeface="Proxima Nova"/>
              <a:sym typeface="Proxima Nova"/>
            </a:endParaRPr>
          </a:p>
        </p:txBody>
      </p:sp>
      <p:sp>
        <p:nvSpPr>
          <p:cNvPr id="331" name="Google Shape;331;p29"/>
          <p:cNvSpPr txBox="1"/>
          <p:nvPr/>
        </p:nvSpPr>
        <p:spPr>
          <a:xfrm>
            <a:off x="6164400" y="1646299"/>
            <a:ext cx="2197500" cy="514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2336"/>
              </a:buClr>
              <a:buSzPts val="1100"/>
              <a:buFont typeface="Inter"/>
              <a:buNone/>
            </a:pPr>
            <a:r>
              <a:rPr b="1" lang="en" sz="1100">
                <a:solidFill>
                  <a:srgbClr val="1B2336"/>
                </a:solidFill>
                <a:latin typeface="Proxima Nova"/>
                <a:ea typeface="Proxima Nova"/>
                <a:cs typeface="Proxima Nova"/>
                <a:sym typeface="Proxima Nova"/>
              </a:rPr>
              <a:t>The client is happy and the team is busy, but contracted deliverables are behind plan.</a:t>
            </a:r>
            <a:endParaRPr i="0" sz="1100" u="none" cap="none" strike="noStrike">
              <a:solidFill>
                <a:schemeClr val="dk1"/>
              </a:solidFill>
              <a:latin typeface="Proxima Nova"/>
              <a:ea typeface="Proxima Nova"/>
              <a:cs typeface="Proxima Nova"/>
              <a:sym typeface="Proxima Nova"/>
            </a:endParaRPr>
          </a:p>
        </p:txBody>
      </p:sp>
      <p:sp>
        <p:nvSpPr>
          <p:cNvPr id="332" name="Google Shape;332;p29"/>
          <p:cNvSpPr/>
          <p:nvPr/>
        </p:nvSpPr>
        <p:spPr>
          <a:xfrm>
            <a:off x="610362" y="4199820"/>
            <a:ext cx="7923300" cy="480300"/>
          </a:xfrm>
          <a:prstGeom prst="roundRect">
            <a:avLst>
              <a:gd fmla="val 11429" name="adj"/>
            </a:avLst>
          </a:prstGeom>
          <a:solidFill>
            <a:srgbClr val="0F256E"/>
          </a:solidFill>
          <a:ln cap="flat" cmpd="sng" w="9525">
            <a:solidFill>
              <a:srgbClr val="0F256E"/>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33" name="Google Shape;333;p29"/>
          <p:cNvSpPr/>
          <p:nvPr/>
        </p:nvSpPr>
        <p:spPr>
          <a:xfrm>
            <a:off x="816102" y="4288974"/>
            <a:ext cx="41100" cy="301800"/>
          </a:xfrm>
          <a:prstGeom prst="rect">
            <a:avLst/>
          </a:prstGeom>
          <a:solidFill>
            <a:srgbClr val="00CC83"/>
          </a:solidFill>
          <a:ln cap="flat" cmpd="sng" w="9525">
            <a:solidFill>
              <a:srgbClr val="00CC83"/>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sz="1100">
              <a:latin typeface="Proxima Nova"/>
              <a:ea typeface="Proxima Nova"/>
              <a:cs typeface="Proxima Nova"/>
              <a:sym typeface="Proxima Nova"/>
            </a:endParaRPr>
          </a:p>
        </p:txBody>
      </p:sp>
      <p:sp>
        <p:nvSpPr>
          <p:cNvPr id="334" name="Google Shape;334;p29"/>
          <p:cNvSpPr txBox="1"/>
          <p:nvPr/>
        </p:nvSpPr>
        <p:spPr>
          <a:xfrm>
            <a:off x="987550" y="4199825"/>
            <a:ext cx="7545900" cy="480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6FB"/>
              </a:buClr>
              <a:buSzPts val="1100"/>
              <a:buFont typeface="Inter"/>
              <a:buNone/>
            </a:pPr>
            <a:r>
              <a:rPr lang="en" sz="1100">
                <a:solidFill>
                  <a:srgbClr val="F4F6FB"/>
                </a:solidFill>
                <a:latin typeface="Proxima Nova"/>
                <a:ea typeface="Proxima Nova"/>
                <a:cs typeface="Proxima Nova"/>
                <a:sym typeface="Proxima Nova"/>
              </a:rPr>
              <a:t>To keep commitments consistent, if a decision changes what Toptal delivers, when (dates), effort, or project team roles, </a:t>
            </a:r>
            <a:r>
              <a:rPr b="1" lang="en" sz="1100">
                <a:solidFill>
                  <a:srgbClr val="F4F6FB"/>
                </a:solidFill>
                <a:latin typeface="Proxima Nova"/>
                <a:ea typeface="Proxima Nova"/>
                <a:cs typeface="Proxima Nova"/>
                <a:sym typeface="Proxima Nova"/>
              </a:rPr>
              <a:t>engage the DM and PMO</a:t>
            </a:r>
            <a:r>
              <a:rPr lang="en" sz="1100">
                <a:solidFill>
                  <a:srgbClr val="F4F6FB"/>
                </a:solidFill>
                <a:latin typeface="Proxima Nova"/>
                <a:ea typeface="Proxima Nova"/>
                <a:cs typeface="Proxima Nova"/>
                <a:sym typeface="Proxima Nova"/>
              </a:rPr>
              <a:t>. Decisions around task sequencing, assignment, or plan refinements are yours to make.</a:t>
            </a:r>
            <a:endParaRPr i="0" sz="1100" u="none" cap="none" strike="noStrike">
              <a:solidFill>
                <a:schemeClr val="dk1"/>
              </a:solidFill>
              <a:latin typeface="Proxima Nova"/>
              <a:ea typeface="Proxima Nova"/>
              <a:cs typeface="Proxima Nova"/>
              <a:sym typeface="Proxima Nova"/>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8" name="Shape 338"/>
        <p:cNvGrpSpPr/>
        <p:nvPr/>
      </p:nvGrpSpPr>
      <p:grpSpPr>
        <a:xfrm>
          <a:off x="0" y="0"/>
          <a:ext cx="0" cy="0"/>
          <a:chOff x="0" y="0"/>
          <a:chExt cx="0" cy="0"/>
        </a:xfrm>
      </p:grpSpPr>
      <p:sp>
        <p:nvSpPr>
          <p:cNvPr id="339" name="Google Shape;339;p30"/>
          <p:cNvSpPr/>
          <p:nvPr/>
        </p:nvSpPr>
        <p:spPr>
          <a:xfrm>
            <a:off x="214100" y="0"/>
            <a:ext cx="8929800" cy="5143500"/>
          </a:xfrm>
          <a:prstGeom prst="rect">
            <a:avLst/>
          </a:prstGeom>
          <a:solidFill>
            <a:schemeClr val="accent3"/>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lang="en">
                <a:solidFill>
                  <a:schemeClr val="lt1"/>
                </a:solidFill>
                <a:latin typeface="Open Sans"/>
                <a:ea typeface="Open Sans"/>
                <a:cs typeface="Open Sans"/>
                <a:sym typeface="Open Sans"/>
              </a:rPr>
              <a:t> </a:t>
            </a:r>
            <a:endParaRPr sz="1400">
              <a:solidFill>
                <a:schemeClr val="lt1"/>
              </a:solidFill>
              <a:latin typeface="Open Sans"/>
              <a:ea typeface="Open Sans"/>
              <a:cs typeface="Open Sans"/>
              <a:sym typeface="Open Sans"/>
            </a:endParaRPr>
          </a:p>
        </p:txBody>
      </p:sp>
      <p:sp>
        <p:nvSpPr>
          <p:cNvPr id="340" name="Google Shape;340;p30"/>
          <p:cNvSpPr txBox="1"/>
          <p:nvPr>
            <p:ph type="ctrTitle"/>
          </p:nvPr>
        </p:nvSpPr>
        <p:spPr>
          <a:xfrm>
            <a:off x="666750" y="1001575"/>
            <a:ext cx="5575500" cy="11676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latin typeface="Proxima Nova"/>
                <a:ea typeface="Proxima Nova"/>
                <a:cs typeface="Proxima Nova"/>
                <a:sym typeface="Proxima Nova"/>
              </a:rPr>
              <a:t>Project Details</a:t>
            </a:r>
            <a:endParaRPr sz="1800">
              <a:solidFill>
                <a:schemeClr val="accent4"/>
              </a:solidFill>
              <a:latin typeface="Proxima Nova"/>
              <a:ea typeface="Proxima Nova"/>
              <a:cs typeface="Proxima Nova"/>
              <a:sym typeface="Proxima Nova"/>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4" name="Shape 344"/>
        <p:cNvGrpSpPr/>
        <p:nvPr/>
      </p:nvGrpSpPr>
      <p:grpSpPr>
        <a:xfrm>
          <a:off x="0" y="0"/>
          <a:ext cx="0" cy="0"/>
          <a:chOff x="0" y="0"/>
          <a:chExt cx="0" cy="0"/>
        </a:xfrm>
      </p:grpSpPr>
      <p:sp>
        <p:nvSpPr>
          <p:cNvPr id="345" name="Google Shape;345;p31"/>
          <p:cNvSpPr txBox="1"/>
          <p:nvPr>
            <p:ph type="ctrTitle"/>
          </p:nvPr>
        </p:nvSpPr>
        <p:spPr>
          <a:xfrm>
            <a:off x="633776" y="880400"/>
            <a:ext cx="8023800" cy="332400"/>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1"/>
              </a:buClr>
              <a:buSzPts val="2400"/>
              <a:buFont typeface="Montserrat"/>
              <a:buNone/>
            </a:pPr>
            <a:r>
              <a:rPr lang="en"/>
              <a:t>The people delivering this project</a:t>
            </a:r>
            <a:endParaRPr sz="2400">
              <a:latin typeface="Proxima Nova"/>
              <a:ea typeface="Proxima Nova"/>
              <a:cs typeface="Proxima Nova"/>
              <a:sym typeface="Proxima Nova"/>
            </a:endParaRPr>
          </a:p>
        </p:txBody>
      </p:sp>
      <p:sp>
        <p:nvSpPr>
          <p:cNvPr id="346" name="Google Shape;346;p31"/>
          <p:cNvSpPr/>
          <p:nvPr/>
        </p:nvSpPr>
        <p:spPr>
          <a:xfrm>
            <a:off x="633776" y="356650"/>
            <a:ext cx="8023800" cy="251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5AAC"/>
              </a:buClr>
              <a:buSzPts val="1200"/>
              <a:buFont typeface="Calibri"/>
              <a:buNone/>
            </a:pPr>
            <a:r>
              <a:rPr b="1" lang="en" sz="900">
                <a:solidFill>
                  <a:srgbClr val="2E5AAC"/>
                </a:solidFill>
                <a:latin typeface="Proxima Nova"/>
                <a:ea typeface="Proxima Nova"/>
                <a:cs typeface="Proxima Nova"/>
                <a:sym typeface="Proxima Nova"/>
              </a:rPr>
              <a:t>YOUR TEAM</a:t>
            </a:r>
            <a:endParaRPr i="0" sz="900" u="none" cap="none" strike="noStrike">
              <a:solidFill>
                <a:srgbClr val="000000"/>
              </a:solidFill>
              <a:latin typeface="Proxima Nova"/>
              <a:ea typeface="Proxima Nova"/>
              <a:cs typeface="Proxima Nova"/>
              <a:sym typeface="Proxima Nova"/>
            </a:endParaRPr>
          </a:p>
        </p:txBody>
      </p:sp>
      <p:pic>
        <p:nvPicPr>
          <p:cNvPr id="347" name="Google Shape;347;p31" title="Kris Wu-0161 (3).jpg"/>
          <p:cNvPicPr preferRelativeResize="0"/>
          <p:nvPr>
            <p:ph idx="2" type="pic"/>
          </p:nvPr>
        </p:nvPicPr>
        <p:blipFill rotWithShape="1">
          <a:blip r:embed="rId3">
            <a:alphaModFix/>
          </a:blip>
          <a:srcRect b="0" l="0" r="0" t="0"/>
          <a:stretch/>
        </p:blipFill>
        <p:spPr>
          <a:xfrm>
            <a:off x="6382052" y="1580938"/>
            <a:ext cx="885601" cy="885601"/>
          </a:xfrm>
          <a:prstGeom prst="rect">
            <a:avLst/>
          </a:prstGeom>
          <a:noFill/>
          <a:ln>
            <a:noFill/>
          </a:ln>
        </p:spPr>
      </p:pic>
      <p:pic>
        <p:nvPicPr>
          <p:cNvPr id="348" name="Google Shape;348;p31"/>
          <p:cNvPicPr preferRelativeResize="0"/>
          <p:nvPr>
            <p:ph idx="3" type="pic"/>
          </p:nvPr>
        </p:nvPicPr>
        <p:blipFill rotWithShape="1">
          <a:blip r:embed="rId4">
            <a:alphaModFix/>
          </a:blip>
          <a:srcRect b="0" l="0" r="0" t="0"/>
          <a:stretch/>
        </p:blipFill>
        <p:spPr>
          <a:xfrm>
            <a:off x="725300" y="1584150"/>
            <a:ext cx="885601" cy="885601"/>
          </a:xfrm>
          <a:prstGeom prst="rect">
            <a:avLst/>
          </a:prstGeom>
          <a:noFill/>
          <a:ln>
            <a:noFill/>
          </a:ln>
        </p:spPr>
      </p:pic>
      <p:pic>
        <p:nvPicPr>
          <p:cNvPr id="349" name="Google Shape;349;p31"/>
          <p:cNvPicPr preferRelativeResize="0"/>
          <p:nvPr/>
        </p:nvPicPr>
        <p:blipFill>
          <a:blip r:embed="rId5">
            <a:alphaModFix/>
          </a:blip>
          <a:stretch>
            <a:fillRect/>
          </a:stretch>
        </p:blipFill>
        <p:spPr>
          <a:xfrm>
            <a:off x="6363478" y="2280610"/>
            <a:ext cx="192346" cy="192344"/>
          </a:xfrm>
          <a:prstGeom prst="rect">
            <a:avLst/>
          </a:prstGeom>
          <a:noFill/>
          <a:ln>
            <a:noFill/>
          </a:ln>
        </p:spPr>
      </p:pic>
      <p:sp>
        <p:nvSpPr>
          <p:cNvPr id="350" name="Google Shape;350;p31"/>
          <p:cNvSpPr txBox="1"/>
          <p:nvPr/>
        </p:nvSpPr>
        <p:spPr>
          <a:xfrm>
            <a:off x="7528226" y="1737913"/>
            <a:ext cx="1335900" cy="184800"/>
          </a:xfrm>
          <a:prstGeom prst="rect">
            <a:avLst/>
          </a:prstGeom>
          <a:noFill/>
          <a:ln>
            <a:noFill/>
          </a:ln>
        </p:spPr>
        <p:txBody>
          <a:bodyPr anchorCtr="0" anchor="t" bIns="0" lIns="0" spcFirstLastPara="1" rIns="0" wrap="square" tIns="0">
            <a:spAutoFit/>
          </a:bodyPr>
          <a:lstStyle/>
          <a:p>
            <a:pPr indent="0" lvl="0" marL="0" rtl="0" algn="l">
              <a:lnSpc>
                <a:spcPct val="120000"/>
              </a:lnSpc>
              <a:spcBef>
                <a:spcPts val="500"/>
              </a:spcBef>
              <a:spcAft>
                <a:spcPts val="0"/>
              </a:spcAft>
              <a:buNone/>
            </a:pPr>
            <a:r>
              <a:rPr b="1" lang="en" sz="1200">
                <a:solidFill>
                  <a:srgbClr val="204ECF"/>
                </a:solidFill>
                <a:latin typeface="Proxima Nova"/>
                <a:ea typeface="Proxima Nova"/>
                <a:cs typeface="Proxima Nova"/>
                <a:sym typeface="Proxima Nova"/>
              </a:rPr>
              <a:t>Kris Wu</a:t>
            </a:r>
            <a:endParaRPr b="1" sz="1200">
              <a:solidFill>
                <a:srgbClr val="204ECF"/>
              </a:solidFill>
              <a:latin typeface="Proxima Nova"/>
              <a:ea typeface="Proxima Nova"/>
              <a:cs typeface="Proxima Nova"/>
              <a:sym typeface="Proxima Nova"/>
            </a:endParaRPr>
          </a:p>
        </p:txBody>
      </p:sp>
      <p:pic>
        <p:nvPicPr>
          <p:cNvPr id="351" name="Google Shape;351;p31"/>
          <p:cNvPicPr preferRelativeResize="0"/>
          <p:nvPr/>
        </p:nvPicPr>
        <p:blipFill>
          <a:blip r:embed="rId6">
            <a:alphaModFix/>
          </a:blip>
          <a:stretch>
            <a:fillRect/>
          </a:stretch>
        </p:blipFill>
        <p:spPr>
          <a:xfrm>
            <a:off x="7528222" y="1985391"/>
            <a:ext cx="91214" cy="114017"/>
          </a:xfrm>
          <a:prstGeom prst="rect">
            <a:avLst/>
          </a:prstGeom>
          <a:noFill/>
          <a:ln>
            <a:noFill/>
          </a:ln>
        </p:spPr>
      </p:pic>
      <p:sp>
        <p:nvSpPr>
          <p:cNvPr id="352" name="Google Shape;352;p31"/>
          <p:cNvSpPr txBox="1"/>
          <p:nvPr/>
        </p:nvSpPr>
        <p:spPr>
          <a:xfrm>
            <a:off x="7647750" y="1977563"/>
            <a:ext cx="1157400" cy="123000"/>
          </a:xfrm>
          <a:prstGeom prst="rect">
            <a:avLst/>
          </a:prstGeom>
          <a:noFill/>
          <a:ln>
            <a:noFill/>
          </a:ln>
        </p:spPr>
        <p:txBody>
          <a:bodyPr anchorCtr="0" anchor="t" bIns="0" lIns="0" spcFirstLastPara="1" rIns="0" wrap="square" tIns="0">
            <a:spAutoFit/>
          </a:bodyPr>
          <a:lstStyle/>
          <a:p>
            <a:pPr indent="0" lvl="0" marL="0" rtl="0" algn="l">
              <a:lnSpc>
                <a:spcPct val="120000"/>
              </a:lnSpc>
              <a:spcBef>
                <a:spcPts val="500"/>
              </a:spcBef>
              <a:spcAft>
                <a:spcPts val="0"/>
              </a:spcAft>
              <a:buNone/>
            </a:pPr>
            <a:r>
              <a:rPr b="1" lang="en" sz="800">
                <a:solidFill>
                  <a:srgbClr val="07947C"/>
                </a:solidFill>
                <a:latin typeface="Proxima Nova"/>
                <a:ea typeface="Proxima Nova"/>
                <a:cs typeface="Proxima Nova"/>
                <a:sym typeface="Proxima Nova"/>
              </a:rPr>
              <a:t>Delivery Manager</a:t>
            </a:r>
            <a:endParaRPr sz="800">
              <a:solidFill>
                <a:srgbClr val="07947C"/>
              </a:solidFill>
              <a:latin typeface="Proxima Nova"/>
              <a:ea typeface="Proxima Nova"/>
              <a:cs typeface="Proxima Nova"/>
              <a:sym typeface="Proxima Nova"/>
            </a:endParaRPr>
          </a:p>
        </p:txBody>
      </p:sp>
      <p:sp>
        <p:nvSpPr>
          <p:cNvPr id="353" name="Google Shape;353;p31"/>
          <p:cNvSpPr txBox="1"/>
          <p:nvPr/>
        </p:nvSpPr>
        <p:spPr>
          <a:xfrm>
            <a:off x="7647752" y="2138188"/>
            <a:ext cx="1157400" cy="123000"/>
          </a:xfrm>
          <a:prstGeom prst="rect">
            <a:avLst/>
          </a:prstGeom>
          <a:noFill/>
          <a:ln>
            <a:noFill/>
          </a:ln>
        </p:spPr>
        <p:txBody>
          <a:bodyPr anchorCtr="0" anchor="t" bIns="0" lIns="0" spcFirstLastPara="1" rIns="0" wrap="square" tIns="0">
            <a:spAutoFit/>
          </a:bodyPr>
          <a:lstStyle/>
          <a:p>
            <a:pPr indent="0" lvl="0" marL="0" rtl="0" algn="l">
              <a:lnSpc>
                <a:spcPct val="120000"/>
              </a:lnSpc>
              <a:spcBef>
                <a:spcPts val="500"/>
              </a:spcBef>
              <a:spcAft>
                <a:spcPts val="0"/>
              </a:spcAft>
              <a:buNone/>
            </a:pPr>
            <a:r>
              <a:rPr b="1" lang="en" sz="800">
                <a:solidFill>
                  <a:srgbClr val="455065"/>
                </a:solidFill>
                <a:latin typeface="Proxima Nova"/>
                <a:ea typeface="Proxima Nova"/>
                <a:cs typeface="Proxima Nova"/>
                <a:sym typeface="Proxima Nova"/>
              </a:rPr>
              <a:t>Vancouver, Canada </a:t>
            </a:r>
            <a:endParaRPr sz="800">
              <a:solidFill>
                <a:srgbClr val="455065"/>
              </a:solidFill>
              <a:latin typeface="Proxima Nova"/>
              <a:ea typeface="Proxima Nova"/>
              <a:cs typeface="Proxima Nova"/>
              <a:sym typeface="Proxima Nova"/>
            </a:endParaRPr>
          </a:p>
        </p:txBody>
      </p:sp>
      <p:pic>
        <p:nvPicPr>
          <p:cNvPr id="354" name="Google Shape;354;p31"/>
          <p:cNvPicPr preferRelativeResize="0"/>
          <p:nvPr/>
        </p:nvPicPr>
        <p:blipFill>
          <a:blip r:embed="rId7">
            <a:alphaModFix/>
          </a:blip>
          <a:stretch>
            <a:fillRect/>
          </a:stretch>
        </p:blipFill>
        <p:spPr>
          <a:xfrm>
            <a:off x="7528222" y="2150337"/>
            <a:ext cx="91214" cy="91209"/>
          </a:xfrm>
          <a:prstGeom prst="rect">
            <a:avLst/>
          </a:prstGeom>
          <a:noFill/>
          <a:ln>
            <a:noFill/>
          </a:ln>
        </p:spPr>
      </p:pic>
      <p:pic>
        <p:nvPicPr>
          <p:cNvPr id="355" name="Google Shape;355;p31"/>
          <p:cNvPicPr preferRelativeResize="0"/>
          <p:nvPr/>
        </p:nvPicPr>
        <p:blipFill>
          <a:blip r:embed="rId5">
            <a:alphaModFix/>
          </a:blip>
          <a:stretch>
            <a:fillRect/>
          </a:stretch>
        </p:blipFill>
        <p:spPr>
          <a:xfrm>
            <a:off x="706726" y="2283823"/>
            <a:ext cx="192346" cy="192344"/>
          </a:xfrm>
          <a:prstGeom prst="rect">
            <a:avLst/>
          </a:prstGeom>
          <a:noFill/>
          <a:ln>
            <a:noFill/>
          </a:ln>
        </p:spPr>
      </p:pic>
      <p:sp>
        <p:nvSpPr>
          <p:cNvPr id="356" name="Google Shape;356;p31"/>
          <p:cNvSpPr txBox="1"/>
          <p:nvPr/>
        </p:nvSpPr>
        <p:spPr>
          <a:xfrm>
            <a:off x="1871473" y="1741125"/>
            <a:ext cx="1203600" cy="184800"/>
          </a:xfrm>
          <a:prstGeom prst="rect">
            <a:avLst/>
          </a:prstGeom>
          <a:noFill/>
          <a:ln>
            <a:noFill/>
          </a:ln>
        </p:spPr>
        <p:txBody>
          <a:bodyPr anchorCtr="0" anchor="t" bIns="0" lIns="0" spcFirstLastPara="1" rIns="0" wrap="square" tIns="0">
            <a:spAutoFit/>
          </a:bodyPr>
          <a:lstStyle/>
          <a:p>
            <a:pPr indent="0" lvl="0" marL="0" rtl="0" algn="l">
              <a:lnSpc>
                <a:spcPct val="120000"/>
              </a:lnSpc>
              <a:spcBef>
                <a:spcPts val="500"/>
              </a:spcBef>
              <a:spcAft>
                <a:spcPts val="0"/>
              </a:spcAft>
              <a:buNone/>
            </a:pPr>
            <a:r>
              <a:rPr b="1" lang="en" sz="1200">
                <a:solidFill>
                  <a:srgbClr val="204ECF"/>
                </a:solidFill>
                <a:latin typeface="Proxima Nova"/>
                <a:ea typeface="Proxima Nova"/>
                <a:cs typeface="Proxima Nova"/>
                <a:sym typeface="Proxima Nova"/>
              </a:rPr>
              <a:t>James Kyle West</a:t>
            </a:r>
            <a:endParaRPr b="1" sz="1200">
              <a:solidFill>
                <a:srgbClr val="204ECF"/>
              </a:solidFill>
              <a:latin typeface="Proxima Nova"/>
              <a:ea typeface="Proxima Nova"/>
              <a:cs typeface="Proxima Nova"/>
              <a:sym typeface="Proxima Nova"/>
            </a:endParaRPr>
          </a:p>
        </p:txBody>
      </p:sp>
      <p:pic>
        <p:nvPicPr>
          <p:cNvPr id="357" name="Google Shape;357;p31"/>
          <p:cNvPicPr preferRelativeResize="0"/>
          <p:nvPr/>
        </p:nvPicPr>
        <p:blipFill>
          <a:blip r:embed="rId6">
            <a:alphaModFix/>
          </a:blip>
          <a:stretch>
            <a:fillRect/>
          </a:stretch>
        </p:blipFill>
        <p:spPr>
          <a:xfrm>
            <a:off x="1871470" y="1988603"/>
            <a:ext cx="91214" cy="114017"/>
          </a:xfrm>
          <a:prstGeom prst="rect">
            <a:avLst/>
          </a:prstGeom>
          <a:noFill/>
          <a:ln>
            <a:noFill/>
          </a:ln>
        </p:spPr>
      </p:pic>
      <p:sp>
        <p:nvSpPr>
          <p:cNvPr id="358" name="Google Shape;358;p31"/>
          <p:cNvSpPr txBox="1"/>
          <p:nvPr/>
        </p:nvSpPr>
        <p:spPr>
          <a:xfrm>
            <a:off x="1991000" y="1980775"/>
            <a:ext cx="1339500" cy="123000"/>
          </a:xfrm>
          <a:prstGeom prst="rect">
            <a:avLst/>
          </a:prstGeom>
          <a:noFill/>
          <a:ln>
            <a:noFill/>
          </a:ln>
        </p:spPr>
        <p:txBody>
          <a:bodyPr anchorCtr="0" anchor="t" bIns="0" lIns="0" spcFirstLastPara="1" rIns="0" wrap="square" tIns="0">
            <a:spAutoFit/>
          </a:bodyPr>
          <a:lstStyle/>
          <a:p>
            <a:pPr indent="0" lvl="0" marL="0" rtl="0" algn="l">
              <a:lnSpc>
                <a:spcPct val="120000"/>
              </a:lnSpc>
              <a:spcBef>
                <a:spcPts val="500"/>
              </a:spcBef>
              <a:spcAft>
                <a:spcPts val="0"/>
              </a:spcAft>
              <a:buNone/>
            </a:pPr>
            <a:r>
              <a:rPr b="1" lang="en" sz="800">
                <a:solidFill>
                  <a:srgbClr val="07947C"/>
                </a:solidFill>
                <a:latin typeface="Proxima Nova"/>
                <a:ea typeface="Proxima Nova"/>
                <a:cs typeface="Proxima Nova"/>
                <a:sym typeface="Proxima Nova"/>
              </a:rPr>
              <a:t>Tech Lead</a:t>
            </a:r>
            <a:endParaRPr sz="800">
              <a:solidFill>
                <a:srgbClr val="07947C"/>
              </a:solidFill>
              <a:latin typeface="Proxima Nova"/>
              <a:ea typeface="Proxima Nova"/>
              <a:cs typeface="Proxima Nova"/>
              <a:sym typeface="Proxima Nova"/>
            </a:endParaRPr>
          </a:p>
        </p:txBody>
      </p:sp>
      <p:sp>
        <p:nvSpPr>
          <p:cNvPr id="359" name="Google Shape;359;p31"/>
          <p:cNvSpPr txBox="1"/>
          <p:nvPr/>
        </p:nvSpPr>
        <p:spPr>
          <a:xfrm>
            <a:off x="1990997" y="2141400"/>
            <a:ext cx="1038000" cy="123000"/>
          </a:xfrm>
          <a:prstGeom prst="rect">
            <a:avLst/>
          </a:prstGeom>
          <a:noFill/>
          <a:ln>
            <a:noFill/>
          </a:ln>
        </p:spPr>
        <p:txBody>
          <a:bodyPr anchorCtr="0" anchor="t" bIns="0" lIns="0" spcFirstLastPara="1" rIns="0" wrap="square" tIns="0">
            <a:spAutoFit/>
          </a:bodyPr>
          <a:lstStyle/>
          <a:p>
            <a:pPr indent="0" lvl="0" marL="0" rtl="0" algn="l">
              <a:lnSpc>
                <a:spcPct val="120000"/>
              </a:lnSpc>
              <a:spcBef>
                <a:spcPts val="500"/>
              </a:spcBef>
              <a:spcAft>
                <a:spcPts val="0"/>
              </a:spcAft>
              <a:buNone/>
            </a:pPr>
            <a:r>
              <a:rPr b="1" lang="en" sz="800">
                <a:solidFill>
                  <a:srgbClr val="455065"/>
                </a:solidFill>
                <a:latin typeface="Proxima Nova"/>
                <a:ea typeface="Proxima Nova"/>
                <a:cs typeface="Proxima Nova"/>
                <a:sym typeface="Proxima Nova"/>
              </a:rPr>
              <a:t>Centennial, CO</a:t>
            </a:r>
            <a:endParaRPr sz="800">
              <a:solidFill>
                <a:srgbClr val="455065"/>
              </a:solidFill>
              <a:latin typeface="Proxima Nova"/>
              <a:ea typeface="Proxima Nova"/>
              <a:cs typeface="Proxima Nova"/>
              <a:sym typeface="Proxima Nova"/>
            </a:endParaRPr>
          </a:p>
        </p:txBody>
      </p:sp>
      <p:pic>
        <p:nvPicPr>
          <p:cNvPr id="360" name="Google Shape;360;p31"/>
          <p:cNvPicPr preferRelativeResize="0"/>
          <p:nvPr/>
        </p:nvPicPr>
        <p:blipFill>
          <a:blip r:embed="rId7">
            <a:alphaModFix/>
          </a:blip>
          <a:stretch>
            <a:fillRect/>
          </a:stretch>
        </p:blipFill>
        <p:spPr>
          <a:xfrm>
            <a:off x="1871470" y="2153550"/>
            <a:ext cx="91214" cy="91209"/>
          </a:xfrm>
          <a:prstGeom prst="rect">
            <a:avLst/>
          </a:prstGeom>
          <a:noFill/>
          <a:ln>
            <a:noFill/>
          </a:ln>
        </p:spPr>
      </p:pic>
      <p:pic>
        <p:nvPicPr>
          <p:cNvPr id="361" name="Google Shape;361;p31"/>
          <p:cNvPicPr preferRelativeResize="0"/>
          <p:nvPr>
            <p:ph idx="4" type="pic"/>
          </p:nvPr>
        </p:nvPicPr>
        <p:blipFill rotWithShape="1">
          <a:blip r:embed="rId8">
            <a:alphaModFix/>
          </a:blip>
          <a:srcRect b="0" l="0" r="0" t="0"/>
          <a:stretch/>
        </p:blipFill>
        <p:spPr>
          <a:xfrm>
            <a:off x="3427675" y="1580938"/>
            <a:ext cx="885601" cy="885601"/>
          </a:xfrm>
          <a:prstGeom prst="rect">
            <a:avLst/>
          </a:prstGeom>
          <a:noFill/>
          <a:ln>
            <a:noFill/>
          </a:ln>
        </p:spPr>
      </p:pic>
      <p:pic>
        <p:nvPicPr>
          <p:cNvPr id="362" name="Google Shape;362;p31"/>
          <p:cNvPicPr preferRelativeResize="0"/>
          <p:nvPr/>
        </p:nvPicPr>
        <p:blipFill>
          <a:blip r:embed="rId5">
            <a:alphaModFix/>
          </a:blip>
          <a:stretch>
            <a:fillRect/>
          </a:stretch>
        </p:blipFill>
        <p:spPr>
          <a:xfrm>
            <a:off x="3409101" y="2280610"/>
            <a:ext cx="192346" cy="192344"/>
          </a:xfrm>
          <a:prstGeom prst="rect">
            <a:avLst/>
          </a:prstGeom>
          <a:noFill/>
          <a:ln>
            <a:noFill/>
          </a:ln>
        </p:spPr>
      </p:pic>
      <p:sp>
        <p:nvSpPr>
          <p:cNvPr id="363" name="Google Shape;363;p31"/>
          <p:cNvSpPr txBox="1"/>
          <p:nvPr/>
        </p:nvSpPr>
        <p:spPr>
          <a:xfrm>
            <a:off x="4573849" y="1737913"/>
            <a:ext cx="1335900" cy="184800"/>
          </a:xfrm>
          <a:prstGeom prst="rect">
            <a:avLst/>
          </a:prstGeom>
          <a:noFill/>
          <a:ln>
            <a:noFill/>
          </a:ln>
        </p:spPr>
        <p:txBody>
          <a:bodyPr anchorCtr="0" anchor="t" bIns="0" lIns="0" spcFirstLastPara="1" rIns="0" wrap="square" tIns="0">
            <a:spAutoFit/>
          </a:bodyPr>
          <a:lstStyle/>
          <a:p>
            <a:pPr indent="0" lvl="0" marL="0" rtl="0" algn="l">
              <a:lnSpc>
                <a:spcPct val="120000"/>
              </a:lnSpc>
              <a:spcBef>
                <a:spcPts val="500"/>
              </a:spcBef>
              <a:spcAft>
                <a:spcPts val="0"/>
              </a:spcAft>
              <a:buNone/>
            </a:pPr>
            <a:r>
              <a:rPr b="1" lang="en" sz="1200">
                <a:solidFill>
                  <a:srgbClr val="204ECF"/>
                </a:solidFill>
                <a:latin typeface="Proxima Nova"/>
                <a:ea typeface="Proxima Nova"/>
                <a:cs typeface="Proxima Nova"/>
                <a:sym typeface="Proxima Nova"/>
              </a:rPr>
              <a:t>David Diatikar</a:t>
            </a:r>
            <a:endParaRPr b="1" sz="1200">
              <a:solidFill>
                <a:srgbClr val="204ECF"/>
              </a:solidFill>
              <a:latin typeface="Proxima Nova"/>
              <a:ea typeface="Proxima Nova"/>
              <a:cs typeface="Proxima Nova"/>
              <a:sym typeface="Proxima Nova"/>
            </a:endParaRPr>
          </a:p>
        </p:txBody>
      </p:sp>
      <p:pic>
        <p:nvPicPr>
          <p:cNvPr id="364" name="Google Shape;364;p31"/>
          <p:cNvPicPr preferRelativeResize="0"/>
          <p:nvPr/>
        </p:nvPicPr>
        <p:blipFill>
          <a:blip r:embed="rId6">
            <a:alphaModFix/>
          </a:blip>
          <a:stretch>
            <a:fillRect/>
          </a:stretch>
        </p:blipFill>
        <p:spPr>
          <a:xfrm>
            <a:off x="4573845" y="1985391"/>
            <a:ext cx="91214" cy="114017"/>
          </a:xfrm>
          <a:prstGeom prst="rect">
            <a:avLst/>
          </a:prstGeom>
          <a:noFill/>
          <a:ln>
            <a:noFill/>
          </a:ln>
        </p:spPr>
      </p:pic>
      <p:sp>
        <p:nvSpPr>
          <p:cNvPr id="365" name="Google Shape;365;p31"/>
          <p:cNvSpPr txBox="1"/>
          <p:nvPr/>
        </p:nvSpPr>
        <p:spPr>
          <a:xfrm>
            <a:off x="4693375" y="1977563"/>
            <a:ext cx="1290000" cy="123000"/>
          </a:xfrm>
          <a:prstGeom prst="rect">
            <a:avLst/>
          </a:prstGeom>
          <a:noFill/>
          <a:ln>
            <a:noFill/>
          </a:ln>
        </p:spPr>
        <p:txBody>
          <a:bodyPr anchorCtr="0" anchor="t" bIns="0" lIns="0" spcFirstLastPara="1" rIns="0" wrap="square" tIns="0">
            <a:spAutoFit/>
          </a:bodyPr>
          <a:lstStyle/>
          <a:p>
            <a:pPr indent="0" lvl="0" marL="0" rtl="0" algn="l">
              <a:lnSpc>
                <a:spcPct val="120000"/>
              </a:lnSpc>
              <a:spcBef>
                <a:spcPts val="500"/>
              </a:spcBef>
              <a:spcAft>
                <a:spcPts val="0"/>
              </a:spcAft>
              <a:buNone/>
            </a:pPr>
            <a:r>
              <a:rPr b="1" lang="en" sz="800">
                <a:solidFill>
                  <a:srgbClr val="07947C"/>
                </a:solidFill>
                <a:latin typeface="Proxima Nova"/>
                <a:ea typeface="Proxima Nova"/>
                <a:cs typeface="Proxima Nova"/>
                <a:sym typeface="Proxima Nova"/>
              </a:rPr>
              <a:t>Project / Product Manager</a:t>
            </a:r>
            <a:endParaRPr sz="800">
              <a:solidFill>
                <a:srgbClr val="07947C"/>
              </a:solidFill>
              <a:latin typeface="Proxima Nova"/>
              <a:ea typeface="Proxima Nova"/>
              <a:cs typeface="Proxima Nova"/>
              <a:sym typeface="Proxima Nova"/>
            </a:endParaRPr>
          </a:p>
        </p:txBody>
      </p:sp>
      <p:sp>
        <p:nvSpPr>
          <p:cNvPr id="366" name="Google Shape;366;p31"/>
          <p:cNvSpPr txBox="1"/>
          <p:nvPr/>
        </p:nvSpPr>
        <p:spPr>
          <a:xfrm>
            <a:off x="4693375" y="2138188"/>
            <a:ext cx="1157400" cy="123000"/>
          </a:xfrm>
          <a:prstGeom prst="rect">
            <a:avLst/>
          </a:prstGeom>
          <a:noFill/>
          <a:ln>
            <a:noFill/>
          </a:ln>
        </p:spPr>
        <p:txBody>
          <a:bodyPr anchorCtr="0" anchor="t" bIns="0" lIns="0" spcFirstLastPara="1" rIns="0" wrap="square" tIns="0">
            <a:spAutoFit/>
          </a:bodyPr>
          <a:lstStyle/>
          <a:p>
            <a:pPr indent="0" lvl="0" marL="0" rtl="0" algn="l">
              <a:lnSpc>
                <a:spcPct val="120000"/>
              </a:lnSpc>
              <a:spcBef>
                <a:spcPts val="500"/>
              </a:spcBef>
              <a:spcAft>
                <a:spcPts val="0"/>
              </a:spcAft>
              <a:buNone/>
            </a:pPr>
            <a:r>
              <a:rPr b="1" lang="en" sz="800">
                <a:solidFill>
                  <a:srgbClr val="455065"/>
                </a:solidFill>
                <a:latin typeface="Proxima Nova"/>
                <a:ea typeface="Proxima Nova"/>
                <a:cs typeface="Proxima Nova"/>
                <a:sym typeface="Proxima Nova"/>
              </a:rPr>
              <a:t>San Antonio, TX</a:t>
            </a:r>
            <a:endParaRPr sz="800">
              <a:solidFill>
                <a:srgbClr val="455065"/>
              </a:solidFill>
              <a:latin typeface="Proxima Nova"/>
              <a:ea typeface="Proxima Nova"/>
              <a:cs typeface="Proxima Nova"/>
              <a:sym typeface="Proxima Nova"/>
            </a:endParaRPr>
          </a:p>
        </p:txBody>
      </p:sp>
      <p:pic>
        <p:nvPicPr>
          <p:cNvPr id="367" name="Google Shape;367;p31"/>
          <p:cNvPicPr preferRelativeResize="0"/>
          <p:nvPr/>
        </p:nvPicPr>
        <p:blipFill>
          <a:blip r:embed="rId7">
            <a:alphaModFix/>
          </a:blip>
          <a:stretch>
            <a:fillRect/>
          </a:stretch>
        </p:blipFill>
        <p:spPr>
          <a:xfrm>
            <a:off x="4573845" y="2150337"/>
            <a:ext cx="91214" cy="91209"/>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2" name="Shape 372"/>
        <p:cNvGrpSpPr/>
        <p:nvPr/>
      </p:nvGrpSpPr>
      <p:grpSpPr>
        <a:xfrm>
          <a:off x="0" y="0"/>
          <a:ext cx="0" cy="0"/>
          <a:chOff x="0" y="0"/>
          <a:chExt cx="0" cy="0"/>
        </a:xfrm>
      </p:grpSpPr>
      <p:sp>
        <p:nvSpPr>
          <p:cNvPr id="373" name="Google Shape;373;p32"/>
          <p:cNvSpPr/>
          <p:nvPr/>
        </p:nvSpPr>
        <p:spPr>
          <a:xfrm>
            <a:off x="480073" y="425196"/>
            <a:ext cx="6858300" cy="20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5AAC"/>
              </a:buClr>
              <a:buSzPts val="900"/>
              <a:buFont typeface="Calibri"/>
              <a:buNone/>
            </a:pPr>
            <a:r>
              <a:rPr b="1" lang="en" sz="900">
                <a:solidFill>
                  <a:srgbClr val="2E5AAC"/>
                </a:solidFill>
                <a:latin typeface="Proxima Nova"/>
                <a:ea typeface="Proxima Nova"/>
                <a:cs typeface="Proxima Nova"/>
                <a:sym typeface="Proxima Nova"/>
              </a:rPr>
              <a:t>PROJECT SUCCESS AGREEMENT</a:t>
            </a:r>
            <a:endParaRPr b="0" i="0" sz="900" u="none" cap="none" strike="noStrike">
              <a:solidFill>
                <a:schemeClr val="dk1"/>
              </a:solidFill>
              <a:latin typeface="Calibri"/>
              <a:ea typeface="Calibri"/>
              <a:cs typeface="Calibri"/>
              <a:sym typeface="Calibri"/>
            </a:endParaRPr>
          </a:p>
        </p:txBody>
      </p:sp>
      <p:sp>
        <p:nvSpPr>
          <p:cNvPr id="374" name="Google Shape;374;p32"/>
          <p:cNvSpPr/>
          <p:nvPr/>
        </p:nvSpPr>
        <p:spPr>
          <a:xfrm>
            <a:off x="480073" y="1153021"/>
            <a:ext cx="6858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890"/>
              </a:buClr>
              <a:buSzPts val="1100"/>
              <a:buFont typeface="Calibri"/>
              <a:buNone/>
            </a:pPr>
            <a:r>
              <a:rPr lang="en" sz="1100">
                <a:solidFill>
                  <a:srgbClr val="041133"/>
                </a:solidFill>
                <a:latin typeface="Proxima Nova"/>
                <a:ea typeface="Proxima Nova"/>
                <a:cs typeface="Proxima Nova"/>
                <a:sym typeface="Proxima Nova"/>
              </a:rPr>
              <a:t>Our draft understanding — please confirm, correct, or add.</a:t>
            </a:r>
            <a:endParaRPr sz="1100">
              <a:solidFill>
                <a:srgbClr val="041133"/>
              </a:solidFill>
              <a:latin typeface="Proxima Nova"/>
              <a:ea typeface="Proxima Nova"/>
              <a:cs typeface="Proxima Nova"/>
              <a:sym typeface="Proxima Nova"/>
            </a:endParaRPr>
          </a:p>
        </p:txBody>
      </p:sp>
      <p:sp>
        <p:nvSpPr>
          <p:cNvPr id="375" name="Google Shape;375;p32"/>
          <p:cNvSpPr/>
          <p:nvPr/>
        </p:nvSpPr>
        <p:spPr>
          <a:xfrm>
            <a:off x="480073" y="1564501"/>
            <a:ext cx="8184000" cy="877800"/>
          </a:xfrm>
          <a:prstGeom prst="roundRect">
            <a:avLst>
              <a:gd fmla="val 6250" name="adj"/>
            </a:avLst>
          </a:prstGeom>
          <a:solidFill>
            <a:srgbClr val="FFFFFF"/>
          </a:solidFill>
          <a:ln cap="flat" cmpd="sng" w="9525">
            <a:solidFill>
              <a:srgbClr val="D3DCEC"/>
            </a:solidFill>
            <a:prstDash val="solid"/>
            <a:round/>
            <a:headEnd len="sm" w="sm" type="none"/>
            <a:tailEnd len="sm" w="sm" type="none"/>
          </a:ln>
          <a:effectLst>
            <a:outerShdw blurRad="85727" rotWithShape="0" algn="bl" dir="5400000" dist="28576">
              <a:srgbClr val="0B1836">
                <a:alpha val="16080"/>
              </a:srgbClr>
            </a:outerShdw>
          </a:effectLst>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76" name="Google Shape;376;p32"/>
          <p:cNvSpPr/>
          <p:nvPr/>
        </p:nvSpPr>
        <p:spPr>
          <a:xfrm>
            <a:off x="699535" y="1763383"/>
            <a:ext cx="480300" cy="480300"/>
          </a:xfrm>
          <a:prstGeom prst="ellipse">
            <a:avLst/>
          </a:prstGeom>
          <a:solidFill>
            <a:srgbClr val="E6EBF5"/>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77" name="Google Shape;377;p32"/>
          <p:cNvSpPr/>
          <p:nvPr/>
        </p:nvSpPr>
        <p:spPr>
          <a:xfrm>
            <a:off x="1371637" y="1620242"/>
            <a:ext cx="70866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264D"/>
              </a:buClr>
              <a:buSzPts val="1200"/>
              <a:buFont typeface="Calibri"/>
              <a:buNone/>
            </a:pPr>
            <a:r>
              <a:rPr b="1" lang="en" sz="1200">
                <a:solidFill>
                  <a:schemeClr val="dk1"/>
                </a:solidFill>
                <a:latin typeface="Proxima Nova"/>
                <a:ea typeface="Proxima Nova"/>
                <a:cs typeface="Proxima Nova"/>
                <a:sym typeface="Proxima Nova"/>
              </a:rPr>
              <a:t>Why are we doing this?</a:t>
            </a:r>
            <a:endParaRPr b="0" i="0" sz="1200" u="none" cap="none" strike="noStrike">
              <a:solidFill>
                <a:schemeClr val="dk1"/>
              </a:solidFill>
              <a:latin typeface="Calibri"/>
              <a:ea typeface="Calibri"/>
              <a:cs typeface="Calibri"/>
              <a:sym typeface="Calibri"/>
            </a:endParaRPr>
          </a:p>
        </p:txBody>
      </p:sp>
      <p:sp>
        <p:nvSpPr>
          <p:cNvPr id="378" name="Google Shape;378;p32"/>
          <p:cNvSpPr/>
          <p:nvPr/>
        </p:nvSpPr>
        <p:spPr>
          <a:xfrm>
            <a:off x="1371625" y="1835457"/>
            <a:ext cx="7086600" cy="593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AA6BC"/>
              </a:buClr>
              <a:buSzPts val="1000"/>
              <a:buFont typeface="Calibri"/>
              <a:buNone/>
            </a:pPr>
            <a:r>
              <a:rPr lang="en" sz="900">
                <a:solidFill>
                  <a:schemeClr val="dk1"/>
                </a:solidFill>
                <a:latin typeface="Calibri"/>
                <a:ea typeface="Calibri"/>
                <a:cs typeface="Calibri"/>
                <a:sym typeface="Calibri"/>
              </a:rPr>
              <a:t>Equus’s</a:t>
            </a:r>
            <a:r>
              <a:rPr lang="en" sz="900">
                <a:solidFill>
                  <a:schemeClr val="dk1"/>
                </a:solidFill>
                <a:latin typeface="Calibri"/>
                <a:ea typeface="Calibri"/>
                <a:cs typeface="Calibri"/>
                <a:sym typeface="Calibri"/>
              </a:rPr>
              <a:t> JD Edwards EnterpriseOne environment (28 workloads) runs on general-purpose Azure VMs. It sits on an unsupported legacy stack: JDE E1 8.0, SQL Server 2000, Windows Server 2003, and Windows XP dev seats. There is no formalized DR, backup governance, or SLA. This engagement relocates the environment onto a secure, supported, and governed Oracle Cloud Infrastructure (OCI) platform without changing the application.</a:t>
            </a:r>
            <a:endParaRPr sz="900" u="none" cap="none" strike="noStrike">
              <a:solidFill>
                <a:schemeClr val="dk1"/>
              </a:solidFill>
              <a:latin typeface="Calibri"/>
              <a:ea typeface="Calibri"/>
              <a:cs typeface="Calibri"/>
              <a:sym typeface="Calibri"/>
            </a:endParaRPr>
          </a:p>
        </p:txBody>
      </p:sp>
      <p:sp>
        <p:nvSpPr>
          <p:cNvPr id="379" name="Google Shape;379;p32"/>
          <p:cNvSpPr/>
          <p:nvPr/>
        </p:nvSpPr>
        <p:spPr>
          <a:xfrm>
            <a:off x="480073" y="2552053"/>
            <a:ext cx="8184000" cy="877800"/>
          </a:xfrm>
          <a:prstGeom prst="roundRect">
            <a:avLst>
              <a:gd fmla="val 6250" name="adj"/>
            </a:avLst>
          </a:prstGeom>
          <a:solidFill>
            <a:srgbClr val="FFFFFF"/>
          </a:solidFill>
          <a:ln cap="flat" cmpd="sng" w="9525">
            <a:solidFill>
              <a:srgbClr val="D3DCEC"/>
            </a:solidFill>
            <a:prstDash val="solid"/>
            <a:round/>
            <a:headEnd len="sm" w="sm" type="none"/>
            <a:tailEnd len="sm" w="sm" type="none"/>
          </a:ln>
          <a:effectLst>
            <a:outerShdw blurRad="85727" rotWithShape="0" algn="bl" dir="5400000" dist="28576">
              <a:srgbClr val="0B1836">
                <a:alpha val="16080"/>
              </a:srgbClr>
            </a:outerShdw>
          </a:effectLst>
        </p:spPr>
        <p:txBody>
          <a:bodyPr anchorCtr="0" anchor="ctr" bIns="68575" lIns="68575" spcFirstLastPara="1" rIns="68575" wrap="square" tIns="68575">
            <a:noAutofit/>
          </a:bodyPr>
          <a:lstStyle/>
          <a:p>
            <a:pPr indent="0" lvl="0" marL="0" rtl="0" algn="l">
              <a:spcBef>
                <a:spcPts val="0"/>
              </a:spcBef>
              <a:spcAft>
                <a:spcPts val="0"/>
              </a:spcAft>
              <a:buNone/>
            </a:pPr>
            <a:r>
              <a:t/>
            </a:r>
            <a:endParaRPr b="1" sz="1200">
              <a:solidFill>
                <a:schemeClr val="dk1"/>
              </a:solidFill>
              <a:latin typeface="Proxima Nova"/>
              <a:ea typeface="Proxima Nova"/>
              <a:cs typeface="Proxima Nova"/>
              <a:sym typeface="Proxima Nova"/>
            </a:endParaRPr>
          </a:p>
        </p:txBody>
      </p:sp>
      <p:sp>
        <p:nvSpPr>
          <p:cNvPr id="380" name="Google Shape;380;p32"/>
          <p:cNvSpPr/>
          <p:nvPr/>
        </p:nvSpPr>
        <p:spPr>
          <a:xfrm>
            <a:off x="699535" y="2750935"/>
            <a:ext cx="480300" cy="480300"/>
          </a:xfrm>
          <a:prstGeom prst="ellipse">
            <a:avLst/>
          </a:prstGeom>
          <a:solidFill>
            <a:srgbClr val="E6EBF5"/>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81" name="Google Shape;381;p32"/>
          <p:cNvSpPr/>
          <p:nvPr/>
        </p:nvSpPr>
        <p:spPr>
          <a:xfrm>
            <a:off x="1371637" y="2589005"/>
            <a:ext cx="70866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264D"/>
              </a:buClr>
              <a:buSzPts val="1200"/>
              <a:buFont typeface="Calibri"/>
              <a:buNone/>
            </a:pPr>
            <a:r>
              <a:rPr b="1" lang="en" sz="1200">
                <a:solidFill>
                  <a:schemeClr val="dk1"/>
                </a:solidFill>
                <a:latin typeface="Proxima Nova"/>
                <a:ea typeface="Proxima Nova"/>
                <a:cs typeface="Proxima Nova"/>
                <a:sym typeface="Proxima Nova"/>
              </a:rPr>
              <a:t>What problem are we solving?</a:t>
            </a:r>
            <a:endParaRPr b="1" sz="1200">
              <a:solidFill>
                <a:schemeClr val="dk1"/>
              </a:solidFill>
              <a:latin typeface="Proxima Nova"/>
              <a:ea typeface="Proxima Nova"/>
              <a:cs typeface="Proxima Nova"/>
              <a:sym typeface="Proxima Nova"/>
            </a:endParaRPr>
          </a:p>
        </p:txBody>
      </p:sp>
      <p:sp>
        <p:nvSpPr>
          <p:cNvPr id="382" name="Google Shape;382;p32"/>
          <p:cNvSpPr/>
          <p:nvPr/>
        </p:nvSpPr>
        <p:spPr>
          <a:xfrm>
            <a:off x="1371625" y="2812102"/>
            <a:ext cx="7086600" cy="626400"/>
          </a:xfrm>
          <a:prstGeom prst="rect">
            <a:avLst/>
          </a:prstGeom>
          <a:noFill/>
          <a:ln>
            <a:noFill/>
          </a:ln>
        </p:spPr>
        <p:txBody>
          <a:bodyPr anchorCtr="0" anchor="ctr" bIns="0" lIns="0" spcFirstLastPara="1" rIns="0" wrap="square" tIns="0">
            <a:noAutofit/>
          </a:bodyPr>
          <a:lstStyle/>
          <a:p>
            <a:pPr indent="-200025" lvl="0" marL="257175" marR="0" rtl="0" algn="l">
              <a:lnSpc>
                <a:spcPct val="100000"/>
              </a:lnSpc>
              <a:spcBef>
                <a:spcPts val="0"/>
              </a:spcBef>
              <a:spcAft>
                <a:spcPts val="0"/>
              </a:spcAft>
              <a:buClr>
                <a:schemeClr val="dk1"/>
              </a:buClr>
              <a:buSzPts val="900"/>
              <a:buChar char="●"/>
            </a:pPr>
            <a:r>
              <a:rPr lang="en" sz="900">
                <a:solidFill>
                  <a:schemeClr val="dk1"/>
                </a:solidFill>
                <a:latin typeface="Calibri"/>
                <a:ea typeface="Calibri"/>
                <a:cs typeface="Calibri"/>
                <a:sym typeface="Calibri"/>
              </a:rPr>
              <a:t>Unsupported operating systems and databases have limited security containment</a:t>
            </a:r>
            <a:endParaRPr sz="900">
              <a:solidFill>
                <a:schemeClr val="dk1"/>
              </a:solidFill>
              <a:latin typeface="Calibri"/>
              <a:ea typeface="Calibri"/>
              <a:cs typeface="Calibri"/>
              <a:sym typeface="Calibri"/>
            </a:endParaRPr>
          </a:p>
          <a:p>
            <a:pPr indent="-200025" lvl="0" marL="257175" marR="0" rtl="0" algn="l">
              <a:lnSpc>
                <a:spcPct val="100000"/>
              </a:lnSpc>
              <a:spcBef>
                <a:spcPts val="0"/>
              </a:spcBef>
              <a:spcAft>
                <a:spcPts val="0"/>
              </a:spcAft>
              <a:buClr>
                <a:schemeClr val="dk1"/>
              </a:buClr>
              <a:buSzPts val="900"/>
              <a:buChar char="●"/>
            </a:pPr>
            <a:r>
              <a:rPr lang="en" sz="900">
                <a:solidFill>
                  <a:schemeClr val="dk1"/>
                </a:solidFill>
                <a:latin typeface="Calibri"/>
                <a:ea typeface="Calibri"/>
                <a:cs typeface="Calibri"/>
                <a:sym typeface="Calibri"/>
              </a:rPr>
              <a:t>No formalized disaster recovery, backup governance, or SLAs</a:t>
            </a:r>
            <a:endParaRPr sz="900">
              <a:solidFill>
                <a:schemeClr val="dk1"/>
              </a:solidFill>
              <a:latin typeface="Calibri"/>
              <a:ea typeface="Calibri"/>
              <a:cs typeface="Calibri"/>
              <a:sym typeface="Calibri"/>
            </a:endParaRPr>
          </a:p>
          <a:p>
            <a:pPr indent="-200025" lvl="0" marL="257175" marR="0" rtl="0" algn="l">
              <a:lnSpc>
                <a:spcPct val="100000"/>
              </a:lnSpc>
              <a:spcBef>
                <a:spcPts val="0"/>
              </a:spcBef>
              <a:spcAft>
                <a:spcPts val="0"/>
              </a:spcAft>
              <a:buClr>
                <a:schemeClr val="dk1"/>
              </a:buClr>
              <a:buSzPts val="900"/>
              <a:buChar char="●"/>
            </a:pPr>
            <a:r>
              <a:rPr lang="en" sz="900">
                <a:solidFill>
                  <a:schemeClr val="dk1"/>
                </a:solidFill>
                <a:latin typeface="Calibri"/>
                <a:ea typeface="Calibri"/>
                <a:cs typeface="Calibri"/>
                <a:sym typeface="Calibri"/>
              </a:rPr>
              <a:t>Operational ownership is fragmented and support is reactive</a:t>
            </a:r>
            <a:endParaRPr sz="900">
              <a:solidFill>
                <a:schemeClr val="dk1"/>
              </a:solidFill>
              <a:latin typeface="Calibri"/>
              <a:ea typeface="Calibri"/>
              <a:cs typeface="Calibri"/>
              <a:sym typeface="Calibri"/>
            </a:endParaRPr>
          </a:p>
          <a:p>
            <a:pPr indent="-200025" lvl="0" marL="257175" marR="0" rtl="0" algn="l">
              <a:lnSpc>
                <a:spcPct val="100000"/>
              </a:lnSpc>
              <a:spcBef>
                <a:spcPts val="0"/>
              </a:spcBef>
              <a:spcAft>
                <a:spcPts val="0"/>
              </a:spcAft>
              <a:buClr>
                <a:schemeClr val="dk1"/>
              </a:buClr>
              <a:buSzPts val="900"/>
              <a:buChar char="●"/>
            </a:pPr>
            <a:r>
              <a:rPr lang="en" sz="900">
                <a:solidFill>
                  <a:schemeClr val="dk1"/>
                </a:solidFill>
                <a:latin typeface="Calibri"/>
                <a:ea typeface="Calibri"/>
                <a:cs typeface="Calibri"/>
                <a:sym typeface="Calibri"/>
              </a:rPr>
              <a:t>Azure configuration is not fully documented, and some JDE 8.0 dependencies are undocumented</a:t>
            </a:r>
            <a:endParaRPr sz="900">
              <a:solidFill>
                <a:schemeClr val="dk1"/>
              </a:solidFill>
              <a:latin typeface="Calibri"/>
              <a:ea typeface="Calibri"/>
              <a:cs typeface="Calibri"/>
              <a:sym typeface="Calibri"/>
            </a:endParaRPr>
          </a:p>
        </p:txBody>
      </p:sp>
      <p:sp>
        <p:nvSpPr>
          <p:cNvPr id="383" name="Google Shape;383;p32"/>
          <p:cNvSpPr/>
          <p:nvPr/>
        </p:nvSpPr>
        <p:spPr>
          <a:xfrm>
            <a:off x="480075" y="3539606"/>
            <a:ext cx="8184000" cy="1470900"/>
          </a:xfrm>
          <a:prstGeom prst="roundRect">
            <a:avLst>
              <a:gd fmla="val 6250" name="adj"/>
            </a:avLst>
          </a:prstGeom>
          <a:solidFill>
            <a:srgbClr val="FFFFFF"/>
          </a:solidFill>
          <a:ln cap="flat" cmpd="sng" w="9525">
            <a:solidFill>
              <a:srgbClr val="D3DCEC"/>
            </a:solidFill>
            <a:prstDash val="solid"/>
            <a:round/>
            <a:headEnd len="sm" w="sm" type="none"/>
            <a:tailEnd len="sm" w="sm" type="none"/>
          </a:ln>
          <a:effectLst>
            <a:outerShdw blurRad="85727" rotWithShape="0" algn="bl" dir="5400000" dist="28576">
              <a:srgbClr val="0B1836">
                <a:alpha val="16080"/>
              </a:srgbClr>
            </a:outerShdw>
          </a:effectLst>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84" name="Google Shape;384;p32"/>
          <p:cNvSpPr/>
          <p:nvPr/>
        </p:nvSpPr>
        <p:spPr>
          <a:xfrm>
            <a:off x="699535" y="3738487"/>
            <a:ext cx="480300" cy="480300"/>
          </a:xfrm>
          <a:prstGeom prst="ellipse">
            <a:avLst/>
          </a:prstGeom>
          <a:solidFill>
            <a:srgbClr val="E6EBF5"/>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85" name="Google Shape;385;p32"/>
          <p:cNvSpPr/>
          <p:nvPr/>
        </p:nvSpPr>
        <p:spPr>
          <a:xfrm>
            <a:off x="1371637" y="3582820"/>
            <a:ext cx="7086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4264D"/>
              </a:buClr>
              <a:buSzPts val="1200"/>
              <a:buFont typeface="Calibri"/>
              <a:buNone/>
            </a:pPr>
            <a:r>
              <a:rPr b="1" i="0" lang="en" sz="1200" u="none" cap="none" strike="noStrike">
                <a:solidFill>
                  <a:srgbClr val="14264D"/>
                </a:solidFill>
                <a:latin typeface="Calibri"/>
                <a:ea typeface="Calibri"/>
                <a:cs typeface="Calibri"/>
                <a:sym typeface="Calibri"/>
              </a:rPr>
              <a:t>What does </a:t>
            </a:r>
            <a:r>
              <a:rPr b="1" lang="en" sz="1200">
                <a:solidFill>
                  <a:schemeClr val="dk1"/>
                </a:solidFill>
                <a:latin typeface="Proxima Nova"/>
                <a:ea typeface="Proxima Nova"/>
                <a:cs typeface="Proxima Nova"/>
                <a:sym typeface="Proxima Nova"/>
              </a:rPr>
              <a:t>success</a:t>
            </a:r>
            <a:r>
              <a:rPr b="1" i="0" lang="en" sz="1200" u="none" cap="none" strike="noStrike">
                <a:solidFill>
                  <a:srgbClr val="14264D"/>
                </a:solidFill>
                <a:latin typeface="Calibri"/>
                <a:ea typeface="Calibri"/>
                <a:cs typeface="Calibri"/>
                <a:sym typeface="Calibri"/>
              </a:rPr>
              <a:t> look like?</a:t>
            </a:r>
            <a:endParaRPr b="0" i="0" sz="1200" u="none" cap="none" strike="noStrike">
              <a:solidFill>
                <a:schemeClr val="dk1"/>
              </a:solidFill>
              <a:latin typeface="Calibri"/>
              <a:ea typeface="Calibri"/>
              <a:cs typeface="Calibri"/>
              <a:sym typeface="Calibri"/>
            </a:endParaRPr>
          </a:p>
        </p:txBody>
      </p:sp>
      <p:sp>
        <p:nvSpPr>
          <p:cNvPr id="386" name="Google Shape;386;p32"/>
          <p:cNvSpPr/>
          <p:nvPr/>
        </p:nvSpPr>
        <p:spPr>
          <a:xfrm>
            <a:off x="1371625" y="3829381"/>
            <a:ext cx="7221300" cy="1133700"/>
          </a:xfrm>
          <a:prstGeom prst="rect">
            <a:avLst/>
          </a:prstGeom>
          <a:noFill/>
          <a:ln>
            <a:noFill/>
          </a:ln>
        </p:spPr>
        <p:txBody>
          <a:bodyPr anchorCtr="0" anchor="ctr" bIns="0" lIns="0" spcFirstLastPara="1" rIns="0" wrap="square" tIns="0">
            <a:noAutofit/>
          </a:bodyPr>
          <a:lstStyle/>
          <a:p>
            <a:pPr indent="-200025" lvl="0" marL="257175" marR="0" rtl="0" algn="l">
              <a:lnSpc>
                <a:spcPct val="100000"/>
              </a:lnSpc>
              <a:spcBef>
                <a:spcPts val="0"/>
              </a:spcBef>
              <a:spcAft>
                <a:spcPts val="0"/>
              </a:spcAft>
              <a:buClr>
                <a:schemeClr val="dk1"/>
              </a:buClr>
              <a:buSzPts val="900"/>
              <a:buChar char="●"/>
            </a:pPr>
            <a:r>
              <a:rPr lang="en" sz="900">
                <a:solidFill>
                  <a:schemeClr val="dk1"/>
                </a:solidFill>
                <a:latin typeface="Calibri"/>
                <a:ea typeface="Calibri"/>
                <a:cs typeface="Calibri"/>
                <a:sym typeface="Calibri"/>
              </a:rPr>
              <a:t>All 28 workloads migrated to OCI with no application change and zero planned data loss</a:t>
            </a:r>
            <a:endParaRPr sz="900">
              <a:solidFill>
                <a:schemeClr val="dk1"/>
              </a:solidFill>
              <a:latin typeface="Calibri"/>
              <a:ea typeface="Calibri"/>
              <a:cs typeface="Calibri"/>
              <a:sym typeface="Calibri"/>
            </a:endParaRPr>
          </a:p>
          <a:p>
            <a:pPr indent="-200025" lvl="0" marL="257175" marR="0" rtl="0" algn="l">
              <a:lnSpc>
                <a:spcPct val="100000"/>
              </a:lnSpc>
              <a:spcBef>
                <a:spcPts val="0"/>
              </a:spcBef>
              <a:spcAft>
                <a:spcPts val="0"/>
              </a:spcAft>
              <a:buClr>
                <a:schemeClr val="dk1"/>
              </a:buClr>
              <a:buSzPts val="900"/>
              <a:buChar char="●"/>
            </a:pPr>
            <a:r>
              <a:rPr lang="en" sz="900">
                <a:solidFill>
                  <a:schemeClr val="dk1"/>
                </a:solidFill>
                <a:latin typeface="Calibri"/>
                <a:ea typeface="Calibri"/>
                <a:cs typeface="Calibri"/>
                <a:sym typeface="Calibri"/>
              </a:rPr>
              <a:t>Production cutover completed in a weekend window, with go/no-go checkpoints and full rollback capability</a:t>
            </a:r>
            <a:endParaRPr sz="900">
              <a:solidFill>
                <a:schemeClr val="dk1"/>
              </a:solidFill>
              <a:latin typeface="Calibri"/>
              <a:ea typeface="Calibri"/>
              <a:cs typeface="Calibri"/>
              <a:sym typeface="Calibri"/>
            </a:endParaRPr>
          </a:p>
          <a:p>
            <a:pPr indent="-200025" lvl="0" marL="257175" marR="0" rtl="0" algn="l">
              <a:lnSpc>
                <a:spcPct val="100000"/>
              </a:lnSpc>
              <a:spcBef>
                <a:spcPts val="0"/>
              </a:spcBef>
              <a:spcAft>
                <a:spcPts val="0"/>
              </a:spcAft>
              <a:buClr>
                <a:schemeClr val="dk1"/>
              </a:buClr>
              <a:buSzPts val="900"/>
              <a:buChar char="●"/>
            </a:pPr>
            <a:r>
              <a:rPr lang="en" sz="900">
                <a:solidFill>
                  <a:schemeClr val="dk1"/>
                </a:solidFill>
                <a:latin typeface="Calibri"/>
                <a:ea typeface="Calibri"/>
                <a:cs typeface="Calibri"/>
                <a:sym typeface="Calibri"/>
              </a:rPr>
              <a:t>Performance on OCI validated against current production: JDE login, order entry, financial reporting, package builds, batch execution, and records-per-minute throughput</a:t>
            </a:r>
            <a:endParaRPr sz="900">
              <a:solidFill>
                <a:schemeClr val="dk1"/>
              </a:solidFill>
              <a:latin typeface="Calibri"/>
              <a:ea typeface="Calibri"/>
              <a:cs typeface="Calibri"/>
              <a:sym typeface="Calibri"/>
            </a:endParaRPr>
          </a:p>
          <a:p>
            <a:pPr indent="-200025" lvl="0" marL="257175" marR="0" rtl="0" algn="l">
              <a:lnSpc>
                <a:spcPct val="100000"/>
              </a:lnSpc>
              <a:spcBef>
                <a:spcPts val="0"/>
              </a:spcBef>
              <a:spcAft>
                <a:spcPts val="0"/>
              </a:spcAft>
              <a:buClr>
                <a:schemeClr val="dk1"/>
              </a:buClr>
              <a:buSzPts val="900"/>
              <a:buChar char="●"/>
            </a:pPr>
            <a:r>
              <a:rPr lang="en" sz="900">
                <a:solidFill>
                  <a:schemeClr val="dk1"/>
                </a:solidFill>
                <a:latin typeface="Calibri"/>
                <a:ea typeface="Calibri"/>
                <a:cs typeface="Calibri"/>
                <a:sym typeface="Calibri"/>
              </a:rPr>
              <a:t>Existing integrations (Workday, Databricks, Control-M, SSIS) working after migration</a:t>
            </a:r>
            <a:endParaRPr sz="900">
              <a:solidFill>
                <a:schemeClr val="dk1"/>
              </a:solidFill>
              <a:latin typeface="Calibri"/>
              <a:ea typeface="Calibri"/>
              <a:cs typeface="Calibri"/>
              <a:sym typeface="Calibri"/>
            </a:endParaRPr>
          </a:p>
          <a:p>
            <a:pPr indent="-200025" lvl="0" marL="257175" marR="0" rtl="0" algn="l">
              <a:lnSpc>
                <a:spcPct val="100000"/>
              </a:lnSpc>
              <a:spcBef>
                <a:spcPts val="0"/>
              </a:spcBef>
              <a:spcAft>
                <a:spcPts val="0"/>
              </a:spcAft>
              <a:buClr>
                <a:schemeClr val="dk1"/>
              </a:buClr>
              <a:buSzPts val="900"/>
              <a:buChar char="●"/>
            </a:pPr>
            <a:r>
              <a:rPr lang="en" sz="900">
                <a:solidFill>
                  <a:schemeClr val="dk1"/>
                </a:solidFill>
                <a:latin typeface="Calibri"/>
                <a:ea typeface="Calibri"/>
                <a:cs typeface="Calibri"/>
                <a:sym typeface="Calibri"/>
              </a:rPr>
              <a:t>Formal, tested DR and backup with SLA-backed availability</a:t>
            </a:r>
            <a:endParaRPr sz="900">
              <a:solidFill>
                <a:schemeClr val="dk1"/>
              </a:solidFill>
              <a:latin typeface="Calibri"/>
              <a:ea typeface="Calibri"/>
              <a:cs typeface="Calibri"/>
              <a:sym typeface="Calibri"/>
            </a:endParaRPr>
          </a:p>
          <a:p>
            <a:pPr indent="-200025" lvl="0" marL="257175" marR="0" rtl="0" algn="l">
              <a:lnSpc>
                <a:spcPct val="100000"/>
              </a:lnSpc>
              <a:spcBef>
                <a:spcPts val="0"/>
              </a:spcBef>
              <a:spcAft>
                <a:spcPts val="0"/>
              </a:spcAft>
              <a:buClr>
                <a:schemeClr val="dk1"/>
              </a:buClr>
              <a:buSzPts val="900"/>
              <a:buChar char="●"/>
            </a:pPr>
            <a:r>
              <a:rPr lang="en" sz="900">
                <a:solidFill>
                  <a:schemeClr val="dk1"/>
                </a:solidFill>
                <a:latin typeface="Calibri"/>
                <a:ea typeface="Calibri"/>
                <a:cs typeface="Calibri"/>
                <a:sym typeface="Calibri"/>
              </a:rPr>
              <a:t>Legacy OS/DB contained within security enclaves with compensating controls</a:t>
            </a:r>
            <a:endParaRPr sz="900">
              <a:solidFill>
                <a:schemeClr val="dk1"/>
              </a:solidFill>
              <a:latin typeface="Calibri"/>
              <a:ea typeface="Calibri"/>
              <a:cs typeface="Calibri"/>
              <a:sym typeface="Calibri"/>
            </a:endParaRPr>
          </a:p>
          <a:p>
            <a:pPr indent="-200025" lvl="0" marL="257175" marR="0" rtl="0" algn="l">
              <a:lnSpc>
                <a:spcPct val="100000"/>
              </a:lnSpc>
              <a:spcBef>
                <a:spcPts val="0"/>
              </a:spcBef>
              <a:spcAft>
                <a:spcPts val="0"/>
              </a:spcAft>
              <a:buClr>
                <a:schemeClr val="dk1"/>
              </a:buClr>
              <a:buSzPts val="900"/>
              <a:buChar char="●"/>
            </a:pPr>
            <a:r>
              <a:rPr lang="en" sz="900">
                <a:solidFill>
                  <a:schemeClr val="dk1"/>
                </a:solidFill>
                <a:latin typeface="Calibri"/>
                <a:ea typeface="Calibri"/>
                <a:cs typeface="Calibri"/>
                <a:sym typeface="Calibri"/>
              </a:rPr>
              <a:t>Environment handed off to steady-state managed operations </a:t>
            </a:r>
            <a:endParaRPr i="1" sz="1000">
              <a:solidFill>
                <a:schemeClr val="dk1"/>
              </a:solidFill>
              <a:latin typeface="Proxima Nova"/>
              <a:ea typeface="Proxima Nova"/>
              <a:cs typeface="Proxima Nova"/>
              <a:sym typeface="Proxima Nova"/>
            </a:endParaRPr>
          </a:p>
        </p:txBody>
      </p:sp>
      <p:pic>
        <p:nvPicPr>
          <p:cNvPr id="387" name="Google Shape;387;p32"/>
          <p:cNvPicPr preferRelativeResize="0"/>
          <p:nvPr/>
        </p:nvPicPr>
        <p:blipFill>
          <a:blip r:embed="rId3">
            <a:alphaModFix/>
          </a:blip>
          <a:stretch>
            <a:fillRect/>
          </a:stretch>
        </p:blipFill>
        <p:spPr>
          <a:xfrm>
            <a:off x="775488" y="3814440"/>
            <a:ext cx="328394" cy="328394"/>
          </a:xfrm>
          <a:prstGeom prst="rect">
            <a:avLst/>
          </a:prstGeom>
          <a:noFill/>
          <a:ln>
            <a:noFill/>
          </a:ln>
        </p:spPr>
      </p:pic>
      <p:pic>
        <p:nvPicPr>
          <p:cNvPr id="388" name="Google Shape;388;p32"/>
          <p:cNvPicPr preferRelativeResize="0"/>
          <p:nvPr/>
        </p:nvPicPr>
        <p:blipFill>
          <a:blip r:embed="rId4">
            <a:alphaModFix/>
          </a:blip>
          <a:stretch>
            <a:fillRect/>
          </a:stretch>
        </p:blipFill>
        <p:spPr>
          <a:xfrm>
            <a:off x="772922" y="1835467"/>
            <a:ext cx="333525" cy="336131"/>
          </a:xfrm>
          <a:prstGeom prst="rect">
            <a:avLst/>
          </a:prstGeom>
          <a:noFill/>
          <a:ln>
            <a:noFill/>
          </a:ln>
        </p:spPr>
      </p:pic>
      <p:pic>
        <p:nvPicPr>
          <p:cNvPr id="389" name="Google Shape;389;p32"/>
          <p:cNvPicPr preferRelativeResize="0"/>
          <p:nvPr/>
        </p:nvPicPr>
        <p:blipFill>
          <a:blip r:embed="rId5">
            <a:alphaModFix/>
          </a:blip>
          <a:stretch>
            <a:fillRect/>
          </a:stretch>
        </p:blipFill>
        <p:spPr>
          <a:xfrm>
            <a:off x="784237" y="2835637"/>
            <a:ext cx="310896" cy="310896"/>
          </a:xfrm>
          <a:prstGeom prst="rect">
            <a:avLst/>
          </a:prstGeom>
          <a:noFill/>
          <a:ln>
            <a:noFill/>
          </a:ln>
        </p:spPr>
      </p:pic>
      <p:sp>
        <p:nvSpPr>
          <p:cNvPr id="390" name="Google Shape;390;p32"/>
          <p:cNvSpPr txBox="1"/>
          <p:nvPr>
            <p:ph idx="4294967295" type="ctrTitle"/>
          </p:nvPr>
        </p:nvSpPr>
        <p:spPr>
          <a:xfrm>
            <a:off x="480076" y="734900"/>
            <a:ext cx="8023800" cy="332400"/>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1"/>
              </a:buClr>
              <a:buSzPts val="2400"/>
              <a:buFont typeface="Montserrat"/>
              <a:buNone/>
            </a:pPr>
            <a:r>
              <a:rPr lang="en" sz="2400"/>
              <a:t>Why we’re here</a:t>
            </a:r>
            <a:endParaRPr sz="2400">
              <a:latin typeface="Proxima Nova"/>
              <a:ea typeface="Proxima Nova"/>
              <a:cs typeface="Proxima Nova"/>
              <a:sym typeface="Proxima Nova"/>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33"/>
          <p:cNvSpPr txBox="1"/>
          <p:nvPr>
            <p:ph idx="4294967295" type="ctrTitle"/>
          </p:nvPr>
        </p:nvSpPr>
        <p:spPr>
          <a:xfrm>
            <a:off x="6407600" y="231200"/>
            <a:ext cx="2417400" cy="2580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dk1"/>
              </a:buClr>
              <a:buSzPts val="2400"/>
              <a:buFont typeface="Montserrat"/>
              <a:buNone/>
            </a:pPr>
            <a:r>
              <a:rPr lang="en" sz="2000">
                <a:solidFill>
                  <a:schemeClr val="lt1"/>
                </a:solidFill>
              </a:rPr>
              <a:t>Solution Overview</a:t>
            </a:r>
            <a:endParaRPr b="1" sz="2000">
              <a:solidFill>
                <a:schemeClr val="lt1"/>
              </a:solidFill>
              <a:latin typeface="Proxima Nova"/>
              <a:ea typeface="Proxima Nova"/>
              <a:cs typeface="Proxima Nova"/>
              <a:sym typeface="Proxima Nova"/>
            </a:endParaRPr>
          </a:p>
        </p:txBody>
      </p:sp>
      <p:sp>
        <p:nvSpPr>
          <p:cNvPr id="396" name="Google Shape;396;p33"/>
          <p:cNvSpPr txBox="1"/>
          <p:nvPr/>
        </p:nvSpPr>
        <p:spPr>
          <a:xfrm>
            <a:off x="6407600" y="597225"/>
            <a:ext cx="2571000" cy="2538300"/>
          </a:xfrm>
          <a:prstGeom prst="rect">
            <a:avLst/>
          </a:prstGeom>
          <a:noFill/>
          <a:ln>
            <a:noFill/>
          </a:ln>
        </p:spPr>
        <p:txBody>
          <a:bodyPr anchorCtr="0" anchor="t" bIns="0" lIns="0" spcFirstLastPara="1" rIns="0" wrap="square" tIns="0">
            <a:spAutoFit/>
          </a:bodyPr>
          <a:lstStyle/>
          <a:p>
            <a:pPr indent="0" lvl="0" marL="0" rtl="0" algn="l">
              <a:lnSpc>
                <a:spcPct val="115000"/>
              </a:lnSpc>
              <a:spcBef>
                <a:spcPts val="500"/>
              </a:spcBef>
              <a:spcAft>
                <a:spcPts val="0"/>
              </a:spcAft>
              <a:buNone/>
            </a:pPr>
            <a:r>
              <a:rPr lang="en" sz="850">
                <a:solidFill>
                  <a:schemeClr val="lt1"/>
                </a:solidFill>
                <a:latin typeface="Proxima Nova"/>
                <a:ea typeface="Proxima Nova"/>
                <a:cs typeface="Proxima Nova"/>
                <a:sym typeface="Proxima Nova"/>
              </a:rPr>
              <a:t>A host-first, lift-and-shift migration of Rimage’s JD Edwards EnterpriseOne 8.0 estate from Microsoft Azure to a purpose-built OCI landing zone. The application, data, and versions stay unchanged. Legacy operating systems and databases are placed inside segmented security enclaves with virtual patching and continuous monitoring. Private connectivity to the Rimage corporate network runs over Oracle FastConnect with a redundant VPN. Work runs in six phases over about 18 weeks: Discovery &amp; Planning, Build &amp; Validation, Non-Prod Migration, Production Readiness, Production Cutover, and Hypercare &amp; Stabilization. Each phase is gated on defined success criteria. Once the environment is stable on OCI, it transitions to steady-state managed operations, with ITIL-aligned governance, formal backup and DR, and 24x7 monitoring.</a:t>
            </a:r>
            <a:endParaRPr sz="850">
              <a:solidFill>
                <a:schemeClr val="lt1"/>
              </a:solidFill>
              <a:latin typeface="Proxima Nova"/>
              <a:ea typeface="Proxima Nova"/>
              <a:cs typeface="Proxima Nova"/>
              <a:sym typeface="Proxima Nova"/>
            </a:endParaRPr>
          </a:p>
        </p:txBody>
      </p:sp>
      <p:sp>
        <p:nvSpPr>
          <p:cNvPr id="397" name="Google Shape;397;p33"/>
          <p:cNvSpPr/>
          <p:nvPr/>
        </p:nvSpPr>
        <p:spPr>
          <a:xfrm>
            <a:off x="480073" y="425196"/>
            <a:ext cx="6858300" cy="20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5AAC"/>
              </a:buClr>
              <a:buSzPts val="900"/>
              <a:buFont typeface="Calibri"/>
              <a:buNone/>
            </a:pPr>
            <a:r>
              <a:rPr b="1" lang="en" sz="900">
                <a:solidFill>
                  <a:srgbClr val="2E5AAC"/>
                </a:solidFill>
                <a:latin typeface="Proxima Nova"/>
                <a:ea typeface="Proxima Nova"/>
                <a:cs typeface="Proxima Nova"/>
                <a:sym typeface="Proxima Nova"/>
              </a:rPr>
              <a:t>PROJECT SUCCESS AGREEMENT</a:t>
            </a:r>
            <a:endParaRPr b="0" i="0" sz="900" u="none" cap="none" strike="noStrike">
              <a:solidFill>
                <a:schemeClr val="dk1"/>
              </a:solidFill>
              <a:latin typeface="Calibri"/>
              <a:ea typeface="Calibri"/>
              <a:cs typeface="Calibri"/>
              <a:sym typeface="Calibri"/>
            </a:endParaRPr>
          </a:p>
        </p:txBody>
      </p:sp>
      <p:sp>
        <p:nvSpPr>
          <p:cNvPr id="398" name="Google Shape;398;p33"/>
          <p:cNvSpPr txBox="1"/>
          <p:nvPr>
            <p:ph idx="4294967295" type="ctrTitle"/>
          </p:nvPr>
        </p:nvSpPr>
        <p:spPr>
          <a:xfrm>
            <a:off x="480076" y="734900"/>
            <a:ext cx="8023800" cy="332400"/>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1"/>
              </a:buClr>
              <a:buSzPts val="2400"/>
              <a:buFont typeface="Montserrat"/>
              <a:buNone/>
            </a:pPr>
            <a:r>
              <a:rPr lang="en" sz="2400"/>
              <a:t>What we will deliver</a:t>
            </a:r>
            <a:endParaRPr sz="2400">
              <a:latin typeface="Proxima Nova"/>
              <a:ea typeface="Proxima Nova"/>
              <a:cs typeface="Proxima Nova"/>
              <a:sym typeface="Proxima Nova"/>
            </a:endParaRPr>
          </a:p>
        </p:txBody>
      </p:sp>
      <p:sp>
        <p:nvSpPr>
          <p:cNvPr id="399" name="Google Shape;399;p33"/>
          <p:cNvSpPr txBox="1"/>
          <p:nvPr/>
        </p:nvSpPr>
        <p:spPr>
          <a:xfrm>
            <a:off x="6351350" y="3577002"/>
            <a:ext cx="2683500" cy="1159800"/>
          </a:xfrm>
          <a:prstGeom prst="rect">
            <a:avLst/>
          </a:prstGeom>
          <a:noFill/>
          <a:ln>
            <a:noFill/>
          </a:ln>
        </p:spPr>
        <p:txBody>
          <a:bodyPr anchorCtr="0" anchor="t" bIns="0" lIns="0" spcFirstLastPara="1" rIns="0" wrap="square" tIns="0">
            <a:spAutoFit/>
          </a:bodyPr>
          <a:lstStyle/>
          <a:p>
            <a:pPr indent="0" lvl="0" marL="0" rtl="0" algn="l">
              <a:lnSpc>
                <a:spcPct val="115000"/>
              </a:lnSpc>
              <a:spcBef>
                <a:spcPts val="500"/>
              </a:spcBef>
              <a:spcAft>
                <a:spcPts val="0"/>
              </a:spcAft>
              <a:buNone/>
            </a:pPr>
            <a:r>
              <a:rPr b="1" lang="en" sz="1200">
                <a:solidFill>
                  <a:schemeClr val="lt1"/>
                </a:solidFill>
                <a:latin typeface="Proxima Nova"/>
                <a:ea typeface="Proxima Nova"/>
                <a:cs typeface="Proxima Nova"/>
                <a:sym typeface="Proxima Nova"/>
              </a:rPr>
              <a:t>Out of Scope:</a:t>
            </a:r>
            <a:endParaRPr b="1" sz="1200">
              <a:solidFill>
                <a:schemeClr val="lt1"/>
              </a:solidFill>
              <a:latin typeface="Proxima Nova"/>
              <a:ea typeface="Proxima Nova"/>
              <a:cs typeface="Proxima Nova"/>
              <a:sym typeface="Proxima Nova"/>
            </a:endParaRPr>
          </a:p>
          <a:p>
            <a:pPr indent="-168275" lvl="0" marL="228600" rtl="0" algn="l">
              <a:lnSpc>
                <a:spcPct val="115000"/>
              </a:lnSpc>
              <a:spcBef>
                <a:spcPts val="500"/>
              </a:spcBef>
              <a:spcAft>
                <a:spcPts val="0"/>
              </a:spcAft>
              <a:buClr>
                <a:schemeClr val="lt1"/>
              </a:buClr>
              <a:buSzPts val="850"/>
              <a:buFont typeface="Proxima Nova"/>
              <a:buChar char="●"/>
            </a:pPr>
            <a:r>
              <a:rPr lang="en" sz="850">
                <a:solidFill>
                  <a:schemeClr val="lt1"/>
                </a:solidFill>
                <a:latin typeface="Proxima Nova"/>
                <a:ea typeface="Proxima Nova"/>
                <a:cs typeface="Proxima Nova"/>
                <a:sym typeface="Proxima Nova"/>
              </a:rPr>
              <a:t>Application changes or upgrades, including a JDE 9.2 reimplementation or platform replacement</a:t>
            </a:r>
            <a:endParaRPr sz="850">
              <a:solidFill>
                <a:schemeClr val="lt1"/>
              </a:solidFill>
              <a:latin typeface="Proxima Nova"/>
              <a:ea typeface="Proxima Nova"/>
              <a:cs typeface="Proxima Nova"/>
              <a:sym typeface="Proxima Nova"/>
            </a:endParaRPr>
          </a:p>
          <a:p>
            <a:pPr indent="-168275" lvl="0" marL="228600" rtl="0" algn="l">
              <a:lnSpc>
                <a:spcPct val="115000"/>
              </a:lnSpc>
              <a:spcBef>
                <a:spcPts val="0"/>
              </a:spcBef>
              <a:spcAft>
                <a:spcPts val="0"/>
              </a:spcAft>
              <a:buClr>
                <a:schemeClr val="lt1"/>
              </a:buClr>
              <a:buSzPts val="850"/>
              <a:buFont typeface="Proxima Nova"/>
              <a:buChar char="●"/>
            </a:pPr>
            <a:r>
              <a:rPr lang="en" sz="850">
                <a:solidFill>
                  <a:schemeClr val="lt1"/>
                </a:solidFill>
                <a:latin typeface="Proxima Nova"/>
                <a:ea typeface="Proxima Nova"/>
                <a:cs typeface="Proxima Nova"/>
                <a:sym typeface="Proxima Nova"/>
              </a:rPr>
              <a:t>Modernization roadmap items (Linux web/middleware tiers, reverse proxies, identity and certificate management, Zero Trust), which are a separate future track</a:t>
            </a:r>
            <a:endParaRPr sz="850">
              <a:solidFill>
                <a:schemeClr val="lt1"/>
              </a:solidFill>
              <a:latin typeface="Proxima Nova"/>
              <a:ea typeface="Proxima Nova"/>
              <a:cs typeface="Proxima Nova"/>
              <a:sym typeface="Proxima Nova"/>
            </a:endParaRPr>
          </a:p>
        </p:txBody>
      </p:sp>
      <p:graphicFrame>
        <p:nvGraphicFramePr>
          <p:cNvPr id="400" name="Google Shape;400;p33"/>
          <p:cNvGraphicFramePr/>
          <p:nvPr/>
        </p:nvGraphicFramePr>
        <p:xfrm>
          <a:off x="480075" y="1213375"/>
          <a:ext cx="3000000" cy="3000000"/>
        </p:xfrm>
        <a:graphic>
          <a:graphicData uri="http://schemas.openxmlformats.org/drawingml/2006/table">
            <a:tbl>
              <a:tblPr>
                <a:noFill/>
                <a:tableStyleId>{CCF2D8BE-1765-4251-A71B-D7E14FF0B7AB}</a:tableStyleId>
              </a:tblPr>
              <a:tblGrid>
                <a:gridCol w="1962950"/>
                <a:gridCol w="3528700"/>
              </a:tblGrid>
              <a:tr h="381000">
                <a:tc>
                  <a:txBody>
                    <a:bodyPr/>
                    <a:lstStyle/>
                    <a:p>
                      <a:pPr indent="0" lvl="0" marL="0" rtl="0" algn="l">
                        <a:lnSpc>
                          <a:spcPct val="115000"/>
                        </a:lnSpc>
                        <a:spcBef>
                          <a:spcPts val="500"/>
                        </a:spcBef>
                        <a:spcAft>
                          <a:spcPts val="0"/>
                        </a:spcAft>
                        <a:buNone/>
                      </a:pPr>
                      <a:r>
                        <a:rPr b="1" lang="en" sz="1100">
                          <a:solidFill>
                            <a:schemeClr val="accent1"/>
                          </a:solidFill>
                          <a:latin typeface="Proxima Nova"/>
                          <a:ea typeface="Proxima Nova"/>
                          <a:cs typeface="Proxima Nova"/>
                          <a:sym typeface="Proxima Nova"/>
                        </a:rPr>
                        <a:t>Workstream </a:t>
                      </a:r>
                      <a:endParaRPr/>
                    </a:p>
                  </a:txBody>
                  <a:tcPr marT="91425" marB="91425" marR="91425" marL="91425">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9E9E9E">
                          <a:alpha val="0"/>
                        </a:srgbClr>
                      </a:solidFill>
                      <a:prstDash val="solid"/>
                      <a:round/>
                      <a:headEnd len="sm" w="sm" type="none"/>
                      <a:tailEnd len="sm" w="sm" type="none"/>
                    </a:lnT>
                    <a:lnB cap="flat" cmpd="sng" w="9525">
                      <a:solidFill>
                        <a:srgbClr val="9E9E9E">
                          <a:alpha val="0"/>
                        </a:srgbClr>
                      </a:solidFill>
                      <a:prstDash val="solid"/>
                      <a:round/>
                      <a:headEnd len="sm" w="sm" type="none"/>
                      <a:tailEnd len="sm" w="sm" type="none"/>
                    </a:lnB>
                  </a:tcPr>
                </a:tc>
                <a:tc>
                  <a:txBody>
                    <a:bodyPr/>
                    <a:lstStyle/>
                    <a:p>
                      <a:pPr indent="0" lvl="0" marL="0" rtl="0" algn="l">
                        <a:lnSpc>
                          <a:spcPct val="115000"/>
                        </a:lnSpc>
                        <a:spcBef>
                          <a:spcPts val="500"/>
                        </a:spcBef>
                        <a:spcAft>
                          <a:spcPts val="0"/>
                        </a:spcAft>
                        <a:buNone/>
                      </a:pPr>
                      <a:r>
                        <a:rPr b="1" lang="en" sz="1100">
                          <a:solidFill>
                            <a:schemeClr val="accent1"/>
                          </a:solidFill>
                          <a:latin typeface="Proxima Nova"/>
                          <a:ea typeface="Proxima Nova"/>
                          <a:cs typeface="Proxima Nova"/>
                          <a:sym typeface="Proxima Nova"/>
                        </a:rPr>
                        <a:t>Outcomes / Deliverables</a:t>
                      </a:r>
                      <a:endParaRPr/>
                    </a:p>
                  </a:txBody>
                  <a:tcPr marT="91425" marB="91425" marR="91425" marL="91425">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9E9E9E">
                          <a:alpha val="0"/>
                        </a:srgbClr>
                      </a:solidFill>
                      <a:prstDash val="solid"/>
                      <a:round/>
                      <a:headEnd len="sm" w="sm" type="none"/>
                      <a:tailEnd len="sm" w="sm" type="none"/>
                    </a:lnT>
                    <a:lnB cap="flat" cmpd="sng" w="9525">
                      <a:solidFill>
                        <a:srgbClr val="9E9E9E">
                          <a:alpha val="0"/>
                        </a:srgbClr>
                      </a:solidFill>
                      <a:prstDash val="solid"/>
                      <a:round/>
                      <a:headEnd len="sm" w="sm" type="none"/>
                      <a:tailEnd len="sm" w="sm" type="none"/>
                    </a:lnB>
                  </a:tcPr>
                </a:tc>
              </a:tr>
              <a:tr h="381000">
                <a:tc>
                  <a:txBody>
                    <a:bodyPr/>
                    <a:lstStyle/>
                    <a:p>
                      <a:pPr indent="0" lvl="0" marL="0" rtl="0" algn="l">
                        <a:lnSpc>
                          <a:spcPct val="100000"/>
                        </a:lnSpc>
                        <a:spcBef>
                          <a:spcPts val="500"/>
                        </a:spcBef>
                        <a:spcAft>
                          <a:spcPts val="0"/>
                        </a:spcAft>
                        <a:buNone/>
                      </a:pPr>
                      <a:r>
                        <a:rPr lang="en" sz="900">
                          <a:solidFill>
                            <a:schemeClr val="dk1"/>
                          </a:solidFill>
                          <a:latin typeface="Proxima Nova Semibold"/>
                          <a:ea typeface="Proxima Nova Semibold"/>
                          <a:cs typeface="Proxima Nova Semibold"/>
                          <a:sym typeface="Proxima Nova Semibold"/>
                        </a:rPr>
                        <a:t>Discovery &amp; Planning </a:t>
                      </a:r>
                      <a:endParaRPr sz="900">
                        <a:solidFill>
                          <a:schemeClr val="dk1"/>
                        </a:solidFill>
                        <a:latin typeface="Proxima Nova Semibold"/>
                        <a:ea typeface="Proxima Nova Semibold"/>
                        <a:cs typeface="Proxima Nova Semibold"/>
                        <a:sym typeface="Proxima Nova Semibold"/>
                      </a:endParaRPr>
                    </a:p>
                    <a:p>
                      <a:pPr indent="0" lvl="0" marL="0" rtl="0" algn="l">
                        <a:lnSpc>
                          <a:spcPct val="100000"/>
                        </a:lnSpc>
                        <a:spcBef>
                          <a:spcPts val="500"/>
                        </a:spcBef>
                        <a:spcAft>
                          <a:spcPts val="0"/>
                        </a:spcAft>
                        <a:buNone/>
                      </a:pPr>
                      <a:r>
                        <a:rPr lang="en" sz="900">
                          <a:solidFill>
                            <a:schemeClr val="dk1"/>
                          </a:solidFill>
                          <a:latin typeface="Proxima Nova Semibold"/>
                          <a:ea typeface="Proxima Nova Semibold"/>
                          <a:cs typeface="Proxima Nova Semibold"/>
                          <a:sym typeface="Proxima Nova Semibold"/>
                        </a:rPr>
                        <a:t>(Weeks 1 - 3)</a:t>
                      </a:r>
                      <a:endParaRPr sz="1300">
                        <a:latin typeface="Proxima Nova"/>
                        <a:ea typeface="Proxima Nova"/>
                        <a:cs typeface="Proxima Nova"/>
                        <a:sym typeface="Proxima Nova"/>
                      </a:endParaRPr>
                    </a:p>
                  </a:txBody>
                  <a:tcPr marT="91425" marB="91425" marR="91425" marL="91425"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9E9E9E">
                          <a:alpha val="0"/>
                        </a:srgbClr>
                      </a:solidFill>
                      <a:prstDash val="solid"/>
                      <a:round/>
                      <a:headEnd len="sm" w="sm" type="none"/>
                      <a:tailEnd len="sm" w="sm" type="none"/>
                    </a:lnT>
                    <a:lnB cap="flat" cmpd="sng" w="9525">
                      <a:solidFill>
                        <a:srgbClr val="9E9E9E">
                          <a:alpha val="0"/>
                        </a:srgbClr>
                      </a:solidFill>
                      <a:prstDash val="solid"/>
                      <a:round/>
                      <a:headEnd len="sm" w="sm" type="none"/>
                      <a:tailEnd len="sm" w="sm" type="none"/>
                    </a:lnB>
                  </a:tcPr>
                </a:tc>
                <a:tc>
                  <a:txBody>
                    <a:bodyPr/>
                    <a:lstStyle/>
                    <a:p>
                      <a:pPr indent="-200025" lvl="0" marL="200025" rtl="0" algn="l">
                        <a:lnSpc>
                          <a:spcPct val="115000"/>
                        </a:lnSpc>
                        <a:spcBef>
                          <a:spcPts val="500"/>
                        </a:spcBef>
                        <a:spcAft>
                          <a:spcPts val="0"/>
                        </a:spcAft>
                        <a:buClr>
                          <a:schemeClr val="dk1"/>
                        </a:buClr>
                        <a:buSzPts val="900"/>
                        <a:buFont typeface="Proxima Nova"/>
                        <a:buChar char="●"/>
                      </a:pPr>
                      <a:r>
                        <a:rPr lang="en" sz="900">
                          <a:solidFill>
                            <a:schemeClr val="dk1"/>
                          </a:solidFill>
                          <a:latin typeface="Proxima Nova"/>
                          <a:ea typeface="Proxima Nova"/>
                          <a:cs typeface="Proxima Nova"/>
                          <a:sym typeface="Proxima Nova"/>
                        </a:rPr>
                        <a:t>Validated inventory, dependencies, and performance baseline</a:t>
                      </a:r>
                      <a:endParaRPr sz="900">
                        <a:solidFill>
                          <a:schemeClr val="dk1"/>
                        </a:solidFill>
                        <a:latin typeface="Proxima Nova"/>
                        <a:ea typeface="Proxima Nova"/>
                        <a:cs typeface="Proxima Nova"/>
                        <a:sym typeface="Proxima Nova"/>
                      </a:endParaRPr>
                    </a:p>
                    <a:p>
                      <a:pPr indent="-200025" lvl="0" marL="200025" rtl="0" algn="l">
                        <a:lnSpc>
                          <a:spcPct val="115000"/>
                        </a:lnSpc>
                        <a:spcBef>
                          <a:spcPts val="0"/>
                        </a:spcBef>
                        <a:spcAft>
                          <a:spcPts val="0"/>
                        </a:spcAft>
                        <a:buClr>
                          <a:schemeClr val="dk1"/>
                        </a:buClr>
                        <a:buSzPts val="900"/>
                        <a:buFont typeface="Proxima Nova"/>
                        <a:buChar char="●"/>
                      </a:pPr>
                      <a:r>
                        <a:rPr lang="en" sz="900">
                          <a:solidFill>
                            <a:schemeClr val="dk1"/>
                          </a:solidFill>
                          <a:latin typeface="Proxima Nova"/>
                          <a:ea typeface="Proxima Nova"/>
                          <a:cs typeface="Proxima Nova"/>
                          <a:sym typeface="Proxima Nova"/>
                        </a:rPr>
                        <a:t>Future-state architecture and network design</a:t>
                      </a:r>
                      <a:endParaRPr sz="900">
                        <a:solidFill>
                          <a:schemeClr val="dk1"/>
                        </a:solidFill>
                        <a:latin typeface="Proxima Nova"/>
                        <a:ea typeface="Proxima Nova"/>
                        <a:cs typeface="Proxima Nova"/>
                        <a:sym typeface="Proxima Nova"/>
                      </a:endParaRPr>
                    </a:p>
                    <a:p>
                      <a:pPr indent="-200025" lvl="0" marL="200025" rtl="0" algn="l">
                        <a:lnSpc>
                          <a:spcPct val="115000"/>
                        </a:lnSpc>
                        <a:spcBef>
                          <a:spcPts val="0"/>
                        </a:spcBef>
                        <a:spcAft>
                          <a:spcPts val="0"/>
                        </a:spcAft>
                        <a:buClr>
                          <a:schemeClr val="dk1"/>
                        </a:buClr>
                        <a:buSzPts val="900"/>
                        <a:buFont typeface="Proxima Nova"/>
                        <a:buChar char="●"/>
                      </a:pPr>
                      <a:r>
                        <a:rPr lang="en" sz="900">
                          <a:solidFill>
                            <a:schemeClr val="dk1"/>
                          </a:solidFill>
                          <a:latin typeface="Proxima Nova"/>
                          <a:ea typeface="Proxima Nova"/>
                          <a:cs typeface="Proxima Nova"/>
                          <a:sym typeface="Proxima Nova"/>
                        </a:rPr>
                        <a:t>Migration, cutover, and testing plan with success criteria</a:t>
                      </a:r>
                      <a:endParaRPr>
                        <a:solidFill>
                          <a:schemeClr val="dk1"/>
                        </a:solidFill>
                      </a:endParaRPr>
                    </a:p>
                  </a:txBody>
                  <a:tcPr marT="91425" marB="91425" marR="91425" marL="91425">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9E9E9E">
                          <a:alpha val="0"/>
                        </a:srgbClr>
                      </a:solidFill>
                      <a:prstDash val="solid"/>
                      <a:round/>
                      <a:headEnd len="sm" w="sm" type="none"/>
                      <a:tailEnd len="sm" w="sm" type="none"/>
                    </a:lnT>
                    <a:lnB cap="flat" cmpd="sng" w="9525">
                      <a:solidFill>
                        <a:srgbClr val="9E9E9E">
                          <a:alpha val="0"/>
                        </a:srgbClr>
                      </a:solidFill>
                      <a:prstDash val="solid"/>
                      <a:round/>
                      <a:headEnd len="sm" w="sm" type="none"/>
                      <a:tailEnd len="sm" w="sm" type="none"/>
                    </a:lnB>
                  </a:tcPr>
                </a:tc>
              </a:tr>
              <a:tr h="381000">
                <a:tc>
                  <a:txBody>
                    <a:bodyPr/>
                    <a:lstStyle/>
                    <a:p>
                      <a:pPr indent="0" lvl="0" marL="0" rtl="0" algn="l">
                        <a:lnSpc>
                          <a:spcPct val="115000"/>
                        </a:lnSpc>
                        <a:spcBef>
                          <a:spcPts val="500"/>
                        </a:spcBef>
                        <a:spcAft>
                          <a:spcPts val="0"/>
                        </a:spcAft>
                        <a:buNone/>
                      </a:pPr>
                      <a:r>
                        <a:rPr lang="en" sz="900">
                          <a:solidFill>
                            <a:schemeClr val="dk1"/>
                          </a:solidFill>
                          <a:latin typeface="Proxima Nova Semibold"/>
                          <a:ea typeface="Proxima Nova Semibold"/>
                          <a:cs typeface="Proxima Nova Semibold"/>
                          <a:sym typeface="Proxima Nova Semibold"/>
                        </a:rPr>
                        <a:t>OCI Build, Network &amp; Security </a:t>
                      </a:r>
                      <a:endParaRPr sz="900">
                        <a:solidFill>
                          <a:schemeClr val="dk1"/>
                        </a:solidFill>
                        <a:latin typeface="Proxima Nova Semibold"/>
                        <a:ea typeface="Proxima Nova Semibold"/>
                        <a:cs typeface="Proxima Nova Semibold"/>
                        <a:sym typeface="Proxima Nova Semibold"/>
                      </a:endParaRPr>
                    </a:p>
                    <a:p>
                      <a:pPr indent="0" lvl="0" marL="0" rtl="0" algn="l">
                        <a:lnSpc>
                          <a:spcPct val="115000"/>
                        </a:lnSpc>
                        <a:spcBef>
                          <a:spcPts val="500"/>
                        </a:spcBef>
                        <a:spcAft>
                          <a:spcPts val="0"/>
                        </a:spcAft>
                        <a:buNone/>
                      </a:pPr>
                      <a:r>
                        <a:rPr lang="en" sz="900">
                          <a:solidFill>
                            <a:schemeClr val="dk1"/>
                          </a:solidFill>
                          <a:latin typeface="Proxima Nova Semibold"/>
                          <a:ea typeface="Proxima Nova Semibold"/>
                          <a:cs typeface="Proxima Nova Semibold"/>
                          <a:sym typeface="Proxima Nova Semibold"/>
                        </a:rPr>
                        <a:t>(Weeks 4 - 6)</a:t>
                      </a:r>
                      <a:endParaRPr sz="1300">
                        <a:latin typeface="Proxima Nova"/>
                        <a:ea typeface="Proxima Nova"/>
                        <a:cs typeface="Proxima Nova"/>
                        <a:sym typeface="Proxima Nova"/>
                      </a:endParaRPr>
                    </a:p>
                  </a:txBody>
                  <a:tcPr marT="91425" marB="91425" marR="91425" marL="91425"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9E9E9E">
                          <a:alpha val="0"/>
                        </a:srgbClr>
                      </a:solidFill>
                      <a:prstDash val="solid"/>
                      <a:round/>
                      <a:headEnd len="sm" w="sm" type="none"/>
                      <a:tailEnd len="sm" w="sm" type="none"/>
                    </a:lnT>
                    <a:lnB cap="flat" cmpd="sng" w="9525">
                      <a:solidFill>
                        <a:srgbClr val="9E9E9E">
                          <a:alpha val="0"/>
                        </a:srgbClr>
                      </a:solidFill>
                      <a:prstDash val="solid"/>
                      <a:round/>
                      <a:headEnd len="sm" w="sm" type="none"/>
                      <a:tailEnd len="sm" w="sm" type="none"/>
                    </a:lnB>
                  </a:tcPr>
                </a:tc>
                <a:tc>
                  <a:txBody>
                    <a:bodyPr/>
                    <a:lstStyle/>
                    <a:p>
                      <a:pPr indent="-200025" lvl="0" marL="200025" marR="0" rtl="0" algn="l">
                        <a:lnSpc>
                          <a:spcPct val="115000"/>
                        </a:lnSpc>
                        <a:spcBef>
                          <a:spcPts val="500"/>
                        </a:spcBef>
                        <a:spcAft>
                          <a:spcPts val="0"/>
                        </a:spcAft>
                        <a:buClr>
                          <a:schemeClr val="dk1"/>
                        </a:buClr>
                        <a:buSzPts val="900"/>
                        <a:buFont typeface="Proxima Nova"/>
                        <a:buChar char="●"/>
                      </a:pPr>
                      <a:r>
                        <a:rPr lang="en" sz="900">
                          <a:solidFill>
                            <a:schemeClr val="dk1"/>
                          </a:solidFill>
                          <a:latin typeface="Proxima Nova"/>
                          <a:ea typeface="Proxima Nova"/>
                          <a:cs typeface="Proxima Nova"/>
                          <a:sym typeface="Proxima Nova"/>
                        </a:rPr>
                        <a:t>Toptal-managed OCI environment, sized to your workload</a:t>
                      </a:r>
                      <a:endParaRPr sz="900">
                        <a:solidFill>
                          <a:schemeClr val="dk1"/>
                        </a:solidFill>
                        <a:latin typeface="Proxima Nova"/>
                        <a:ea typeface="Proxima Nova"/>
                        <a:cs typeface="Proxima Nova"/>
                        <a:sym typeface="Proxima Nova"/>
                      </a:endParaRPr>
                    </a:p>
                    <a:p>
                      <a:pPr indent="-200025" lvl="0" marL="200025" marR="0" rtl="0" algn="l">
                        <a:lnSpc>
                          <a:spcPct val="115000"/>
                        </a:lnSpc>
                        <a:spcBef>
                          <a:spcPts val="0"/>
                        </a:spcBef>
                        <a:spcAft>
                          <a:spcPts val="0"/>
                        </a:spcAft>
                        <a:buClr>
                          <a:schemeClr val="dk1"/>
                        </a:buClr>
                        <a:buSzPts val="900"/>
                        <a:buFont typeface="Proxima Nova"/>
                        <a:buChar char="●"/>
                      </a:pPr>
                      <a:r>
                        <a:rPr lang="en" sz="900">
                          <a:solidFill>
                            <a:schemeClr val="dk1"/>
                          </a:solidFill>
                          <a:latin typeface="Proxima Nova"/>
                          <a:ea typeface="Proxima Nova"/>
                          <a:cs typeface="Proxima Nova"/>
                          <a:sym typeface="Proxima Nova"/>
                        </a:rPr>
                        <a:t>Private, redundant connectivity to your corporate network</a:t>
                      </a:r>
                      <a:endParaRPr sz="900">
                        <a:solidFill>
                          <a:schemeClr val="dk1"/>
                        </a:solidFill>
                        <a:latin typeface="Proxima Nova"/>
                        <a:ea typeface="Proxima Nova"/>
                        <a:cs typeface="Proxima Nova"/>
                        <a:sym typeface="Proxima Nova"/>
                      </a:endParaRPr>
                    </a:p>
                    <a:p>
                      <a:pPr indent="-200025" lvl="0" marL="200025" marR="0" rtl="0" algn="l">
                        <a:lnSpc>
                          <a:spcPct val="115000"/>
                        </a:lnSpc>
                        <a:spcBef>
                          <a:spcPts val="0"/>
                        </a:spcBef>
                        <a:spcAft>
                          <a:spcPts val="0"/>
                        </a:spcAft>
                        <a:buClr>
                          <a:schemeClr val="dk1"/>
                        </a:buClr>
                        <a:buSzPts val="900"/>
                        <a:buFont typeface="Proxima Nova"/>
                        <a:buChar char="●"/>
                      </a:pPr>
                      <a:r>
                        <a:rPr lang="en" sz="900">
                          <a:solidFill>
                            <a:schemeClr val="dk1"/>
                          </a:solidFill>
                          <a:latin typeface="Proxima Nova"/>
                          <a:ea typeface="Proxima Nova"/>
                          <a:cs typeface="Proxima Nova"/>
                          <a:sym typeface="Proxima Nova"/>
                        </a:rPr>
                        <a:t>Security enclaves protecting legacy systems</a:t>
                      </a:r>
                      <a:endParaRPr sz="900">
                        <a:solidFill>
                          <a:schemeClr val="dk1"/>
                        </a:solidFill>
                        <a:latin typeface="Proxima Nova"/>
                        <a:ea typeface="Proxima Nova"/>
                        <a:cs typeface="Proxima Nova"/>
                        <a:sym typeface="Proxima Nova"/>
                      </a:endParaRPr>
                    </a:p>
                    <a:p>
                      <a:pPr indent="-200025" lvl="0" marL="200025" marR="0" rtl="0" algn="l">
                        <a:lnSpc>
                          <a:spcPct val="115000"/>
                        </a:lnSpc>
                        <a:spcBef>
                          <a:spcPts val="0"/>
                        </a:spcBef>
                        <a:spcAft>
                          <a:spcPts val="0"/>
                        </a:spcAft>
                        <a:buClr>
                          <a:schemeClr val="dk1"/>
                        </a:buClr>
                        <a:buSzPts val="900"/>
                        <a:buFont typeface="Proxima Nova"/>
                        <a:buChar char="●"/>
                      </a:pPr>
                      <a:r>
                        <a:rPr lang="en" sz="900">
                          <a:solidFill>
                            <a:schemeClr val="dk1"/>
                          </a:solidFill>
                          <a:latin typeface="Proxima Nova"/>
                          <a:ea typeface="Proxima Nova"/>
                          <a:cs typeface="Proxima Nova"/>
                          <a:sym typeface="Proxima Nova"/>
                        </a:rPr>
                        <a:t>Backup, DR, and monitoring proven before any data moves</a:t>
                      </a:r>
                      <a:endParaRPr sz="900">
                        <a:solidFill>
                          <a:schemeClr val="dk1"/>
                        </a:solidFill>
                        <a:latin typeface="Proxima Nova"/>
                        <a:ea typeface="Proxima Nova"/>
                        <a:cs typeface="Proxima Nova"/>
                        <a:sym typeface="Proxima Nova"/>
                      </a:endParaRPr>
                    </a:p>
                  </a:txBody>
                  <a:tcPr marT="91425" marB="91425" marR="91425" marL="91425">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9E9E9E">
                          <a:alpha val="0"/>
                        </a:srgbClr>
                      </a:solidFill>
                      <a:prstDash val="solid"/>
                      <a:round/>
                      <a:headEnd len="sm" w="sm" type="none"/>
                      <a:tailEnd len="sm" w="sm" type="none"/>
                    </a:lnT>
                    <a:lnB cap="flat" cmpd="sng" w="9525">
                      <a:solidFill>
                        <a:srgbClr val="9E9E9E">
                          <a:alpha val="0"/>
                        </a:srgbClr>
                      </a:solidFill>
                      <a:prstDash val="solid"/>
                      <a:round/>
                      <a:headEnd len="sm" w="sm" type="none"/>
                      <a:tailEnd len="sm" w="sm" type="none"/>
                    </a:lnB>
                  </a:tcPr>
                </a:tc>
              </a:tr>
              <a:tr h="381000">
                <a:tc>
                  <a:txBody>
                    <a:bodyPr/>
                    <a:lstStyle/>
                    <a:p>
                      <a:pPr indent="0" lvl="0" marL="0" rtl="0" algn="l">
                        <a:lnSpc>
                          <a:spcPct val="115000"/>
                        </a:lnSpc>
                        <a:spcBef>
                          <a:spcPts val="500"/>
                        </a:spcBef>
                        <a:spcAft>
                          <a:spcPts val="0"/>
                        </a:spcAft>
                        <a:buNone/>
                      </a:pPr>
                      <a:r>
                        <a:rPr lang="en" sz="900">
                          <a:solidFill>
                            <a:schemeClr val="dk1"/>
                          </a:solidFill>
                          <a:latin typeface="Proxima Nova Semibold"/>
                          <a:ea typeface="Proxima Nova Semibold"/>
                          <a:cs typeface="Proxima Nova Semibold"/>
                          <a:sym typeface="Proxima Nova Semibold"/>
                        </a:rPr>
                        <a:t>Migration, Testing &amp; Cutover</a:t>
                      </a:r>
                      <a:endParaRPr sz="900">
                        <a:solidFill>
                          <a:schemeClr val="dk1"/>
                        </a:solidFill>
                        <a:latin typeface="Proxima Nova Semibold"/>
                        <a:ea typeface="Proxima Nova Semibold"/>
                        <a:cs typeface="Proxima Nova Semibold"/>
                        <a:sym typeface="Proxima Nova Semibold"/>
                      </a:endParaRPr>
                    </a:p>
                    <a:p>
                      <a:pPr indent="0" lvl="0" marL="0" rtl="0" algn="l">
                        <a:lnSpc>
                          <a:spcPct val="115000"/>
                        </a:lnSpc>
                        <a:spcBef>
                          <a:spcPts val="500"/>
                        </a:spcBef>
                        <a:spcAft>
                          <a:spcPts val="0"/>
                        </a:spcAft>
                        <a:buNone/>
                      </a:pPr>
                      <a:r>
                        <a:rPr lang="en" sz="900">
                          <a:solidFill>
                            <a:schemeClr val="dk1"/>
                          </a:solidFill>
                          <a:latin typeface="Proxima Nova Semibold"/>
                          <a:ea typeface="Proxima Nova Semibold"/>
                          <a:cs typeface="Proxima Nova Semibold"/>
                          <a:sym typeface="Proxima Nova Semibold"/>
                        </a:rPr>
                        <a:t>(Weeks 7 - 13)</a:t>
                      </a:r>
                      <a:endParaRPr sz="1300">
                        <a:latin typeface="Proxima Nova"/>
                        <a:ea typeface="Proxima Nova"/>
                        <a:cs typeface="Proxima Nova"/>
                        <a:sym typeface="Proxima Nova"/>
                      </a:endParaRPr>
                    </a:p>
                  </a:txBody>
                  <a:tcPr marT="91425" marB="91425" marR="91425" marL="91425"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9E9E9E">
                          <a:alpha val="0"/>
                        </a:srgbClr>
                      </a:solidFill>
                      <a:prstDash val="solid"/>
                      <a:round/>
                      <a:headEnd len="sm" w="sm" type="none"/>
                      <a:tailEnd len="sm" w="sm" type="none"/>
                    </a:lnT>
                    <a:lnB cap="flat" cmpd="sng" w="9525">
                      <a:solidFill>
                        <a:srgbClr val="9E9E9E">
                          <a:alpha val="0"/>
                        </a:srgbClr>
                      </a:solidFill>
                      <a:prstDash val="solid"/>
                      <a:round/>
                      <a:headEnd len="sm" w="sm" type="none"/>
                      <a:tailEnd len="sm" w="sm" type="none"/>
                    </a:lnB>
                  </a:tcPr>
                </a:tc>
                <a:tc>
                  <a:txBody>
                    <a:bodyPr/>
                    <a:lstStyle/>
                    <a:p>
                      <a:pPr indent="-200025" lvl="0" marL="200025" marR="0" rtl="0" algn="l">
                        <a:lnSpc>
                          <a:spcPct val="115000"/>
                        </a:lnSpc>
                        <a:spcBef>
                          <a:spcPts val="500"/>
                        </a:spcBef>
                        <a:spcAft>
                          <a:spcPts val="0"/>
                        </a:spcAft>
                        <a:buClr>
                          <a:schemeClr val="dk1"/>
                        </a:buClr>
                        <a:buSzPts val="900"/>
                        <a:buFont typeface="Proxima Nova"/>
                        <a:buChar char="●"/>
                      </a:pPr>
                      <a:r>
                        <a:rPr lang="en" sz="900">
                          <a:solidFill>
                            <a:schemeClr val="dk1"/>
                          </a:solidFill>
                          <a:latin typeface="Proxima Nova"/>
                          <a:ea typeface="Proxima Nova"/>
                          <a:cs typeface="Proxima Nova"/>
                          <a:sym typeface="Proxima Nova"/>
                        </a:rPr>
                        <a:t>Dev/test environments migrated first</a:t>
                      </a:r>
                      <a:endParaRPr sz="900">
                        <a:solidFill>
                          <a:schemeClr val="dk1"/>
                        </a:solidFill>
                        <a:latin typeface="Proxima Nova"/>
                        <a:ea typeface="Proxima Nova"/>
                        <a:cs typeface="Proxima Nova"/>
                        <a:sym typeface="Proxima Nova"/>
                      </a:endParaRPr>
                    </a:p>
                    <a:p>
                      <a:pPr indent="-200025" lvl="0" marL="200025" marR="0" rtl="0" algn="l">
                        <a:lnSpc>
                          <a:spcPct val="115000"/>
                        </a:lnSpc>
                        <a:spcBef>
                          <a:spcPts val="0"/>
                        </a:spcBef>
                        <a:spcAft>
                          <a:spcPts val="0"/>
                        </a:spcAft>
                        <a:buClr>
                          <a:schemeClr val="dk1"/>
                        </a:buClr>
                        <a:buSzPts val="900"/>
                        <a:buFont typeface="Proxima Nova"/>
                        <a:buChar char="●"/>
                      </a:pPr>
                      <a:r>
                        <a:rPr lang="en" sz="900">
                          <a:solidFill>
                            <a:schemeClr val="dk1"/>
                          </a:solidFill>
                          <a:latin typeface="Proxima Nova"/>
                          <a:ea typeface="Proxima Nova"/>
                          <a:cs typeface="Proxima Nova"/>
                          <a:sym typeface="Proxima Nova"/>
                        </a:rPr>
                        <a:t>Rehearsed data synchronization and cutover</a:t>
                      </a:r>
                      <a:endParaRPr sz="900">
                        <a:solidFill>
                          <a:schemeClr val="dk1"/>
                        </a:solidFill>
                        <a:latin typeface="Proxima Nova"/>
                        <a:ea typeface="Proxima Nova"/>
                        <a:cs typeface="Proxima Nova"/>
                        <a:sym typeface="Proxima Nova"/>
                      </a:endParaRPr>
                    </a:p>
                    <a:p>
                      <a:pPr indent="-200025" lvl="0" marL="200025" marR="0" rtl="0" algn="l">
                        <a:lnSpc>
                          <a:spcPct val="115000"/>
                        </a:lnSpc>
                        <a:spcBef>
                          <a:spcPts val="0"/>
                        </a:spcBef>
                        <a:spcAft>
                          <a:spcPts val="0"/>
                        </a:spcAft>
                        <a:buClr>
                          <a:schemeClr val="dk1"/>
                        </a:buClr>
                        <a:buSzPts val="900"/>
                        <a:buFont typeface="Proxima Nova"/>
                        <a:buChar char="●"/>
                      </a:pPr>
                      <a:r>
                        <a:rPr lang="en" sz="900">
                          <a:solidFill>
                            <a:schemeClr val="dk1"/>
                          </a:solidFill>
                          <a:latin typeface="Proxima Nova"/>
                          <a:ea typeface="Proxima Nova"/>
                          <a:cs typeface="Proxima Nova"/>
                          <a:sym typeface="Proxima Nova"/>
                        </a:rPr>
                        <a:t>Performance validated against current production</a:t>
                      </a:r>
                      <a:endParaRPr sz="900">
                        <a:solidFill>
                          <a:schemeClr val="dk1"/>
                        </a:solidFill>
                        <a:latin typeface="Proxima Nova"/>
                        <a:ea typeface="Proxima Nova"/>
                        <a:cs typeface="Proxima Nova"/>
                        <a:sym typeface="Proxima Nova"/>
                      </a:endParaRPr>
                    </a:p>
                  </a:txBody>
                  <a:tcPr marT="91425" marB="91425" marR="91425" marL="91425">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9E9E9E">
                          <a:alpha val="0"/>
                        </a:srgbClr>
                      </a:solidFill>
                      <a:prstDash val="solid"/>
                      <a:round/>
                      <a:headEnd len="sm" w="sm" type="none"/>
                      <a:tailEnd len="sm" w="sm" type="none"/>
                    </a:lnT>
                    <a:lnB cap="flat" cmpd="sng" w="9525">
                      <a:solidFill>
                        <a:srgbClr val="9E9E9E">
                          <a:alpha val="0"/>
                        </a:srgbClr>
                      </a:solidFill>
                      <a:prstDash val="solid"/>
                      <a:round/>
                      <a:headEnd len="sm" w="sm" type="none"/>
                      <a:tailEnd len="sm" w="sm" type="none"/>
                    </a:lnB>
                  </a:tcPr>
                </a:tc>
              </a:tr>
              <a:tr h="381000">
                <a:tc>
                  <a:txBody>
                    <a:bodyPr/>
                    <a:lstStyle/>
                    <a:p>
                      <a:pPr indent="0" lvl="0" marL="0" rtl="0" algn="l">
                        <a:lnSpc>
                          <a:spcPct val="115000"/>
                        </a:lnSpc>
                        <a:spcBef>
                          <a:spcPts val="500"/>
                        </a:spcBef>
                        <a:spcAft>
                          <a:spcPts val="0"/>
                        </a:spcAft>
                        <a:buNone/>
                      </a:pPr>
                      <a:r>
                        <a:rPr lang="en" sz="900">
                          <a:solidFill>
                            <a:schemeClr val="dk1"/>
                          </a:solidFill>
                          <a:latin typeface="Proxima Nova Semibold"/>
                          <a:ea typeface="Proxima Nova Semibold"/>
                          <a:cs typeface="Proxima Nova Semibold"/>
                          <a:sym typeface="Proxima Nova Semibold"/>
                        </a:rPr>
                        <a:t>Backup, DR &amp; Stabilization </a:t>
                      </a:r>
                      <a:endParaRPr sz="900">
                        <a:solidFill>
                          <a:schemeClr val="dk1"/>
                        </a:solidFill>
                        <a:latin typeface="Proxima Nova Semibold"/>
                        <a:ea typeface="Proxima Nova Semibold"/>
                        <a:cs typeface="Proxima Nova Semibold"/>
                        <a:sym typeface="Proxima Nova Semibold"/>
                      </a:endParaRPr>
                    </a:p>
                    <a:p>
                      <a:pPr indent="0" lvl="0" marL="0" rtl="0" algn="l">
                        <a:lnSpc>
                          <a:spcPct val="115000"/>
                        </a:lnSpc>
                        <a:spcBef>
                          <a:spcPts val="500"/>
                        </a:spcBef>
                        <a:spcAft>
                          <a:spcPts val="0"/>
                        </a:spcAft>
                        <a:buNone/>
                      </a:pPr>
                      <a:r>
                        <a:rPr lang="en" sz="900">
                          <a:solidFill>
                            <a:schemeClr val="dk1"/>
                          </a:solidFill>
                          <a:latin typeface="Proxima Nova Semibold"/>
                          <a:ea typeface="Proxima Nova Semibold"/>
                          <a:cs typeface="Proxima Nova Semibold"/>
                          <a:sym typeface="Proxima Nova Semibold"/>
                        </a:rPr>
                        <a:t>(Weeks 15 - 18)</a:t>
                      </a:r>
                      <a:endParaRPr sz="1300">
                        <a:latin typeface="Proxima Nova"/>
                        <a:ea typeface="Proxima Nova"/>
                        <a:cs typeface="Proxima Nova"/>
                        <a:sym typeface="Proxima Nova"/>
                      </a:endParaRPr>
                    </a:p>
                  </a:txBody>
                  <a:tcPr marT="91425" marB="91425" marR="91425" marL="91425"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9E9E9E">
                          <a:alpha val="0"/>
                        </a:srgbClr>
                      </a:solidFill>
                      <a:prstDash val="solid"/>
                      <a:round/>
                      <a:headEnd len="sm" w="sm" type="none"/>
                      <a:tailEnd len="sm" w="sm" type="none"/>
                    </a:lnT>
                    <a:lnB cap="flat" cmpd="sng" w="9525">
                      <a:solidFill>
                        <a:srgbClr val="9E9E9E">
                          <a:alpha val="0"/>
                        </a:srgbClr>
                      </a:solidFill>
                      <a:prstDash val="solid"/>
                      <a:round/>
                      <a:headEnd len="sm" w="sm" type="none"/>
                      <a:tailEnd len="sm" w="sm" type="none"/>
                    </a:lnB>
                  </a:tcPr>
                </a:tc>
                <a:tc>
                  <a:txBody>
                    <a:bodyPr/>
                    <a:lstStyle/>
                    <a:p>
                      <a:pPr indent="-200025" lvl="0" marL="200025" marR="0" rtl="0" algn="l">
                        <a:lnSpc>
                          <a:spcPct val="115000"/>
                        </a:lnSpc>
                        <a:spcBef>
                          <a:spcPts val="500"/>
                        </a:spcBef>
                        <a:spcAft>
                          <a:spcPts val="0"/>
                        </a:spcAft>
                        <a:buClr>
                          <a:schemeClr val="dk1"/>
                        </a:buClr>
                        <a:buSzPts val="900"/>
                        <a:buFont typeface="Proxima Nova"/>
                        <a:buChar char="●"/>
                      </a:pPr>
                      <a:r>
                        <a:rPr lang="en" sz="900">
                          <a:solidFill>
                            <a:schemeClr val="dk1"/>
                          </a:solidFill>
                          <a:latin typeface="Proxima Nova"/>
                          <a:ea typeface="Proxima Nova"/>
                          <a:cs typeface="Proxima Nova"/>
                          <a:sym typeface="Proxima Nova"/>
                        </a:rPr>
                        <a:t>Weekend cutover with go/no-go checkpoints and full rollback</a:t>
                      </a:r>
                      <a:endParaRPr sz="900">
                        <a:solidFill>
                          <a:schemeClr val="dk1"/>
                        </a:solidFill>
                        <a:latin typeface="Proxima Nova"/>
                        <a:ea typeface="Proxima Nova"/>
                        <a:cs typeface="Proxima Nova"/>
                        <a:sym typeface="Proxima Nova"/>
                      </a:endParaRPr>
                    </a:p>
                    <a:p>
                      <a:pPr indent="-200025" lvl="0" marL="200025" marR="0" rtl="0" algn="l">
                        <a:lnSpc>
                          <a:spcPct val="115000"/>
                        </a:lnSpc>
                        <a:spcBef>
                          <a:spcPts val="0"/>
                        </a:spcBef>
                        <a:spcAft>
                          <a:spcPts val="0"/>
                        </a:spcAft>
                        <a:buClr>
                          <a:schemeClr val="dk1"/>
                        </a:buClr>
                        <a:buSzPts val="900"/>
                        <a:buFont typeface="Proxima Nova"/>
                        <a:buChar char="●"/>
                      </a:pPr>
                      <a:r>
                        <a:rPr lang="en" sz="900">
                          <a:solidFill>
                            <a:schemeClr val="dk1"/>
                          </a:solidFill>
                          <a:latin typeface="Proxima Nova"/>
                          <a:ea typeface="Proxima Nova"/>
                          <a:cs typeface="Proxima Nova"/>
                          <a:sym typeface="Proxima Nova"/>
                        </a:rPr>
                        <a:t>Zero planned data loss</a:t>
                      </a:r>
                      <a:endParaRPr sz="900">
                        <a:solidFill>
                          <a:schemeClr val="dk1"/>
                        </a:solidFill>
                        <a:latin typeface="Proxima Nova"/>
                        <a:ea typeface="Proxima Nova"/>
                        <a:cs typeface="Proxima Nova"/>
                        <a:sym typeface="Proxima Nova"/>
                      </a:endParaRPr>
                    </a:p>
                    <a:p>
                      <a:pPr indent="-200025" lvl="0" marL="200025" marR="0" rtl="0" algn="l">
                        <a:lnSpc>
                          <a:spcPct val="115000"/>
                        </a:lnSpc>
                        <a:spcBef>
                          <a:spcPts val="0"/>
                        </a:spcBef>
                        <a:spcAft>
                          <a:spcPts val="0"/>
                        </a:spcAft>
                        <a:buClr>
                          <a:schemeClr val="dk1"/>
                        </a:buClr>
                        <a:buSzPts val="900"/>
                        <a:buFont typeface="Proxima Nova"/>
                        <a:buChar char="●"/>
                      </a:pPr>
                      <a:r>
                        <a:rPr lang="en" sz="900">
                          <a:solidFill>
                            <a:schemeClr val="dk1"/>
                          </a:solidFill>
                          <a:latin typeface="Proxima Nova"/>
                          <a:ea typeface="Proxima Nova"/>
                          <a:cs typeface="Proxima Nova"/>
                          <a:sym typeface="Proxima Nova"/>
                        </a:rPr>
                        <a:t>Hypercare support through steady-state handoff</a:t>
                      </a:r>
                      <a:endParaRPr sz="900">
                        <a:solidFill>
                          <a:schemeClr val="dk1"/>
                        </a:solidFill>
                        <a:latin typeface="Proxima Nova"/>
                        <a:ea typeface="Proxima Nova"/>
                        <a:cs typeface="Proxima Nova"/>
                        <a:sym typeface="Proxima Nova"/>
                      </a:endParaRPr>
                    </a:p>
                  </a:txBody>
                  <a:tcPr marT="91425" marB="91425" marR="91425" marL="91425">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9E9E9E">
                          <a:alpha val="0"/>
                        </a:srgbClr>
                      </a:solidFill>
                      <a:prstDash val="solid"/>
                      <a:round/>
                      <a:headEnd len="sm" w="sm" type="none"/>
                      <a:tailEnd len="sm" w="sm" type="none"/>
                    </a:lnT>
                    <a:lnB cap="flat" cmpd="sng" w="9525">
                      <a:solidFill>
                        <a:srgbClr val="9E9E9E">
                          <a:alpha val="0"/>
                        </a:srgbClr>
                      </a:solidFill>
                      <a:prstDash val="solid"/>
                      <a:round/>
                      <a:headEnd len="sm" w="sm" type="none"/>
                      <a:tailEnd len="sm" w="sm" type="none"/>
                    </a:lnB>
                  </a:tcPr>
                </a:tc>
              </a:tr>
              <a:tr h="381000">
                <a:tc>
                  <a:txBody>
                    <a:bodyPr/>
                    <a:lstStyle/>
                    <a:p>
                      <a:pPr indent="0" lvl="0" marL="0" rtl="0" algn="l">
                        <a:lnSpc>
                          <a:spcPct val="115000"/>
                        </a:lnSpc>
                        <a:spcBef>
                          <a:spcPts val="500"/>
                        </a:spcBef>
                        <a:spcAft>
                          <a:spcPts val="0"/>
                        </a:spcAft>
                        <a:buNone/>
                      </a:pPr>
                      <a:r>
                        <a:rPr lang="en" sz="900">
                          <a:solidFill>
                            <a:schemeClr val="dk1"/>
                          </a:solidFill>
                          <a:latin typeface="Proxima Nova Semibold"/>
                          <a:ea typeface="Proxima Nova Semibold"/>
                          <a:cs typeface="Proxima Nova Semibold"/>
                          <a:sym typeface="Proxima Nova Semibold"/>
                        </a:rPr>
                        <a:t>Managed Services </a:t>
                      </a:r>
                      <a:endParaRPr sz="900">
                        <a:solidFill>
                          <a:schemeClr val="dk1"/>
                        </a:solidFill>
                        <a:latin typeface="Proxima Nova Semibold"/>
                        <a:ea typeface="Proxima Nova Semibold"/>
                        <a:cs typeface="Proxima Nova Semibold"/>
                        <a:sym typeface="Proxima Nova Semibold"/>
                      </a:endParaRPr>
                    </a:p>
                    <a:p>
                      <a:pPr indent="0" lvl="0" marL="0" rtl="0" algn="l">
                        <a:lnSpc>
                          <a:spcPct val="115000"/>
                        </a:lnSpc>
                        <a:spcBef>
                          <a:spcPts val="500"/>
                        </a:spcBef>
                        <a:spcAft>
                          <a:spcPts val="0"/>
                        </a:spcAft>
                        <a:buNone/>
                      </a:pPr>
                      <a:r>
                        <a:rPr lang="en" sz="900">
                          <a:solidFill>
                            <a:schemeClr val="dk1"/>
                          </a:solidFill>
                          <a:latin typeface="Proxima Nova Semibold"/>
                          <a:ea typeface="Proxima Nova Semibold"/>
                          <a:cs typeface="Proxima Nova Semibold"/>
                          <a:sym typeface="Proxima Nova Semibold"/>
                        </a:rPr>
                        <a:t>(36 months)</a:t>
                      </a:r>
                      <a:endParaRPr sz="1300">
                        <a:latin typeface="Proxima Nova"/>
                        <a:ea typeface="Proxima Nova"/>
                        <a:cs typeface="Proxima Nova"/>
                        <a:sym typeface="Proxima Nova"/>
                      </a:endParaRPr>
                    </a:p>
                  </a:txBody>
                  <a:tcPr marT="91425" marB="91425" marR="91425" marL="91425"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9E9E9E">
                          <a:alpha val="0"/>
                        </a:srgbClr>
                      </a:solidFill>
                      <a:prstDash val="solid"/>
                      <a:round/>
                      <a:headEnd len="sm" w="sm" type="none"/>
                      <a:tailEnd len="sm" w="sm" type="none"/>
                    </a:lnT>
                    <a:lnB cap="flat" cmpd="sng" w="9525">
                      <a:solidFill>
                        <a:srgbClr val="9E9E9E">
                          <a:alpha val="0"/>
                        </a:srgbClr>
                      </a:solidFill>
                      <a:prstDash val="solid"/>
                      <a:round/>
                      <a:headEnd len="sm" w="sm" type="none"/>
                      <a:tailEnd len="sm" w="sm" type="none"/>
                    </a:lnB>
                  </a:tcPr>
                </a:tc>
                <a:tc>
                  <a:txBody>
                    <a:bodyPr/>
                    <a:lstStyle/>
                    <a:p>
                      <a:pPr indent="-200025" lvl="0" marL="200025" marR="0" rtl="0" algn="l">
                        <a:lnSpc>
                          <a:spcPct val="115000"/>
                        </a:lnSpc>
                        <a:spcBef>
                          <a:spcPts val="500"/>
                        </a:spcBef>
                        <a:spcAft>
                          <a:spcPts val="0"/>
                        </a:spcAft>
                        <a:buClr>
                          <a:schemeClr val="dk1"/>
                        </a:buClr>
                        <a:buSzPts val="900"/>
                        <a:buFont typeface="Proxima Nova"/>
                        <a:buChar char="●"/>
                      </a:pPr>
                      <a:r>
                        <a:rPr lang="en" sz="900">
                          <a:solidFill>
                            <a:schemeClr val="dk1"/>
                          </a:solidFill>
                          <a:latin typeface="Proxima Nova"/>
                          <a:ea typeface="Proxima Nova"/>
                          <a:cs typeface="Proxima Nova"/>
                          <a:sym typeface="Proxima Nova"/>
                        </a:rPr>
                        <a:t>24x7 monitoring with SLA-backed availability</a:t>
                      </a:r>
                      <a:endParaRPr sz="900">
                        <a:solidFill>
                          <a:schemeClr val="dk1"/>
                        </a:solidFill>
                        <a:latin typeface="Proxima Nova"/>
                        <a:ea typeface="Proxima Nova"/>
                        <a:cs typeface="Proxima Nova"/>
                        <a:sym typeface="Proxima Nova"/>
                      </a:endParaRPr>
                    </a:p>
                    <a:p>
                      <a:pPr indent="-200025" lvl="0" marL="200025" marR="0" rtl="0" algn="l">
                        <a:lnSpc>
                          <a:spcPct val="115000"/>
                        </a:lnSpc>
                        <a:spcBef>
                          <a:spcPts val="0"/>
                        </a:spcBef>
                        <a:spcAft>
                          <a:spcPts val="0"/>
                        </a:spcAft>
                        <a:buClr>
                          <a:schemeClr val="dk1"/>
                        </a:buClr>
                        <a:buSzPts val="900"/>
                        <a:buFont typeface="Proxima Nova"/>
                        <a:buChar char="●"/>
                      </a:pPr>
                      <a:r>
                        <a:rPr lang="en" sz="900">
                          <a:solidFill>
                            <a:schemeClr val="dk1"/>
                          </a:solidFill>
                          <a:latin typeface="Proxima Nova"/>
                          <a:ea typeface="Proxima Nova"/>
                          <a:cs typeface="Proxima Nova"/>
                          <a:sym typeface="Proxima Nova"/>
                        </a:rPr>
                        <a:t>Ongoing security operations and compliance reporting</a:t>
                      </a:r>
                      <a:endParaRPr sz="900">
                        <a:solidFill>
                          <a:schemeClr val="dk1"/>
                        </a:solidFill>
                        <a:latin typeface="Proxima Nova"/>
                        <a:ea typeface="Proxima Nova"/>
                        <a:cs typeface="Proxima Nova"/>
                        <a:sym typeface="Proxima Nova"/>
                      </a:endParaRPr>
                    </a:p>
                    <a:p>
                      <a:pPr indent="-200025" lvl="0" marL="200025" marR="0" rtl="0" algn="l">
                        <a:lnSpc>
                          <a:spcPct val="115000"/>
                        </a:lnSpc>
                        <a:spcBef>
                          <a:spcPts val="0"/>
                        </a:spcBef>
                        <a:spcAft>
                          <a:spcPts val="0"/>
                        </a:spcAft>
                        <a:buClr>
                          <a:schemeClr val="dk1"/>
                        </a:buClr>
                        <a:buSzPts val="900"/>
                        <a:buFont typeface="Proxima Nova"/>
                        <a:buChar char="●"/>
                      </a:pPr>
                      <a:r>
                        <a:rPr lang="en" sz="900">
                          <a:solidFill>
                            <a:schemeClr val="dk1"/>
                          </a:solidFill>
                          <a:latin typeface="Proxima Nova"/>
                          <a:ea typeface="Proxima Nova"/>
                          <a:cs typeface="Proxima Nova"/>
                          <a:sym typeface="Proxima Nova"/>
                        </a:rPr>
                        <a:t>Managed backup and scheduled DR testing</a:t>
                      </a:r>
                      <a:endParaRPr sz="900">
                        <a:solidFill>
                          <a:schemeClr val="dk1"/>
                        </a:solidFill>
                        <a:latin typeface="Proxima Nova"/>
                        <a:ea typeface="Proxima Nova"/>
                        <a:cs typeface="Proxima Nova"/>
                        <a:sym typeface="Proxima Nova"/>
                      </a:endParaRPr>
                    </a:p>
                  </a:txBody>
                  <a:tcPr marT="91425" marB="91425" marR="91425" marL="91425">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9E9E9E">
                          <a:alpha val="0"/>
                        </a:srgbClr>
                      </a:solidFill>
                      <a:prstDash val="solid"/>
                      <a:round/>
                      <a:headEnd len="sm" w="sm" type="none"/>
                      <a:tailEnd len="sm" w="sm" type="none"/>
                    </a:lnT>
                    <a:lnB cap="flat" cmpd="sng" w="9525">
                      <a:solidFill>
                        <a:srgbClr val="9E9E9E">
                          <a:alpha val="0"/>
                        </a:srgbClr>
                      </a:solidFill>
                      <a:prstDash val="solid"/>
                      <a:round/>
                      <a:headEnd len="sm" w="sm" type="none"/>
                      <a:tailEnd len="sm" w="sm" type="none"/>
                    </a:lnB>
                  </a:tcPr>
                </a:tc>
              </a:tr>
            </a:tbl>
          </a:graphicData>
        </a:graphic>
      </p:graphicFrame>
      <p:cxnSp>
        <p:nvCxnSpPr>
          <p:cNvPr id="401" name="Google Shape;401;p33"/>
          <p:cNvCxnSpPr/>
          <p:nvPr/>
        </p:nvCxnSpPr>
        <p:spPr>
          <a:xfrm>
            <a:off x="480070" y="1584147"/>
            <a:ext cx="5482200" cy="0"/>
          </a:xfrm>
          <a:prstGeom prst="straightConnector1">
            <a:avLst/>
          </a:prstGeom>
          <a:noFill/>
          <a:ln cap="flat" cmpd="sng" w="12700">
            <a:solidFill>
              <a:srgbClr val="D3DCEC"/>
            </a:solidFill>
            <a:prstDash val="solid"/>
            <a:round/>
            <a:headEnd len="sm" w="sm" type="none"/>
            <a:tailEnd len="sm" w="sm" type="none"/>
          </a:ln>
        </p:spPr>
      </p:cxnSp>
      <p:cxnSp>
        <p:nvCxnSpPr>
          <p:cNvPr id="402" name="Google Shape;402;p33"/>
          <p:cNvCxnSpPr/>
          <p:nvPr/>
        </p:nvCxnSpPr>
        <p:spPr>
          <a:xfrm>
            <a:off x="480070" y="2229847"/>
            <a:ext cx="5482200" cy="0"/>
          </a:xfrm>
          <a:prstGeom prst="straightConnector1">
            <a:avLst/>
          </a:prstGeom>
          <a:noFill/>
          <a:ln cap="flat" cmpd="sng" w="12700">
            <a:solidFill>
              <a:srgbClr val="D3DCEC"/>
            </a:solidFill>
            <a:prstDash val="solid"/>
            <a:round/>
            <a:headEnd len="sm" w="sm" type="none"/>
            <a:tailEnd len="sm" w="sm" type="none"/>
          </a:ln>
        </p:spPr>
      </p:cxnSp>
      <p:cxnSp>
        <p:nvCxnSpPr>
          <p:cNvPr id="403" name="Google Shape;403;p33"/>
          <p:cNvCxnSpPr/>
          <p:nvPr/>
        </p:nvCxnSpPr>
        <p:spPr>
          <a:xfrm>
            <a:off x="480070" y="3023047"/>
            <a:ext cx="5482200" cy="0"/>
          </a:xfrm>
          <a:prstGeom prst="straightConnector1">
            <a:avLst/>
          </a:prstGeom>
          <a:noFill/>
          <a:ln cap="flat" cmpd="sng" w="12700">
            <a:solidFill>
              <a:srgbClr val="D3DCEC"/>
            </a:solidFill>
            <a:prstDash val="solid"/>
            <a:round/>
            <a:headEnd len="sm" w="sm" type="none"/>
            <a:tailEnd len="sm" w="sm" type="none"/>
          </a:ln>
        </p:spPr>
      </p:cxnSp>
      <p:cxnSp>
        <p:nvCxnSpPr>
          <p:cNvPr id="404" name="Google Shape;404;p33"/>
          <p:cNvCxnSpPr/>
          <p:nvPr/>
        </p:nvCxnSpPr>
        <p:spPr>
          <a:xfrm>
            <a:off x="480070" y="3658522"/>
            <a:ext cx="5482200" cy="0"/>
          </a:xfrm>
          <a:prstGeom prst="straightConnector1">
            <a:avLst/>
          </a:prstGeom>
          <a:noFill/>
          <a:ln cap="flat" cmpd="sng" w="12700">
            <a:solidFill>
              <a:srgbClr val="D3DCEC"/>
            </a:solidFill>
            <a:prstDash val="solid"/>
            <a:round/>
            <a:headEnd len="sm" w="sm" type="none"/>
            <a:tailEnd len="sm" w="sm" type="none"/>
          </a:ln>
        </p:spPr>
      </p:cxnSp>
      <p:cxnSp>
        <p:nvCxnSpPr>
          <p:cNvPr id="405" name="Google Shape;405;p33"/>
          <p:cNvCxnSpPr/>
          <p:nvPr/>
        </p:nvCxnSpPr>
        <p:spPr>
          <a:xfrm>
            <a:off x="480070" y="4293997"/>
            <a:ext cx="5482200" cy="0"/>
          </a:xfrm>
          <a:prstGeom prst="straightConnector1">
            <a:avLst/>
          </a:prstGeom>
          <a:noFill/>
          <a:ln cap="flat" cmpd="sng" w="12700">
            <a:solidFill>
              <a:srgbClr val="D3DCEC"/>
            </a:solidFill>
            <a:prstDash val="solid"/>
            <a:round/>
            <a:headEnd len="sm" w="sm" type="none"/>
            <a:tailEnd len="sm" w="sm" type="none"/>
          </a:ln>
        </p:spPr>
      </p:cxn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9" name="Shape 409"/>
        <p:cNvGrpSpPr/>
        <p:nvPr/>
      </p:nvGrpSpPr>
      <p:grpSpPr>
        <a:xfrm>
          <a:off x="0" y="0"/>
          <a:ext cx="0" cy="0"/>
          <a:chOff x="0" y="0"/>
          <a:chExt cx="0" cy="0"/>
        </a:xfrm>
      </p:grpSpPr>
      <p:sp>
        <p:nvSpPr>
          <p:cNvPr id="410" name="Google Shape;410;p34"/>
          <p:cNvSpPr/>
          <p:nvPr/>
        </p:nvSpPr>
        <p:spPr>
          <a:xfrm>
            <a:off x="480073" y="425196"/>
            <a:ext cx="6858300" cy="20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5AAC"/>
              </a:buClr>
              <a:buSzPts val="900"/>
              <a:buFont typeface="Calibri"/>
              <a:buNone/>
            </a:pPr>
            <a:r>
              <a:rPr b="1" lang="en" sz="900">
                <a:solidFill>
                  <a:srgbClr val="2E5AAC"/>
                </a:solidFill>
                <a:latin typeface="Proxima Nova"/>
                <a:ea typeface="Proxima Nova"/>
                <a:cs typeface="Proxima Nova"/>
                <a:sym typeface="Proxima Nova"/>
              </a:rPr>
              <a:t>APPROACH</a:t>
            </a:r>
            <a:endParaRPr b="0" i="0" sz="900" u="none" cap="none" strike="noStrike">
              <a:solidFill>
                <a:schemeClr val="dk1"/>
              </a:solidFill>
              <a:latin typeface="Calibri"/>
              <a:ea typeface="Calibri"/>
              <a:cs typeface="Calibri"/>
              <a:sym typeface="Calibri"/>
            </a:endParaRPr>
          </a:p>
        </p:txBody>
      </p:sp>
      <p:sp>
        <p:nvSpPr>
          <p:cNvPr id="411" name="Google Shape;411;p34"/>
          <p:cNvSpPr/>
          <p:nvPr/>
        </p:nvSpPr>
        <p:spPr>
          <a:xfrm>
            <a:off x="342909" y="606510"/>
            <a:ext cx="8456100" cy="48030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41133"/>
              </a:buClr>
              <a:buSzPts val="2000"/>
              <a:buFont typeface="Arial"/>
              <a:buNone/>
            </a:pPr>
            <a:r>
              <a:rPr b="1" i="0" lang="en" sz="2000" u="none" cap="none" strike="noStrike">
                <a:solidFill>
                  <a:srgbClr val="041133"/>
                </a:solidFill>
                <a:latin typeface="Arial"/>
                <a:ea typeface="Arial"/>
                <a:cs typeface="Arial"/>
                <a:sym typeface="Arial"/>
              </a:rPr>
              <a:t>Six-Phase Migration Plan (~18 Weeks)</a:t>
            </a:r>
            <a:endParaRPr b="0" i="0" sz="2000" u="none" cap="none" strike="noStrike">
              <a:solidFill>
                <a:schemeClr val="dk1"/>
              </a:solidFill>
              <a:latin typeface="Calibri"/>
              <a:ea typeface="Calibri"/>
              <a:cs typeface="Calibri"/>
              <a:sym typeface="Calibri"/>
            </a:endParaRPr>
          </a:p>
        </p:txBody>
      </p:sp>
      <p:sp>
        <p:nvSpPr>
          <p:cNvPr id="412" name="Google Shape;412;p34"/>
          <p:cNvSpPr/>
          <p:nvPr/>
        </p:nvSpPr>
        <p:spPr>
          <a:xfrm>
            <a:off x="342909" y="1141434"/>
            <a:ext cx="8435400" cy="24000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626679"/>
              </a:buClr>
              <a:buSzPts val="900"/>
              <a:buFont typeface="Arial"/>
              <a:buNone/>
            </a:pPr>
            <a:r>
              <a:rPr b="0" i="0" lang="en" sz="900" u="none" cap="none" strike="noStrike">
                <a:solidFill>
                  <a:srgbClr val="626679"/>
                </a:solidFill>
                <a:latin typeface="Arial"/>
                <a:ea typeface="Arial"/>
                <a:cs typeface="Arial"/>
                <a:sym typeface="Arial"/>
              </a:rPr>
              <a:t>Proposed plan based on our current understanding of scope and effort. Timing is flexible to Rimage's needs and confirmed during discovery.</a:t>
            </a:r>
            <a:endParaRPr b="0" i="0" sz="900" u="none" cap="none" strike="noStrike">
              <a:solidFill>
                <a:schemeClr val="dk1"/>
              </a:solidFill>
              <a:latin typeface="Calibri"/>
              <a:ea typeface="Calibri"/>
              <a:cs typeface="Calibri"/>
              <a:sym typeface="Calibri"/>
            </a:endParaRPr>
          </a:p>
        </p:txBody>
      </p:sp>
      <p:cxnSp>
        <p:nvCxnSpPr>
          <p:cNvPr id="413" name="Google Shape;413;p34"/>
          <p:cNvCxnSpPr/>
          <p:nvPr/>
        </p:nvCxnSpPr>
        <p:spPr>
          <a:xfrm>
            <a:off x="984721" y="1738080"/>
            <a:ext cx="7172400" cy="0"/>
          </a:xfrm>
          <a:prstGeom prst="straightConnector1">
            <a:avLst/>
          </a:prstGeom>
          <a:noFill/>
          <a:ln cap="flat" cmpd="sng" w="19050">
            <a:solidFill>
              <a:srgbClr val="DDE3F0"/>
            </a:solidFill>
            <a:prstDash val="solid"/>
            <a:round/>
            <a:headEnd len="sm" w="sm" type="none"/>
            <a:tailEnd len="sm" w="sm" type="none"/>
          </a:ln>
        </p:spPr>
      </p:cxnSp>
      <p:sp>
        <p:nvSpPr>
          <p:cNvPr id="414" name="Google Shape;414;p34"/>
          <p:cNvSpPr/>
          <p:nvPr/>
        </p:nvSpPr>
        <p:spPr>
          <a:xfrm>
            <a:off x="833841" y="1587204"/>
            <a:ext cx="301800" cy="301800"/>
          </a:xfrm>
          <a:prstGeom prst="ellipse">
            <a:avLst/>
          </a:prstGeom>
          <a:solidFill>
            <a:srgbClr val="204ECF"/>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15" name="Google Shape;415;p34"/>
          <p:cNvSpPr/>
          <p:nvPr/>
        </p:nvSpPr>
        <p:spPr>
          <a:xfrm>
            <a:off x="833841" y="1587204"/>
            <a:ext cx="301800" cy="3018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FFFFFF"/>
              </a:buClr>
              <a:buSzPts val="1200"/>
              <a:buFont typeface="Arial"/>
              <a:buNone/>
            </a:pPr>
            <a:r>
              <a:rPr b="1" i="0" lang="en" sz="1200" u="none" cap="none" strike="noStrike">
                <a:solidFill>
                  <a:srgbClr val="FFFFFF"/>
                </a:solidFill>
                <a:latin typeface="Arial"/>
                <a:ea typeface="Arial"/>
                <a:cs typeface="Arial"/>
                <a:sym typeface="Arial"/>
              </a:rPr>
              <a:t>1</a:t>
            </a:r>
            <a:endParaRPr b="0" i="0" sz="1200" u="none" cap="none" strike="noStrike">
              <a:solidFill>
                <a:schemeClr val="dk1"/>
              </a:solidFill>
              <a:latin typeface="Calibri"/>
              <a:ea typeface="Calibri"/>
              <a:cs typeface="Calibri"/>
              <a:sym typeface="Calibri"/>
            </a:endParaRPr>
          </a:p>
        </p:txBody>
      </p:sp>
      <p:sp>
        <p:nvSpPr>
          <p:cNvPr id="416" name="Google Shape;416;p34"/>
          <p:cNvSpPr/>
          <p:nvPr/>
        </p:nvSpPr>
        <p:spPr>
          <a:xfrm>
            <a:off x="342909" y="2080980"/>
            <a:ext cx="1283700" cy="2434500"/>
          </a:xfrm>
          <a:prstGeom prst="roundRect">
            <a:avLst>
              <a:gd fmla="val 4809" name="adj"/>
            </a:avLst>
          </a:prstGeom>
          <a:solidFill>
            <a:srgbClr val="FFFFFF"/>
          </a:solidFill>
          <a:ln cap="flat" cmpd="sng" w="9525">
            <a:solidFill>
              <a:srgbClr val="DDE3F0"/>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17" name="Google Shape;417;p34"/>
          <p:cNvSpPr/>
          <p:nvPr/>
        </p:nvSpPr>
        <p:spPr>
          <a:xfrm>
            <a:off x="342909" y="2080980"/>
            <a:ext cx="1283700" cy="617100"/>
          </a:xfrm>
          <a:prstGeom prst="roundRect">
            <a:avLst>
              <a:gd fmla="val 6667" name="adj"/>
            </a:avLst>
          </a:prstGeom>
          <a:solidFill>
            <a:srgbClr val="204ECF"/>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18" name="Google Shape;418;p34"/>
          <p:cNvSpPr/>
          <p:nvPr/>
        </p:nvSpPr>
        <p:spPr>
          <a:xfrm>
            <a:off x="377200" y="2115270"/>
            <a:ext cx="1215000" cy="5484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FFFFFF"/>
              </a:buClr>
              <a:buSzPts val="900"/>
              <a:buFont typeface="Arial"/>
              <a:buNone/>
            </a:pPr>
            <a:r>
              <a:rPr b="1" i="0" lang="en" sz="900" u="none" cap="none" strike="noStrike">
                <a:solidFill>
                  <a:srgbClr val="FFFFFF"/>
                </a:solidFill>
                <a:latin typeface="Arial"/>
                <a:ea typeface="Arial"/>
                <a:cs typeface="Arial"/>
                <a:sym typeface="Arial"/>
              </a:rPr>
              <a:t>Discovery</a:t>
            </a:r>
            <a:endParaRPr b="0" i="0" sz="9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900"/>
              <a:buFont typeface="Arial"/>
              <a:buNone/>
            </a:pPr>
            <a:r>
              <a:rPr b="1" i="0" lang="en" sz="900" u="none" cap="none" strike="noStrike">
                <a:solidFill>
                  <a:srgbClr val="FFFFFF"/>
                </a:solidFill>
                <a:latin typeface="Arial"/>
                <a:ea typeface="Arial"/>
                <a:cs typeface="Arial"/>
                <a:sym typeface="Arial"/>
              </a:rPr>
              <a:t>&amp; Planning</a:t>
            </a:r>
            <a:endParaRPr b="0" i="0" sz="900" u="none" cap="none" strike="noStrike">
              <a:solidFill>
                <a:schemeClr val="dk1"/>
              </a:solidFill>
              <a:latin typeface="Calibri"/>
              <a:ea typeface="Calibri"/>
              <a:cs typeface="Calibri"/>
              <a:sym typeface="Calibri"/>
            </a:endParaRPr>
          </a:p>
        </p:txBody>
      </p:sp>
      <p:sp>
        <p:nvSpPr>
          <p:cNvPr id="419" name="Google Shape;419;p34"/>
          <p:cNvSpPr/>
          <p:nvPr/>
        </p:nvSpPr>
        <p:spPr>
          <a:xfrm>
            <a:off x="377200" y="2766780"/>
            <a:ext cx="1215000" cy="2400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204ECF"/>
              </a:buClr>
              <a:buSzPts val="800"/>
              <a:buFont typeface="Arial"/>
              <a:buNone/>
            </a:pPr>
            <a:r>
              <a:rPr b="1" i="0" lang="en" sz="800" u="none" cap="none" strike="noStrike">
                <a:solidFill>
                  <a:srgbClr val="204ECF"/>
                </a:solidFill>
                <a:latin typeface="Arial"/>
                <a:ea typeface="Arial"/>
                <a:cs typeface="Arial"/>
                <a:sym typeface="Arial"/>
              </a:rPr>
              <a:t>Weeks 1–3</a:t>
            </a:r>
            <a:endParaRPr b="0" i="0" sz="800" u="none" cap="none" strike="noStrike">
              <a:solidFill>
                <a:schemeClr val="dk1"/>
              </a:solidFill>
              <a:latin typeface="Calibri"/>
              <a:ea typeface="Calibri"/>
              <a:cs typeface="Calibri"/>
              <a:sym typeface="Calibri"/>
            </a:endParaRPr>
          </a:p>
        </p:txBody>
      </p:sp>
      <p:sp>
        <p:nvSpPr>
          <p:cNvPr id="420" name="Google Shape;420;p34"/>
          <p:cNvSpPr/>
          <p:nvPr/>
        </p:nvSpPr>
        <p:spPr>
          <a:xfrm>
            <a:off x="438924" y="3054816"/>
            <a:ext cx="1091400" cy="1371600"/>
          </a:xfrm>
          <a:prstGeom prst="rect">
            <a:avLst/>
          </a:prstGeom>
          <a:noFill/>
          <a:ln>
            <a:noFill/>
          </a:ln>
        </p:spPr>
        <p:txBody>
          <a:bodyPr anchorCtr="0" anchor="t" bIns="34275" lIns="68575" spcFirstLastPara="1" rIns="68575" wrap="square" tIns="34275">
            <a:noAutofit/>
          </a:bodyPr>
          <a:lstStyle/>
          <a:p>
            <a:pPr indent="0" lvl="0" marL="0" marR="0" rtl="0" algn="ctr">
              <a:lnSpc>
                <a:spcPct val="112000"/>
              </a:lnSpc>
              <a:spcBef>
                <a:spcPts val="0"/>
              </a:spcBef>
              <a:spcAft>
                <a:spcPts val="0"/>
              </a:spcAft>
              <a:buClr>
                <a:srgbClr val="626679"/>
              </a:buClr>
              <a:buSzPts val="800"/>
              <a:buFont typeface="Arial"/>
              <a:buNone/>
            </a:pPr>
            <a:r>
              <a:rPr b="0" i="0" lang="en" sz="800" u="none" cap="none" strike="noStrike">
                <a:solidFill>
                  <a:srgbClr val="626679"/>
                </a:solidFill>
                <a:latin typeface="Arial"/>
                <a:ea typeface="Arial"/>
                <a:cs typeface="Arial"/>
                <a:sym typeface="Arial"/>
              </a:rPr>
              <a:t>Baseline, dependency mapping, target design, runbooks</a:t>
            </a:r>
            <a:endParaRPr b="0" i="0" sz="800" u="none" cap="none" strike="noStrike">
              <a:solidFill>
                <a:schemeClr val="dk1"/>
              </a:solidFill>
              <a:latin typeface="Calibri"/>
              <a:ea typeface="Calibri"/>
              <a:cs typeface="Calibri"/>
              <a:sym typeface="Calibri"/>
            </a:endParaRPr>
          </a:p>
        </p:txBody>
      </p:sp>
      <p:sp>
        <p:nvSpPr>
          <p:cNvPr id="421" name="Google Shape;421;p34"/>
          <p:cNvSpPr/>
          <p:nvPr/>
        </p:nvSpPr>
        <p:spPr>
          <a:xfrm>
            <a:off x="2268344" y="1587204"/>
            <a:ext cx="301800" cy="301800"/>
          </a:xfrm>
          <a:prstGeom prst="ellipse">
            <a:avLst/>
          </a:prstGeom>
          <a:solidFill>
            <a:srgbClr val="183A9E"/>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22" name="Google Shape;422;p34"/>
          <p:cNvSpPr/>
          <p:nvPr/>
        </p:nvSpPr>
        <p:spPr>
          <a:xfrm>
            <a:off x="2268344" y="1587204"/>
            <a:ext cx="301800" cy="3018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FFFFFF"/>
              </a:buClr>
              <a:buSzPts val="1200"/>
              <a:buFont typeface="Arial"/>
              <a:buNone/>
            </a:pPr>
            <a:r>
              <a:rPr b="1" i="0" lang="en" sz="1200" u="none" cap="none" strike="noStrike">
                <a:solidFill>
                  <a:srgbClr val="FFFFFF"/>
                </a:solidFill>
                <a:latin typeface="Arial"/>
                <a:ea typeface="Arial"/>
                <a:cs typeface="Arial"/>
                <a:sym typeface="Arial"/>
              </a:rPr>
              <a:t>2</a:t>
            </a:r>
            <a:endParaRPr b="0" i="0" sz="1200" u="none" cap="none" strike="noStrike">
              <a:solidFill>
                <a:schemeClr val="dk1"/>
              </a:solidFill>
              <a:latin typeface="Calibri"/>
              <a:ea typeface="Calibri"/>
              <a:cs typeface="Calibri"/>
              <a:sym typeface="Calibri"/>
            </a:endParaRPr>
          </a:p>
        </p:txBody>
      </p:sp>
      <p:sp>
        <p:nvSpPr>
          <p:cNvPr id="423" name="Google Shape;423;p34"/>
          <p:cNvSpPr/>
          <p:nvPr/>
        </p:nvSpPr>
        <p:spPr>
          <a:xfrm>
            <a:off x="1777412" y="2080980"/>
            <a:ext cx="1283700" cy="2434500"/>
          </a:xfrm>
          <a:prstGeom prst="roundRect">
            <a:avLst>
              <a:gd fmla="val 4809" name="adj"/>
            </a:avLst>
          </a:prstGeom>
          <a:solidFill>
            <a:srgbClr val="FFFFFF"/>
          </a:solidFill>
          <a:ln cap="flat" cmpd="sng" w="9525">
            <a:solidFill>
              <a:srgbClr val="DDE3F0"/>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24" name="Google Shape;424;p34"/>
          <p:cNvSpPr/>
          <p:nvPr/>
        </p:nvSpPr>
        <p:spPr>
          <a:xfrm>
            <a:off x="1777412" y="2080980"/>
            <a:ext cx="1283700" cy="617100"/>
          </a:xfrm>
          <a:prstGeom prst="roundRect">
            <a:avLst>
              <a:gd fmla="val 6667" name="adj"/>
            </a:avLst>
          </a:prstGeom>
          <a:solidFill>
            <a:srgbClr val="183A9E"/>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25" name="Google Shape;425;p34"/>
          <p:cNvSpPr/>
          <p:nvPr/>
        </p:nvSpPr>
        <p:spPr>
          <a:xfrm>
            <a:off x="1811703" y="2115270"/>
            <a:ext cx="1215000" cy="5484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FFFFFF"/>
              </a:buClr>
              <a:buSzPts val="900"/>
              <a:buFont typeface="Arial"/>
              <a:buNone/>
            </a:pPr>
            <a:r>
              <a:rPr b="1" i="0" lang="en" sz="900" u="none" cap="none" strike="noStrike">
                <a:solidFill>
                  <a:srgbClr val="FFFFFF"/>
                </a:solidFill>
                <a:latin typeface="Arial"/>
                <a:ea typeface="Arial"/>
                <a:cs typeface="Arial"/>
                <a:sym typeface="Arial"/>
              </a:rPr>
              <a:t>Build &amp;</a:t>
            </a:r>
            <a:endParaRPr b="0" i="0" sz="9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900"/>
              <a:buFont typeface="Arial"/>
              <a:buNone/>
            </a:pPr>
            <a:r>
              <a:rPr b="1" i="0" lang="en" sz="900" u="none" cap="none" strike="noStrike">
                <a:solidFill>
                  <a:srgbClr val="FFFFFF"/>
                </a:solidFill>
                <a:latin typeface="Arial"/>
                <a:ea typeface="Arial"/>
                <a:cs typeface="Arial"/>
                <a:sym typeface="Arial"/>
              </a:rPr>
              <a:t>Validation</a:t>
            </a:r>
            <a:endParaRPr b="0" i="0" sz="900" u="none" cap="none" strike="noStrike">
              <a:solidFill>
                <a:schemeClr val="dk1"/>
              </a:solidFill>
              <a:latin typeface="Calibri"/>
              <a:ea typeface="Calibri"/>
              <a:cs typeface="Calibri"/>
              <a:sym typeface="Calibri"/>
            </a:endParaRPr>
          </a:p>
        </p:txBody>
      </p:sp>
      <p:sp>
        <p:nvSpPr>
          <p:cNvPr id="426" name="Google Shape;426;p34"/>
          <p:cNvSpPr/>
          <p:nvPr/>
        </p:nvSpPr>
        <p:spPr>
          <a:xfrm>
            <a:off x="1811703" y="2766780"/>
            <a:ext cx="1215000" cy="2400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183A9E"/>
              </a:buClr>
              <a:buSzPts val="800"/>
              <a:buFont typeface="Arial"/>
              <a:buNone/>
            </a:pPr>
            <a:r>
              <a:rPr b="1" i="0" lang="en" sz="800" u="none" cap="none" strike="noStrike">
                <a:solidFill>
                  <a:srgbClr val="183A9E"/>
                </a:solidFill>
                <a:latin typeface="Arial"/>
                <a:ea typeface="Arial"/>
                <a:cs typeface="Arial"/>
                <a:sym typeface="Arial"/>
              </a:rPr>
              <a:t>Weeks 4–6</a:t>
            </a:r>
            <a:endParaRPr b="0" i="0" sz="800" u="none" cap="none" strike="noStrike">
              <a:solidFill>
                <a:schemeClr val="dk1"/>
              </a:solidFill>
              <a:latin typeface="Calibri"/>
              <a:ea typeface="Calibri"/>
              <a:cs typeface="Calibri"/>
              <a:sym typeface="Calibri"/>
            </a:endParaRPr>
          </a:p>
        </p:txBody>
      </p:sp>
      <p:sp>
        <p:nvSpPr>
          <p:cNvPr id="427" name="Google Shape;427;p34"/>
          <p:cNvSpPr/>
          <p:nvPr/>
        </p:nvSpPr>
        <p:spPr>
          <a:xfrm>
            <a:off x="1873427" y="3054816"/>
            <a:ext cx="1091400" cy="1371600"/>
          </a:xfrm>
          <a:prstGeom prst="rect">
            <a:avLst/>
          </a:prstGeom>
          <a:noFill/>
          <a:ln>
            <a:noFill/>
          </a:ln>
        </p:spPr>
        <p:txBody>
          <a:bodyPr anchorCtr="0" anchor="t" bIns="34275" lIns="68575" spcFirstLastPara="1" rIns="68575" wrap="square" tIns="34275">
            <a:noAutofit/>
          </a:bodyPr>
          <a:lstStyle/>
          <a:p>
            <a:pPr indent="0" lvl="0" marL="0" marR="0" rtl="0" algn="ctr">
              <a:lnSpc>
                <a:spcPct val="112000"/>
              </a:lnSpc>
              <a:spcBef>
                <a:spcPts val="0"/>
              </a:spcBef>
              <a:spcAft>
                <a:spcPts val="0"/>
              </a:spcAft>
              <a:buClr>
                <a:srgbClr val="626679"/>
              </a:buClr>
              <a:buSzPts val="800"/>
              <a:buFont typeface="Arial"/>
              <a:buNone/>
            </a:pPr>
            <a:r>
              <a:rPr b="0" i="0" lang="en" sz="800" u="none" cap="none" strike="noStrike">
                <a:solidFill>
                  <a:srgbClr val="626679"/>
                </a:solidFill>
                <a:latin typeface="Arial"/>
                <a:ea typeface="Arial"/>
                <a:cs typeface="Arial"/>
                <a:sym typeface="Arial"/>
              </a:rPr>
              <a:t>OCI build, network, security, monitoring, DR readiness</a:t>
            </a:r>
            <a:endParaRPr b="0" i="0" sz="800" u="none" cap="none" strike="noStrike">
              <a:solidFill>
                <a:schemeClr val="dk1"/>
              </a:solidFill>
              <a:latin typeface="Calibri"/>
              <a:ea typeface="Calibri"/>
              <a:cs typeface="Calibri"/>
              <a:sym typeface="Calibri"/>
            </a:endParaRPr>
          </a:p>
        </p:txBody>
      </p:sp>
      <p:sp>
        <p:nvSpPr>
          <p:cNvPr id="428" name="Google Shape;428;p34"/>
          <p:cNvSpPr/>
          <p:nvPr/>
        </p:nvSpPr>
        <p:spPr>
          <a:xfrm>
            <a:off x="3702847" y="1587204"/>
            <a:ext cx="301800" cy="301800"/>
          </a:xfrm>
          <a:prstGeom prst="ellipse">
            <a:avLst/>
          </a:prstGeom>
          <a:solidFill>
            <a:srgbClr val="0E246E"/>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29" name="Google Shape;429;p34"/>
          <p:cNvSpPr/>
          <p:nvPr/>
        </p:nvSpPr>
        <p:spPr>
          <a:xfrm>
            <a:off x="3702847" y="1587204"/>
            <a:ext cx="301800" cy="3018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FFFFFF"/>
              </a:buClr>
              <a:buSzPts val="1200"/>
              <a:buFont typeface="Arial"/>
              <a:buNone/>
            </a:pPr>
            <a:r>
              <a:rPr b="1" i="0" lang="en" sz="1200" u="none" cap="none" strike="noStrike">
                <a:solidFill>
                  <a:srgbClr val="FFFFFF"/>
                </a:solidFill>
                <a:latin typeface="Arial"/>
                <a:ea typeface="Arial"/>
                <a:cs typeface="Arial"/>
                <a:sym typeface="Arial"/>
              </a:rPr>
              <a:t>3</a:t>
            </a:r>
            <a:endParaRPr b="0" i="0" sz="1200" u="none" cap="none" strike="noStrike">
              <a:solidFill>
                <a:schemeClr val="dk1"/>
              </a:solidFill>
              <a:latin typeface="Calibri"/>
              <a:ea typeface="Calibri"/>
              <a:cs typeface="Calibri"/>
              <a:sym typeface="Calibri"/>
            </a:endParaRPr>
          </a:p>
        </p:txBody>
      </p:sp>
      <p:sp>
        <p:nvSpPr>
          <p:cNvPr id="430" name="Google Shape;430;p34"/>
          <p:cNvSpPr/>
          <p:nvPr/>
        </p:nvSpPr>
        <p:spPr>
          <a:xfrm>
            <a:off x="3211916" y="2080980"/>
            <a:ext cx="1283700" cy="2434500"/>
          </a:xfrm>
          <a:prstGeom prst="roundRect">
            <a:avLst>
              <a:gd fmla="val 4809" name="adj"/>
            </a:avLst>
          </a:prstGeom>
          <a:solidFill>
            <a:srgbClr val="FFFFFF"/>
          </a:solidFill>
          <a:ln cap="flat" cmpd="sng" w="9525">
            <a:solidFill>
              <a:srgbClr val="DDE3F0"/>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31" name="Google Shape;431;p34"/>
          <p:cNvSpPr/>
          <p:nvPr/>
        </p:nvSpPr>
        <p:spPr>
          <a:xfrm>
            <a:off x="3211916" y="2080980"/>
            <a:ext cx="1283700" cy="617100"/>
          </a:xfrm>
          <a:prstGeom prst="roundRect">
            <a:avLst>
              <a:gd fmla="val 6667" name="adj"/>
            </a:avLst>
          </a:prstGeom>
          <a:solidFill>
            <a:srgbClr val="0E246E"/>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32" name="Google Shape;432;p34"/>
          <p:cNvSpPr/>
          <p:nvPr/>
        </p:nvSpPr>
        <p:spPr>
          <a:xfrm>
            <a:off x="3246207" y="2115270"/>
            <a:ext cx="1215000" cy="5484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FFFFFF"/>
              </a:buClr>
              <a:buSzPts val="900"/>
              <a:buFont typeface="Arial"/>
              <a:buNone/>
            </a:pPr>
            <a:r>
              <a:rPr b="1" i="0" lang="en" sz="900" u="none" cap="none" strike="noStrike">
                <a:solidFill>
                  <a:srgbClr val="FFFFFF"/>
                </a:solidFill>
                <a:latin typeface="Arial"/>
                <a:ea typeface="Arial"/>
                <a:cs typeface="Arial"/>
                <a:sym typeface="Arial"/>
              </a:rPr>
              <a:t>Non-Prod</a:t>
            </a:r>
            <a:endParaRPr b="0" i="0" sz="9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900"/>
              <a:buFont typeface="Arial"/>
              <a:buNone/>
            </a:pPr>
            <a:r>
              <a:rPr b="1" i="0" lang="en" sz="900" u="none" cap="none" strike="noStrike">
                <a:solidFill>
                  <a:srgbClr val="FFFFFF"/>
                </a:solidFill>
                <a:latin typeface="Arial"/>
                <a:ea typeface="Arial"/>
                <a:cs typeface="Arial"/>
                <a:sym typeface="Arial"/>
              </a:rPr>
              <a:t>Migration</a:t>
            </a:r>
            <a:endParaRPr b="0" i="0" sz="900" u="none" cap="none" strike="noStrike">
              <a:solidFill>
                <a:schemeClr val="dk1"/>
              </a:solidFill>
              <a:latin typeface="Calibri"/>
              <a:ea typeface="Calibri"/>
              <a:cs typeface="Calibri"/>
              <a:sym typeface="Calibri"/>
            </a:endParaRPr>
          </a:p>
        </p:txBody>
      </p:sp>
      <p:sp>
        <p:nvSpPr>
          <p:cNvPr id="433" name="Google Shape;433;p34"/>
          <p:cNvSpPr/>
          <p:nvPr/>
        </p:nvSpPr>
        <p:spPr>
          <a:xfrm>
            <a:off x="3246207" y="2766780"/>
            <a:ext cx="1215000" cy="2400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0E246E"/>
              </a:buClr>
              <a:buSzPts val="800"/>
              <a:buFont typeface="Arial"/>
              <a:buNone/>
            </a:pPr>
            <a:r>
              <a:rPr b="1" i="0" lang="en" sz="800" u="none" cap="none" strike="noStrike">
                <a:solidFill>
                  <a:srgbClr val="0E246E"/>
                </a:solidFill>
                <a:latin typeface="Arial"/>
                <a:ea typeface="Arial"/>
                <a:cs typeface="Arial"/>
                <a:sym typeface="Arial"/>
              </a:rPr>
              <a:t>Weeks 7–9</a:t>
            </a:r>
            <a:endParaRPr b="0" i="0" sz="800" u="none" cap="none" strike="noStrike">
              <a:solidFill>
                <a:schemeClr val="dk1"/>
              </a:solidFill>
              <a:latin typeface="Calibri"/>
              <a:ea typeface="Calibri"/>
              <a:cs typeface="Calibri"/>
              <a:sym typeface="Calibri"/>
            </a:endParaRPr>
          </a:p>
        </p:txBody>
      </p:sp>
      <p:sp>
        <p:nvSpPr>
          <p:cNvPr id="434" name="Google Shape;434;p34"/>
          <p:cNvSpPr/>
          <p:nvPr/>
        </p:nvSpPr>
        <p:spPr>
          <a:xfrm>
            <a:off x="3307930" y="3054816"/>
            <a:ext cx="1091400" cy="1371600"/>
          </a:xfrm>
          <a:prstGeom prst="rect">
            <a:avLst/>
          </a:prstGeom>
          <a:noFill/>
          <a:ln>
            <a:noFill/>
          </a:ln>
        </p:spPr>
        <p:txBody>
          <a:bodyPr anchorCtr="0" anchor="t" bIns="34275" lIns="68575" spcFirstLastPara="1" rIns="68575" wrap="square" tIns="34275">
            <a:noAutofit/>
          </a:bodyPr>
          <a:lstStyle/>
          <a:p>
            <a:pPr indent="0" lvl="0" marL="0" marR="0" rtl="0" algn="ctr">
              <a:lnSpc>
                <a:spcPct val="112000"/>
              </a:lnSpc>
              <a:spcBef>
                <a:spcPts val="0"/>
              </a:spcBef>
              <a:spcAft>
                <a:spcPts val="0"/>
              </a:spcAft>
              <a:buClr>
                <a:srgbClr val="626679"/>
              </a:buClr>
              <a:buSzPts val="800"/>
              <a:buFont typeface="Arial"/>
              <a:buNone/>
            </a:pPr>
            <a:r>
              <a:rPr b="0" i="0" lang="en" sz="800" u="none" cap="none" strike="noStrike">
                <a:solidFill>
                  <a:srgbClr val="626679"/>
                </a:solidFill>
                <a:latin typeface="Arial"/>
                <a:ea typeface="Arial"/>
                <a:cs typeface="Arial"/>
                <a:sym typeface="Arial"/>
              </a:rPr>
              <a:t>Migrate dev/test, SQL test, UAT, cutover rehearsal</a:t>
            </a:r>
            <a:endParaRPr b="0" i="0" sz="800" u="none" cap="none" strike="noStrike">
              <a:solidFill>
                <a:schemeClr val="dk1"/>
              </a:solidFill>
              <a:latin typeface="Calibri"/>
              <a:ea typeface="Calibri"/>
              <a:cs typeface="Calibri"/>
              <a:sym typeface="Calibri"/>
            </a:endParaRPr>
          </a:p>
        </p:txBody>
      </p:sp>
      <p:sp>
        <p:nvSpPr>
          <p:cNvPr id="435" name="Google Shape;435;p34"/>
          <p:cNvSpPr/>
          <p:nvPr/>
        </p:nvSpPr>
        <p:spPr>
          <a:xfrm>
            <a:off x="5137350" y="1587204"/>
            <a:ext cx="301800" cy="301800"/>
          </a:xfrm>
          <a:prstGeom prst="ellipse">
            <a:avLst/>
          </a:prstGeom>
          <a:solidFill>
            <a:srgbClr val="204ECF"/>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36" name="Google Shape;436;p34"/>
          <p:cNvSpPr/>
          <p:nvPr/>
        </p:nvSpPr>
        <p:spPr>
          <a:xfrm>
            <a:off x="5137350" y="1587204"/>
            <a:ext cx="301800" cy="3018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FFFFFF"/>
              </a:buClr>
              <a:buSzPts val="1200"/>
              <a:buFont typeface="Arial"/>
              <a:buNone/>
            </a:pPr>
            <a:r>
              <a:rPr b="1" i="0" lang="en" sz="1200" u="none" cap="none" strike="noStrike">
                <a:solidFill>
                  <a:srgbClr val="FFFFFF"/>
                </a:solidFill>
                <a:latin typeface="Arial"/>
                <a:ea typeface="Arial"/>
                <a:cs typeface="Arial"/>
                <a:sym typeface="Arial"/>
              </a:rPr>
              <a:t>4</a:t>
            </a:r>
            <a:endParaRPr b="0" i="0" sz="1200" u="none" cap="none" strike="noStrike">
              <a:solidFill>
                <a:schemeClr val="dk1"/>
              </a:solidFill>
              <a:latin typeface="Calibri"/>
              <a:ea typeface="Calibri"/>
              <a:cs typeface="Calibri"/>
              <a:sym typeface="Calibri"/>
            </a:endParaRPr>
          </a:p>
        </p:txBody>
      </p:sp>
      <p:sp>
        <p:nvSpPr>
          <p:cNvPr id="437" name="Google Shape;437;p34"/>
          <p:cNvSpPr/>
          <p:nvPr/>
        </p:nvSpPr>
        <p:spPr>
          <a:xfrm>
            <a:off x="4646419" y="2080980"/>
            <a:ext cx="1283700" cy="2434500"/>
          </a:xfrm>
          <a:prstGeom prst="roundRect">
            <a:avLst>
              <a:gd fmla="val 4809" name="adj"/>
            </a:avLst>
          </a:prstGeom>
          <a:solidFill>
            <a:srgbClr val="FFFFFF"/>
          </a:solidFill>
          <a:ln cap="flat" cmpd="sng" w="9525">
            <a:solidFill>
              <a:srgbClr val="DDE3F0"/>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38" name="Google Shape;438;p34"/>
          <p:cNvSpPr/>
          <p:nvPr/>
        </p:nvSpPr>
        <p:spPr>
          <a:xfrm>
            <a:off x="4646419" y="2080980"/>
            <a:ext cx="1283700" cy="617100"/>
          </a:xfrm>
          <a:prstGeom prst="roundRect">
            <a:avLst>
              <a:gd fmla="val 6667" name="adj"/>
            </a:avLst>
          </a:prstGeom>
          <a:solidFill>
            <a:srgbClr val="204ECF"/>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39" name="Google Shape;439;p34"/>
          <p:cNvSpPr/>
          <p:nvPr/>
        </p:nvSpPr>
        <p:spPr>
          <a:xfrm>
            <a:off x="4680710" y="2115270"/>
            <a:ext cx="1215000" cy="5484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FFFFFF"/>
              </a:buClr>
              <a:buSzPts val="900"/>
              <a:buFont typeface="Arial"/>
              <a:buNone/>
            </a:pPr>
            <a:r>
              <a:rPr b="1" i="0" lang="en" sz="900" u="none" cap="none" strike="noStrike">
                <a:solidFill>
                  <a:srgbClr val="FFFFFF"/>
                </a:solidFill>
                <a:latin typeface="Arial"/>
                <a:ea typeface="Arial"/>
                <a:cs typeface="Arial"/>
                <a:sym typeface="Arial"/>
              </a:rPr>
              <a:t>Production</a:t>
            </a:r>
            <a:endParaRPr b="0" i="0" sz="9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900"/>
              <a:buFont typeface="Arial"/>
              <a:buNone/>
            </a:pPr>
            <a:r>
              <a:rPr b="1" i="0" lang="en" sz="900" u="none" cap="none" strike="noStrike">
                <a:solidFill>
                  <a:srgbClr val="FFFFFF"/>
                </a:solidFill>
                <a:latin typeface="Arial"/>
                <a:ea typeface="Arial"/>
                <a:cs typeface="Arial"/>
                <a:sym typeface="Arial"/>
              </a:rPr>
              <a:t>Readiness</a:t>
            </a:r>
            <a:endParaRPr b="0" i="0" sz="900" u="none" cap="none" strike="noStrike">
              <a:solidFill>
                <a:schemeClr val="dk1"/>
              </a:solidFill>
              <a:latin typeface="Calibri"/>
              <a:ea typeface="Calibri"/>
              <a:cs typeface="Calibri"/>
              <a:sym typeface="Calibri"/>
            </a:endParaRPr>
          </a:p>
        </p:txBody>
      </p:sp>
      <p:sp>
        <p:nvSpPr>
          <p:cNvPr id="440" name="Google Shape;440;p34"/>
          <p:cNvSpPr/>
          <p:nvPr/>
        </p:nvSpPr>
        <p:spPr>
          <a:xfrm>
            <a:off x="4680710" y="2766780"/>
            <a:ext cx="1215000" cy="2400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204ECF"/>
              </a:buClr>
              <a:buSzPts val="800"/>
              <a:buFont typeface="Arial"/>
              <a:buNone/>
            </a:pPr>
            <a:r>
              <a:rPr b="1" i="0" lang="en" sz="800" u="none" cap="none" strike="noStrike">
                <a:solidFill>
                  <a:srgbClr val="204ECF"/>
                </a:solidFill>
                <a:latin typeface="Arial"/>
                <a:ea typeface="Arial"/>
                <a:cs typeface="Arial"/>
                <a:sym typeface="Arial"/>
              </a:rPr>
              <a:t>Weeks 10–13</a:t>
            </a:r>
            <a:endParaRPr b="0" i="0" sz="800" u="none" cap="none" strike="noStrike">
              <a:solidFill>
                <a:schemeClr val="dk1"/>
              </a:solidFill>
              <a:latin typeface="Calibri"/>
              <a:ea typeface="Calibri"/>
              <a:cs typeface="Calibri"/>
              <a:sym typeface="Calibri"/>
            </a:endParaRPr>
          </a:p>
        </p:txBody>
      </p:sp>
      <p:sp>
        <p:nvSpPr>
          <p:cNvPr id="441" name="Google Shape;441;p34"/>
          <p:cNvSpPr/>
          <p:nvPr/>
        </p:nvSpPr>
        <p:spPr>
          <a:xfrm>
            <a:off x="4742433" y="3054816"/>
            <a:ext cx="1091400" cy="1371600"/>
          </a:xfrm>
          <a:prstGeom prst="rect">
            <a:avLst/>
          </a:prstGeom>
          <a:noFill/>
          <a:ln>
            <a:noFill/>
          </a:ln>
        </p:spPr>
        <p:txBody>
          <a:bodyPr anchorCtr="0" anchor="t" bIns="34275" lIns="68575" spcFirstLastPara="1" rIns="68575" wrap="square" tIns="34275">
            <a:noAutofit/>
          </a:bodyPr>
          <a:lstStyle/>
          <a:p>
            <a:pPr indent="0" lvl="0" marL="0" marR="0" rtl="0" algn="ctr">
              <a:lnSpc>
                <a:spcPct val="112000"/>
              </a:lnSpc>
              <a:spcBef>
                <a:spcPts val="0"/>
              </a:spcBef>
              <a:spcAft>
                <a:spcPts val="0"/>
              </a:spcAft>
              <a:buClr>
                <a:srgbClr val="626679"/>
              </a:buClr>
              <a:buSzPts val="800"/>
              <a:buFont typeface="Arial"/>
              <a:buNone/>
            </a:pPr>
            <a:r>
              <a:rPr b="0" i="0" lang="en" sz="800" u="none" cap="none" strike="noStrike">
                <a:solidFill>
                  <a:srgbClr val="626679"/>
                </a:solidFill>
                <a:latin typeface="Arial"/>
                <a:ea typeface="Arial"/>
                <a:cs typeface="Arial"/>
                <a:sym typeface="Arial"/>
              </a:rPr>
              <a:t>Rehearsals, parallel validation, go-live approval</a:t>
            </a:r>
            <a:endParaRPr b="0" i="0" sz="800" u="none" cap="none" strike="noStrike">
              <a:solidFill>
                <a:schemeClr val="dk1"/>
              </a:solidFill>
              <a:latin typeface="Calibri"/>
              <a:ea typeface="Calibri"/>
              <a:cs typeface="Calibri"/>
              <a:sym typeface="Calibri"/>
            </a:endParaRPr>
          </a:p>
        </p:txBody>
      </p:sp>
      <p:sp>
        <p:nvSpPr>
          <p:cNvPr id="442" name="Google Shape;442;p34"/>
          <p:cNvSpPr/>
          <p:nvPr/>
        </p:nvSpPr>
        <p:spPr>
          <a:xfrm>
            <a:off x="6571854" y="1587204"/>
            <a:ext cx="301800" cy="301800"/>
          </a:xfrm>
          <a:prstGeom prst="ellipse">
            <a:avLst/>
          </a:prstGeom>
          <a:solidFill>
            <a:srgbClr val="183A9E"/>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43" name="Google Shape;443;p34"/>
          <p:cNvSpPr/>
          <p:nvPr/>
        </p:nvSpPr>
        <p:spPr>
          <a:xfrm>
            <a:off x="6571854" y="1587204"/>
            <a:ext cx="301800" cy="3018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FFFFFF"/>
              </a:buClr>
              <a:buSzPts val="1200"/>
              <a:buFont typeface="Arial"/>
              <a:buNone/>
            </a:pPr>
            <a:r>
              <a:rPr b="1" i="0" lang="en" sz="1200" u="none" cap="none" strike="noStrike">
                <a:solidFill>
                  <a:srgbClr val="FFFFFF"/>
                </a:solidFill>
                <a:latin typeface="Arial"/>
                <a:ea typeface="Arial"/>
                <a:cs typeface="Arial"/>
                <a:sym typeface="Arial"/>
              </a:rPr>
              <a:t>5</a:t>
            </a:r>
            <a:endParaRPr b="0" i="0" sz="1200" u="none" cap="none" strike="noStrike">
              <a:solidFill>
                <a:schemeClr val="dk1"/>
              </a:solidFill>
              <a:latin typeface="Calibri"/>
              <a:ea typeface="Calibri"/>
              <a:cs typeface="Calibri"/>
              <a:sym typeface="Calibri"/>
            </a:endParaRPr>
          </a:p>
        </p:txBody>
      </p:sp>
      <p:sp>
        <p:nvSpPr>
          <p:cNvPr id="444" name="Google Shape;444;p34"/>
          <p:cNvSpPr/>
          <p:nvPr/>
        </p:nvSpPr>
        <p:spPr>
          <a:xfrm>
            <a:off x="6080922" y="2080980"/>
            <a:ext cx="1283700" cy="2434500"/>
          </a:xfrm>
          <a:prstGeom prst="roundRect">
            <a:avLst>
              <a:gd fmla="val 4809" name="adj"/>
            </a:avLst>
          </a:prstGeom>
          <a:solidFill>
            <a:srgbClr val="FFFFFF"/>
          </a:solidFill>
          <a:ln cap="flat" cmpd="sng" w="9525">
            <a:solidFill>
              <a:srgbClr val="DDE3F0"/>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45" name="Google Shape;445;p34"/>
          <p:cNvSpPr/>
          <p:nvPr/>
        </p:nvSpPr>
        <p:spPr>
          <a:xfrm>
            <a:off x="6080922" y="2080980"/>
            <a:ext cx="1283700" cy="617100"/>
          </a:xfrm>
          <a:prstGeom prst="roundRect">
            <a:avLst>
              <a:gd fmla="val 6667" name="adj"/>
            </a:avLst>
          </a:prstGeom>
          <a:solidFill>
            <a:srgbClr val="183A9E"/>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46" name="Google Shape;446;p34"/>
          <p:cNvSpPr/>
          <p:nvPr/>
        </p:nvSpPr>
        <p:spPr>
          <a:xfrm>
            <a:off x="6115213" y="2115270"/>
            <a:ext cx="1215000" cy="5484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FFFFFF"/>
              </a:buClr>
              <a:buSzPts val="900"/>
              <a:buFont typeface="Arial"/>
              <a:buNone/>
            </a:pPr>
            <a:r>
              <a:rPr b="1" i="0" lang="en" sz="900" u="none" cap="none" strike="noStrike">
                <a:solidFill>
                  <a:srgbClr val="FFFFFF"/>
                </a:solidFill>
                <a:latin typeface="Arial"/>
                <a:ea typeface="Arial"/>
                <a:cs typeface="Arial"/>
                <a:sym typeface="Arial"/>
              </a:rPr>
              <a:t>Production</a:t>
            </a:r>
            <a:endParaRPr b="0" i="0" sz="9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900"/>
              <a:buFont typeface="Arial"/>
              <a:buNone/>
            </a:pPr>
            <a:r>
              <a:rPr b="1" i="0" lang="en" sz="900" u="none" cap="none" strike="noStrike">
                <a:solidFill>
                  <a:srgbClr val="FFFFFF"/>
                </a:solidFill>
                <a:latin typeface="Arial"/>
                <a:ea typeface="Arial"/>
                <a:cs typeface="Arial"/>
                <a:sym typeface="Arial"/>
              </a:rPr>
              <a:t>Cutover</a:t>
            </a:r>
            <a:endParaRPr b="0" i="0" sz="900" u="none" cap="none" strike="noStrike">
              <a:solidFill>
                <a:schemeClr val="dk1"/>
              </a:solidFill>
              <a:latin typeface="Calibri"/>
              <a:ea typeface="Calibri"/>
              <a:cs typeface="Calibri"/>
              <a:sym typeface="Calibri"/>
            </a:endParaRPr>
          </a:p>
        </p:txBody>
      </p:sp>
      <p:sp>
        <p:nvSpPr>
          <p:cNvPr id="447" name="Google Shape;447;p34"/>
          <p:cNvSpPr/>
          <p:nvPr/>
        </p:nvSpPr>
        <p:spPr>
          <a:xfrm>
            <a:off x="6115213" y="2766780"/>
            <a:ext cx="1215000" cy="2400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183A9E"/>
              </a:buClr>
              <a:buSzPts val="800"/>
              <a:buFont typeface="Arial"/>
              <a:buNone/>
            </a:pPr>
            <a:r>
              <a:rPr b="1" i="0" lang="en" sz="800" u="none" cap="none" strike="noStrike">
                <a:solidFill>
                  <a:srgbClr val="183A9E"/>
                </a:solidFill>
                <a:latin typeface="Arial"/>
                <a:ea typeface="Arial"/>
                <a:cs typeface="Arial"/>
                <a:sym typeface="Arial"/>
              </a:rPr>
              <a:t>Week 14</a:t>
            </a:r>
            <a:endParaRPr b="0" i="0" sz="800" u="none" cap="none" strike="noStrike">
              <a:solidFill>
                <a:schemeClr val="dk1"/>
              </a:solidFill>
              <a:latin typeface="Calibri"/>
              <a:ea typeface="Calibri"/>
              <a:cs typeface="Calibri"/>
              <a:sym typeface="Calibri"/>
            </a:endParaRPr>
          </a:p>
        </p:txBody>
      </p:sp>
      <p:sp>
        <p:nvSpPr>
          <p:cNvPr id="448" name="Google Shape;448;p34"/>
          <p:cNvSpPr/>
          <p:nvPr/>
        </p:nvSpPr>
        <p:spPr>
          <a:xfrm>
            <a:off x="6176937" y="3054816"/>
            <a:ext cx="1091400" cy="1371600"/>
          </a:xfrm>
          <a:prstGeom prst="rect">
            <a:avLst/>
          </a:prstGeom>
          <a:noFill/>
          <a:ln>
            <a:noFill/>
          </a:ln>
        </p:spPr>
        <p:txBody>
          <a:bodyPr anchorCtr="0" anchor="t" bIns="34275" lIns="68575" spcFirstLastPara="1" rIns="68575" wrap="square" tIns="34275">
            <a:noAutofit/>
          </a:bodyPr>
          <a:lstStyle/>
          <a:p>
            <a:pPr indent="0" lvl="0" marL="0" marR="0" rtl="0" algn="ctr">
              <a:lnSpc>
                <a:spcPct val="112000"/>
              </a:lnSpc>
              <a:spcBef>
                <a:spcPts val="0"/>
              </a:spcBef>
              <a:spcAft>
                <a:spcPts val="0"/>
              </a:spcAft>
              <a:buClr>
                <a:srgbClr val="626679"/>
              </a:buClr>
              <a:buSzPts val="800"/>
              <a:buFont typeface="Arial"/>
              <a:buNone/>
            </a:pPr>
            <a:r>
              <a:rPr b="0" i="0" lang="en" sz="800" u="none" cap="none" strike="noStrike">
                <a:solidFill>
                  <a:srgbClr val="626679"/>
                </a:solidFill>
                <a:latin typeface="Arial"/>
                <a:ea typeface="Arial"/>
                <a:cs typeface="Arial"/>
                <a:sym typeface="Arial"/>
              </a:rPr>
              <a:t>Final sync, weekend cutover, go-live acceptance</a:t>
            </a:r>
            <a:endParaRPr b="0" i="0" sz="800" u="none" cap="none" strike="noStrike">
              <a:solidFill>
                <a:schemeClr val="dk1"/>
              </a:solidFill>
              <a:latin typeface="Calibri"/>
              <a:ea typeface="Calibri"/>
              <a:cs typeface="Calibri"/>
              <a:sym typeface="Calibri"/>
            </a:endParaRPr>
          </a:p>
        </p:txBody>
      </p:sp>
      <p:sp>
        <p:nvSpPr>
          <p:cNvPr id="449" name="Google Shape;449;p34"/>
          <p:cNvSpPr/>
          <p:nvPr/>
        </p:nvSpPr>
        <p:spPr>
          <a:xfrm>
            <a:off x="8006357" y="1587204"/>
            <a:ext cx="301800" cy="301800"/>
          </a:xfrm>
          <a:prstGeom prst="ellipse">
            <a:avLst/>
          </a:prstGeom>
          <a:solidFill>
            <a:srgbClr val="25A9EE"/>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50" name="Google Shape;450;p34"/>
          <p:cNvSpPr/>
          <p:nvPr/>
        </p:nvSpPr>
        <p:spPr>
          <a:xfrm>
            <a:off x="8006357" y="1587204"/>
            <a:ext cx="301800" cy="3018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FFFFFF"/>
              </a:buClr>
              <a:buSzPts val="1200"/>
              <a:buFont typeface="Arial"/>
              <a:buNone/>
            </a:pPr>
            <a:r>
              <a:rPr b="1" i="0" lang="en" sz="1200" u="none" cap="none" strike="noStrike">
                <a:solidFill>
                  <a:srgbClr val="FFFFFF"/>
                </a:solidFill>
                <a:latin typeface="Arial"/>
                <a:ea typeface="Arial"/>
                <a:cs typeface="Arial"/>
                <a:sym typeface="Arial"/>
              </a:rPr>
              <a:t>6</a:t>
            </a:r>
            <a:endParaRPr b="0" i="0" sz="1200" u="none" cap="none" strike="noStrike">
              <a:solidFill>
                <a:schemeClr val="dk1"/>
              </a:solidFill>
              <a:latin typeface="Calibri"/>
              <a:ea typeface="Calibri"/>
              <a:cs typeface="Calibri"/>
              <a:sym typeface="Calibri"/>
            </a:endParaRPr>
          </a:p>
        </p:txBody>
      </p:sp>
      <p:sp>
        <p:nvSpPr>
          <p:cNvPr id="451" name="Google Shape;451;p34"/>
          <p:cNvSpPr/>
          <p:nvPr/>
        </p:nvSpPr>
        <p:spPr>
          <a:xfrm>
            <a:off x="7515425" y="2080980"/>
            <a:ext cx="1283700" cy="2434500"/>
          </a:xfrm>
          <a:prstGeom prst="roundRect">
            <a:avLst>
              <a:gd fmla="val 4809" name="adj"/>
            </a:avLst>
          </a:prstGeom>
          <a:solidFill>
            <a:srgbClr val="FFFFFF"/>
          </a:solidFill>
          <a:ln cap="flat" cmpd="sng" w="9525">
            <a:solidFill>
              <a:srgbClr val="DDE3F0"/>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52" name="Google Shape;452;p34"/>
          <p:cNvSpPr/>
          <p:nvPr/>
        </p:nvSpPr>
        <p:spPr>
          <a:xfrm>
            <a:off x="7515425" y="2080980"/>
            <a:ext cx="1283700" cy="617100"/>
          </a:xfrm>
          <a:prstGeom prst="roundRect">
            <a:avLst>
              <a:gd fmla="val 6667" name="adj"/>
            </a:avLst>
          </a:prstGeom>
          <a:solidFill>
            <a:srgbClr val="25A9EE"/>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53" name="Google Shape;453;p34"/>
          <p:cNvSpPr/>
          <p:nvPr/>
        </p:nvSpPr>
        <p:spPr>
          <a:xfrm>
            <a:off x="7549716" y="2115270"/>
            <a:ext cx="1215000" cy="5484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FFFFFF"/>
              </a:buClr>
              <a:buSzPts val="900"/>
              <a:buFont typeface="Arial"/>
              <a:buNone/>
            </a:pPr>
            <a:r>
              <a:rPr b="1" i="0" lang="en" sz="900" u="none" cap="none" strike="noStrike">
                <a:solidFill>
                  <a:srgbClr val="FFFFFF"/>
                </a:solidFill>
                <a:latin typeface="Arial"/>
                <a:ea typeface="Arial"/>
                <a:cs typeface="Arial"/>
                <a:sym typeface="Arial"/>
              </a:rPr>
              <a:t>Hypercare &amp;</a:t>
            </a:r>
            <a:endParaRPr b="0" i="0" sz="9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900"/>
              <a:buFont typeface="Arial"/>
              <a:buNone/>
            </a:pPr>
            <a:r>
              <a:rPr b="1" i="0" lang="en" sz="900" u="none" cap="none" strike="noStrike">
                <a:solidFill>
                  <a:srgbClr val="FFFFFF"/>
                </a:solidFill>
                <a:latin typeface="Arial"/>
                <a:ea typeface="Arial"/>
                <a:cs typeface="Arial"/>
                <a:sym typeface="Arial"/>
              </a:rPr>
              <a:t>Stabilization</a:t>
            </a:r>
            <a:endParaRPr b="0" i="0" sz="900" u="none" cap="none" strike="noStrike">
              <a:solidFill>
                <a:schemeClr val="dk1"/>
              </a:solidFill>
              <a:latin typeface="Calibri"/>
              <a:ea typeface="Calibri"/>
              <a:cs typeface="Calibri"/>
              <a:sym typeface="Calibri"/>
            </a:endParaRPr>
          </a:p>
        </p:txBody>
      </p:sp>
      <p:sp>
        <p:nvSpPr>
          <p:cNvPr id="454" name="Google Shape;454;p34"/>
          <p:cNvSpPr/>
          <p:nvPr/>
        </p:nvSpPr>
        <p:spPr>
          <a:xfrm>
            <a:off x="7549716" y="2766780"/>
            <a:ext cx="1215000" cy="2400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25A9EE"/>
              </a:buClr>
              <a:buSzPts val="800"/>
              <a:buFont typeface="Arial"/>
              <a:buNone/>
            </a:pPr>
            <a:r>
              <a:rPr b="1" i="0" lang="en" sz="800" u="none" cap="none" strike="noStrike">
                <a:solidFill>
                  <a:srgbClr val="25A9EE"/>
                </a:solidFill>
                <a:latin typeface="Arial"/>
                <a:ea typeface="Arial"/>
                <a:cs typeface="Arial"/>
                <a:sym typeface="Arial"/>
              </a:rPr>
              <a:t>Weeks 15–18</a:t>
            </a:r>
            <a:endParaRPr b="0" i="0" sz="800" u="none" cap="none" strike="noStrike">
              <a:solidFill>
                <a:schemeClr val="dk1"/>
              </a:solidFill>
              <a:latin typeface="Calibri"/>
              <a:ea typeface="Calibri"/>
              <a:cs typeface="Calibri"/>
              <a:sym typeface="Calibri"/>
            </a:endParaRPr>
          </a:p>
        </p:txBody>
      </p:sp>
      <p:sp>
        <p:nvSpPr>
          <p:cNvPr id="455" name="Google Shape;455;p34"/>
          <p:cNvSpPr/>
          <p:nvPr/>
        </p:nvSpPr>
        <p:spPr>
          <a:xfrm>
            <a:off x="7611440" y="3054816"/>
            <a:ext cx="1091400" cy="1371600"/>
          </a:xfrm>
          <a:prstGeom prst="rect">
            <a:avLst/>
          </a:prstGeom>
          <a:noFill/>
          <a:ln>
            <a:noFill/>
          </a:ln>
        </p:spPr>
        <p:txBody>
          <a:bodyPr anchorCtr="0" anchor="t" bIns="34275" lIns="68575" spcFirstLastPara="1" rIns="68575" wrap="square" tIns="34275">
            <a:noAutofit/>
          </a:bodyPr>
          <a:lstStyle/>
          <a:p>
            <a:pPr indent="0" lvl="0" marL="0" marR="0" rtl="0" algn="ctr">
              <a:lnSpc>
                <a:spcPct val="112000"/>
              </a:lnSpc>
              <a:spcBef>
                <a:spcPts val="0"/>
              </a:spcBef>
              <a:spcAft>
                <a:spcPts val="0"/>
              </a:spcAft>
              <a:buClr>
                <a:srgbClr val="626679"/>
              </a:buClr>
              <a:buSzPts val="800"/>
              <a:buFont typeface="Arial"/>
              <a:buNone/>
            </a:pPr>
            <a:r>
              <a:rPr b="0" i="0" lang="en" sz="800" u="none" cap="none" strike="noStrike">
                <a:solidFill>
                  <a:srgbClr val="626679"/>
                </a:solidFill>
                <a:latin typeface="Arial"/>
                <a:ea typeface="Arial"/>
                <a:cs typeface="Arial"/>
                <a:sym typeface="Arial"/>
              </a:rPr>
              <a:t>Enhanced support, optimization, steady-state handoff</a:t>
            </a:r>
            <a:endParaRPr b="0" i="0" sz="800" u="none" cap="none" strike="noStrike">
              <a:solidFill>
                <a:schemeClr val="dk1"/>
              </a:solidFill>
              <a:latin typeface="Calibri"/>
              <a:ea typeface="Calibri"/>
              <a:cs typeface="Calibri"/>
              <a:sym typeface="Calibri"/>
            </a:endParaRPr>
          </a:p>
        </p:txBody>
      </p:sp>
      <p:sp>
        <p:nvSpPr>
          <p:cNvPr id="456" name="Google Shape;456;p34"/>
          <p:cNvSpPr/>
          <p:nvPr/>
        </p:nvSpPr>
        <p:spPr>
          <a:xfrm>
            <a:off x="342909" y="4652730"/>
            <a:ext cx="891600" cy="24000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41133"/>
              </a:buClr>
              <a:buSzPts val="800"/>
              <a:buFont typeface="Arial"/>
              <a:buNone/>
            </a:pPr>
            <a:r>
              <a:rPr b="1" i="0" lang="en" sz="800" u="none" cap="none" strike="noStrike">
                <a:solidFill>
                  <a:srgbClr val="041133"/>
                </a:solidFill>
                <a:latin typeface="Arial"/>
                <a:ea typeface="Arial"/>
                <a:cs typeface="Arial"/>
                <a:sym typeface="Arial"/>
              </a:rPr>
              <a:t>Milestones:</a:t>
            </a:r>
            <a:endParaRPr b="0" i="0" sz="800" u="none" cap="none" strike="noStrike">
              <a:solidFill>
                <a:schemeClr val="dk1"/>
              </a:solidFill>
              <a:latin typeface="Calibri"/>
              <a:ea typeface="Calibri"/>
              <a:cs typeface="Calibri"/>
              <a:sym typeface="Calibri"/>
            </a:endParaRPr>
          </a:p>
        </p:txBody>
      </p:sp>
      <p:sp>
        <p:nvSpPr>
          <p:cNvPr id="457" name="Google Shape;457;p34"/>
          <p:cNvSpPr/>
          <p:nvPr/>
        </p:nvSpPr>
        <p:spPr>
          <a:xfrm>
            <a:off x="1165891" y="4652730"/>
            <a:ext cx="7544100" cy="24000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204ECF"/>
              </a:buClr>
              <a:buSzPts val="800"/>
              <a:buFont typeface="Arial"/>
              <a:buNone/>
            </a:pPr>
            <a:r>
              <a:rPr b="1" i="0" lang="en" sz="800" u="none" cap="none" strike="noStrike">
                <a:solidFill>
                  <a:srgbClr val="204ECF"/>
                </a:solidFill>
                <a:latin typeface="Arial"/>
                <a:ea typeface="Arial"/>
                <a:cs typeface="Arial"/>
                <a:sym typeface="Arial"/>
              </a:rPr>
              <a:t>◆ Non-Prod Validation Complete    </a:t>
            </a:r>
            <a:r>
              <a:rPr b="1" i="0" lang="en" sz="800" u="none" cap="none" strike="noStrike">
                <a:solidFill>
                  <a:srgbClr val="183A9E"/>
                </a:solidFill>
                <a:latin typeface="Arial"/>
                <a:ea typeface="Arial"/>
                <a:cs typeface="Arial"/>
                <a:sym typeface="Arial"/>
              </a:rPr>
              <a:t>◆ Production Environment Operational    </a:t>
            </a:r>
            <a:r>
              <a:rPr b="1" i="0" lang="en" sz="800" u="none" cap="none" strike="noStrike">
                <a:solidFill>
                  <a:srgbClr val="25A9EE"/>
                </a:solidFill>
                <a:latin typeface="Arial"/>
                <a:ea typeface="Arial"/>
                <a:cs typeface="Arial"/>
                <a:sym typeface="Arial"/>
              </a:rPr>
              <a:t>◆ Transition to Steady-State</a:t>
            </a:r>
            <a:endParaRPr b="0" i="0" sz="8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2" name="Shape 462"/>
        <p:cNvGrpSpPr/>
        <p:nvPr/>
      </p:nvGrpSpPr>
      <p:grpSpPr>
        <a:xfrm>
          <a:off x="0" y="0"/>
          <a:ext cx="0" cy="0"/>
          <a:chOff x="0" y="0"/>
          <a:chExt cx="0" cy="0"/>
        </a:xfrm>
      </p:grpSpPr>
      <p:sp>
        <p:nvSpPr>
          <p:cNvPr id="463" name="Google Shape;463;p35"/>
          <p:cNvSpPr/>
          <p:nvPr/>
        </p:nvSpPr>
        <p:spPr>
          <a:xfrm>
            <a:off x="480073" y="425196"/>
            <a:ext cx="6858300" cy="20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5AAC"/>
              </a:buClr>
              <a:buSzPts val="900"/>
              <a:buFont typeface="Calibri"/>
              <a:buNone/>
            </a:pPr>
            <a:r>
              <a:rPr b="1" lang="en" sz="900">
                <a:solidFill>
                  <a:srgbClr val="2E5AAC"/>
                </a:solidFill>
                <a:latin typeface="Proxima Nova"/>
                <a:ea typeface="Proxima Nova"/>
                <a:cs typeface="Proxima Nova"/>
                <a:sym typeface="Proxima Nova"/>
              </a:rPr>
              <a:t>PATH FORWARD</a:t>
            </a:r>
            <a:endParaRPr b="0" i="0" sz="900" u="none" cap="none" strike="noStrike">
              <a:solidFill>
                <a:schemeClr val="dk1"/>
              </a:solidFill>
              <a:latin typeface="Calibri"/>
              <a:ea typeface="Calibri"/>
              <a:cs typeface="Calibri"/>
              <a:sym typeface="Calibri"/>
            </a:endParaRPr>
          </a:p>
        </p:txBody>
      </p:sp>
      <p:sp>
        <p:nvSpPr>
          <p:cNvPr id="464" name="Google Shape;464;p35"/>
          <p:cNvSpPr/>
          <p:nvPr/>
        </p:nvSpPr>
        <p:spPr>
          <a:xfrm>
            <a:off x="480073" y="1234440"/>
            <a:ext cx="6858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890"/>
              </a:buClr>
              <a:buSzPts val="1100"/>
              <a:buFont typeface="Calibri"/>
              <a:buNone/>
            </a:pPr>
            <a:r>
              <a:rPr lang="en" sz="1100">
                <a:solidFill>
                  <a:srgbClr val="041133"/>
                </a:solidFill>
                <a:latin typeface="Proxima Nova"/>
                <a:ea typeface="Proxima Nova"/>
                <a:cs typeface="Proxima Nova"/>
                <a:sym typeface="Proxima Nova"/>
              </a:rPr>
              <a:t>What needs to happen in the next few days.</a:t>
            </a:r>
            <a:endParaRPr sz="1100">
              <a:solidFill>
                <a:srgbClr val="041133"/>
              </a:solidFill>
              <a:latin typeface="Proxima Nova"/>
              <a:ea typeface="Proxima Nova"/>
              <a:cs typeface="Proxima Nova"/>
              <a:sym typeface="Proxima Nova"/>
            </a:endParaRPr>
          </a:p>
        </p:txBody>
      </p:sp>
      <p:sp>
        <p:nvSpPr>
          <p:cNvPr id="465" name="Google Shape;465;p35"/>
          <p:cNvSpPr txBox="1"/>
          <p:nvPr>
            <p:ph idx="4294967295" type="ctrTitle"/>
          </p:nvPr>
        </p:nvSpPr>
        <p:spPr>
          <a:xfrm>
            <a:off x="480076" y="734900"/>
            <a:ext cx="8023800" cy="291000"/>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1"/>
              </a:buClr>
              <a:buSzPts val="2400"/>
              <a:buFont typeface="Montserrat"/>
              <a:buNone/>
            </a:pPr>
            <a:r>
              <a:rPr lang="en"/>
              <a:t>Next Steps</a:t>
            </a:r>
            <a:endParaRPr sz="2400">
              <a:latin typeface="Proxima Nova"/>
              <a:ea typeface="Proxima Nova"/>
              <a:cs typeface="Proxima Nova"/>
              <a:sym typeface="Proxima Nova"/>
            </a:endParaRPr>
          </a:p>
        </p:txBody>
      </p:sp>
      <p:graphicFrame>
        <p:nvGraphicFramePr>
          <p:cNvPr id="466" name="Google Shape;466;p35"/>
          <p:cNvGraphicFramePr/>
          <p:nvPr/>
        </p:nvGraphicFramePr>
        <p:xfrm>
          <a:off x="657773" y="1748790"/>
          <a:ext cx="3000000" cy="3000000"/>
        </p:xfrm>
        <a:graphic>
          <a:graphicData uri="http://schemas.openxmlformats.org/drawingml/2006/table">
            <a:tbl>
              <a:tblPr>
                <a:noFill/>
                <a:tableStyleId>{F0867A2D-8EFE-4BD8-9A43-5C0CBFDE5C42}</a:tableStyleId>
              </a:tblPr>
              <a:tblGrid>
                <a:gridCol w="1580325"/>
                <a:gridCol w="4914975"/>
                <a:gridCol w="1508800"/>
              </a:tblGrid>
              <a:tr h="440050">
                <a:tc>
                  <a:txBody>
                    <a:bodyPr/>
                    <a:lstStyle/>
                    <a:p>
                      <a:pPr indent="0" lvl="0" marL="0" marR="0" rtl="0" algn="l">
                        <a:spcBef>
                          <a:spcPts val="0"/>
                        </a:spcBef>
                        <a:spcAft>
                          <a:spcPts val="0"/>
                        </a:spcAft>
                        <a:buClr>
                          <a:srgbClr val="FFFFFF"/>
                        </a:buClr>
                        <a:buSzPts val="1000"/>
                        <a:buFont typeface="Calibri"/>
                        <a:buNone/>
                      </a:pPr>
                      <a:r>
                        <a:rPr b="1" lang="en" sz="1100" u="none" cap="none" strike="noStrike">
                          <a:solidFill>
                            <a:srgbClr val="FFFFFF"/>
                          </a:solidFill>
                          <a:latin typeface="Proxima Nova"/>
                          <a:ea typeface="Proxima Nova"/>
                          <a:cs typeface="Proxima Nova"/>
                          <a:sym typeface="Proxima Nova"/>
                        </a:rPr>
                        <a:t>Owner</a:t>
                      </a:r>
                      <a:endParaRPr sz="1100" u="none" cap="none" strike="noStrike">
                        <a:latin typeface="Proxima Nova"/>
                        <a:ea typeface="Proxima Nova"/>
                        <a:cs typeface="Proxima Nova"/>
                        <a:sym typeface="Proxima Nova"/>
                      </a:endParaRPr>
                    </a:p>
                  </a:txBody>
                  <a:tcPr marT="34300" marB="34300" marR="68600" marL="68600" anchor="ctr">
                    <a:lnL cap="flat" cmpd="sng" w="9525">
                      <a:solidFill>
                        <a:srgbClr val="D3DCEC"/>
                      </a:solidFill>
                      <a:prstDash val="solid"/>
                      <a:round/>
                      <a:headEnd len="sm" w="sm" type="none"/>
                      <a:tailEnd len="sm" w="sm" type="none"/>
                    </a:lnL>
                    <a:lnR cap="flat" cmpd="sng" w="9525">
                      <a:solidFill>
                        <a:srgbClr val="D3DCEC"/>
                      </a:solidFill>
                      <a:prstDash val="solid"/>
                      <a:round/>
                      <a:headEnd len="sm" w="sm" type="none"/>
                      <a:tailEnd len="sm" w="sm" type="none"/>
                    </a:lnR>
                    <a:lnT cap="flat" cmpd="sng" w="9525">
                      <a:solidFill>
                        <a:srgbClr val="D3DCEC"/>
                      </a:solidFill>
                      <a:prstDash val="solid"/>
                      <a:round/>
                      <a:headEnd len="sm" w="sm" type="none"/>
                      <a:tailEnd len="sm" w="sm" type="none"/>
                    </a:lnT>
                    <a:lnB cap="flat" cmpd="sng" w="12700">
                      <a:solidFill>
                        <a:srgbClr val="D3DCEC"/>
                      </a:solidFill>
                      <a:prstDash val="solid"/>
                      <a:round/>
                      <a:headEnd len="sm" w="sm" type="none"/>
                      <a:tailEnd len="sm" w="sm" type="none"/>
                    </a:lnB>
                    <a:solidFill>
                      <a:schemeClr val="accent1"/>
                    </a:solidFill>
                  </a:tcPr>
                </a:tc>
                <a:tc>
                  <a:txBody>
                    <a:bodyPr/>
                    <a:lstStyle/>
                    <a:p>
                      <a:pPr indent="0" lvl="0" marL="0" marR="0" rtl="0" algn="l">
                        <a:spcBef>
                          <a:spcPts val="0"/>
                        </a:spcBef>
                        <a:spcAft>
                          <a:spcPts val="0"/>
                        </a:spcAft>
                        <a:buClr>
                          <a:srgbClr val="FFFFFF"/>
                        </a:buClr>
                        <a:buSzPts val="1000"/>
                        <a:buFont typeface="Calibri"/>
                        <a:buNone/>
                      </a:pPr>
                      <a:r>
                        <a:rPr b="1" lang="en" sz="1100" u="none" cap="none" strike="noStrike">
                          <a:solidFill>
                            <a:srgbClr val="FFFFFF"/>
                          </a:solidFill>
                          <a:latin typeface="Proxima Nova"/>
                          <a:ea typeface="Proxima Nova"/>
                          <a:cs typeface="Proxima Nova"/>
                          <a:sym typeface="Proxima Nova"/>
                        </a:rPr>
                        <a:t>Action</a:t>
                      </a:r>
                      <a:endParaRPr sz="1100" u="none" cap="none" strike="noStrike">
                        <a:latin typeface="Proxima Nova"/>
                        <a:ea typeface="Proxima Nova"/>
                        <a:cs typeface="Proxima Nova"/>
                        <a:sym typeface="Proxima Nova"/>
                      </a:endParaRPr>
                    </a:p>
                  </a:txBody>
                  <a:tcPr marT="34300" marB="34300" marR="68600" marL="68600" anchor="ctr">
                    <a:lnL cap="flat" cmpd="sng" w="9525">
                      <a:solidFill>
                        <a:srgbClr val="D3DCEC"/>
                      </a:solidFill>
                      <a:prstDash val="solid"/>
                      <a:round/>
                      <a:headEnd len="sm" w="sm" type="none"/>
                      <a:tailEnd len="sm" w="sm" type="none"/>
                    </a:lnL>
                    <a:lnR cap="flat" cmpd="sng" w="9525">
                      <a:solidFill>
                        <a:srgbClr val="D3DCEC"/>
                      </a:solidFill>
                      <a:prstDash val="solid"/>
                      <a:round/>
                      <a:headEnd len="sm" w="sm" type="none"/>
                      <a:tailEnd len="sm" w="sm" type="none"/>
                    </a:lnR>
                    <a:lnT cap="flat" cmpd="sng" w="9525">
                      <a:solidFill>
                        <a:srgbClr val="D3DCEC"/>
                      </a:solidFill>
                      <a:prstDash val="solid"/>
                      <a:round/>
                      <a:headEnd len="sm" w="sm" type="none"/>
                      <a:tailEnd len="sm" w="sm" type="none"/>
                    </a:lnT>
                    <a:lnB cap="flat" cmpd="sng" w="12700">
                      <a:solidFill>
                        <a:srgbClr val="D3DCEC"/>
                      </a:solidFill>
                      <a:prstDash val="solid"/>
                      <a:round/>
                      <a:headEnd len="sm" w="sm" type="none"/>
                      <a:tailEnd len="sm" w="sm" type="none"/>
                    </a:lnB>
                    <a:solidFill>
                      <a:schemeClr val="accent1"/>
                    </a:solidFill>
                  </a:tcPr>
                </a:tc>
                <a:tc>
                  <a:txBody>
                    <a:bodyPr/>
                    <a:lstStyle/>
                    <a:p>
                      <a:pPr indent="0" lvl="0" marL="0" marR="0" rtl="0" algn="l">
                        <a:spcBef>
                          <a:spcPts val="0"/>
                        </a:spcBef>
                        <a:spcAft>
                          <a:spcPts val="0"/>
                        </a:spcAft>
                        <a:buClr>
                          <a:srgbClr val="FFFFFF"/>
                        </a:buClr>
                        <a:buSzPts val="1000"/>
                        <a:buFont typeface="Calibri"/>
                        <a:buNone/>
                      </a:pPr>
                      <a:r>
                        <a:rPr b="1" lang="en" sz="1100" u="none" cap="none" strike="noStrike">
                          <a:solidFill>
                            <a:srgbClr val="FFFFFF"/>
                          </a:solidFill>
                          <a:latin typeface="Proxima Nova"/>
                          <a:ea typeface="Proxima Nova"/>
                          <a:cs typeface="Proxima Nova"/>
                          <a:sym typeface="Proxima Nova"/>
                        </a:rPr>
                        <a:t>Due</a:t>
                      </a:r>
                      <a:endParaRPr sz="1100" u="none" cap="none" strike="noStrike">
                        <a:latin typeface="Proxima Nova"/>
                        <a:ea typeface="Proxima Nova"/>
                        <a:cs typeface="Proxima Nova"/>
                        <a:sym typeface="Proxima Nova"/>
                      </a:endParaRPr>
                    </a:p>
                  </a:txBody>
                  <a:tcPr marT="34300" marB="34300" marR="68600" marL="68600" anchor="ctr">
                    <a:lnL cap="flat" cmpd="sng" w="9525">
                      <a:solidFill>
                        <a:srgbClr val="D3DCEC"/>
                      </a:solidFill>
                      <a:prstDash val="solid"/>
                      <a:round/>
                      <a:headEnd len="sm" w="sm" type="none"/>
                      <a:tailEnd len="sm" w="sm" type="none"/>
                    </a:lnL>
                    <a:lnR cap="flat" cmpd="sng" w="9525">
                      <a:solidFill>
                        <a:srgbClr val="D3DCEC"/>
                      </a:solidFill>
                      <a:prstDash val="solid"/>
                      <a:round/>
                      <a:headEnd len="sm" w="sm" type="none"/>
                      <a:tailEnd len="sm" w="sm" type="none"/>
                    </a:lnR>
                    <a:lnT cap="flat" cmpd="sng" w="9525">
                      <a:solidFill>
                        <a:srgbClr val="D3DCEC"/>
                      </a:solidFill>
                      <a:prstDash val="solid"/>
                      <a:round/>
                      <a:headEnd len="sm" w="sm" type="none"/>
                      <a:tailEnd len="sm" w="sm" type="none"/>
                    </a:lnT>
                    <a:lnB cap="flat" cmpd="sng" w="12700">
                      <a:solidFill>
                        <a:srgbClr val="D3DCEC"/>
                      </a:solidFill>
                      <a:prstDash val="solid"/>
                      <a:round/>
                      <a:headEnd len="sm" w="sm" type="none"/>
                      <a:tailEnd len="sm" w="sm" type="none"/>
                    </a:lnB>
                    <a:solidFill>
                      <a:schemeClr val="accent1"/>
                    </a:solidFill>
                  </a:tcPr>
                </a:tc>
              </a:tr>
              <a:tr h="477100">
                <a:tc>
                  <a:txBody>
                    <a:bodyPr/>
                    <a:lstStyle/>
                    <a:p>
                      <a:pPr indent="0" lvl="0" marL="0" marR="0" rtl="0" algn="l">
                        <a:spcBef>
                          <a:spcPts val="0"/>
                        </a:spcBef>
                        <a:spcAft>
                          <a:spcPts val="0"/>
                        </a:spcAft>
                        <a:buClr>
                          <a:srgbClr val="14264D"/>
                        </a:buClr>
                        <a:buSzPts val="1250"/>
                        <a:buFont typeface="Calibri"/>
                        <a:buNone/>
                      </a:pPr>
                      <a:r>
                        <a:rPr b="1" lang="en" sz="1000" u="none" cap="none" strike="noStrike">
                          <a:solidFill>
                            <a:srgbClr val="14264D"/>
                          </a:solidFill>
                          <a:latin typeface="Proxima Nova"/>
                          <a:ea typeface="Proxima Nova"/>
                          <a:cs typeface="Proxima Nova"/>
                          <a:sym typeface="Proxima Nova"/>
                        </a:rPr>
                        <a:t>[Client]</a:t>
                      </a:r>
                      <a:endParaRPr sz="1000" u="none" cap="none" strike="noStrike">
                        <a:latin typeface="Proxima Nova"/>
                        <a:ea typeface="Proxima Nova"/>
                        <a:cs typeface="Proxima Nova"/>
                        <a:sym typeface="Proxima Nova"/>
                      </a:endParaRPr>
                    </a:p>
                  </a:txBody>
                  <a:tcPr marT="45725" marB="45725" marR="91450" marL="91450" anchor="ctr">
                    <a:lnL cap="flat" cmpd="sng" w="12700">
                      <a:solidFill>
                        <a:srgbClr val="D3DCEC"/>
                      </a:solidFill>
                      <a:prstDash val="solid"/>
                      <a:round/>
                      <a:headEnd len="sm" w="sm" type="none"/>
                      <a:tailEnd len="sm" w="sm" type="none"/>
                    </a:lnL>
                    <a:lnR cap="flat" cmpd="sng" w="12700">
                      <a:solidFill>
                        <a:srgbClr val="D3DCEC"/>
                      </a:solidFill>
                      <a:prstDash val="solid"/>
                      <a:round/>
                      <a:headEnd len="sm" w="sm" type="none"/>
                      <a:tailEnd len="sm" w="sm" type="none"/>
                    </a:lnR>
                    <a:lnT cap="flat" cmpd="sng" w="12700">
                      <a:solidFill>
                        <a:srgbClr val="D3DCEC"/>
                      </a:solidFill>
                      <a:prstDash val="solid"/>
                      <a:round/>
                      <a:headEnd len="sm" w="sm" type="none"/>
                      <a:tailEnd len="sm" w="sm" type="none"/>
                    </a:lnT>
                    <a:lnB cap="flat" cmpd="sng" w="12700">
                      <a:solidFill>
                        <a:srgbClr val="D3DCEC"/>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3F4C63"/>
                        </a:buClr>
                        <a:buSzPts val="1250"/>
                        <a:buFont typeface="Calibri"/>
                        <a:buNone/>
                      </a:pPr>
                      <a:r>
                        <a:rPr lang="en" sz="1000" u="none" cap="none" strike="noStrike">
                          <a:solidFill>
                            <a:srgbClr val="3F4C63"/>
                          </a:solidFill>
                          <a:latin typeface="Proxima Nova"/>
                          <a:ea typeface="Proxima Nova"/>
                          <a:cs typeface="Proxima Nova"/>
                          <a:sym typeface="Proxima Nova"/>
                        </a:rPr>
                        <a:t>Provide access to [system / data / environment]</a:t>
                      </a:r>
                      <a:endParaRPr sz="1000" u="none" cap="none" strike="noStrike">
                        <a:latin typeface="Proxima Nova"/>
                        <a:ea typeface="Proxima Nova"/>
                        <a:cs typeface="Proxima Nova"/>
                        <a:sym typeface="Proxima Nova"/>
                      </a:endParaRPr>
                    </a:p>
                  </a:txBody>
                  <a:tcPr marT="45725" marB="45725" marR="91450" marL="91450" anchor="ctr">
                    <a:lnL cap="flat" cmpd="sng" w="12700">
                      <a:solidFill>
                        <a:srgbClr val="D3DCEC"/>
                      </a:solidFill>
                      <a:prstDash val="solid"/>
                      <a:round/>
                      <a:headEnd len="sm" w="sm" type="none"/>
                      <a:tailEnd len="sm" w="sm" type="none"/>
                    </a:lnL>
                    <a:lnR cap="flat" cmpd="sng" w="12700">
                      <a:solidFill>
                        <a:srgbClr val="D3DCEC"/>
                      </a:solidFill>
                      <a:prstDash val="solid"/>
                      <a:round/>
                      <a:headEnd len="sm" w="sm" type="none"/>
                      <a:tailEnd len="sm" w="sm" type="none"/>
                    </a:lnR>
                    <a:lnT cap="flat" cmpd="sng" w="12700">
                      <a:solidFill>
                        <a:srgbClr val="D3DCEC"/>
                      </a:solidFill>
                      <a:prstDash val="solid"/>
                      <a:round/>
                      <a:headEnd len="sm" w="sm" type="none"/>
                      <a:tailEnd len="sm" w="sm" type="none"/>
                    </a:lnT>
                    <a:lnB cap="flat" cmpd="sng" w="12700">
                      <a:solidFill>
                        <a:srgbClr val="D3DCEC"/>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3F4C63"/>
                        </a:buClr>
                        <a:buSzPts val="1250"/>
                        <a:buFont typeface="Calibri"/>
                        <a:buNone/>
                      </a:pPr>
                      <a:r>
                        <a:rPr lang="en" sz="1000" u="none" cap="none" strike="noStrike">
                          <a:solidFill>
                            <a:srgbClr val="3F4C63"/>
                          </a:solidFill>
                          <a:latin typeface="Proxima Nova"/>
                          <a:ea typeface="Proxima Nova"/>
                          <a:cs typeface="Proxima Nova"/>
                          <a:sym typeface="Proxima Nova"/>
                        </a:rPr>
                        <a:t>[Date]</a:t>
                      </a:r>
                      <a:endParaRPr sz="1000" u="none" cap="none" strike="noStrike">
                        <a:latin typeface="Proxima Nova"/>
                        <a:ea typeface="Proxima Nova"/>
                        <a:cs typeface="Proxima Nova"/>
                        <a:sym typeface="Proxima Nova"/>
                      </a:endParaRPr>
                    </a:p>
                  </a:txBody>
                  <a:tcPr marT="45725" marB="45725" marR="91450" marL="91450" anchor="ctr">
                    <a:lnL cap="flat" cmpd="sng" w="12700">
                      <a:solidFill>
                        <a:srgbClr val="D3DCEC"/>
                      </a:solidFill>
                      <a:prstDash val="solid"/>
                      <a:round/>
                      <a:headEnd len="sm" w="sm" type="none"/>
                      <a:tailEnd len="sm" w="sm" type="none"/>
                    </a:lnL>
                    <a:lnR cap="flat" cmpd="sng" w="12700">
                      <a:solidFill>
                        <a:srgbClr val="D3DCEC"/>
                      </a:solidFill>
                      <a:prstDash val="solid"/>
                      <a:round/>
                      <a:headEnd len="sm" w="sm" type="none"/>
                      <a:tailEnd len="sm" w="sm" type="none"/>
                    </a:lnR>
                    <a:lnT cap="flat" cmpd="sng" w="12700">
                      <a:solidFill>
                        <a:srgbClr val="D3DCEC"/>
                      </a:solidFill>
                      <a:prstDash val="solid"/>
                      <a:round/>
                      <a:headEnd len="sm" w="sm" type="none"/>
                      <a:tailEnd len="sm" w="sm" type="none"/>
                    </a:lnT>
                    <a:lnB cap="flat" cmpd="sng" w="12700">
                      <a:solidFill>
                        <a:srgbClr val="D3DCEC"/>
                      </a:solidFill>
                      <a:prstDash val="solid"/>
                      <a:round/>
                      <a:headEnd len="sm" w="sm" type="none"/>
                      <a:tailEnd len="sm" w="sm" type="none"/>
                    </a:lnB>
                    <a:solidFill>
                      <a:srgbClr val="FFFFFF"/>
                    </a:solidFill>
                  </a:tcPr>
                </a:tc>
              </a:tr>
              <a:tr h="477100">
                <a:tc>
                  <a:txBody>
                    <a:bodyPr/>
                    <a:lstStyle/>
                    <a:p>
                      <a:pPr indent="0" lvl="0" marL="0" marR="0" rtl="0" algn="l">
                        <a:spcBef>
                          <a:spcPts val="0"/>
                        </a:spcBef>
                        <a:spcAft>
                          <a:spcPts val="0"/>
                        </a:spcAft>
                        <a:buClr>
                          <a:srgbClr val="14264D"/>
                        </a:buClr>
                        <a:buSzPts val="1250"/>
                        <a:buFont typeface="Calibri"/>
                        <a:buNone/>
                      </a:pPr>
                      <a:r>
                        <a:rPr b="1" lang="en" sz="1000" u="none" cap="none" strike="noStrike">
                          <a:solidFill>
                            <a:srgbClr val="14264D"/>
                          </a:solidFill>
                          <a:latin typeface="Proxima Nova"/>
                          <a:ea typeface="Proxima Nova"/>
                          <a:cs typeface="Proxima Nova"/>
                          <a:sym typeface="Proxima Nova"/>
                        </a:rPr>
                        <a:t>[Toptal]</a:t>
                      </a:r>
                      <a:endParaRPr sz="1000" u="none" cap="none" strike="noStrike">
                        <a:latin typeface="Proxima Nova"/>
                        <a:ea typeface="Proxima Nova"/>
                        <a:cs typeface="Proxima Nova"/>
                        <a:sym typeface="Proxima Nova"/>
                      </a:endParaRPr>
                    </a:p>
                  </a:txBody>
                  <a:tcPr marT="45725" marB="45725" marR="91450" marL="91450" anchor="ctr">
                    <a:lnL cap="flat" cmpd="sng" w="12700">
                      <a:solidFill>
                        <a:srgbClr val="D3DCEC"/>
                      </a:solidFill>
                      <a:prstDash val="solid"/>
                      <a:round/>
                      <a:headEnd len="sm" w="sm" type="none"/>
                      <a:tailEnd len="sm" w="sm" type="none"/>
                    </a:lnL>
                    <a:lnR cap="flat" cmpd="sng" w="12700">
                      <a:solidFill>
                        <a:srgbClr val="D3DCEC"/>
                      </a:solidFill>
                      <a:prstDash val="solid"/>
                      <a:round/>
                      <a:headEnd len="sm" w="sm" type="none"/>
                      <a:tailEnd len="sm" w="sm" type="none"/>
                    </a:lnR>
                    <a:lnT cap="flat" cmpd="sng" w="12700">
                      <a:solidFill>
                        <a:srgbClr val="D3DCEC"/>
                      </a:solidFill>
                      <a:prstDash val="solid"/>
                      <a:round/>
                      <a:headEnd len="sm" w="sm" type="none"/>
                      <a:tailEnd len="sm" w="sm" type="none"/>
                    </a:lnT>
                    <a:lnB cap="flat" cmpd="sng" w="12700">
                      <a:solidFill>
                        <a:srgbClr val="D3DCEC"/>
                      </a:solidFill>
                      <a:prstDash val="solid"/>
                      <a:round/>
                      <a:headEnd len="sm" w="sm" type="none"/>
                      <a:tailEnd len="sm" w="sm" type="none"/>
                    </a:lnB>
                    <a:solidFill>
                      <a:srgbClr val="EEF2F9"/>
                    </a:solidFill>
                  </a:tcPr>
                </a:tc>
                <a:tc>
                  <a:txBody>
                    <a:bodyPr/>
                    <a:lstStyle/>
                    <a:p>
                      <a:pPr indent="0" lvl="0" marL="0" marR="0" rtl="0" algn="l">
                        <a:spcBef>
                          <a:spcPts val="0"/>
                        </a:spcBef>
                        <a:spcAft>
                          <a:spcPts val="0"/>
                        </a:spcAft>
                        <a:buClr>
                          <a:srgbClr val="3F4C63"/>
                        </a:buClr>
                        <a:buSzPts val="1250"/>
                        <a:buFont typeface="Calibri"/>
                        <a:buNone/>
                      </a:pPr>
                      <a:r>
                        <a:rPr lang="en" sz="1000" u="none" cap="none" strike="noStrike">
                          <a:solidFill>
                            <a:srgbClr val="3F4C63"/>
                          </a:solidFill>
                          <a:latin typeface="Proxima Nova"/>
                          <a:ea typeface="Proxima Nova"/>
                          <a:cs typeface="Proxima Nova"/>
                          <a:sym typeface="Proxima Nova"/>
                        </a:rPr>
                        <a:t>Finalize the Project Success Agreement with the sponsor</a:t>
                      </a:r>
                      <a:endParaRPr sz="1000" u="none" cap="none" strike="noStrike">
                        <a:latin typeface="Proxima Nova"/>
                        <a:ea typeface="Proxima Nova"/>
                        <a:cs typeface="Proxima Nova"/>
                        <a:sym typeface="Proxima Nova"/>
                      </a:endParaRPr>
                    </a:p>
                  </a:txBody>
                  <a:tcPr marT="45725" marB="45725" marR="91450" marL="91450" anchor="ctr">
                    <a:lnL cap="flat" cmpd="sng" w="12700">
                      <a:solidFill>
                        <a:srgbClr val="D3DCEC"/>
                      </a:solidFill>
                      <a:prstDash val="solid"/>
                      <a:round/>
                      <a:headEnd len="sm" w="sm" type="none"/>
                      <a:tailEnd len="sm" w="sm" type="none"/>
                    </a:lnL>
                    <a:lnR cap="flat" cmpd="sng" w="12700">
                      <a:solidFill>
                        <a:srgbClr val="D3DCEC"/>
                      </a:solidFill>
                      <a:prstDash val="solid"/>
                      <a:round/>
                      <a:headEnd len="sm" w="sm" type="none"/>
                      <a:tailEnd len="sm" w="sm" type="none"/>
                    </a:lnR>
                    <a:lnT cap="flat" cmpd="sng" w="12700">
                      <a:solidFill>
                        <a:srgbClr val="D3DCEC"/>
                      </a:solidFill>
                      <a:prstDash val="solid"/>
                      <a:round/>
                      <a:headEnd len="sm" w="sm" type="none"/>
                      <a:tailEnd len="sm" w="sm" type="none"/>
                    </a:lnT>
                    <a:lnB cap="flat" cmpd="sng" w="12700">
                      <a:solidFill>
                        <a:srgbClr val="D3DCEC"/>
                      </a:solidFill>
                      <a:prstDash val="solid"/>
                      <a:round/>
                      <a:headEnd len="sm" w="sm" type="none"/>
                      <a:tailEnd len="sm" w="sm" type="none"/>
                    </a:lnB>
                    <a:solidFill>
                      <a:srgbClr val="EEF2F9"/>
                    </a:solidFill>
                  </a:tcPr>
                </a:tc>
                <a:tc>
                  <a:txBody>
                    <a:bodyPr/>
                    <a:lstStyle/>
                    <a:p>
                      <a:pPr indent="0" lvl="0" marL="0" marR="0" rtl="0" algn="l">
                        <a:spcBef>
                          <a:spcPts val="0"/>
                        </a:spcBef>
                        <a:spcAft>
                          <a:spcPts val="0"/>
                        </a:spcAft>
                        <a:buClr>
                          <a:srgbClr val="3F4C63"/>
                        </a:buClr>
                        <a:buSzPts val="1250"/>
                        <a:buFont typeface="Calibri"/>
                        <a:buNone/>
                      </a:pPr>
                      <a:r>
                        <a:rPr lang="en" sz="1000" u="none" cap="none" strike="noStrike">
                          <a:solidFill>
                            <a:srgbClr val="3F4C63"/>
                          </a:solidFill>
                          <a:latin typeface="Proxima Nova"/>
                          <a:ea typeface="Proxima Nova"/>
                          <a:cs typeface="Proxima Nova"/>
                          <a:sym typeface="Proxima Nova"/>
                        </a:rPr>
                        <a:t>[Date]</a:t>
                      </a:r>
                      <a:endParaRPr sz="1000" u="none" cap="none" strike="noStrike">
                        <a:latin typeface="Proxima Nova"/>
                        <a:ea typeface="Proxima Nova"/>
                        <a:cs typeface="Proxima Nova"/>
                        <a:sym typeface="Proxima Nova"/>
                      </a:endParaRPr>
                    </a:p>
                  </a:txBody>
                  <a:tcPr marT="45725" marB="45725" marR="91450" marL="91450" anchor="ctr">
                    <a:lnL cap="flat" cmpd="sng" w="12700">
                      <a:solidFill>
                        <a:srgbClr val="D3DCEC"/>
                      </a:solidFill>
                      <a:prstDash val="solid"/>
                      <a:round/>
                      <a:headEnd len="sm" w="sm" type="none"/>
                      <a:tailEnd len="sm" w="sm" type="none"/>
                    </a:lnL>
                    <a:lnR cap="flat" cmpd="sng" w="12700">
                      <a:solidFill>
                        <a:srgbClr val="D3DCEC"/>
                      </a:solidFill>
                      <a:prstDash val="solid"/>
                      <a:round/>
                      <a:headEnd len="sm" w="sm" type="none"/>
                      <a:tailEnd len="sm" w="sm" type="none"/>
                    </a:lnR>
                    <a:lnT cap="flat" cmpd="sng" w="12700">
                      <a:solidFill>
                        <a:srgbClr val="D3DCEC"/>
                      </a:solidFill>
                      <a:prstDash val="solid"/>
                      <a:round/>
                      <a:headEnd len="sm" w="sm" type="none"/>
                      <a:tailEnd len="sm" w="sm" type="none"/>
                    </a:lnT>
                    <a:lnB cap="flat" cmpd="sng" w="12700">
                      <a:solidFill>
                        <a:srgbClr val="D3DCEC"/>
                      </a:solidFill>
                      <a:prstDash val="solid"/>
                      <a:round/>
                      <a:headEnd len="sm" w="sm" type="none"/>
                      <a:tailEnd len="sm" w="sm" type="none"/>
                    </a:lnB>
                    <a:solidFill>
                      <a:srgbClr val="EEF2F9"/>
                    </a:solidFill>
                  </a:tcPr>
                </a:tc>
              </a:tr>
              <a:tr h="477100">
                <a:tc>
                  <a:txBody>
                    <a:bodyPr/>
                    <a:lstStyle/>
                    <a:p>
                      <a:pPr indent="0" lvl="0" marL="0" marR="0" rtl="0" algn="l">
                        <a:spcBef>
                          <a:spcPts val="0"/>
                        </a:spcBef>
                        <a:spcAft>
                          <a:spcPts val="0"/>
                        </a:spcAft>
                        <a:buClr>
                          <a:srgbClr val="14264D"/>
                        </a:buClr>
                        <a:buSzPts val="1250"/>
                        <a:buFont typeface="Calibri"/>
                        <a:buNone/>
                      </a:pPr>
                      <a:r>
                        <a:rPr b="1" lang="en" sz="1000" u="none" cap="none" strike="noStrike">
                          <a:solidFill>
                            <a:srgbClr val="14264D"/>
                          </a:solidFill>
                          <a:latin typeface="Proxima Nova"/>
                          <a:ea typeface="Proxima Nova"/>
                          <a:cs typeface="Proxima Nova"/>
                          <a:sym typeface="Proxima Nova"/>
                        </a:rPr>
                        <a:t>[Client]</a:t>
                      </a:r>
                      <a:endParaRPr sz="1000" u="none" cap="none" strike="noStrike">
                        <a:latin typeface="Proxima Nova"/>
                        <a:ea typeface="Proxima Nova"/>
                        <a:cs typeface="Proxima Nova"/>
                        <a:sym typeface="Proxima Nova"/>
                      </a:endParaRPr>
                    </a:p>
                  </a:txBody>
                  <a:tcPr marT="45725" marB="45725" marR="91450" marL="91450" anchor="ctr">
                    <a:lnL cap="flat" cmpd="sng" w="12700">
                      <a:solidFill>
                        <a:srgbClr val="D3DCEC"/>
                      </a:solidFill>
                      <a:prstDash val="solid"/>
                      <a:round/>
                      <a:headEnd len="sm" w="sm" type="none"/>
                      <a:tailEnd len="sm" w="sm" type="none"/>
                    </a:lnL>
                    <a:lnR cap="flat" cmpd="sng" w="12700">
                      <a:solidFill>
                        <a:srgbClr val="D3DCEC"/>
                      </a:solidFill>
                      <a:prstDash val="solid"/>
                      <a:round/>
                      <a:headEnd len="sm" w="sm" type="none"/>
                      <a:tailEnd len="sm" w="sm" type="none"/>
                    </a:lnR>
                    <a:lnT cap="flat" cmpd="sng" w="12700">
                      <a:solidFill>
                        <a:srgbClr val="D3DCEC"/>
                      </a:solidFill>
                      <a:prstDash val="solid"/>
                      <a:round/>
                      <a:headEnd len="sm" w="sm" type="none"/>
                      <a:tailEnd len="sm" w="sm" type="none"/>
                    </a:lnT>
                    <a:lnB cap="flat" cmpd="sng" w="12700">
                      <a:solidFill>
                        <a:srgbClr val="D3DCEC"/>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3F4C63"/>
                        </a:buClr>
                        <a:buSzPts val="1250"/>
                        <a:buFont typeface="Calibri"/>
                        <a:buNone/>
                      </a:pPr>
                      <a:r>
                        <a:rPr lang="en" sz="1000" u="none" cap="none" strike="noStrike">
                          <a:solidFill>
                            <a:srgbClr val="3F4C63"/>
                          </a:solidFill>
                          <a:latin typeface="Proxima Nova"/>
                          <a:ea typeface="Proxima Nova"/>
                          <a:cs typeface="Proxima Nova"/>
                          <a:sym typeface="Proxima Nova"/>
                        </a:rPr>
                        <a:t>Confirm named reviewer(s) for approvals</a:t>
                      </a:r>
                      <a:endParaRPr sz="1000" u="none" cap="none" strike="noStrike">
                        <a:latin typeface="Proxima Nova"/>
                        <a:ea typeface="Proxima Nova"/>
                        <a:cs typeface="Proxima Nova"/>
                        <a:sym typeface="Proxima Nova"/>
                      </a:endParaRPr>
                    </a:p>
                  </a:txBody>
                  <a:tcPr marT="45725" marB="45725" marR="91450" marL="91450" anchor="ctr">
                    <a:lnL cap="flat" cmpd="sng" w="12700">
                      <a:solidFill>
                        <a:srgbClr val="D3DCEC"/>
                      </a:solidFill>
                      <a:prstDash val="solid"/>
                      <a:round/>
                      <a:headEnd len="sm" w="sm" type="none"/>
                      <a:tailEnd len="sm" w="sm" type="none"/>
                    </a:lnL>
                    <a:lnR cap="flat" cmpd="sng" w="12700">
                      <a:solidFill>
                        <a:srgbClr val="D3DCEC"/>
                      </a:solidFill>
                      <a:prstDash val="solid"/>
                      <a:round/>
                      <a:headEnd len="sm" w="sm" type="none"/>
                      <a:tailEnd len="sm" w="sm" type="none"/>
                    </a:lnR>
                    <a:lnT cap="flat" cmpd="sng" w="12700">
                      <a:solidFill>
                        <a:srgbClr val="D3DCEC"/>
                      </a:solidFill>
                      <a:prstDash val="solid"/>
                      <a:round/>
                      <a:headEnd len="sm" w="sm" type="none"/>
                      <a:tailEnd len="sm" w="sm" type="none"/>
                    </a:lnT>
                    <a:lnB cap="flat" cmpd="sng" w="12700">
                      <a:solidFill>
                        <a:srgbClr val="D3DCEC"/>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3F4C63"/>
                        </a:buClr>
                        <a:buSzPts val="1250"/>
                        <a:buFont typeface="Calibri"/>
                        <a:buNone/>
                      </a:pPr>
                      <a:r>
                        <a:rPr lang="en" sz="1000" u="none" cap="none" strike="noStrike">
                          <a:solidFill>
                            <a:srgbClr val="3F4C63"/>
                          </a:solidFill>
                          <a:latin typeface="Proxima Nova"/>
                          <a:ea typeface="Proxima Nova"/>
                          <a:cs typeface="Proxima Nova"/>
                          <a:sym typeface="Proxima Nova"/>
                        </a:rPr>
                        <a:t>[Date]</a:t>
                      </a:r>
                      <a:endParaRPr sz="1000" u="none" cap="none" strike="noStrike">
                        <a:latin typeface="Proxima Nova"/>
                        <a:ea typeface="Proxima Nova"/>
                        <a:cs typeface="Proxima Nova"/>
                        <a:sym typeface="Proxima Nova"/>
                      </a:endParaRPr>
                    </a:p>
                  </a:txBody>
                  <a:tcPr marT="45725" marB="45725" marR="91450" marL="91450" anchor="ctr">
                    <a:lnL cap="flat" cmpd="sng" w="12700">
                      <a:solidFill>
                        <a:srgbClr val="D3DCEC"/>
                      </a:solidFill>
                      <a:prstDash val="solid"/>
                      <a:round/>
                      <a:headEnd len="sm" w="sm" type="none"/>
                      <a:tailEnd len="sm" w="sm" type="none"/>
                    </a:lnL>
                    <a:lnR cap="flat" cmpd="sng" w="12700">
                      <a:solidFill>
                        <a:srgbClr val="D3DCEC"/>
                      </a:solidFill>
                      <a:prstDash val="solid"/>
                      <a:round/>
                      <a:headEnd len="sm" w="sm" type="none"/>
                      <a:tailEnd len="sm" w="sm" type="none"/>
                    </a:lnR>
                    <a:lnT cap="flat" cmpd="sng" w="12700">
                      <a:solidFill>
                        <a:srgbClr val="D3DCEC"/>
                      </a:solidFill>
                      <a:prstDash val="solid"/>
                      <a:round/>
                      <a:headEnd len="sm" w="sm" type="none"/>
                      <a:tailEnd len="sm" w="sm" type="none"/>
                    </a:lnT>
                    <a:lnB cap="flat" cmpd="sng" w="12700">
                      <a:solidFill>
                        <a:srgbClr val="D3DCEC"/>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0" name="Shape 470"/>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Toptal">
      <a:dk1>
        <a:srgbClr val="041133"/>
      </a:dk1>
      <a:lt1>
        <a:srgbClr val="FFFFFF"/>
      </a:lt1>
      <a:dk2>
        <a:srgbClr val="626679"/>
      </a:dk2>
      <a:lt2>
        <a:srgbClr val="F4F6FB"/>
      </a:lt2>
      <a:accent1>
        <a:srgbClr val="204ECF"/>
      </a:accent1>
      <a:accent2>
        <a:srgbClr val="183A9E"/>
      </a:accent2>
      <a:accent3>
        <a:srgbClr val="0E246E"/>
      </a:accent3>
      <a:accent4>
        <a:srgbClr val="25A9EE"/>
      </a:accent4>
      <a:accent5>
        <a:srgbClr val="1F4ECE"/>
      </a:accent5>
      <a:accent6>
        <a:srgbClr val="0E246E"/>
      </a:accent6>
      <a:hlink>
        <a:srgbClr val="1F4ECE"/>
      </a:hlink>
      <a:folHlink>
        <a:srgbClr val="18399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