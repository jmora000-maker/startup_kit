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Inter" panose="020B0604020202020204" charset="0"/>
      <p:regular r:id="rId20"/>
      <p:bold r:id="rId21"/>
      <p:italic r:id="rId22"/>
      <p:boldItalic r:id="rId23"/>
    </p:embeddedFont>
    <p:embeddedFont>
      <p:font typeface="Montserrat" panose="020B0604020202020204" charset="0"/>
      <p:bold r:id="rId24"/>
      <p:boldItalic r:id="rId25"/>
    </p:embeddedFont>
    <p:embeddedFont>
      <p:font typeface="Open Sans" panose="020B0604020202020204" charset="0"/>
      <p:regular r:id="rId26"/>
      <p:bold r:id="rId27"/>
      <p:italic r:id="rId28"/>
      <p:boldItalic r:id="rId29"/>
    </p:embeddedFont>
    <p:embeddedFont>
      <p:font typeface="Proxima Nova" panose="020B0604020202020204" charset="0"/>
      <p:regular r:id="rId30"/>
      <p:bold r:id="rId31"/>
      <p:italic r:id="rId32"/>
      <p:boldItalic r:id="rId33"/>
    </p:embeddedFont>
    <p:embeddedFont>
      <p:font typeface="Proxima Nova Semibold" panose="020B0604020202020204" charset="0"/>
      <p:regular r:id="rId34"/>
      <p:bold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55">
          <p15:clr>
            <a:srgbClr val="747775"/>
          </p15:clr>
        </p15:guide>
        <p15:guide id="2" orient="horz" pos="864">
          <p15:clr>
            <a:srgbClr val="747775"/>
          </p15:clr>
        </p15:guide>
        <p15:guide id="3" orient="horz" pos="998">
          <p15:clr>
            <a:srgbClr val="747775"/>
          </p15:clr>
        </p15:guide>
        <p15:guide id="4" pos="420">
          <p15:clr>
            <a:srgbClr val="747775"/>
          </p15:clr>
        </p15:guide>
        <p15:guide id="5" orient="horz" pos="764">
          <p15:clr>
            <a:srgbClr val="747775"/>
          </p15:clr>
        </p15:guide>
        <p15:guide id="6" orient="horz" pos="117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CF2D8BE-1765-4251-A71B-D7E14FF0B7AB}">
  <a:tblStyle styleId="{CCF2D8BE-1765-4251-A71B-D7E14FF0B7A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0867A2D-8EFE-4BD8-9A43-5C0CBFDE5C4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280" y="60"/>
      </p:cViewPr>
      <p:guideLst>
        <p:guide orient="horz" pos="555"/>
        <p:guide orient="horz" pos="864"/>
        <p:guide orient="horz" pos="998"/>
        <p:guide pos="420"/>
        <p:guide orient="horz" pos="764"/>
        <p:guide orient="horz" pos="117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f2dc226b82_0_46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f2dc226b82_0_4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f03aceb63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f03aceb6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Table Slides</a:t>
            </a:r>
            <a:endParaRPr/>
          </a:p>
          <a:p>
            <a:pPr marL="914400" lvl="1" indent="-298450" algn="l" rtl="0">
              <a:spcBef>
                <a:spcPts val="0"/>
              </a:spcBef>
              <a:spcAft>
                <a:spcPts val="0"/>
              </a:spcAft>
              <a:buSzPts val="1100"/>
              <a:buChar char="○"/>
            </a:pPr>
            <a:r>
              <a:rPr lang="en"/>
              <a:t>Severity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011b280258_0_2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1b280258_0_2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had2b5654ebddb3d_1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had2b5654ebddb3d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Table Slides</a:t>
            </a:r>
            <a:endParaRPr/>
          </a:p>
          <a:p>
            <a:pPr marL="914400" lvl="1" indent="-298450" algn="l" rtl="0">
              <a:spcBef>
                <a:spcPts val="0"/>
              </a:spcBef>
              <a:spcAft>
                <a:spcPts val="0"/>
              </a:spcAft>
              <a:buSzPts val="1100"/>
              <a:buChar char="○"/>
            </a:pPr>
            <a:r>
              <a:rPr lang="en"/>
              <a:t>Severity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had2b5654ebddb3d_1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had2b5654ebddb3d_1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Table Slides</a:t>
            </a:r>
            <a:endParaRPr/>
          </a:p>
          <a:p>
            <a:pPr marL="914400" lvl="1" indent="-298450" algn="l" rtl="0">
              <a:spcBef>
                <a:spcPts val="0"/>
              </a:spcBef>
              <a:spcAft>
                <a:spcPts val="0"/>
              </a:spcAft>
              <a:buSzPts val="1100"/>
              <a:buChar char="○"/>
            </a:pPr>
            <a:r>
              <a:rPr lang="en"/>
              <a:t>Severity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ad2b5654ebddb3d_1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had2b5654ebddb3d_1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Table Slides</a:t>
            </a:r>
            <a:endParaRPr/>
          </a:p>
          <a:p>
            <a:pPr marL="914400" lvl="1" indent="-298450" algn="l" rtl="0">
              <a:spcBef>
                <a:spcPts val="0"/>
              </a:spcBef>
              <a:spcAft>
                <a:spcPts val="0"/>
              </a:spcAft>
              <a:buSzPts val="1100"/>
              <a:buChar char="○"/>
            </a:pPr>
            <a:r>
              <a:rPr lang="en"/>
              <a:t>Severity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had2b5654ebddb3d_1_647: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had2b5654ebddb3d_1_647: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This slide puts two things we've described separately onto one picture.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Across the top are the seven phases of how we actually deliver a project: Readiness, Mobilize and Align, Discovery, Build, Validate, Deploy, Transition.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Underneath is how PMO governs across that same lifecycle. Readiness and Mobilize map directly onto our first two governance phases.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Project Execution as a governance phase spans four delivery phases at once: Discovery, Build, Validate, and Deploy.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Governance during that window isn't a single checkpoint, it's continuous — value realization, project health, risk, forecasting, scope change, and escalation are all running in parallel with the actual delivery work.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Acceptance and Closure then map onto Transition. </a:t>
            </a:r>
            <a:endParaRPr/>
          </a:p>
        </p:txBody>
      </p:sp>
      <p:sp>
        <p:nvSpPr>
          <p:cNvPr id="198" name="Google Shape;198;had2b5654ebddb3d_1_647: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had2b5654ebddb3d_1_936: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had2b5654ebddb3d_1_93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This slide puts two things we've described separately onto one picture.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Across the top are the seven phases of how we actually deliver a project: Readiness, Mobilize and Align, Discovery, Build, Validate, Deploy, Transition.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Underneath is how PMO governs across that same lifecycle. Readiness and Mobilize map directly onto our first two governance phases.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Project Execution as a governance phase spans four delivery phases at once: Discovery, Build, Validate, and Deploy.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Governance during that window isn't a single checkpoint, it's continuous — value realization, project health, risk, forecasting, scope change, and escalation are all running in parallel with the actual delivery work. </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 sz="1200">
                <a:solidFill>
                  <a:schemeClr val="dk1"/>
                </a:solidFill>
                <a:latin typeface="Arial"/>
                <a:ea typeface="Arial"/>
                <a:cs typeface="Arial"/>
                <a:sym typeface="Arial"/>
              </a:rPr>
              <a:t>Acceptance and Closure then map onto Transition. </a:t>
            </a:r>
            <a:endParaRPr/>
          </a:p>
        </p:txBody>
      </p:sp>
      <p:sp>
        <p:nvSpPr>
          <p:cNvPr id="247" name="Google Shape;247;had2b5654ebddb3d_1_93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had2b5654ebddb3d_1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had2b5654ebddb3d_1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Table Slides</a:t>
            </a:r>
            <a:endParaRPr/>
          </a:p>
          <a:p>
            <a:pPr marL="914400" lvl="1" indent="-298450" algn="l" rtl="0">
              <a:spcBef>
                <a:spcPts val="0"/>
              </a:spcBef>
              <a:spcAft>
                <a:spcPts val="0"/>
              </a:spcAft>
              <a:buSzPts val="1100"/>
              <a:buChar char="○"/>
            </a:pPr>
            <a:r>
              <a:rPr lang="en"/>
              <a:t>Severity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had2b5654ebddb3d_1_4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had2b5654ebddb3d_1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Table Slides</a:t>
            </a:r>
            <a:endParaRPr/>
          </a:p>
          <a:p>
            <a:pPr marL="914400" lvl="1" indent="-298450" algn="l" rtl="0">
              <a:spcBef>
                <a:spcPts val="0"/>
              </a:spcBef>
              <a:spcAft>
                <a:spcPts val="0"/>
              </a:spcAft>
              <a:buSzPts val="1100"/>
              <a:buChar char="○"/>
            </a:pPr>
            <a:r>
              <a:rPr lang="en"/>
              <a:t>Severity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f4bdcfafbd_0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f4bdcfafbd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h282a19ce642c60ab_0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h282a19ce642c60ab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h282a19ce642c60ab_0_340:notes"/>
          <p:cNvSpPr>
            <a:spLocks noGrp="1" noRot="1" noChangeAspect="1"/>
          </p:cNvSpPr>
          <p:nvPr>
            <p:ph type="sldImg" idx="2"/>
          </p:nvPr>
        </p:nvSpPr>
        <p:spPr>
          <a:xfrm>
            <a:off x="685727" y="857273"/>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h282a19ce642c60ab_0_340:notes"/>
          <p:cNvSpPr txBox="1">
            <a:spLocks noGrp="1"/>
          </p:cNvSpPr>
          <p:nvPr>
            <p:ph type="body" idx="1"/>
          </p:nvPr>
        </p:nvSpPr>
        <p:spPr>
          <a:xfrm>
            <a:off x="685800" y="3300500"/>
            <a:ext cx="5486400" cy="27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h282a19ce642c60ab_0_340:notes"/>
          <p:cNvSpPr txBox="1">
            <a:spLocks noGrp="1"/>
          </p:cNvSpPr>
          <p:nvPr>
            <p:ph type="sldNum" idx="12"/>
          </p:nvPr>
        </p:nvSpPr>
        <p:spPr>
          <a:xfrm>
            <a:off x="3884613" y="6514083"/>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h282a19ce642c60ab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h282a19ce642c60ab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h282a19ce642c60a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h282a19ce642c6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f4bdcfafbd_0_615:notes"/>
          <p:cNvSpPr>
            <a:spLocks noGrp="1" noRot="1" noChangeAspect="1"/>
          </p:cNvSpPr>
          <p:nvPr>
            <p:ph type="sldImg" idx="2"/>
          </p:nvPr>
        </p:nvSpPr>
        <p:spPr>
          <a:xfrm>
            <a:off x="685727" y="857273"/>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g3f4bdcfafbd_0_615:notes"/>
          <p:cNvSpPr txBox="1">
            <a:spLocks noGrp="1"/>
          </p:cNvSpPr>
          <p:nvPr>
            <p:ph type="body" idx="1"/>
          </p:nvPr>
        </p:nvSpPr>
        <p:spPr>
          <a:xfrm>
            <a:off x="685800" y="3300500"/>
            <a:ext cx="5486400" cy="27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Walk each answer aloud and ask the client to confirm or correct. Capture changes live. This is where alignment actually happens — do not rush it. Anything that shifts scope, timeline, or the exclusions gets logged; the PM codifies the final wording with the sponsor after kickoff and secures approval before Discovery.</a:t>
            </a:r>
            <a:endParaRPr/>
          </a:p>
        </p:txBody>
      </p:sp>
      <p:sp>
        <p:nvSpPr>
          <p:cNvPr id="461" name="Google Shape;461;g3f4bdcfafbd_0_615:notes"/>
          <p:cNvSpPr txBox="1">
            <a:spLocks noGrp="1"/>
          </p:cNvSpPr>
          <p:nvPr>
            <p:ph type="sldNum" idx="12"/>
          </p:nvPr>
        </p:nvSpPr>
        <p:spPr>
          <a:xfrm>
            <a:off x="3884613" y="6514083"/>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f4bdcfafbd_0_9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f4bdcfafbd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Title Slide ">
  <p:cSld name="24_Title Slide">
    <p:spTree>
      <p:nvGrpSpPr>
        <p:cNvPr id="1" name="Shape 11"/>
        <p:cNvGrpSpPr/>
        <p:nvPr/>
      </p:nvGrpSpPr>
      <p:grpSpPr>
        <a:xfrm>
          <a:off x="0" y="0"/>
          <a:ext cx="0" cy="0"/>
          <a:chOff x="0" y="0"/>
          <a:chExt cx="0" cy="0"/>
        </a:xfrm>
      </p:grpSpPr>
      <p:sp>
        <p:nvSpPr>
          <p:cNvPr id="12" name="Google Shape;12;p2"/>
          <p:cNvSpPr txBox="1">
            <a:spLocks noGrp="1"/>
          </p:cNvSpPr>
          <p:nvPr>
            <p:ph type="sldNum" idx="12"/>
          </p:nvPr>
        </p:nvSpPr>
        <p:spPr>
          <a:xfrm>
            <a:off x="109835" y="4754928"/>
            <a:ext cx="285900" cy="273900"/>
          </a:xfrm>
          <a:prstGeom prst="rect">
            <a:avLst/>
          </a:prstGeom>
          <a:noFill/>
          <a:ln>
            <a:noFill/>
          </a:ln>
        </p:spPr>
        <p:txBody>
          <a:bodyPr spcFirstLastPara="1" wrap="square" lIns="0" tIns="0" rIns="0" bIns="0" anchor="ctr" anchorCtr="0">
            <a:noAutofit/>
          </a:bodyPr>
          <a:lstStyle>
            <a:lvl1pPr marL="0" lvl="0" indent="0" algn="ctr" rtl="0">
              <a:spcBef>
                <a:spcPts val="0"/>
              </a:spcBef>
              <a:buNone/>
              <a:defRPr sz="1100" b="1" i="0" u="none" strike="noStrike" cap="none">
                <a:solidFill>
                  <a:srgbClr val="FFFFFF"/>
                </a:solidFill>
                <a:latin typeface="Proxima Nova"/>
                <a:ea typeface="Proxima Nova"/>
                <a:cs typeface="Proxima Nova"/>
                <a:sym typeface="Proxima Nova"/>
              </a:defRPr>
            </a:lvl1pPr>
            <a:lvl2pPr marL="0" lvl="1" indent="0" algn="ctr" rtl="0">
              <a:spcBef>
                <a:spcPts val="0"/>
              </a:spcBef>
              <a:buNone/>
              <a:defRPr sz="1100" b="1" i="0" u="none" strike="noStrike" cap="none">
                <a:solidFill>
                  <a:srgbClr val="FFFFFF"/>
                </a:solidFill>
                <a:latin typeface="Proxima Nova"/>
                <a:ea typeface="Proxima Nova"/>
                <a:cs typeface="Proxima Nova"/>
                <a:sym typeface="Proxima Nova"/>
              </a:defRPr>
            </a:lvl2pPr>
            <a:lvl3pPr marL="0" lvl="2" indent="0" algn="ctr" rtl="0">
              <a:spcBef>
                <a:spcPts val="0"/>
              </a:spcBef>
              <a:buNone/>
              <a:defRPr sz="1100" b="1" i="0" u="none" strike="noStrike" cap="none">
                <a:solidFill>
                  <a:srgbClr val="FFFFFF"/>
                </a:solidFill>
                <a:latin typeface="Proxima Nova"/>
                <a:ea typeface="Proxima Nova"/>
                <a:cs typeface="Proxima Nova"/>
                <a:sym typeface="Proxima Nova"/>
              </a:defRPr>
            </a:lvl3pPr>
            <a:lvl4pPr marL="0" lvl="3" indent="0" algn="ctr" rtl="0">
              <a:spcBef>
                <a:spcPts val="0"/>
              </a:spcBef>
              <a:buNone/>
              <a:defRPr sz="1100" b="1" i="0" u="none" strike="noStrike" cap="none">
                <a:solidFill>
                  <a:srgbClr val="FFFFFF"/>
                </a:solidFill>
                <a:latin typeface="Proxima Nova"/>
                <a:ea typeface="Proxima Nova"/>
                <a:cs typeface="Proxima Nova"/>
                <a:sym typeface="Proxima Nova"/>
              </a:defRPr>
            </a:lvl4pPr>
            <a:lvl5pPr marL="0" lvl="4" indent="0" algn="ctr" rtl="0">
              <a:spcBef>
                <a:spcPts val="0"/>
              </a:spcBef>
              <a:buNone/>
              <a:defRPr sz="1100" b="1" i="0" u="none" strike="noStrike" cap="none">
                <a:solidFill>
                  <a:srgbClr val="FFFFFF"/>
                </a:solidFill>
                <a:latin typeface="Proxima Nova"/>
                <a:ea typeface="Proxima Nova"/>
                <a:cs typeface="Proxima Nova"/>
                <a:sym typeface="Proxima Nova"/>
              </a:defRPr>
            </a:lvl5pPr>
            <a:lvl6pPr marL="0" lvl="5" indent="0" algn="ctr" rtl="0">
              <a:spcBef>
                <a:spcPts val="0"/>
              </a:spcBef>
              <a:buNone/>
              <a:defRPr sz="1100" b="1" i="0" u="none" strike="noStrike" cap="none">
                <a:solidFill>
                  <a:srgbClr val="FFFFFF"/>
                </a:solidFill>
                <a:latin typeface="Proxima Nova"/>
                <a:ea typeface="Proxima Nova"/>
                <a:cs typeface="Proxima Nova"/>
                <a:sym typeface="Proxima Nova"/>
              </a:defRPr>
            </a:lvl6pPr>
            <a:lvl7pPr marL="0" lvl="6" indent="0" algn="ctr" rtl="0">
              <a:spcBef>
                <a:spcPts val="0"/>
              </a:spcBef>
              <a:buNone/>
              <a:defRPr sz="1100" b="1" i="0" u="none" strike="noStrike" cap="none">
                <a:solidFill>
                  <a:srgbClr val="FFFFFF"/>
                </a:solidFill>
                <a:latin typeface="Proxima Nova"/>
                <a:ea typeface="Proxima Nova"/>
                <a:cs typeface="Proxima Nova"/>
                <a:sym typeface="Proxima Nova"/>
              </a:defRPr>
            </a:lvl7pPr>
            <a:lvl8pPr marL="0" lvl="7" indent="0" algn="ctr" rtl="0">
              <a:spcBef>
                <a:spcPts val="0"/>
              </a:spcBef>
              <a:buNone/>
              <a:defRPr sz="1100" b="1" i="0" u="none" strike="noStrike" cap="none">
                <a:solidFill>
                  <a:srgbClr val="FFFFFF"/>
                </a:solidFill>
                <a:latin typeface="Proxima Nova"/>
                <a:ea typeface="Proxima Nova"/>
                <a:cs typeface="Proxima Nova"/>
                <a:sym typeface="Proxima Nova"/>
              </a:defRPr>
            </a:lvl8pPr>
            <a:lvl9pPr marL="0" lvl="8" indent="0" algn="ctr" rtl="0">
              <a:spcBef>
                <a:spcPts val="0"/>
              </a:spcBef>
              <a:buNone/>
              <a:defRPr sz="1100" b="1" i="0" u="none" strike="noStrike" cap="none">
                <a:solidFill>
                  <a:srgbClr val="FFFFFF"/>
                </a:solidFill>
                <a:latin typeface="Proxima Nova"/>
                <a:ea typeface="Proxima Nova"/>
                <a:cs typeface="Proxima Nova"/>
                <a:sym typeface="Proxima Nova"/>
              </a:defRPr>
            </a:lvl9pPr>
          </a:lstStyle>
          <a:p>
            <a:pPr marL="0" lvl="0" indent="0" algn="ctr" rtl="0">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0" y="1255"/>
            <a:ext cx="9144001" cy="5140990"/>
          </a:xfrm>
          <a:prstGeom prst="rect">
            <a:avLst/>
          </a:prstGeom>
          <a:noFill/>
          <a:ln>
            <a:noFill/>
          </a:ln>
        </p:spPr>
      </p:pic>
      <p:pic>
        <p:nvPicPr>
          <p:cNvPr id="14" name="Google Shape;14;p2"/>
          <p:cNvPicPr preferRelativeResize="0"/>
          <p:nvPr/>
        </p:nvPicPr>
        <p:blipFill>
          <a:blip r:embed="rId3">
            <a:alphaModFix/>
          </a:blip>
          <a:stretch>
            <a:fillRect/>
          </a:stretch>
        </p:blipFill>
        <p:spPr>
          <a:xfrm>
            <a:off x="343675" y="419000"/>
            <a:ext cx="1180749" cy="335551"/>
          </a:xfrm>
          <a:prstGeom prst="rect">
            <a:avLst/>
          </a:prstGeom>
          <a:noFill/>
          <a:ln>
            <a:noFill/>
          </a:ln>
        </p:spPr>
      </p:pic>
      <p:sp>
        <p:nvSpPr>
          <p:cNvPr id="15" name="Google Shape;15;p2"/>
          <p:cNvSpPr txBox="1">
            <a:spLocks noGrp="1"/>
          </p:cNvSpPr>
          <p:nvPr>
            <p:ph type="title"/>
          </p:nvPr>
        </p:nvSpPr>
        <p:spPr>
          <a:xfrm>
            <a:off x="343675" y="2907450"/>
            <a:ext cx="3016200" cy="819300"/>
          </a:xfrm>
          <a:prstGeom prst="rect">
            <a:avLst/>
          </a:prstGeom>
        </p:spPr>
        <p:txBody>
          <a:bodyPr spcFirstLastPara="1" wrap="square" lIns="68575" tIns="34275" rIns="68575" bIns="34275" anchor="t" anchorCtr="0">
            <a:normAutofit/>
          </a:bodyPr>
          <a:lstStyle>
            <a:lvl1pPr lvl="0" rtl="0">
              <a:spcBef>
                <a:spcPts val="0"/>
              </a:spcBef>
              <a:spcAft>
                <a:spcPts val="0"/>
              </a:spcAft>
              <a:buClr>
                <a:schemeClr val="lt1"/>
              </a:buClr>
              <a:buSzPts val="2600"/>
              <a:buFont typeface="Proxima Nova"/>
              <a:buNone/>
              <a:defRPr sz="2600">
                <a:solidFill>
                  <a:schemeClr val="lt1"/>
                </a:solidFill>
                <a:latin typeface="Proxima Nova"/>
                <a:ea typeface="Proxima Nova"/>
                <a:cs typeface="Proxima Nova"/>
                <a:sym typeface="Proxima Nova"/>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6" name="Google Shape;16;p2"/>
          <p:cNvSpPr txBox="1">
            <a:spLocks noGrp="1"/>
          </p:cNvSpPr>
          <p:nvPr>
            <p:ph type="subTitle" idx="1"/>
          </p:nvPr>
        </p:nvSpPr>
        <p:spPr>
          <a:xfrm>
            <a:off x="351170" y="2571750"/>
            <a:ext cx="3016200" cy="335700"/>
          </a:xfrm>
          <a:prstGeom prst="rect">
            <a:avLst/>
          </a:prstGeom>
        </p:spPr>
        <p:txBody>
          <a:bodyPr spcFirstLastPara="1" wrap="square" lIns="68575" tIns="34275" rIns="68575" bIns="34275" anchor="t" anchorCtr="0">
            <a:normAutofit/>
          </a:bodyPr>
          <a:lstStyle>
            <a:lvl1pPr lvl="0" rtl="0">
              <a:spcBef>
                <a:spcPts val="800"/>
              </a:spcBef>
              <a:spcAft>
                <a:spcPts val="0"/>
              </a:spcAft>
              <a:buClr>
                <a:schemeClr val="lt1"/>
              </a:buClr>
              <a:buSzPts val="1300"/>
              <a:buFont typeface="Proxima Nova"/>
              <a:buNone/>
              <a:defRPr sz="1300">
                <a:solidFill>
                  <a:schemeClr val="lt1"/>
                </a:solidFill>
              </a:defRPr>
            </a:lvl1pPr>
            <a:lvl2pPr lvl="1" rtl="0">
              <a:spcBef>
                <a:spcPts val="400"/>
              </a:spcBef>
              <a:spcAft>
                <a:spcPts val="0"/>
              </a:spcAft>
              <a:buClr>
                <a:schemeClr val="lt1"/>
              </a:buClr>
              <a:buSzPts val="1100"/>
              <a:buNone/>
              <a:defRPr>
                <a:solidFill>
                  <a:schemeClr val="lt1"/>
                </a:solidFill>
              </a:defRPr>
            </a:lvl2pPr>
            <a:lvl3pPr lvl="2" rtl="0">
              <a:spcBef>
                <a:spcPts val="400"/>
              </a:spcBef>
              <a:spcAft>
                <a:spcPts val="0"/>
              </a:spcAft>
              <a:buClr>
                <a:schemeClr val="lt1"/>
              </a:buClr>
              <a:buSzPts val="900"/>
              <a:buNone/>
              <a:defRPr>
                <a:solidFill>
                  <a:schemeClr val="lt1"/>
                </a:solidFill>
              </a:defRPr>
            </a:lvl3pPr>
            <a:lvl4pPr lvl="3" rtl="0">
              <a:spcBef>
                <a:spcPts val="400"/>
              </a:spcBef>
              <a:spcAft>
                <a:spcPts val="0"/>
              </a:spcAft>
              <a:buClr>
                <a:schemeClr val="lt1"/>
              </a:buClr>
              <a:buSzPts val="800"/>
              <a:buNone/>
              <a:defRPr>
                <a:solidFill>
                  <a:schemeClr val="lt1"/>
                </a:solidFill>
              </a:defRPr>
            </a:lvl4pPr>
            <a:lvl5pPr lvl="4" rtl="0">
              <a:spcBef>
                <a:spcPts val="400"/>
              </a:spcBef>
              <a:spcAft>
                <a:spcPts val="0"/>
              </a:spcAft>
              <a:buClr>
                <a:schemeClr val="lt1"/>
              </a:buClr>
              <a:buSzPts val="600"/>
              <a:buNone/>
              <a:defRPr>
                <a:solidFill>
                  <a:schemeClr val="lt1"/>
                </a:solidFill>
              </a:defRPr>
            </a:lvl5pPr>
            <a:lvl6pPr lvl="5" rtl="0">
              <a:spcBef>
                <a:spcPts val="400"/>
              </a:spcBef>
              <a:spcAft>
                <a:spcPts val="0"/>
              </a:spcAft>
              <a:buClr>
                <a:schemeClr val="lt1"/>
              </a:buClr>
              <a:buSzPts val="1400"/>
              <a:buNone/>
              <a:defRPr>
                <a:solidFill>
                  <a:schemeClr val="lt1"/>
                </a:solidFill>
              </a:defRPr>
            </a:lvl6pPr>
            <a:lvl7pPr lvl="6" rtl="0">
              <a:spcBef>
                <a:spcPts val="400"/>
              </a:spcBef>
              <a:spcAft>
                <a:spcPts val="0"/>
              </a:spcAft>
              <a:buClr>
                <a:schemeClr val="lt1"/>
              </a:buClr>
              <a:buSzPts val="1400"/>
              <a:buNone/>
              <a:defRPr>
                <a:solidFill>
                  <a:schemeClr val="lt1"/>
                </a:solidFill>
              </a:defRPr>
            </a:lvl7pPr>
            <a:lvl8pPr lvl="7" rtl="0">
              <a:spcBef>
                <a:spcPts val="400"/>
              </a:spcBef>
              <a:spcAft>
                <a:spcPts val="0"/>
              </a:spcAft>
              <a:buClr>
                <a:schemeClr val="lt1"/>
              </a:buClr>
              <a:buSzPts val="1400"/>
              <a:buNone/>
              <a:defRPr>
                <a:solidFill>
                  <a:schemeClr val="lt1"/>
                </a:solidFill>
              </a:defRPr>
            </a:lvl8pPr>
            <a:lvl9pPr lvl="8" rtl="0">
              <a:spcBef>
                <a:spcPts val="400"/>
              </a:spcBef>
              <a:spcAft>
                <a:spcPts val="0"/>
              </a:spcAft>
              <a:buClr>
                <a:schemeClr val="lt1"/>
              </a:buClr>
              <a:buSzPts val="1400"/>
              <a:buNone/>
              <a:defRPr>
                <a:solidFill>
                  <a:schemeClr val="lt1"/>
                </a:solidFill>
              </a:defRPr>
            </a:lvl9pPr>
          </a:lstStyle>
          <a:p>
            <a:endParaRPr/>
          </a:p>
        </p:txBody>
      </p:sp>
      <p:cxnSp>
        <p:nvCxnSpPr>
          <p:cNvPr id="17" name="Google Shape;17;p2"/>
          <p:cNvCxnSpPr/>
          <p:nvPr/>
        </p:nvCxnSpPr>
        <p:spPr>
          <a:xfrm>
            <a:off x="443130" y="4044275"/>
            <a:ext cx="891900" cy="0"/>
          </a:xfrm>
          <a:prstGeom prst="straightConnector1">
            <a:avLst/>
          </a:prstGeom>
          <a:noFill/>
          <a:ln w="9525" cap="flat" cmpd="sng">
            <a:solidFill>
              <a:schemeClr val="lt1"/>
            </a:solidFill>
            <a:prstDash val="solid"/>
            <a:round/>
            <a:headEnd type="none" w="med" len="med"/>
            <a:tailEnd type="none" w="med" len="med"/>
          </a:ln>
        </p:spPr>
      </p:cxnSp>
      <p:sp>
        <p:nvSpPr>
          <p:cNvPr id="18" name="Google Shape;18;p2"/>
          <p:cNvSpPr txBox="1">
            <a:spLocks noGrp="1"/>
          </p:cNvSpPr>
          <p:nvPr>
            <p:ph type="subTitle" idx="2"/>
          </p:nvPr>
        </p:nvSpPr>
        <p:spPr>
          <a:xfrm>
            <a:off x="366160" y="4153150"/>
            <a:ext cx="3016200" cy="335700"/>
          </a:xfrm>
          <a:prstGeom prst="rect">
            <a:avLst/>
          </a:prstGeom>
        </p:spPr>
        <p:txBody>
          <a:bodyPr spcFirstLastPara="1" wrap="square" lIns="68575" tIns="34275" rIns="68575" bIns="34275" anchor="t" anchorCtr="0">
            <a:normAutofit/>
          </a:bodyPr>
          <a:lstStyle>
            <a:lvl1pPr lvl="0" rtl="0">
              <a:spcBef>
                <a:spcPts val="800"/>
              </a:spcBef>
              <a:spcAft>
                <a:spcPts val="0"/>
              </a:spcAft>
              <a:buClr>
                <a:schemeClr val="accent4"/>
              </a:buClr>
              <a:buSzPts val="1300"/>
              <a:buFont typeface="Proxima Nova"/>
              <a:buNone/>
              <a:defRPr sz="1300" b="1">
                <a:solidFill>
                  <a:schemeClr val="accent4"/>
                </a:solidFill>
                <a:latin typeface="Proxima Nova"/>
                <a:ea typeface="Proxima Nova"/>
                <a:cs typeface="Proxima Nova"/>
                <a:sym typeface="Proxima Nova"/>
              </a:defRPr>
            </a:lvl1pPr>
            <a:lvl2pPr lvl="1" rtl="0">
              <a:spcBef>
                <a:spcPts val="400"/>
              </a:spcBef>
              <a:spcAft>
                <a:spcPts val="0"/>
              </a:spcAft>
              <a:buClr>
                <a:schemeClr val="accent4"/>
              </a:buClr>
              <a:buSzPts val="1100"/>
              <a:buNone/>
              <a:defRPr>
                <a:solidFill>
                  <a:schemeClr val="accent4"/>
                </a:solidFill>
              </a:defRPr>
            </a:lvl2pPr>
            <a:lvl3pPr lvl="2" rtl="0">
              <a:spcBef>
                <a:spcPts val="400"/>
              </a:spcBef>
              <a:spcAft>
                <a:spcPts val="0"/>
              </a:spcAft>
              <a:buClr>
                <a:schemeClr val="accent4"/>
              </a:buClr>
              <a:buSzPts val="900"/>
              <a:buNone/>
              <a:defRPr>
                <a:solidFill>
                  <a:schemeClr val="accent4"/>
                </a:solidFill>
              </a:defRPr>
            </a:lvl3pPr>
            <a:lvl4pPr lvl="3" rtl="0">
              <a:spcBef>
                <a:spcPts val="400"/>
              </a:spcBef>
              <a:spcAft>
                <a:spcPts val="0"/>
              </a:spcAft>
              <a:buClr>
                <a:schemeClr val="accent4"/>
              </a:buClr>
              <a:buSzPts val="800"/>
              <a:buNone/>
              <a:defRPr>
                <a:solidFill>
                  <a:schemeClr val="accent4"/>
                </a:solidFill>
              </a:defRPr>
            </a:lvl4pPr>
            <a:lvl5pPr lvl="4" rtl="0">
              <a:spcBef>
                <a:spcPts val="400"/>
              </a:spcBef>
              <a:spcAft>
                <a:spcPts val="0"/>
              </a:spcAft>
              <a:buClr>
                <a:schemeClr val="accent4"/>
              </a:buClr>
              <a:buSzPts val="600"/>
              <a:buNone/>
              <a:defRPr>
                <a:solidFill>
                  <a:schemeClr val="accent4"/>
                </a:solidFill>
              </a:defRPr>
            </a:lvl5pPr>
            <a:lvl6pPr lvl="5" rtl="0">
              <a:spcBef>
                <a:spcPts val="400"/>
              </a:spcBef>
              <a:spcAft>
                <a:spcPts val="0"/>
              </a:spcAft>
              <a:buClr>
                <a:schemeClr val="accent4"/>
              </a:buClr>
              <a:buSzPts val="1400"/>
              <a:buNone/>
              <a:defRPr>
                <a:solidFill>
                  <a:schemeClr val="accent4"/>
                </a:solidFill>
              </a:defRPr>
            </a:lvl6pPr>
            <a:lvl7pPr lvl="6" rtl="0">
              <a:spcBef>
                <a:spcPts val="400"/>
              </a:spcBef>
              <a:spcAft>
                <a:spcPts val="0"/>
              </a:spcAft>
              <a:buClr>
                <a:schemeClr val="accent4"/>
              </a:buClr>
              <a:buSzPts val="1400"/>
              <a:buNone/>
              <a:defRPr>
                <a:solidFill>
                  <a:schemeClr val="accent4"/>
                </a:solidFill>
              </a:defRPr>
            </a:lvl7pPr>
            <a:lvl8pPr lvl="7" rtl="0">
              <a:spcBef>
                <a:spcPts val="400"/>
              </a:spcBef>
              <a:spcAft>
                <a:spcPts val="0"/>
              </a:spcAft>
              <a:buClr>
                <a:schemeClr val="accent4"/>
              </a:buClr>
              <a:buSzPts val="1400"/>
              <a:buNone/>
              <a:defRPr>
                <a:solidFill>
                  <a:schemeClr val="accent4"/>
                </a:solidFill>
              </a:defRPr>
            </a:lvl8pPr>
            <a:lvl9pPr lvl="8" rtl="0">
              <a:spcBef>
                <a:spcPts val="400"/>
              </a:spcBef>
              <a:spcAft>
                <a:spcPts val="0"/>
              </a:spcAft>
              <a:buClr>
                <a:schemeClr val="accent4"/>
              </a:buClr>
              <a:buSzPts val="1400"/>
              <a:buNone/>
              <a:defRPr>
                <a:solidFill>
                  <a:schemeClr val="accent4"/>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Title Slide-Var 1">
  <p:cSld name="24_Title Slide_1">
    <p:spTree>
      <p:nvGrpSpPr>
        <p:cNvPr id="1"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l="367" r="367"/>
          <a:stretch/>
        </p:blipFill>
        <p:spPr>
          <a:xfrm>
            <a:off x="0" y="-38100"/>
            <a:ext cx="9144005" cy="5181600"/>
          </a:xfrm>
          <a:prstGeom prst="rect">
            <a:avLst/>
          </a:prstGeom>
          <a:noFill/>
          <a:ln>
            <a:noFill/>
          </a:ln>
        </p:spPr>
      </p:pic>
      <p:pic>
        <p:nvPicPr>
          <p:cNvPr id="21" name="Google Shape;21;p3"/>
          <p:cNvPicPr preferRelativeResize="0"/>
          <p:nvPr/>
        </p:nvPicPr>
        <p:blipFill>
          <a:blip r:embed="rId3">
            <a:alphaModFix/>
          </a:blip>
          <a:stretch>
            <a:fillRect/>
          </a:stretch>
        </p:blipFill>
        <p:spPr>
          <a:xfrm>
            <a:off x="343675" y="419000"/>
            <a:ext cx="1180749" cy="335551"/>
          </a:xfrm>
          <a:prstGeom prst="rect">
            <a:avLst/>
          </a:prstGeom>
          <a:noFill/>
          <a:ln>
            <a:noFill/>
          </a:ln>
        </p:spPr>
      </p:pic>
      <p:sp>
        <p:nvSpPr>
          <p:cNvPr id="22" name="Google Shape;22;p3"/>
          <p:cNvSpPr txBox="1">
            <a:spLocks noGrp="1"/>
          </p:cNvSpPr>
          <p:nvPr>
            <p:ph type="title"/>
          </p:nvPr>
        </p:nvSpPr>
        <p:spPr>
          <a:xfrm>
            <a:off x="343675" y="2907450"/>
            <a:ext cx="3016200" cy="819300"/>
          </a:xfrm>
          <a:prstGeom prst="rect">
            <a:avLst/>
          </a:prstGeom>
        </p:spPr>
        <p:txBody>
          <a:bodyPr spcFirstLastPara="1" wrap="square" lIns="68575" tIns="34275" rIns="68575" bIns="34275" anchor="t" anchorCtr="0">
            <a:normAutofit/>
          </a:bodyPr>
          <a:lstStyle>
            <a:lvl1pPr lvl="0" rtl="0">
              <a:spcBef>
                <a:spcPts val="0"/>
              </a:spcBef>
              <a:spcAft>
                <a:spcPts val="0"/>
              </a:spcAft>
              <a:buClr>
                <a:schemeClr val="lt1"/>
              </a:buClr>
              <a:buSzPts val="2600"/>
              <a:buFont typeface="Proxima Nova"/>
              <a:buNone/>
              <a:defRPr sz="2600">
                <a:solidFill>
                  <a:schemeClr val="lt1"/>
                </a:solidFill>
                <a:latin typeface="Proxima Nova"/>
                <a:ea typeface="Proxima Nova"/>
                <a:cs typeface="Proxima Nova"/>
                <a:sym typeface="Proxima Nova"/>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3" name="Google Shape;23;p3"/>
          <p:cNvSpPr txBox="1">
            <a:spLocks noGrp="1"/>
          </p:cNvSpPr>
          <p:nvPr>
            <p:ph type="subTitle" idx="1"/>
          </p:nvPr>
        </p:nvSpPr>
        <p:spPr>
          <a:xfrm>
            <a:off x="351170" y="2571750"/>
            <a:ext cx="3016200" cy="335700"/>
          </a:xfrm>
          <a:prstGeom prst="rect">
            <a:avLst/>
          </a:prstGeom>
        </p:spPr>
        <p:txBody>
          <a:bodyPr spcFirstLastPara="1" wrap="square" lIns="68575" tIns="34275" rIns="68575" bIns="34275" anchor="t" anchorCtr="0">
            <a:normAutofit/>
          </a:bodyPr>
          <a:lstStyle>
            <a:lvl1pPr lvl="0" rtl="0">
              <a:spcBef>
                <a:spcPts val="800"/>
              </a:spcBef>
              <a:spcAft>
                <a:spcPts val="0"/>
              </a:spcAft>
              <a:buClr>
                <a:schemeClr val="lt1"/>
              </a:buClr>
              <a:buSzPts val="1300"/>
              <a:buFont typeface="Proxima Nova"/>
              <a:buNone/>
              <a:defRPr sz="1300">
                <a:solidFill>
                  <a:schemeClr val="lt1"/>
                </a:solidFill>
              </a:defRPr>
            </a:lvl1pPr>
            <a:lvl2pPr lvl="1" rtl="0">
              <a:spcBef>
                <a:spcPts val="400"/>
              </a:spcBef>
              <a:spcAft>
                <a:spcPts val="0"/>
              </a:spcAft>
              <a:buClr>
                <a:schemeClr val="lt1"/>
              </a:buClr>
              <a:buSzPts val="1100"/>
              <a:buNone/>
              <a:defRPr>
                <a:solidFill>
                  <a:schemeClr val="lt1"/>
                </a:solidFill>
              </a:defRPr>
            </a:lvl2pPr>
            <a:lvl3pPr lvl="2" rtl="0">
              <a:spcBef>
                <a:spcPts val="400"/>
              </a:spcBef>
              <a:spcAft>
                <a:spcPts val="0"/>
              </a:spcAft>
              <a:buClr>
                <a:schemeClr val="lt1"/>
              </a:buClr>
              <a:buSzPts val="900"/>
              <a:buNone/>
              <a:defRPr>
                <a:solidFill>
                  <a:schemeClr val="lt1"/>
                </a:solidFill>
              </a:defRPr>
            </a:lvl3pPr>
            <a:lvl4pPr lvl="3" rtl="0">
              <a:spcBef>
                <a:spcPts val="400"/>
              </a:spcBef>
              <a:spcAft>
                <a:spcPts val="0"/>
              </a:spcAft>
              <a:buClr>
                <a:schemeClr val="lt1"/>
              </a:buClr>
              <a:buSzPts val="800"/>
              <a:buNone/>
              <a:defRPr>
                <a:solidFill>
                  <a:schemeClr val="lt1"/>
                </a:solidFill>
              </a:defRPr>
            </a:lvl4pPr>
            <a:lvl5pPr lvl="4" rtl="0">
              <a:spcBef>
                <a:spcPts val="400"/>
              </a:spcBef>
              <a:spcAft>
                <a:spcPts val="0"/>
              </a:spcAft>
              <a:buClr>
                <a:schemeClr val="lt1"/>
              </a:buClr>
              <a:buSzPts val="600"/>
              <a:buNone/>
              <a:defRPr>
                <a:solidFill>
                  <a:schemeClr val="lt1"/>
                </a:solidFill>
              </a:defRPr>
            </a:lvl5pPr>
            <a:lvl6pPr lvl="5" rtl="0">
              <a:spcBef>
                <a:spcPts val="400"/>
              </a:spcBef>
              <a:spcAft>
                <a:spcPts val="0"/>
              </a:spcAft>
              <a:buClr>
                <a:schemeClr val="lt1"/>
              </a:buClr>
              <a:buSzPts val="1400"/>
              <a:buNone/>
              <a:defRPr>
                <a:solidFill>
                  <a:schemeClr val="lt1"/>
                </a:solidFill>
              </a:defRPr>
            </a:lvl6pPr>
            <a:lvl7pPr lvl="6" rtl="0">
              <a:spcBef>
                <a:spcPts val="400"/>
              </a:spcBef>
              <a:spcAft>
                <a:spcPts val="0"/>
              </a:spcAft>
              <a:buClr>
                <a:schemeClr val="lt1"/>
              </a:buClr>
              <a:buSzPts val="1400"/>
              <a:buNone/>
              <a:defRPr>
                <a:solidFill>
                  <a:schemeClr val="lt1"/>
                </a:solidFill>
              </a:defRPr>
            </a:lvl7pPr>
            <a:lvl8pPr lvl="7" rtl="0">
              <a:spcBef>
                <a:spcPts val="400"/>
              </a:spcBef>
              <a:spcAft>
                <a:spcPts val="0"/>
              </a:spcAft>
              <a:buClr>
                <a:schemeClr val="lt1"/>
              </a:buClr>
              <a:buSzPts val="1400"/>
              <a:buNone/>
              <a:defRPr>
                <a:solidFill>
                  <a:schemeClr val="lt1"/>
                </a:solidFill>
              </a:defRPr>
            </a:lvl8pPr>
            <a:lvl9pPr lvl="8" rtl="0">
              <a:spcBef>
                <a:spcPts val="400"/>
              </a:spcBef>
              <a:spcAft>
                <a:spcPts val="0"/>
              </a:spcAft>
              <a:buClr>
                <a:schemeClr val="lt1"/>
              </a:buClr>
              <a:buSzPts val="1400"/>
              <a:buNone/>
              <a:defRPr>
                <a:solidFill>
                  <a:schemeClr val="lt1"/>
                </a:solidFill>
              </a:defRPr>
            </a:lvl9pPr>
          </a:lstStyle>
          <a:p>
            <a:endParaRPr/>
          </a:p>
        </p:txBody>
      </p:sp>
      <p:cxnSp>
        <p:nvCxnSpPr>
          <p:cNvPr id="24" name="Google Shape;24;p3"/>
          <p:cNvCxnSpPr/>
          <p:nvPr/>
        </p:nvCxnSpPr>
        <p:spPr>
          <a:xfrm>
            <a:off x="443130" y="4044275"/>
            <a:ext cx="891900" cy="0"/>
          </a:xfrm>
          <a:prstGeom prst="straightConnector1">
            <a:avLst/>
          </a:prstGeom>
          <a:noFill/>
          <a:ln w="9525" cap="flat" cmpd="sng">
            <a:solidFill>
              <a:schemeClr val="lt1"/>
            </a:solidFill>
            <a:prstDash val="solid"/>
            <a:round/>
            <a:headEnd type="none" w="med" len="med"/>
            <a:tailEnd type="none" w="med" len="med"/>
          </a:ln>
        </p:spPr>
      </p:cxnSp>
      <p:sp>
        <p:nvSpPr>
          <p:cNvPr id="25" name="Google Shape;25;p3"/>
          <p:cNvSpPr txBox="1">
            <a:spLocks noGrp="1"/>
          </p:cNvSpPr>
          <p:nvPr>
            <p:ph type="subTitle" idx="2"/>
          </p:nvPr>
        </p:nvSpPr>
        <p:spPr>
          <a:xfrm>
            <a:off x="366160" y="4153150"/>
            <a:ext cx="3016200" cy="335700"/>
          </a:xfrm>
          <a:prstGeom prst="rect">
            <a:avLst/>
          </a:prstGeom>
        </p:spPr>
        <p:txBody>
          <a:bodyPr spcFirstLastPara="1" wrap="square" lIns="68575" tIns="34275" rIns="68575" bIns="34275" anchor="t" anchorCtr="0">
            <a:normAutofit/>
          </a:bodyPr>
          <a:lstStyle>
            <a:lvl1pPr lvl="0" rtl="0">
              <a:spcBef>
                <a:spcPts val="800"/>
              </a:spcBef>
              <a:spcAft>
                <a:spcPts val="0"/>
              </a:spcAft>
              <a:buClr>
                <a:schemeClr val="accent4"/>
              </a:buClr>
              <a:buSzPts val="1300"/>
              <a:buFont typeface="Proxima Nova"/>
              <a:buNone/>
              <a:defRPr sz="1300" b="1">
                <a:solidFill>
                  <a:schemeClr val="accent4"/>
                </a:solidFill>
                <a:latin typeface="Proxima Nova"/>
                <a:ea typeface="Proxima Nova"/>
                <a:cs typeface="Proxima Nova"/>
                <a:sym typeface="Proxima Nova"/>
              </a:defRPr>
            </a:lvl1pPr>
            <a:lvl2pPr lvl="1" rtl="0">
              <a:spcBef>
                <a:spcPts val="400"/>
              </a:spcBef>
              <a:spcAft>
                <a:spcPts val="0"/>
              </a:spcAft>
              <a:buClr>
                <a:schemeClr val="accent4"/>
              </a:buClr>
              <a:buSzPts val="1100"/>
              <a:buNone/>
              <a:defRPr>
                <a:solidFill>
                  <a:schemeClr val="accent4"/>
                </a:solidFill>
              </a:defRPr>
            </a:lvl2pPr>
            <a:lvl3pPr lvl="2" rtl="0">
              <a:spcBef>
                <a:spcPts val="400"/>
              </a:spcBef>
              <a:spcAft>
                <a:spcPts val="0"/>
              </a:spcAft>
              <a:buClr>
                <a:schemeClr val="accent4"/>
              </a:buClr>
              <a:buSzPts val="900"/>
              <a:buNone/>
              <a:defRPr>
                <a:solidFill>
                  <a:schemeClr val="accent4"/>
                </a:solidFill>
              </a:defRPr>
            </a:lvl3pPr>
            <a:lvl4pPr lvl="3" rtl="0">
              <a:spcBef>
                <a:spcPts val="400"/>
              </a:spcBef>
              <a:spcAft>
                <a:spcPts val="0"/>
              </a:spcAft>
              <a:buClr>
                <a:schemeClr val="accent4"/>
              </a:buClr>
              <a:buSzPts val="800"/>
              <a:buNone/>
              <a:defRPr>
                <a:solidFill>
                  <a:schemeClr val="accent4"/>
                </a:solidFill>
              </a:defRPr>
            </a:lvl4pPr>
            <a:lvl5pPr lvl="4" rtl="0">
              <a:spcBef>
                <a:spcPts val="400"/>
              </a:spcBef>
              <a:spcAft>
                <a:spcPts val="0"/>
              </a:spcAft>
              <a:buClr>
                <a:schemeClr val="accent4"/>
              </a:buClr>
              <a:buSzPts val="600"/>
              <a:buNone/>
              <a:defRPr>
                <a:solidFill>
                  <a:schemeClr val="accent4"/>
                </a:solidFill>
              </a:defRPr>
            </a:lvl5pPr>
            <a:lvl6pPr lvl="5" rtl="0">
              <a:spcBef>
                <a:spcPts val="400"/>
              </a:spcBef>
              <a:spcAft>
                <a:spcPts val="0"/>
              </a:spcAft>
              <a:buClr>
                <a:schemeClr val="accent4"/>
              </a:buClr>
              <a:buSzPts val="1400"/>
              <a:buNone/>
              <a:defRPr>
                <a:solidFill>
                  <a:schemeClr val="accent4"/>
                </a:solidFill>
              </a:defRPr>
            </a:lvl6pPr>
            <a:lvl7pPr lvl="6" rtl="0">
              <a:spcBef>
                <a:spcPts val="400"/>
              </a:spcBef>
              <a:spcAft>
                <a:spcPts val="0"/>
              </a:spcAft>
              <a:buClr>
                <a:schemeClr val="accent4"/>
              </a:buClr>
              <a:buSzPts val="1400"/>
              <a:buNone/>
              <a:defRPr>
                <a:solidFill>
                  <a:schemeClr val="accent4"/>
                </a:solidFill>
              </a:defRPr>
            </a:lvl7pPr>
            <a:lvl8pPr lvl="7" rtl="0">
              <a:spcBef>
                <a:spcPts val="400"/>
              </a:spcBef>
              <a:spcAft>
                <a:spcPts val="0"/>
              </a:spcAft>
              <a:buClr>
                <a:schemeClr val="accent4"/>
              </a:buClr>
              <a:buSzPts val="1400"/>
              <a:buNone/>
              <a:defRPr>
                <a:solidFill>
                  <a:schemeClr val="accent4"/>
                </a:solidFill>
              </a:defRPr>
            </a:lvl8pPr>
            <a:lvl9pPr lvl="8" rtl="0">
              <a:spcBef>
                <a:spcPts val="400"/>
              </a:spcBef>
              <a:spcAft>
                <a:spcPts val="0"/>
              </a:spcAft>
              <a:buClr>
                <a:schemeClr val="accent4"/>
              </a:buClr>
              <a:buSzPts val="1400"/>
              <a:buNone/>
              <a:defRPr>
                <a:solidFill>
                  <a:schemeClr val="accent4"/>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Template">
  <p:cSld name="Approach">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200150" y="1103700"/>
            <a:ext cx="5649300" cy="757200"/>
          </a:xfrm>
          <a:prstGeom prst="rect">
            <a:avLst/>
          </a:prstGeom>
          <a:noFill/>
          <a:ln>
            <a:noFill/>
          </a:ln>
        </p:spPr>
        <p:txBody>
          <a:bodyPr spcFirstLastPara="1" wrap="square" lIns="0" tIns="0" rIns="0" bIns="0" anchor="t" anchorCtr="0">
            <a:normAutofit/>
          </a:bodyPr>
          <a:lstStyle>
            <a:lvl1pPr lvl="0" algn="l" rtl="0">
              <a:lnSpc>
                <a:spcPct val="90000"/>
              </a:lnSpc>
              <a:spcBef>
                <a:spcPts val="0"/>
              </a:spcBef>
              <a:spcAft>
                <a:spcPts val="0"/>
              </a:spcAft>
              <a:buClr>
                <a:schemeClr val="dk1"/>
              </a:buClr>
              <a:buSzPts val="2400"/>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pic>
        <p:nvPicPr>
          <p:cNvPr id="28" name="Google Shape;28;p4" descr="/home/claude/assets/toptal_logo_dark.png"/>
          <p:cNvPicPr preferRelativeResize="0"/>
          <p:nvPr/>
        </p:nvPicPr>
        <p:blipFill rotWithShape="1">
          <a:blip r:embed="rId2">
            <a:alphaModFix/>
          </a:blip>
          <a:srcRect/>
          <a:stretch/>
        </p:blipFill>
        <p:spPr>
          <a:xfrm>
            <a:off x="342900" y="4855464"/>
            <a:ext cx="425197" cy="1167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7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29"/>
        <p:cNvGrpSpPr/>
        <p:nvPr/>
      </p:nvGrpSpPr>
      <p:grpSpPr>
        <a:xfrm>
          <a:off x="0" y="0"/>
          <a:ext cx="0" cy="0"/>
          <a:chOff x="0" y="0"/>
          <a:chExt cx="0" cy="0"/>
        </a:xfrm>
      </p:grpSpPr>
      <p:sp>
        <p:nvSpPr>
          <p:cNvPr id="30" name="Google Shape;30;p5"/>
          <p:cNvSpPr>
            <a:spLocks noGrp="1"/>
          </p:cNvSpPr>
          <p:nvPr>
            <p:ph type="pic" idx="2"/>
          </p:nvPr>
        </p:nvSpPr>
        <p:spPr>
          <a:xfrm>
            <a:off x="284356" y="0"/>
            <a:ext cx="8859600" cy="5143500"/>
          </a:xfrm>
          <a:prstGeom prst="rect">
            <a:avLst/>
          </a:prstGeom>
          <a:solidFill>
            <a:srgbClr val="CFD9F7"/>
          </a:solidFill>
          <a:ln>
            <a:noFill/>
          </a:ln>
        </p:spPr>
      </p:sp>
      <p:sp>
        <p:nvSpPr>
          <p:cNvPr id="31" name="Google Shape;31;p5"/>
          <p:cNvSpPr txBox="1">
            <a:spLocks noGrp="1"/>
          </p:cNvSpPr>
          <p:nvPr>
            <p:ph type="ctrTitle"/>
          </p:nvPr>
        </p:nvSpPr>
        <p:spPr>
          <a:xfrm>
            <a:off x="1200150" y="2023849"/>
            <a:ext cx="4681800" cy="1095900"/>
          </a:xfrm>
          <a:prstGeom prst="rect">
            <a:avLst/>
          </a:prstGeom>
          <a:noFill/>
          <a:ln>
            <a:noFill/>
          </a:ln>
        </p:spPr>
        <p:txBody>
          <a:bodyPr spcFirstLastPara="1" wrap="square" lIns="0" tIns="0" rIns="0" bIns="0" anchor="t" anchorCtr="0">
            <a:normAutofit/>
          </a:bodyPr>
          <a:lstStyle>
            <a:lvl1pPr lvl="0" algn="l" rtl="0">
              <a:lnSpc>
                <a:spcPct val="90000"/>
              </a:lnSpc>
              <a:spcBef>
                <a:spcPts val="0"/>
              </a:spcBef>
              <a:spcAft>
                <a:spcPts val="0"/>
              </a:spcAft>
              <a:buClr>
                <a:srgbClr val="FFFFFF"/>
              </a:buClr>
              <a:buSzPts val="3300"/>
              <a:buFont typeface="Montserrat"/>
              <a:buNone/>
              <a:defRPr sz="3300" b="1">
                <a:solidFill>
                  <a:srgbClr val="FFFFFF"/>
                </a:solidFill>
                <a:latin typeface="Montserrat"/>
                <a:ea typeface="Montserrat"/>
                <a:cs typeface="Montserrat"/>
                <a:sym typeface="Montserrat"/>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11_Title Slide">
  <p:cSld name="111_Title Slide">
    <p:spTree>
      <p:nvGrpSpPr>
        <p:cNvPr id="1" name="Shape 32"/>
        <p:cNvGrpSpPr/>
        <p:nvPr/>
      </p:nvGrpSpPr>
      <p:grpSpPr>
        <a:xfrm>
          <a:off x="0" y="0"/>
          <a:ext cx="0" cy="0"/>
          <a:chOff x="0" y="0"/>
          <a:chExt cx="0" cy="0"/>
        </a:xfrm>
      </p:grpSpPr>
      <p:grpSp>
        <p:nvGrpSpPr>
          <p:cNvPr id="33" name="Google Shape;33;p6"/>
          <p:cNvGrpSpPr/>
          <p:nvPr/>
        </p:nvGrpSpPr>
        <p:grpSpPr>
          <a:xfrm>
            <a:off x="3190559" y="0"/>
            <a:ext cx="5953432" cy="5143500"/>
            <a:chOff x="4254079" y="0"/>
            <a:chExt cx="7937909" cy="6858000"/>
          </a:xfrm>
        </p:grpSpPr>
        <p:sp>
          <p:nvSpPr>
            <p:cNvPr id="34" name="Google Shape;34;p6"/>
            <p:cNvSpPr/>
            <p:nvPr/>
          </p:nvSpPr>
          <p:spPr>
            <a:xfrm>
              <a:off x="4590288" y="0"/>
              <a:ext cx="7601700" cy="6858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4800" b="1">
                <a:solidFill>
                  <a:srgbClr val="FFFFFF"/>
                </a:solidFill>
                <a:latin typeface="Montserrat"/>
                <a:ea typeface="Montserrat"/>
                <a:cs typeface="Montserrat"/>
                <a:sym typeface="Montserrat"/>
              </a:endParaRPr>
            </a:p>
          </p:txBody>
        </p:sp>
        <p:sp>
          <p:nvSpPr>
            <p:cNvPr id="35" name="Google Shape;35;p6"/>
            <p:cNvSpPr/>
            <p:nvPr/>
          </p:nvSpPr>
          <p:spPr>
            <a:xfrm>
              <a:off x="4254079" y="2574262"/>
              <a:ext cx="672300" cy="672300"/>
            </a:xfrm>
            <a:prstGeom prst="diamond">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Open Sans"/>
                <a:ea typeface="Open Sans"/>
                <a:cs typeface="Open Sans"/>
                <a:sym typeface="Open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750"/>
                                        <p:tgtEl>
                                          <p:spTgt spid="3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60_Title Slide 1">
  <p:cSld name="111_Title Slide_1">
    <p:spTree>
      <p:nvGrpSpPr>
        <p:cNvPr id="1" name="Shape 36"/>
        <p:cNvGrpSpPr/>
        <p:nvPr/>
      </p:nvGrpSpPr>
      <p:grpSpPr>
        <a:xfrm>
          <a:off x="0" y="0"/>
          <a:ext cx="0" cy="0"/>
          <a:chOff x="0" y="0"/>
          <a:chExt cx="0" cy="0"/>
        </a:xfrm>
      </p:grpSpPr>
      <p:grpSp>
        <p:nvGrpSpPr>
          <p:cNvPr id="37" name="Google Shape;37;p7"/>
          <p:cNvGrpSpPr/>
          <p:nvPr/>
        </p:nvGrpSpPr>
        <p:grpSpPr>
          <a:xfrm>
            <a:off x="4977122" y="0"/>
            <a:ext cx="4166950" cy="5143500"/>
            <a:chOff x="6636162" y="0"/>
            <a:chExt cx="5555934" cy="6858000"/>
          </a:xfrm>
        </p:grpSpPr>
        <p:sp>
          <p:nvSpPr>
            <p:cNvPr id="38" name="Google Shape;38;p7"/>
            <p:cNvSpPr/>
            <p:nvPr/>
          </p:nvSpPr>
          <p:spPr>
            <a:xfrm>
              <a:off x="6972396" y="0"/>
              <a:ext cx="5219700" cy="6858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4800" b="1">
                <a:solidFill>
                  <a:srgbClr val="FFFFFF"/>
                </a:solidFill>
                <a:latin typeface="Montserrat"/>
                <a:ea typeface="Montserrat"/>
                <a:cs typeface="Montserrat"/>
                <a:sym typeface="Montserrat"/>
              </a:endParaRPr>
            </a:p>
          </p:txBody>
        </p:sp>
        <p:sp>
          <p:nvSpPr>
            <p:cNvPr id="39" name="Google Shape;39;p7"/>
            <p:cNvSpPr/>
            <p:nvPr/>
          </p:nvSpPr>
          <p:spPr>
            <a:xfrm>
              <a:off x="6636162" y="2574262"/>
              <a:ext cx="672300" cy="672300"/>
            </a:xfrm>
            <a:prstGeom prst="diamond">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Open Sans"/>
                <a:ea typeface="Open Sans"/>
                <a:cs typeface="Open Sans"/>
                <a:sym typeface="Open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750"/>
                                        <p:tgtEl>
                                          <p:spTgt spid="3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33_Title Slide">
  <p:cSld name="133_Title Slide">
    <p:spTree>
      <p:nvGrpSpPr>
        <p:cNvPr id="1" name="Shape 40"/>
        <p:cNvGrpSpPr/>
        <p:nvPr/>
      </p:nvGrpSpPr>
      <p:grpSpPr>
        <a:xfrm>
          <a:off x="0" y="0"/>
          <a:ext cx="0" cy="0"/>
          <a:chOff x="0" y="0"/>
          <a:chExt cx="0" cy="0"/>
        </a:xfrm>
      </p:grpSpPr>
      <p:sp>
        <p:nvSpPr>
          <p:cNvPr id="41" name="Google Shape;41;p8"/>
          <p:cNvSpPr/>
          <p:nvPr/>
        </p:nvSpPr>
        <p:spPr>
          <a:xfrm>
            <a:off x="3442716" y="0"/>
            <a:ext cx="5701200" cy="51435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4800" b="1">
              <a:solidFill>
                <a:srgbClr val="FFFFFF"/>
              </a:solidFill>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Team-2">
  <p:cSld name="29_Title Slide_1_3_1_1">
    <p:spTree>
      <p:nvGrpSpPr>
        <p:cNvPr id="1" name="Shape 42"/>
        <p:cNvGrpSpPr/>
        <p:nvPr/>
      </p:nvGrpSpPr>
      <p:grpSpPr>
        <a:xfrm>
          <a:off x="0" y="0"/>
          <a:ext cx="0" cy="0"/>
          <a:chOff x="0" y="0"/>
          <a:chExt cx="0" cy="0"/>
        </a:xfrm>
      </p:grpSpPr>
      <p:sp>
        <p:nvSpPr>
          <p:cNvPr id="43" name="Google Shape;43;p9"/>
          <p:cNvSpPr txBox="1">
            <a:spLocks noGrp="1"/>
          </p:cNvSpPr>
          <p:nvPr>
            <p:ph type="ctrTitle"/>
          </p:nvPr>
        </p:nvSpPr>
        <p:spPr>
          <a:xfrm>
            <a:off x="1200150" y="1200149"/>
            <a:ext cx="24249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Font typeface="Montserrat"/>
              <a:buNone/>
              <a:defRPr sz="2400" b="1">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4" name="Google Shape;44;p9"/>
          <p:cNvSpPr>
            <a:spLocks noGrp="1"/>
          </p:cNvSpPr>
          <p:nvPr>
            <p:ph type="pic" idx="2"/>
          </p:nvPr>
        </p:nvSpPr>
        <p:spPr>
          <a:xfrm>
            <a:off x="4461374" y="1200150"/>
            <a:ext cx="1816500" cy="1816500"/>
          </a:xfrm>
          <a:prstGeom prst="rect">
            <a:avLst/>
          </a:prstGeom>
          <a:noFill/>
          <a:ln>
            <a:noFill/>
          </a:ln>
        </p:spPr>
      </p:sp>
      <p:sp>
        <p:nvSpPr>
          <p:cNvPr id="45" name="Google Shape;45;p9"/>
          <p:cNvSpPr>
            <a:spLocks noGrp="1"/>
          </p:cNvSpPr>
          <p:nvPr>
            <p:ph type="pic" idx="3"/>
          </p:nvPr>
        </p:nvSpPr>
        <p:spPr>
          <a:xfrm>
            <a:off x="6503606" y="1200150"/>
            <a:ext cx="1816500" cy="18165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Team-3">
  <p:cSld name="29_Title Slide_1_3_1_2">
    <p:spTree>
      <p:nvGrpSpPr>
        <p:cNvPr id="1" name="Shape 46"/>
        <p:cNvGrpSpPr/>
        <p:nvPr/>
      </p:nvGrpSpPr>
      <p:grpSpPr>
        <a:xfrm>
          <a:off x="0" y="0"/>
          <a:ext cx="0" cy="0"/>
          <a:chOff x="0" y="0"/>
          <a:chExt cx="0" cy="0"/>
        </a:xfrm>
      </p:grpSpPr>
      <p:sp>
        <p:nvSpPr>
          <p:cNvPr id="47" name="Google Shape;47;p10"/>
          <p:cNvSpPr txBox="1">
            <a:spLocks noGrp="1"/>
          </p:cNvSpPr>
          <p:nvPr>
            <p:ph type="ctrTitle"/>
          </p:nvPr>
        </p:nvSpPr>
        <p:spPr>
          <a:xfrm>
            <a:off x="1200150" y="1200149"/>
            <a:ext cx="24249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Font typeface="Montserrat"/>
              <a:buNone/>
              <a:defRPr sz="2400" b="1">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8" name="Google Shape;48;p10"/>
          <p:cNvSpPr>
            <a:spLocks noGrp="1"/>
          </p:cNvSpPr>
          <p:nvPr>
            <p:ph type="pic" idx="2"/>
          </p:nvPr>
        </p:nvSpPr>
        <p:spPr>
          <a:xfrm>
            <a:off x="4009850" y="1200150"/>
            <a:ext cx="1418100" cy="1418100"/>
          </a:xfrm>
          <a:prstGeom prst="rect">
            <a:avLst/>
          </a:prstGeom>
          <a:noFill/>
          <a:ln>
            <a:noFill/>
          </a:ln>
        </p:spPr>
      </p:sp>
      <p:sp>
        <p:nvSpPr>
          <p:cNvPr id="49" name="Google Shape;49;p10"/>
          <p:cNvSpPr>
            <a:spLocks noGrp="1"/>
          </p:cNvSpPr>
          <p:nvPr>
            <p:ph type="pic" idx="3"/>
          </p:nvPr>
        </p:nvSpPr>
        <p:spPr>
          <a:xfrm>
            <a:off x="5604202" y="1200150"/>
            <a:ext cx="1418100" cy="1418100"/>
          </a:xfrm>
          <a:prstGeom prst="rect">
            <a:avLst/>
          </a:prstGeom>
          <a:noFill/>
          <a:ln>
            <a:noFill/>
          </a:ln>
        </p:spPr>
      </p:sp>
      <p:sp>
        <p:nvSpPr>
          <p:cNvPr id="50" name="Google Shape;50;p10"/>
          <p:cNvSpPr>
            <a:spLocks noGrp="1"/>
          </p:cNvSpPr>
          <p:nvPr>
            <p:ph type="pic" idx="4"/>
          </p:nvPr>
        </p:nvSpPr>
        <p:spPr>
          <a:xfrm>
            <a:off x="7198553" y="1200150"/>
            <a:ext cx="1418100" cy="14181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Team-4">
  <p:cSld name="29_Title Slide_1_4">
    <p:spTree>
      <p:nvGrpSpPr>
        <p:cNvPr id="1" name="Shape 51"/>
        <p:cNvGrpSpPr/>
        <p:nvPr/>
      </p:nvGrpSpPr>
      <p:grpSpPr>
        <a:xfrm>
          <a:off x="0" y="0"/>
          <a:ext cx="0" cy="0"/>
          <a:chOff x="0" y="0"/>
          <a:chExt cx="0" cy="0"/>
        </a:xfrm>
      </p:grpSpPr>
      <p:sp>
        <p:nvSpPr>
          <p:cNvPr id="52" name="Google Shape;52;p11"/>
          <p:cNvSpPr txBox="1">
            <a:spLocks noGrp="1"/>
          </p:cNvSpPr>
          <p:nvPr>
            <p:ph type="ctrTitle"/>
          </p:nvPr>
        </p:nvSpPr>
        <p:spPr>
          <a:xfrm>
            <a:off x="1200150" y="1200149"/>
            <a:ext cx="24249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Font typeface="Montserrat"/>
              <a:buNone/>
              <a:defRPr sz="2400" b="1">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3" name="Google Shape;53;p11"/>
          <p:cNvSpPr>
            <a:spLocks noGrp="1"/>
          </p:cNvSpPr>
          <p:nvPr>
            <p:ph type="pic" idx="2"/>
          </p:nvPr>
        </p:nvSpPr>
        <p:spPr>
          <a:xfrm>
            <a:off x="4857225" y="698300"/>
            <a:ext cx="1377000" cy="1377000"/>
          </a:xfrm>
          <a:prstGeom prst="rect">
            <a:avLst/>
          </a:prstGeom>
          <a:noFill/>
          <a:ln>
            <a:noFill/>
          </a:ln>
        </p:spPr>
      </p:sp>
      <p:sp>
        <p:nvSpPr>
          <p:cNvPr id="54" name="Google Shape;54;p11"/>
          <p:cNvSpPr>
            <a:spLocks noGrp="1"/>
          </p:cNvSpPr>
          <p:nvPr>
            <p:ph type="pic" idx="3"/>
          </p:nvPr>
        </p:nvSpPr>
        <p:spPr>
          <a:xfrm>
            <a:off x="6571189" y="698300"/>
            <a:ext cx="1377000" cy="1377000"/>
          </a:xfrm>
          <a:prstGeom prst="rect">
            <a:avLst/>
          </a:prstGeom>
          <a:noFill/>
          <a:ln>
            <a:noFill/>
          </a:ln>
        </p:spPr>
      </p:sp>
      <p:sp>
        <p:nvSpPr>
          <p:cNvPr id="55" name="Google Shape;55;p11"/>
          <p:cNvSpPr>
            <a:spLocks noGrp="1"/>
          </p:cNvSpPr>
          <p:nvPr>
            <p:ph type="pic" idx="4"/>
          </p:nvPr>
        </p:nvSpPr>
        <p:spPr>
          <a:xfrm>
            <a:off x="4857225" y="2819943"/>
            <a:ext cx="1377000" cy="1377000"/>
          </a:xfrm>
          <a:prstGeom prst="rect">
            <a:avLst/>
          </a:prstGeom>
          <a:noFill/>
          <a:ln>
            <a:noFill/>
          </a:ln>
        </p:spPr>
      </p:sp>
      <p:sp>
        <p:nvSpPr>
          <p:cNvPr id="56" name="Google Shape;56;p11"/>
          <p:cNvSpPr>
            <a:spLocks noGrp="1"/>
          </p:cNvSpPr>
          <p:nvPr>
            <p:ph type="pic" idx="5"/>
          </p:nvPr>
        </p:nvSpPr>
        <p:spPr>
          <a:xfrm>
            <a:off x="6571189" y="2819943"/>
            <a:ext cx="1377000" cy="1377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Team-5">
  <p:cSld name="29_Title Slide_1_3">
    <p:spTree>
      <p:nvGrpSpPr>
        <p:cNvPr id="1" name="Shape 57"/>
        <p:cNvGrpSpPr/>
        <p:nvPr/>
      </p:nvGrpSpPr>
      <p:grpSpPr>
        <a:xfrm>
          <a:off x="0" y="0"/>
          <a:ext cx="0" cy="0"/>
          <a:chOff x="0" y="0"/>
          <a:chExt cx="0" cy="0"/>
        </a:xfrm>
      </p:grpSpPr>
      <p:sp>
        <p:nvSpPr>
          <p:cNvPr id="58" name="Google Shape;58;p12"/>
          <p:cNvSpPr txBox="1">
            <a:spLocks noGrp="1"/>
          </p:cNvSpPr>
          <p:nvPr>
            <p:ph type="ctrTitle"/>
          </p:nvPr>
        </p:nvSpPr>
        <p:spPr>
          <a:xfrm>
            <a:off x="1200150" y="1200149"/>
            <a:ext cx="24249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Font typeface="Montserrat"/>
              <a:buNone/>
              <a:defRPr sz="2400" b="1">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9" name="Google Shape;59;p12"/>
          <p:cNvSpPr>
            <a:spLocks noGrp="1"/>
          </p:cNvSpPr>
          <p:nvPr>
            <p:ph type="pic" idx="2"/>
          </p:nvPr>
        </p:nvSpPr>
        <p:spPr>
          <a:xfrm>
            <a:off x="4213225" y="698300"/>
            <a:ext cx="1266600" cy="1266600"/>
          </a:xfrm>
          <a:prstGeom prst="rect">
            <a:avLst/>
          </a:prstGeom>
          <a:noFill/>
          <a:ln>
            <a:noFill/>
          </a:ln>
        </p:spPr>
      </p:sp>
      <p:sp>
        <p:nvSpPr>
          <p:cNvPr id="60" name="Google Shape;60;p12"/>
          <p:cNvSpPr>
            <a:spLocks noGrp="1"/>
          </p:cNvSpPr>
          <p:nvPr>
            <p:ph type="pic" idx="3"/>
          </p:nvPr>
        </p:nvSpPr>
        <p:spPr>
          <a:xfrm>
            <a:off x="5637150" y="698300"/>
            <a:ext cx="1266600" cy="1266600"/>
          </a:xfrm>
          <a:prstGeom prst="rect">
            <a:avLst/>
          </a:prstGeom>
          <a:noFill/>
          <a:ln>
            <a:noFill/>
          </a:ln>
        </p:spPr>
      </p:sp>
      <p:sp>
        <p:nvSpPr>
          <p:cNvPr id="61" name="Google Shape;61;p12"/>
          <p:cNvSpPr>
            <a:spLocks noGrp="1"/>
          </p:cNvSpPr>
          <p:nvPr>
            <p:ph type="pic" idx="4"/>
          </p:nvPr>
        </p:nvSpPr>
        <p:spPr>
          <a:xfrm>
            <a:off x="7061075" y="698300"/>
            <a:ext cx="1266600" cy="1266600"/>
          </a:xfrm>
          <a:prstGeom prst="rect">
            <a:avLst/>
          </a:prstGeom>
          <a:noFill/>
          <a:ln>
            <a:noFill/>
          </a:ln>
        </p:spPr>
      </p:sp>
      <p:sp>
        <p:nvSpPr>
          <p:cNvPr id="62" name="Google Shape;62;p12"/>
          <p:cNvSpPr>
            <a:spLocks noGrp="1"/>
          </p:cNvSpPr>
          <p:nvPr>
            <p:ph type="pic" idx="5"/>
          </p:nvPr>
        </p:nvSpPr>
        <p:spPr>
          <a:xfrm>
            <a:off x="4925188" y="2649725"/>
            <a:ext cx="1266600" cy="1266600"/>
          </a:xfrm>
          <a:prstGeom prst="rect">
            <a:avLst/>
          </a:prstGeom>
          <a:noFill/>
          <a:ln>
            <a:noFill/>
          </a:ln>
        </p:spPr>
      </p:sp>
      <p:sp>
        <p:nvSpPr>
          <p:cNvPr id="63" name="Google Shape;63;p12"/>
          <p:cNvSpPr>
            <a:spLocks noGrp="1"/>
          </p:cNvSpPr>
          <p:nvPr>
            <p:ph type="pic" idx="6"/>
          </p:nvPr>
        </p:nvSpPr>
        <p:spPr>
          <a:xfrm>
            <a:off x="6349113" y="2649725"/>
            <a:ext cx="1266600" cy="12666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Team-6 ">
  <p:cSld name="29_Title Slide_1_5">
    <p:spTree>
      <p:nvGrpSpPr>
        <p:cNvPr id="1" name="Shape 64"/>
        <p:cNvGrpSpPr/>
        <p:nvPr/>
      </p:nvGrpSpPr>
      <p:grpSpPr>
        <a:xfrm>
          <a:off x="0" y="0"/>
          <a:ext cx="0" cy="0"/>
          <a:chOff x="0" y="0"/>
          <a:chExt cx="0" cy="0"/>
        </a:xfrm>
      </p:grpSpPr>
      <p:sp>
        <p:nvSpPr>
          <p:cNvPr id="65" name="Google Shape;65;p13"/>
          <p:cNvSpPr txBox="1">
            <a:spLocks noGrp="1"/>
          </p:cNvSpPr>
          <p:nvPr>
            <p:ph type="ctrTitle"/>
          </p:nvPr>
        </p:nvSpPr>
        <p:spPr>
          <a:xfrm>
            <a:off x="1200150" y="1200149"/>
            <a:ext cx="24249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Font typeface="Montserrat"/>
              <a:buNone/>
              <a:defRPr sz="2400" b="1">
                <a:latin typeface="Montserrat"/>
                <a:ea typeface="Montserrat"/>
                <a:cs typeface="Montserrat"/>
                <a:sym typeface="Montserra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3"/>
          <p:cNvSpPr>
            <a:spLocks noGrp="1"/>
          </p:cNvSpPr>
          <p:nvPr>
            <p:ph type="pic" idx="2"/>
          </p:nvPr>
        </p:nvSpPr>
        <p:spPr>
          <a:xfrm>
            <a:off x="4213225" y="698300"/>
            <a:ext cx="1266600" cy="1266600"/>
          </a:xfrm>
          <a:prstGeom prst="rect">
            <a:avLst/>
          </a:prstGeom>
          <a:noFill/>
          <a:ln>
            <a:noFill/>
          </a:ln>
        </p:spPr>
      </p:sp>
      <p:sp>
        <p:nvSpPr>
          <p:cNvPr id="67" name="Google Shape;67;p13"/>
          <p:cNvSpPr>
            <a:spLocks noGrp="1"/>
          </p:cNvSpPr>
          <p:nvPr>
            <p:ph type="pic" idx="3"/>
          </p:nvPr>
        </p:nvSpPr>
        <p:spPr>
          <a:xfrm>
            <a:off x="5637150" y="698300"/>
            <a:ext cx="1266600" cy="1266600"/>
          </a:xfrm>
          <a:prstGeom prst="rect">
            <a:avLst/>
          </a:prstGeom>
          <a:noFill/>
          <a:ln>
            <a:noFill/>
          </a:ln>
        </p:spPr>
      </p:sp>
      <p:sp>
        <p:nvSpPr>
          <p:cNvPr id="68" name="Google Shape;68;p13"/>
          <p:cNvSpPr>
            <a:spLocks noGrp="1"/>
          </p:cNvSpPr>
          <p:nvPr>
            <p:ph type="pic" idx="4"/>
          </p:nvPr>
        </p:nvSpPr>
        <p:spPr>
          <a:xfrm>
            <a:off x="7061075" y="698300"/>
            <a:ext cx="1266600" cy="1266600"/>
          </a:xfrm>
          <a:prstGeom prst="rect">
            <a:avLst/>
          </a:prstGeom>
          <a:noFill/>
          <a:ln>
            <a:noFill/>
          </a:ln>
        </p:spPr>
      </p:sp>
      <p:sp>
        <p:nvSpPr>
          <p:cNvPr id="69" name="Google Shape;69;p13"/>
          <p:cNvSpPr>
            <a:spLocks noGrp="1"/>
          </p:cNvSpPr>
          <p:nvPr>
            <p:ph type="pic" idx="5"/>
          </p:nvPr>
        </p:nvSpPr>
        <p:spPr>
          <a:xfrm>
            <a:off x="4213225" y="2649725"/>
            <a:ext cx="1266600" cy="1266600"/>
          </a:xfrm>
          <a:prstGeom prst="rect">
            <a:avLst/>
          </a:prstGeom>
          <a:noFill/>
          <a:ln>
            <a:noFill/>
          </a:ln>
        </p:spPr>
      </p:sp>
      <p:sp>
        <p:nvSpPr>
          <p:cNvPr id="70" name="Google Shape;70;p13"/>
          <p:cNvSpPr>
            <a:spLocks noGrp="1"/>
          </p:cNvSpPr>
          <p:nvPr>
            <p:ph type="pic" idx="6"/>
          </p:nvPr>
        </p:nvSpPr>
        <p:spPr>
          <a:xfrm>
            <a:off x="5637150" y="2649725"/>
            <a:ext cx="1266600" cy="1266600"/>
          </a:xfrm>
          <a:prstGeom prst="rect">
            <a:avLst/>
          </a:prstGeom>
          <a:noFill/>
          <a:ln>
            <a:noFill/>
          </a:ln>
        </p:spPr>
      </p:sp>
      <p:sp>
        <p:nvSpPr>
          <p:cNvPr id="71" name="Google Shape;71;p13"/>
          <p:cNvSpPr>
            <a:spLocks noGrp="1"/>
          </p:cNvSpPr>
          <p:nvPr>
            <p:ph type="pic" idx="7"/>
          </p:nvPr>
        </p:nvSpPr>
        <p:spPr>
          <a:xfrm>
            <a:off x="7061075" y="2649725"/>
            <a:ext cx="1266600" cy="12666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Template 1">
  <p:cSld name="148_Title Slide">
    <p:spTree>
      <p:nvGrpSpPr>
        <p:cNvPr id="1" name="Shape 72"/>
        <p:cNvGrpSpPr/>
        <p:nvPr/>
      </p:nvGrpSpPr>
      <p:grpSpPr>
        <a:xfrm>
          <a:off x="0" y="0"/>
          <a:ext cx="0" cy="0"/>
          <a:chOff x="0" y="0"/>
          <a:chExt cx="0" cy="0"/>
        </a:xfrm>
      </p:grpSpPr>
      <p:sp>
        <p:nvSpPr>
          <p:cNvPr id="73" name="Google Shape;73;p14"/>
          <p:cNvSpPr txBox="1">
            <a:spLocks noGrp="1"/>
          </p:cNvSpPr>
          <p:nvPr>
            <p:ph type="ctrTitle"/>
          </p:nvPr>
        </p:nvSpPr>
        <p:spPr>
          <a:xfrm>
            <a:off x="1200150" y="1116824"/>
            <a:ext cx="71613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None/>
              <a:defRPr sz="2400"/>
            </a:lvl1pPr>
            <a:lvl2pPr lvl="1">
              <a:spcBef>
                <a:spcPts val="0"/>
              </a:spcBef>
              <a:spcAft>
                <a:spcPts val="0"/>
              </a:spcAft>
              <a:buSzPts val="1100"/>
              <a:buFont typeface="Proxima Nova"/>
              <a:buNone/>
              <a:defRPr>
                <a:latin typeface="Proxima Nova"/>
                <a:ea typeface="Proxima Nova"/>
                <a:cs typeface="Proxima Nova"/>
                <a:sym typeface="Proxima Nova"/>
              </a:defRPr>
            </a:lvl2pPr>
            <a:lvl3pPr lvl="2">
              <a:spcBef>
                <a:spcPts val="0"/>
              </a:spcBef>
              <a:spcAft>
                <a:spcPts val="0"/>
              </a:spcAft>
              <a:buSzPts val="1100"/>
              <a:buFont typeface="Proxima Nova"/>
              <a:buNone/>
              <a:defRPr>
                <a:latin typeface="Proxima Nova"/>
                <a:ea typeface="Proxima Nova"/>
                <a:cs typeface="Proxima Nova"/>
                <a:sym typeface="Proxima Nova"/>
              </a:defRPr>
            </a:lvl3pPr>
            <a:lvl4pPr lvl="3">
              <a:spcBef>
                <a:spcPts val="0"/>
              </a:spcBef>
              <a:spcAft>
                <a:spcPts val="0"/>
              </a:spcAft>
              <a:buSzPts val="1100"/>
              <a:buFont typeface="Proxima Nova"/>
              <a:buNone/>
              <a:defRPr>
                <a:latin typeface="Proxima Nova"/>
                <a:ea typeface="Proxima Nova"/>
                <a:cs typeface="Proxima Nova"/>
                <a:sym typeface="Proxima Nova"/>
              </a:defRPr>
            </a:lvl4pPr>
            <a:lvl5pPr lvl="4">
              <a:spcBef>
                <a:spcPts val="0"/>
              </a:spcBef>
              <a:spcAft>
                <a:spcPts val="0"/>
              </a:spcAft>
              <a:buSzPts val="1100"/>
              <a:buFont typeface="Proxima Nova"/>
              <a:buNone/>
              <a:defRPr>
                <a:latin typeface="Proxima Nova"/>
                <a:ea typeface="Proxima Nova"/>
                <a:cs typeface="Proxima Nova"/>
                <a:sym typeface="Proxima Nova"/>
              </a:defRPr>
            </a:lvl5pPr>
            <a:lvl6pPr lvl="5">
              <a:spcBef>
                <a:spcPts val="0"/>
              </a:spcBef>
              <a:spcAft>
                <a:spcPts val="0"/>
              </a:spcAft>
              <a:buSzPts val="1100"/>
              <a:buFont typeface="Proxima Nova"/>
              <a:buNone/>
              <a:defRPr>
                <a:latin typeface="Proxima Nova"/>
                <a:ea typeface="Proxima Nova"/>
                <a:cs typeface="Proxima Nova"/>
                <a:sym typeface="Proxima Nova"/>
              </a:defRPr>
            </a:lvl6pPr>
            <a:lvl7pPr lvl="6">
              <a:spcBef>
                <a:spcPts val="0"/>
              </a:spcBef>
              <a:spcAft>
                <a:spcPts val="0"/>
              </a:spcAft>
              <a:buSzPts val="1100"/>
              <a:buFont typeface="Proxima Nova"/>
              <a:buNone/>
              <a:defRPr>
                <a:latin typeface="Proxima Nova"/>
                <a:ea typeface="Proxima Nova"/>
                <a:cs typeface="Proxima Nova"/>
                <a:sym typeface="Proxima Nova"/>
              </a:defRPr>
            </a:lvl7pPr>
            <a:lvl8pPr lvl="7">
              <a:spcBef>
                <a:spcPts val="0"/>
              </a:spcBef>
              <a:spcAft>
                <a:spcPts val="0"/>
              </a:spcAft>
              <a:buSzPts val="1100"/>
              <a:buFont typeface="Proxima Nova"/>
              <a:buNone/>
              <a:defRPr>
                <a:latin typeface="Proxima Nova"/>
                <a:ea typeface="Proxima Nova"/>
                <a:cs typeface="Proxima Nova"/>
                <a:sym typeface="Proxima Nova"/>
              </a:defRPr>
            </a:lvl8pPr>
            <a:lvl9pPr lvl="8">
              <a:spcBef>
                <a:spcPts val="0"/>
              </a:spcBef>
              <a:spcAft>
                <a:spcPts val="0"/>
              </a:spcAft>
              <a:buSzPts val="1100"/>
              <a:buFont typeface="Proxima Nova"/>
              <a:buNone/>
              <a:defRPr>
                <a:latin typeface="Proxima Nova"/>
                <a:ea typeface="Proxima Nova"/>
                <a:cs typeface="Proxima Nova"/>
                <a:sym typeface="Proxima Nova"/>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7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Team-4 1">
  <p:cSld name="29_Title Slide_1_4_1">
    <p:spTree>
      <p:nvGrpSpPr>
        <p:cNvPr id="1" name="Shape 74"/>
        <p:cNvGrpSpPr/>
        <p:nvPr/>
      </p:nvGrpSpPr>
      <p:grpSpPr>
        <a:xfrm>
          <a:off x="0" y="0"/>
          <a:ext cx="0" cy="0"/>
          <a:chOff x="0" y="0"/>
          <a:chExt cx="0" cy="0"/>
        </a:xfrm>
      </p:grpSpPr>
      <p:sp>
        <p:nvSpPr>
          <p:cNvPr id="75" name="Google Shape;75;p15"/>
          <p:cNvSpPr txBox="1">
            <a:spLocks noGrp="1"/>
          </p:cNvSpPr>
          <p:nvPr>
            <p:ph type="ctrTitle"/>
          </p:nvPr>
        </p:nvSpPr>
        <p:spPr>
          <a:xfrm>
            <a:off x="1200150" y="1200149"/>
            <a:ext cx="2424900" cy="7572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1"/>
              </a:buClr>
              <a:buSzPts val="2400"/>
              <a:buFont typeface="Montserrat"/>
              <a:buNone/>
              <a:defRPr sz="2400" b="1">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5"/>
          <p:cNvSpPr>
            <a:spLocks noGrp="1"/>
          </p:cNvSpPr>
          <p:nvPr>
            <p:ph type="pic" idx="2"/>
          </p:nvPr>
        </p:nvSpPr>
        <p:spPr>
          <a:xfrm>
            <a:off x="4857225" y="698300"/>
            <a:ext cx="1377000" cy="1377000"/>
          </a:xfrm>
          <a:prstGeom prst="rect">
            <a:avLst/>
          </a:prstGeom>
          <a:noFill/>
          <a:ln>
            <a:noFill/>
          </a:ln>
        </p:spPr>
      </p:sp>
      <p:sp>
        <p:nvSpPr>
          <p:cNvPr id="77" name="Google Shape;77;p15"/>
          <p:cNvSpPr>
            <a:spLocks noGrp="1"/>
          </p:cNvSpPr>
          <p:nvPr>
            <p:ph type="pic" idx="3"/>
          </p:nvPr>
        </p:nvSpPr>
        <p:spPr>
          <a:xfrm>
            <a:off x="6571189" y="698300"/>
            <a:ext cx="1377000" cy="1377000"/>
          </a:xfrm>
          <a:prstGeom prst="rect">
            <a:avLst/>
          </a:prstGeom>
          <a:noFill/>
          <a:ln>
            <a:noFill/>
          </a:ln>
        </p:spPr>
      </p:sp>
      <p:sp>
        <p:nvSpPr>
          <p:cNvPr id="78" name="Google Shape;78;p15"/>
          <p:cNvSpPr>
            <a:spLocks noGrp="1"/>
          </p:cNvSpPr>
          <p:nvPr>
            <p:ph type="pic" idx="4"/>
          </p:nvPr>
        </p:nvSpPr>
        <p:spPr>
          <a:xfrm>
            <a:off x="4857225" y="2819943"/>
            <a:ext cx="1377000" cy="1377000"/>
          </a:xfrm>
          <a:prstGeom prst="rect">
            <a:avLst/>
          </a:prstGeom>
          <a:noFill/>
          <a:ln>
            <a:noFill/>
          </a:ln>
        </p:spPr>
      </p:sp>
      <p:sp>
        <p:nvSpPr>
          <p:cNvPr id="79" name="Google Shape;79;p15"/>
          <p:cNvSpPr>
            <a:spLocks noGrp="1"/>
          </p:cNvSpPr>
          <p:nvPr>
            <p:ph type="pic" idx="5"/>
          </p:nvPr>
        </p:nvSpPr>
        <p:spPr>
          <a:xfrm>
            <a:off x="6571189" y="2819943"/>
            <a:ext cx="1377000" cy="1377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33_Title Slide 1">
  <p:cSld name="133_Title Slide_1">
    <p:spTree>
      <p:nvGrpSpPr>
        <p:cNvPr id="1" name="Shape 81"/>
        <p:cNvGrpSpPr/>
        <p:nvPr/>
      </p:nvGrpSpPr>
      <p:grpSpPr>
        <a:xfrm>
          <a:off x="0" y="0"/>
          <a:ext cx="0" cy="0"/>
          <a:chOff x="0" y="0"/>
          <a:chExt cx="0" cy="0"/>
        </a:xfrm>
      </p:grpSpPr>
      <p:sp>
        <p:nvSpPr>
          <p:cNvPr id="82" name="Google Shape;82;p17"/>
          <p:cNvSpPr/>
          <p:nvPr/>
        </p:nvSpPr>
        <p:spPr>
          <a:xfrm>
            <a:off x="6167767" y="0"/>
            <a:ext cx="2976000" cy="51435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4800" b="1">
              <a:solidFill>
                <a:srgbClr val="FFFFFF"/>
              </a:solidFill>
              <a:latin typeface="Montserrat"/>
              <a:ea typeface="Montserrat"/>
              <a:cs typeface="Montserrat"/>
              <a:sym typeface="Montserra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H – End Slide – Blue">
  <p:cSld name="CUSTOM_1_2_1_2">
    <p:bg>
      <p:bgPr>
        <a:solidFill>
          <a:srgbClr val="183A9E"/>
        </a:solidFill>
        <a:effectLst/>
      </p:bgPr>
    </p:bg>
    <p:spTree>
      <p:nvGrpSpPr>
        <p:cNvPr id="1" name="Shape 83"/>
        <p:cNvGrpSpPr/>
        <p:nvPr/>
      </p:nvGrpSpPr>
      <p:grpSpPr>
        <a:xfrm>
          <a:off x="0" y="0"/>
          <a:ext cx="0" cy="0"/>
          <a:chOff x="0" y="0"/>
          <a:chExt cx="0" cy="0"/>
        </a:xfrm>
      </p:grpSpPr>
      <p:sp>
        <p:nvSpPr>
          <p:cNvPr id="84" name="Google Shape;84;p18"/>
          <p:cNvSpPr/>
          <p:nvPr/>
        </p:nvSpPr>
        <p:spPr>
          <a:xfrm>
            <a:off x="0" y="0"/>
            <a:ext cx="9144000" cy="5143500"/>
          </a:xfrm>
          <a:prstGeom prst="rect">
            <a:avLst/>
          </a:prstGeom>
          <a:solidFill>
            <a:srgbClr val="204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 name="Google Shape;85;p18"/>
          <p:cNvPicPr preferRelativeResize="0"/>
          <p:nvPr/>
        </p:nvPicPr>
        <p:blipFill>
          <a:blip r:embed="rId2">
            <a:alphaModFix/>
          </a:blip>
          <a:stretch>
            <a:fillRect/>
          </a:stretch>
        </p:blipFill>
        <p:spPr>
          <a:xfrm>
            <a:off x="3227875" y="2200201"/>
            <a:ext cx="2688249" cy="7431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H – End Slide – Dark Blue">
  <p:cSld name="CUSTOM_1_2_1_3">
    <p:bg>
      <p:bgPr>
        <a:solidFill>
          <a:srgbClr val="183A9E"/>
        </a:solidFill>
        <a:effectLst/>
      </p:bgPr>
    </p:bg>
    <p:spTree>
      <p:nvGrpSpPr>
        <p:cNvPr id="1" name="Shape 86"/>
        <p:cNvGrpSpPr/>
        <p:nvPr/>
      </p:nvGrpSpPr>
      <p:grpSpPr>
        <a:xfrm>
          <a:off x="0" y="0"/>
          <a:ext cx="0" cy="0"/>
          <a:chOff x="0" y="0"/>
          <a:chExt cx="0" cy="0"/>
        </a:xfrm>
      </p:grpSpPr>
      <p:sp>
        <p:nvSpPr>
          <p:cNvPr id="87" name="Google Shape;87;p19"/>
          <p:cNvSpPr/>
          <p:nvPr/>
        </p:nvSpPr>
        <p:spPr>
          <a:xfrm>
            <a:off x="0" y="0"/>
            <a:ext cx="9144000" cy="5143500"/>
          </a:xfrm>
          <a:prstGeom prst="rect">
            <a:avLst/>
          </a:prstGeom>
          <a:solidFill>
            <a:srgbClr val="0F25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 name="Google Shape;88;p19"/>
          <p:cNvPicPr preferRelativeResize="0"/>
          <p:nvPr/>
        </p:nvPicPr>
        <p:blipFill>
          <a:blip r:embed="rId2">
            <a:alphaModFix/>
          </a:blip>
          <a:stretch>
            <a:fillRect/>
          </a:stretch>
        </p:blipFill>
        <p:spPr>
          <a:xfrm>
            <a:off x="3227875" y="2200201"/>
            <a:ext cx="2688249" cy="7431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0" y="0"/>
            <a:ext cx="217200" cy="5143500"/>
          </a:xfrm>
          <a:prstGeom prst="rect">
            <a:avLst/>
          </a:prstGeom>
          <a:solidFill>
            <a:srgbClr val="204EC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Open Sans"/>
              <a:ea typeface="Open Sans"/>
              <a:cs typeface="Open Sans"/>
              <a:sym typeface="Open Sans"/>
            </a:endParaRPr>
          </a:p>
        </p:txBody>
      </p:sp>
      <p:sp>
        <p:nvSpPr>
          <p:cNvPr id="7" name="Google Shape;7;p1"/>
          <p:cNvSpPr txBox="1">
            <a:spLocks noGrp="1"/>
          </p:cNvSpPr>
          <p:nvPr>
            <p:ph type="title"/>
          </p:nvPr>
        </p:nvSpPr>
        <p:spPr>
          <a:xfrm>
            <a:off x="1200149" y="273844"/>
            <a:ext cx="73152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2100"/>
              <a:buFont typeface="Proxima Nova"/>
              <a:buNone/>
              <a:defRPr sz="2100" b="1" i="0" u="none" strike="noStrike" cap="none">
                <a:solidFill>
                  <a:schemeClr val="dk1"/>
                </a:solidFill>
                <a:latin typeface="Proxima Nova"/>
                <a:ea typeface="Proxima Nova"/>
                <a:cs typeface="Proxima Nova"/>
                <a:sym typeface="Proxima Nova"/>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8" name="Google Shape;8;p1"/>
          <p:cNvSpPr txBox="1">
            <a:spLocks noGrp="1"/>
          </p:cNvSpPr>
          <p:nvPr>
            <p:ph type="body" idx="1"/>
          </p:nvPr>
        </p:nvSpPr>
        <p:spPr>
          <a:xfrm>
            <a:off x="1200150" y="1369219"/>
            <a:ext cx="7315200" cy="3263400"/>
          </a:xfrm>
          <a:prstGeom prst="rect">
            <a:avLst/>
          </a:prstGeom>
          <a:noFill/>
          <a:ln>
            <a:noFill/>
          </a:ln>
        </p:spPr>
        <p:txBody>
          <a:bodyPr spcFirstLastPara="1" wrap="square" lIns="68575" tIns="34275" rIns="68575" bIns="34275" anchor="t" anchorCtr="0">
            <a:normAutofit/>
          </a:bodyPr>
          <a:lstStyle>
            <a:lvl1pPr marL="457200" marR="0" lvl="0" indent="-317500" algn="l" rtl="0">
              <a:lnSpc>
                <a:spcPct val="90000"/>
              </a:lnSpc>
              <a:spcBef>
                <a:spcPts val="800"/>
              </a:spcBef>
              <a:spcAft>
                <a:spcPts val="0"/>
              </a:spcAft>
              <a:buClr>
                <a:schemeClr val="dk2"/>
              </a:buClr>
              <a:buSzPts val="1400"/>
              <a:buFont typeface="Arial"/>
              <a:buChar char="•"/>
              <a:defRPr sz="1400" b="0" i="0" u="none" strike="noStrike" cap="none">
                <a:solidFill>
                  <a:schemeClr val="dk2"/>
                </a:solidFill>
                <a:latin typeface="Proxima Nova"/>
                <a:ea typeface="Proxima Nova"/>
                <a:cs typeface="Proxima Nova"/>
                <a:sym typeface="Proxima Nova"/>
              </a:defRPr>
            </a:lvl1pPr>
            <a:lvl2pPr marL="914400" marR="0" lvl="1" indent="-298450" algn="l" rtl="0">
              <a:lnSpc>
                <a:spcPct val="90000"/>
              </a:lnSpc>
              <a:spcBef>
                <a:spcPts val="400"/>
              </a:spcBef>
              <a:spcAft>
                <a:spcPts val="0"/>
              </a:spcAft>
              <a:buClr>
                <a:schemeClr val="dk2"/>
              </a:buClr>
              <a:buSzPts val="1100"/>
              <a:buFont typeface="Arial"/>
              <a:buChar char="•"/>
              <a:defRPr sz="1100" b="0" i="0" u="none" strike="noStrike" cap="none">
                <a:solidFill>
                  <a:schemeClr val="dk2"/>
                </a:solidFill>
                <a:latin typeface="Proxima Nova"/>
                <a:ea typeface="Proxima Nova"/>
                <a:cs typeface="Proxima Nova"/>
                <a:sym typeface="Proxima Nova"/>
              </a:defRPr>
            </a:lvl2pPr>
            <a:lvl3pPr marL="1371600" marR="0" lvl="2" indent="-285750" algn="l" rtl="0">
              <a:lnSpc>
                <a:spcPct val="90000"/>
              </a:lnSpc>
              <a:spcBef>
                <a:spcPts val="400"/>
              </a:spcBef>
              <a:spcAft>
                <a:spcPts val="0"/>
              </a:spcAft>
              <a:buClr>
                <a:schemeClr val="dk2"/>
              </a:buClr>
              <a:buSzPts val="900"/>
              <a:buFont typeface="Arial"/>
              <a:buChar char="•"/>
              <a:defRPr sz="900" b="0" i="0" u="none" strike="noStrike" cap="none">
                <a:solidFill>
                  <a:schemeClr val="dk2"/>
                </a:solidFill>
                <a:latin typeface="Proxima Nova"/>
                <a:ea typeface="Proxima Nova"/>
                <a:cs typeface="Proxima Nova"/>
                <a:sym typeface="Proxima Nova"/>
              </a:defRPr>
            </a:lvl3pPr>
            <a:lvl4pPr marL="1828800" marR="0" lvl="3" indent="-279400" algn="l" rtl="0">
              <a:lnSpc>
                <a:spcPct val="90000"/>
              </a:lnSpc>
              <a:spcBef>
                <a:spcPts val="400"/>
              </a:spcBef>
              <a:spcAft>
                <a:spcPts val="0"/>
              </a:spcAft>
              <a:buClr>
                <a:schemeClr val="dk2"/>
              </a:buClr>
              <a:buSzPts val="800"/>
              <a:buFont typeface="Arial"/>
              <a:buChar char="•"/>
              <a:defRPr sz="800" b="0" i="0" u="none" strike="noStrike" cap="none">
                <a:solidFill>
                  <a:schemeClr val="dk2"/>
                </a:solidFill>
                <a:latin typeface="Proxima Nova"/>
                <a:ea typeface="Proxima Nova"/>
                <a:cs typeface="Proxima Nova"/>
                <a:sym typeface="Proxima Nova"/>
              </a:defRPr>
            </a:lvl4pPr>
            <a:lvl5pPr marL="2286000" marR="0" lvl="4" indent="-266700" algn="l" rtl="0">
              <a:lnSpc>
                <a:spcPct val="90000"/>
              </a:lnSpc>
              <a:spcBef>
                <a:spcPts val="400"/>
              </a:spcBef>
              <a:spcAft>
                <a:spcPts val="0"/>
              </a:spcAft>
              <a:buClr>
                <a:schemeClr val="dk2"/>
              </a:buClr>
              <a:buSzPts val="600"/>
              <a:buFont typeface="Arial"/>
              <a:buChar char="•"/>
              <a:defRPr sz="600" b="0" i="0" u="none" strike="noStrike" cap="none">
                <a:solidFill>
                  <a:schemeClr val="dk2"/>
                </a:solidFill>
                <a:latin typeface="Proxima Nova"/>
                <a:ea typeface="Proxima Nova"/>
                <a:cs typeface="Proxima Nova"/>
                <a:sym typeface="Proxima Nova"/>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Open Sans"/>
                <a:ea typeface="Open Sans"/>
                <a:cs typeface="Open Sans"/>
                <a:sym typeface="Open Sans"/>
              </a:defRPr>
            </a:lvl9pPr>
          </a:lstStyle>
          <a:p>
            <a:endParaRPr/>
          </a:p>
        </p:txBody>
      </p:sp>
      <p:sp>
        <p:nvSpPr>
          <p:cNvPr id="9" name="Google Shape;9;p1"/>
          <p:cNvSpPr txBox="1"/>
          <p:nvPr/>
        </p:nvSpPr>
        <p:spPr>
          <a:xfrm>
            <a:off x="7578175" y="4767750"/>
            <a:ext cx="1367700" cy="174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800">
                <a:solidFill>
                  <a:srgbClr val="204ECF"/>
                </a:solidFill>
                <a:latin typeface="Proxima Nova"/>
                <a:ea typeface="Proxima Nova"/>
                <a:cs typeface="Proxima Nova"/>
                <a:sym typeface="Proxima Nova"/>
              </a:rPr>
              <a:t> </a:t>
            </a:r>
            <a:r>
              <a:rPr lang="en" sz="600">
                <a:solidFill>
                  <a:srgbClr val="204ECF"/>
                </a:solidFill>
                <a:latin typeface="Proxima Nova"/>
                <a:ea typeface="Proxima Nova"/>
                <a:cs typeface="Proxima Nova"/>
                <a:sym typeface="Proxima Nova"/>
              </a:rPr>
              <a:t>Confidential </a:t>
            </a:r>
            <a:r>
              <a:rPr lang="en" sz="800">
                <a:solidFill>
                  <a:srgbClr val="204ECF"/>
                </a:solidFill>
                <a:latin typeface="Proxima Nova"/>
                <a:ea typeface="Proxima Nova"/>
                <a:cs typeface="Proxima Nova"/>
                <a:sym typeface="Proxima Nova"/>
              </a:rPr>
              <a:t> | </a:t>
            </a:r>
            <a:fld id="{00000000-1234-1234-1234-123412341234}" type="slidenum">
              <a:rPr lang="en" sz="800">
                <a:solidFill>
                  <a:srgbClr val="204ECF"/>
                </a:solidFill>
                <a:latin typeface="Proxima Nova"/>
                <a:ea typeface="Proxima Nova"/>
                <a:cs typeface="Proxima Nova"/>
                <a:sym typeface="Proxima Nova"/>
              </a:rPr>
              <a:t>‹#›</a:t>
            </a:fld>
            <a:endParaRPr sz="800">
              <a:solidFill>
                <a:srgbClr val="204ECF"/>
              </a:solidFill>
              <a:latin typeface="Proxima Nova"/>
              <a:ea typeface="Proxima Nova"/>
              <a:cs typeface="Proxima Nova"/>
              <a:sym typeface="Proxima Nova"/>
            </a:endParaRPr>
          </a:p>
        </p:txBody>
      </p:sp>
      <p:pic>
        <p:nvPicPr>
          <p:cNvPr id="10" name="Google Shape;10;p1"/>
          <p:cNvPicPr preferRelativeResize="0"/>
          <p:nvPr/>
        </p:nvPicPr>
        <p:blipFill rotWithShape="1">
          <a:blip r:embed="rId20">
            <a:alphaModFix/>
          </a:blip>
          <a:srcRect/>
          <a:stretch/>
        </p:blipFill>
        <p:spPr>
          <a:xfrm>
            <a:off x="54287" y="69900"/>
            <a:ext cx="108625" cy="15397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56">
          <p15:clr>
            <a:srgbClr val="F26B43"/>
          </p15:clr>
        </p15:guide>
        <p15:guide id="2" pos="329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a:spLocks noGrp="1"/>
          </p:cNvSpPr>
          <p:nvPr>
            <p:ph type="title"/>
          </p:nvPr>
        </p:nvSpPr>
        <p:spPr>
          <a:xfrm>
            <a:off x="343674" y="2712227"/>
            <a:ext cx="5357137" cy="1336358"/>
          </a:xfrm>
          <a:prstGeom prst="rect">
            <a:avLst/>
          </a:prstGeom>
        </p:spPr>
        <p:txBody>
          <a:bodyPr spcFirstLastPara="1" wrap="square" lIns="68575" tIns="34275" rIns="68575" bIns="34275" anchor="t" anchorCtr="0">
            <a:normAutofit fontScale="90000"/>
          </a:bodyPr>
          <a:lstStyle/>
          <a:p>
            <a:pPr marL="0" lvl="0" indent="0" algn="l" rtl="0">
              <a:lnSpc>
                <a:spcPct val="115000"/>
              </a:lnSpc>
              <a:spcBef>
                <a:spcPts val="0"/>
              </a:spcBef>
              <a:spcAft>
                <a:spcPts val="0"/>
              </a:spcAft>
              <a:buNone/>
            </a:pPr>
            <a:r>
              <a:rPr lang="en" dirty="0">
                <a:solidFill>
                  <a:schemeClr val="bg1"/>
                </a:solidFill>
              </a:rPr>
              <a:t>[Client </a:t>
            </a:r>
            <a:r>
              <a:rPr lang="en" sz="2700" dirty="0">
                <a:solidFill>
                  <a:schemeClr val="bg1"/>
                </a:solidFill>
              </a:rPr>
              <a:t>Name</a:t>
            </a:r>
            <a:r>
              <a:rPr lang="en" dirty="0">
                <a:solidFill>
                  <a:schemeClr val="bg1"/>
                </a:solidFill>
              </a:rPr>
              <a:t>]</a:t>
            </a:r>
            <a:br>
              <a:rPr lang="en" dirty="0">
                <a:solidFill>
                  <a:schemeClr val="bg1"/>
                </a:solidFill>
              </a:rPr>
            </a:br>
            <a:r>
              <a:rPr lang="en" dirty="0">
                <a:solidFill>
                  <a:schemeClr val="bg1"/>
                </a:solidFill>
              </a:rPr>
              <a:t>[Project Name]</a:t>
            </a:r>
            <a:br>
              <a:rPr lang="en" dirty="0">
                <a:solidFill>
                  <a:schemeClr val="bg1"/>
                </a:solidFill>
              </a:rPr>
            </a:br>
            <a:r>
              <a:rPr lang="en" dirty="0">
                <a:solidFill>
                  <a:schemeClr val="bg1"/>
                </a:solidFill>
              </a:rPr>
              <a:t>Governance Kickoff </a:t>
            </a:r>
            <a:endParaRPr dirty="0">
              <a:solidFill>
                <a:schemeClr val="bg1"/>
              </a:solidFill>
            </a:endParaRPr>
          </a:p>
        </p:txBody>
      </p:sp>
      <p:sp>
        <p:nvSpPr>
          <p:cNvPr id="94" name="Google Shape;94;p20"/>
          <p:cNvSpPr txBox="1">
            <a:spLocks noGrp="1"/>
          </p:cNvSpPr>
          <p:nvPr>
            <p:ph type="subTitle" idx="2"/>
          </p:nvPr>
        </p:nvSpPr>
        <p:spPr>
          <a:xfrm>
            <a:off x="366153" y="4153150"/>
            <a:ext cx="7146600" cy="3357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a:t>Onboarding for Project Managers staffed on professional services projects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1"/>
          <p:cNvSpPr/>
          <p:nvPr/>
        </p:nvSpPr>
        <p:spPr>
          <a:xfrm>
            <a:off x="4674449" y="1412000"/>
            <a:ext cx="3760500" cy="2370600"/>
          </a:xfrm>
          <a:prstGeom prst="roundRect">
            <a:avLst>
              <a:gd name="adj" fmla="val 2051"/>
            </a:avLst>
          </a:prstGeom>
          <a:solidFill>
            <a:srgbClr val="FFFFFF"/>
          </a:solidFill>
          <a:ln w="9525" cap="flat" cmpd="sng">
            <a:solidFill>
              <a:srgbClr val="D3DCEC"/>
            </a:solidFill>
            <a:prstDash val="solid"/>
            <a:round/>
            <a:headEnd type="none" w="sm" len="sm"/>
            <a:tailEnd type="none" w="sm" len="sm"/>
          </a:ln>
          <a:effectLst>
            <a:outerShdw blurRad="85727" dist="28576" dir="5400000" algn="bl" rotWithShape="0">
              <a:srgbClr val="0B1836">
                <a:alpha val="1608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0" name="Google Shape;100;p21"/>
          <p:cNvSpPr/>
          <p:nvPr/>
        </p:nvSpPr>
        <p:spPr>
          <a:xfrm>
            <a:off x="644975" y="1412000"/>
            <a:ext cx="3760500" cy="2370600"/>
          </a:xfrm>
          <a:prstGeom prst="roundRect">
            <a:avLst>
              <a:gd name="adj" fmla="val 2051"/>
            </a:avLst>
          </a:prstGeom>
          <a:solidFill>
            <a:srgbClr val="FFFFFF"/>
          </a:solidFill>
          <a:ln w="9525" cap="flat" cmpd="sng">
            <a:solidFill>
              <a:srgbClr val="D3DCEC"/>
            </a:solidFill>
            <a:prstDash val="solid"/>
            <a:round/>
            <a:headEnd type="none" w="sm" len="sm"/>
            <a:tailEnd type="none" w="sm" len="sm"/>
          </a:ln>
          <a:effectLst>
            <a:outerShdw blurRad="85727" dist="28576" dir="5400000" algn="bl" rotWithShape="0">
              <a:srgbClr val="0B1836">
                <a:alpha val="1608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1" name="Google Shape;101;p21"/>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i="0" u="none" strike="noStrike" cap="none">
                <a:solidFill>
                  <a:srgbClr val="2E5AAC"/>
                </a:solidFill>
                <a:latin typeface="Proxima Nova"/>
                <a:ea typeface="Proxima Nova"/>
                <a:cs typeface="Proxima Nova"/>
                <a:sym typeface="Proxima Nova"/>
              </a:rPr>
              <a:t>WHY WE'RE HERE TODAY</a:t>
            </a:r>
            <a:endParaRPr sz="900" i="0" u="none" strike="noStrike" cap="none">
              <a:solidFill>
                <a:srgbClr val="000000"/>
              </a:solidFill>
              <a:latin typeface="Proxima Nova"/>
              <a:ea typeface="Proxima Nova"/>
              <a:cs typeface="Proxima Nova"/>
              <a:sym typeface="Proxima Nova"/>
            </a:endParaRPr>
          </a:p>
        </p:txBody>
      </p:sp>
      <p:sp>
        <p:nvSpPr>
          <p:cNvPr id="102" name="Google Shape;102;p21"/>
          <p:cNvSpPr/>
          <p:nvPr/>
        </p:nvSpPr>
        <p:spPr>
          <a:xfrm>
            <a:off x="804863" y="1604888"/>
            <a:ext cx="453300" cy="179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900"/>
              <a:buFont typeface="Inter"/>
              <a:buNone/>
            </a:pPr>
            <a:r>
              <a:rPr lang="en" sz="900" b="1" i="0" u="none" strike="noStrike" cap="none">
                <a:solidFill>
                  <a:srgbClr val="2550C9"/>
                </a:solidFill>
                <a:latin typeface="Proxima Nova"/>
                <a:ea typeface="Proxima Nova"/>
                <a:cs typeface="Proxima Nova"/>
                <a:sym typeface="Proxima Nova"/>
              </a:rPr>
              <a:t>PART 1</a:t>
            </a:r>
            <a:endParaRPr sz="900" i="0" u="none" strike="noStrike" cap="none">
              <a:solidFill>
                <a:schemeClr val="dk1"/>
              </a:solidFill>
              <a:latin typeface="Proxima Nova"/>
              <a:ea typeface="Proxima Nova"/>
              <a:cs typeface="Proxima Nova"/>
              <a:sym typeface="Proxima Nova"/>
            </a:endParaRPr>
          </a:p>
        </p:txBody>
      </p:sp>
      <p:sp>
        <p:nvSpPr>
          <p:cNvPr id="103" name="Google Shape;103;p21"/>
          <p:cNvSpPr/>
          <p:nvPr/>
        </p:nvSpPr>
        <p:spPr>
          <a:xfrm>
            <a:off x="3839319" y="1604888"/>
            <a:ext cx="461400" cy="1791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5A6272"/>
              </a:buClr>
              <a:buSzPts val="900"/>
              <a:buFont typeface="Inter"/>
              <a:buNone/>
            </a:pPr>
            <a:r>
              <a:rPr lang="en" sz="900" b="1">
                <a:solidFill>
                  <a:srgbClr val="5A6272"/>
                </a:solidFill>
                <a:latin typeface="Proxima Nova"/>
                <a:ea typeface="Proxima Nova"/>
                <a:cs typeface="Proxima Nova"/>
                <a:sym typeface="Proxima Nova"/>
              </a:rPr>
              <a:t>15</a:t>
            </a:r>
            <a:r>
              <a:rPr lang="en" sz="900" b="1" i="0" u="none" strike="noStrike" cap="none">
                <a:solidFill>
                  <a:srgbClr val="5A6272"/>
                </a:solidFill>
                <a:latin typeface="Proxima Nova"/>
                <a:ea typeface="Proxima Nova"/>
                <a:cs typeface="Proxima Nova"/>
                <a:sym typeface="Proxima Nova"/>
              </a:rPr>
              <a:t> min</a:t>
            </a:r>
            <a:endParaRPr sz="900" i="0" u="none" strike="noStrike" cap="none">
              <a:solidFill>
                <a:schemeClr val="dk1"/>
              </a:solidFill>
              <a:latin typeface="Proxima Nova"/>
              <a:ea typeface="Proxima Nova"/>
              <a:cs typeface="Proxima Nova"/>
              <a:sym typeface="Proxima Nova"/>
            </a:endParaRPr>
          </a:p>
        </p:txBody>
      </p:sp>
      <p:sp>
        <p:nvSpPr>
          <p:cNvPr id="104" name="Google Shape;104;p21"/>
          <p:cNvSpPr/>
          <p:nvPr/>
        </p:nvSpPr>
        <p:spPr>
          <a:xfrm>
            <a:off x="804863" y="1860128"/>
            <a:ext cx="3600600" cy="247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500"/>
              <a:buFont typeface="Plus Jakarta Sans"/>
              <a:buNone/>
            </a:pPr>
            <a:r>
              <a:rPr lang="en" sz="1500" b="1" i="0" u="none" strike="noStrike" cap="none">
                <a:solidFill>
                  <a:srgbClr val="16213A"/>
                </a:solidFill>
                <a:latin typeface="Proxima Nova"/>
                <a:ea typeface="Proxima Nova"/>
                <a:cs typeface="Proxima Nova"/>
                <a:sym typeface="Proxima Nova"/>
              </a:rPr>
              <a:t>How Toptal projects work</a:t>
            </a:r>
            <a:endParaRPr sz="1500" i="0" u="none" strike="noStrike" cap="none">
              <a:solidFill>
                <a:schemeClr val="dk1"/>
              </a:solidFill>
              <a:latin typeface="Proxima Nova"/>
              <a:ea typeface="Proxima Nova"/>
              <a:cs typeface="Proxima Nova"/>
              <a:sym typeface="Proxima Nova"/>
            </a:endParaRPr>
          </a:p>
        </p:txBody>
      </p:sp>
      <p:cxnSp>
        <p:nvCxnSpPr>
          <p:cNvPr id="105" name="Google Shape;105;p21"/>
          <p:cNvCxnSpPr/>
          <p:nvPr/>
        </p:nvCxnSpPr>
        <p:spPr>
          <a:xfrm>
            <a:off x="804863" y="2533055"/>
            <a:ext cx="3495600" cy="0"/>
          </a:xfrm>
          <a:prstGeom prst="straightConnector1">
            <a:avLst/>
          </a:prstGeom>
          <a:noFill/>
          <a:ln w="7150" cap="flat" cmpd="sng">
            <a:solidFill>
              <a:srgbClr val="DED9CE"/>
            </a:solidFill>
            <a:prstDash val="solid"/>
            <a:round/>
            <a:headEnd type="none" w="sm" len="sm"/>
            <a:tailEnd type="none" w="sm" len="sm"/>
          </a:ln>
        </p:spPr>
      </p:cxnSp>
      <p:sp>
        <p:nvSpPr>
          <p:cNvPr id="106" name="Google Shape;106;p21"/>
          <p:cNvSpPr/>
          <p:nvPr/>
        </p:nvSpPr>
        <p:spPr>
          <a:xfrm>
            <a:off x="804863" y="2260178"/>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1100"/>
              <a:buFont typeface="Plus Jakarta Sans"/>
              <a:buNone/>
            </a:pPr>
            <a:r>
              <a:rPr lang="en" sz="1100" b="1" i="0" u="none" strike="noStrike" cap="none">
                <a:solidFill>
                  <a:srgbClr val="2550C9"/>
                </a:solidFill>
                <a:latin typeface="Proxima Nova"/>
                <a:ea typeface="Proxima Nova"/>
                <a:cs typeface="Proxima Nova"/>
                <a:sym typeface="Proxima Nova"/>
              </a:rPr>
              <a:t>01</a:t>
            </a:r>
            <a:endParaRPr sz="1100" i="0" u="none" strike="noStrike" cap="none">
              <a:solidFill>
                <a:schemeClr val="dk1"/>
              </a:solidFill>
              <a:latin typeface="Proxima Nova"/>
              <a:ea typeface="Proxima Nova"/>
              <a:cs typeface="Proxima Nova"/>
              <a:sym typeface="Proxima Nova"/>
            </a:endParaRPr>
          </a:p>
        </p:txBody>
      </p:sp>
      <p:sp>
        <p:nvSpPr>
          <p:cNvPr id="107" name="Google Shape;107;p21"/>
          <p:cNvSpPr/>
          <p:nvPr/>
        </p:nvSpPr>
        <p:spPr>
          <a:xfrm>
            <a:off x="1185863" y="2274466"/>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i="0" u="none" strike="noStrike" cap="none">
                <a:solidFill>
                  <a:srgbClr val="1C2230"/>
                </a:solidFill>
                <a:latin typeface="Proxima Nova"/>
                <a:ea typeface="Proxima Nova"/>
                <a:cs typeface="Proxima Nova"/>
                <a:sym typeface="Proxima Nova"/>
              </a:rPr>
              <a:t>Who you represent</a:t>
            </a:r>
            <a:endParaRPr sz="1100" i="0" u="none" strike="noStrike" cap="none">
              <a:solidFill>
                <a:schemeClr val="dk1"/>
              </a:solidFill>
              <a:latin typeface="Proxima Nova"/>
              <a:ea typeface="Proxima Nova"/>
              <a:cs typeface="Proxima Nova"/>
              <a:sym typeface="Proxima Nova"/>
            </a:endParaRPr>
          </a:p>
        </p:txBody>
      </p:sp>
      <p:cxnSp>
        <p:nvCxnSpPr>
          <p:cNvPr id="108" name="Google Shape;108;p21"/>
          <p:cNvCxnSpPr/>
          <p:nvPr/>
        </p:nvCxnSpPr>
        <p:spPr>
          <a:xfrm>
            <a:off x="804863" y="2884512"/>
            <a:ext cx="3495600" cy="0"/>
          </a:xfrm>
          <a:prstGeom prst="straightConnector1">
            <a:avLst/>
          </a:prstGeom>
          <a:noFill/>
          <a:ln w="7150" cap="flat" cmpd="sng">
            <a:solidFill>
              <a:srgbClr val="DED9CE"/>
            </a:solidFill>
            <a:prstDash val="solid"/>
            <a:round/>
            <a:headEnd type="none" w="sm" len="sm"/>
            <a:tailEnd type="none" w="sm" len="sm"/>
          </a:ln>
        </p:spPr>
      </p:cxnSp>
      <p:sp>
        <p:nvSpPr>
          <p:cNvPr id="109" name="Google Shape;109;p21"/>
          <p:cNvSpPr/>
          <p:nvPr/>
        </p:nvSpPr>
        <p:spPr>
          <a:xfrm>
            <a:off x="804863" y="2611636"/>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1100"/>
              <a:buFont typeface="Plus Jakarta Sans"/>
              <a:buNone/>
            </a:pPr>
            <a:r>
              <a:rPr lang="en" sz="1100" b="1" i="0" u="none" strike="noStrike" cap="none">
                <a:solidFill>
                  <a:srgbClr val="2550C9"/>
                </a:solidFill>
                <a:latin typeface="Proxima Nova"/>
                <a:ea typeface="Proxima Nova"/>
                <a:cs typeface="Proxima Nova"/>
                <a:sym typeface="Proxima Nova"/>
              </a:rPr>
              <a:t>02</a:t>
            </a:r>
            <a:endParaRPr sz="1100" i="0" u="none" strike="noStrike" cap="none">
              <a:solidFill>
                <a:schemeClr val="dk1"/>
              </a:solidFill>
              <a:latin typeface="Proxima Nova"/>
              <a:ea typeface="Proxima Nova"/>
              <a:cs typeface="Proxima Nova"/>
              <a:sym typeface="Proxima Nova"/>
            </a:endParaRPr>
          </a:p>
        </p:txBody>
      </p:sp>
      <p:sp>
        <p:nvSpPr>
          <p:cNvPr id="110" name="Google Shape;110;p21"/>
          <p:cNvSpPr/>
          <p:nvPr/>
        </p:nvSpPr>
        <p:spPr>
          <a:xfrm>
            <a:off x="1185863" y="2625923"/>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i="0" u="none" strike="noStrike" cap="none">
                <a:solidFill>
                  <a:srgbClr val="1C2230"/>
                </a:solidFill>
                <a:latin typeface="Proxima Nova"/>
                <a:ea typeface="Proxima Nova"/>
                <a:cs typeface="Proxima Nova"/>
                <a:sym typeface="Proxima Nova"/>
              </a:rPr>
              <a:t>Roles and responsibilities</a:t>
            </a:r>
            <a:endParaRPr sz="1100" i="0" u="none" strike="noStrike" cap="none">
              <a:solidFill>
                <a:schemeClr val="dk1"/>
              </a:solidFill>
              <a:latin typeface="Proxima Nova"/>
              <a:ea typeface="Proxima Nova"/>
              <a:cs typeface="Proxima Nova"/>
              <a:sym typeface="Proxima Nova"/>
            </a:endParaRPr>
          </a:p>
        </p:txBody>
      </p:sp>
      <p:cxnSp>
        <p:nvCxnSpPr>
          <p:cNvPr id="111" name="Google Shape;111;p21"/>
          <p:cNvCxnSpPr/>
          <p:nvPr/>
        </p:nvCxnSpPr>
        <p:spPr>
          <a:xfrm>
            <a:off x="804863" y="3235970"/>
            <a:ext cx="3495600" cy="0"/>
          </a:xfrm>
          <a:prstGeom prst="straightConnector1">
            <a:avLst/>
          </a:prstGeom>
          <a:noFill/>
          <a:ln w="7150" cap="flat" cmpd="sng">
            <a:solidFill>
              <a:srgbClr val="DED9CE"/>
            </a:solidFill>
            <a:prstDash val="solid"/>
            <a:round/>
            <a:headEnd type="none" w="sm" len="sm"/>
            <a:tailEnd type="none" w="sm" len="sm"/>
          </a:ln>
        </p:spPr>
      </p:cxnSp>
      <p:sp>
        <p:nvSpPr>
          <p:cNvPr id="112" name="Google Shape;112;p21"/>
          <p:cNvSpPr/>
          <p:nvPr/>
        </p:nvSpPr>
        <p:spPr>
          <a:xfrm>
            <a:off x="804863" y="2963093"/>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1100"/>
              <a:buFont typeface="Plus Jakarta Sans"/>
              <a:buNone/>
            </a:pPr>
            <a:r>
              <a:rPr lang="en" sz="1100" b="1" i="0" u="none" strike="noStrike" cap="none">
                <a:solidFill>
                  <a:srgbClr val="2550C9"/>
                </a:solidFill>
                <a:latin typeface="Proxima Nova"/>
                <a:ea typeface="Proxima Nova"/>
                <a:cs typeface="Proxima Nova"/>
                <a:sym typeface="Proxima Nova"/>
              </a:rPr>
              <a:t>03</a:t>
            </a:r>
            <a:endParaRPr sz="1100" i="0" u="none" strike="noStrike" cap="none">
              <a:solidFill>
                <a:schemeClr val="dk1"/>
              </a:solidFill>
              <a:latin typeface="Proxima Nova"/>
              <a:ea typeface="Proxima Nova"/>
              <a:cs typeface="Proxima Nova"/>
              <a:sym typeface="Proxima Nova"/>
            </a:endParaRPr>
          </a:p>
        </p:txBody>
      </p:sp>
      <p:sp>
        <p:nvSpPr>
          <p:cNvPr id="113" name="Google Shape;113;p21"/>
          <p:cNvSpPr/>
          <p:nvPr/>
        </p:nvSpPr>
        <p:spPr>
          <a:xfrm>
            <a:off x="1185863" y="2977381"/>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a:solidFill>
                  <a:srgbClr val="1C2230"/>
                </a:solidFill>
                <a:latin typeface="Proxima Nova"/>
                <a:ea typeface="Proxima Nova"/>
                <a:cs typeface="Proxima Nova"/>
                <a:sym typeface="Proxima Nova"/>
              </a:rPr>
              <a:t>Delivery lifecycle</a:t>
            </a:r>
            <a:endParaRPr sz="1100" i="0" u="none" strike="noStrike" cap="none">
              <a:solidFill>
                <a:schemeClr val="dk1"/>
              </a:solidFill>
              <a:latin typeface="Proxima Nova"/>
              <a:ea typeface="Proxima Nova"/>
              <a:cs typeface="Proxima Nova"/>
              <a:sym typeface="Proxima Nova"/>
            </a:endParaRPr>
          </a:p>
        </p:txBody>
      </p:sp>
      <p:cxnSp>
        <p:nvCxnSpPr>
          <p:cNvPr id="114" name="Google Shape;114;p21"/>
          <p:cNvCxnSpPr/>
          <p:nvPr/>
        </p:nvCxnSpPr>
        <p:spPr>
          <a:xfrm>
            <a:off x="804863" y="3587428"/>
            <a:ext cx="3495600" cy="0"/>
          </a:xfrm>
          <a:prstGeom prst="straightConnector1">
            <a:avLst/>
          </a:prstGeom>
          <a:noFill/>
          <a:ln w="7150" cap="flat" cmpd="sng">
            <a:solidFill>
              <a:srgbClr val="DED9CE"/>
            </a:solidFill>
            <a:prstDash val="solid"/>
            <a:round/>
            <a:headEnd type="none" w="sm" len="sm"/>
            <a:tailEnd type="none" w="sm" len="sm"/>
          </a:ln>
        </p:spPr>
      </p:cxnSp>
      <p:sp>
        <p:nvSpPr>
          <p:cNvPr id="115" name="Google Shape;115;p21"/>
          <p:cNvSpPr/>
          <p:nvPr/>
        </p:nvSpPr>
        <p:spPr>
          <a:xfrm>
            <a:off x="804863" y="3314552"/>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1100"/>
              <a:buFont typeface="Plus Jakarta Sans"/>
              <a:buNone/>
            </a:pPr>
            <a:r>
              <a:rPr lang="en" sz="1100" b="1" i="0" u="none" strike="noStrike" cap="none">
                <a:solidFill>
                  <a:srgbClr val="2550C9"/>
                </a:solidFill>
                <a:latin typeface="Proxima Nova"/>
                <a:ea typeface="Proxima Nova"/>
                <a:cs typeface="Proxima Nova"/>
                <a:sym typeface="Proxima Nova"/>
              </a:rPr>
              <a:t>04</a:t>
            </a:r>
            <a:endParaRPr sz="1100" i="0" u="none" strike="noStrike" cap="none">
              <a:solidFill>
                <a:schemeClr val="dk1"/>
              </a:solidFill>
              <a:latin typeface="Proxima Nova"/>
              <a:ea typeface="Proxima Nova"/>
              <a:cs typeface="Proxima Nova"/>
              <a:sym typeface="Proxima Nova"/>
            </a:endParaRPr>
          </a:p>
        </p:txBody>
      </p:sp>
      <p:sp>
        <p:nvSpPr>
          <p:cNvPr id="116" name="Google Shape;116;p21"/>
          <p:cNvSpPr/>
          <p:nvPr/>
        </p:nvSpPr>
        <p:spPr>
          <a:xfrm>
            <a:off x="1185863" y="3328839"/>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a:solidFill>
                  <a:srgbClr val="1C2230"/>
                </a:solidFill>
                <a:latin typeface="Proxima Nova"/>
                <a:ea typeface="Proxima Nova"/>
                <a:cs typeface="Proxima Nova"/>
                <a:sym typeface="Proxima Nova"/>
              </a:rPr>
              <a:t>Decision rights and boundaries</a:t>
            </a:r>
            <a:endParaRPr sz="1100">
              <a:solidFill>
                <a:srgbClr val="1C2230"/>
              </a:solidFill>
              <a:latin typeface="Proxima Nova"/>
              <a:ea typeface="Proxima Nova"/>
              <a:cs typeface="Proxima Nova"/>
              <a:sym typeface="Proxima Nova"/>
            </a:endParaRPr>
          </a:p>
        </p:txBody>
      </p:sp>
      <p:sp>
        <p:nvSpPr>
          <p:cNvPr id="117" name="Google Shape;117;p21"/>
          <p:cNvSpPr/>
          <p:nvPr/>
        </p:nvSpPr>
        <p:spPr>
          <a:xfrm>
            <a:off x="4843463" y="1604888"/>
            <a:ext cx="480600" cy="179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900"/>
              <a:buFont typeface="Inter"/>
              <a:buNone/>
            </a:pPr>
            <a:r>
              <a:rPr lang="en" sz="900" b="1" i="0" u="none" strike="noStrike" cap="none">
                <a:solidFill>
                  <a:srgbClr val="07947C"/>
                </a:solidFill>
                <a:latin typeface="Proxima Nova"/>
                <a:ea typeface="Proxima Nova"/>
                <a:cs typeface="Proxima Nova"/>
                <a:sym typeface="Proxima Nova"/>
              </a:rPr>
              <a:t>PART 2</a:t>
            </a:r>
            <a:endParaRPr sz="900" i="0" u="none" strike="noStrike" cap="none">
              <a:solidFill>
                <a:srgbClr val="07947C"/>
              </a:solidFill>
              <a:latin typeface="Proxima Nova"/>
              <a:ea typeface="Proxima Nova"/>
              <a:cs typeface="Proxima Nova"/>
              <a:sym typeface="Proxima Nova"/>
            </a:endParaRPr>
          </a:p>
        </p:txBody>
      </p:sp>
      <p:sp>
        <p:nvSpPr>
          <p:cNvPr id="118" name="Google Shape;118;p21"/>
          <p:cNvSpPr/>
          <p:nvPr/>
        </p:nvSpPr>
        <p:spPr>
          <a:xfrm>
            <a:off x="7877919" y="1604888"/>
            <a:ext cx="461400" cy="1791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5A6272"/>
              </a:buClr>
              <a:buSzPts val="900"/>
              <a:buFont typeface="Inter"/>
              <a:buNone/>
            </a:pPr>
            <a:r>
              <a:rPr lang="en" sz="900" b="1">
                <a:solidFill>
                  <a:srgbClr val="5A6272"/>
                </a:solidFill>
                <a:latin typeface="Proxima Nova"/>
                <a:ea typeface="Proxima Nova"/>
                <a:cs typeface="Proxima Nova"/>
                <a:sym typeface="Proxima Nova"/>
              </a:rPr>
              <a:t>20</a:t>
            </a:r>
            <a:r>
              <a:rPr lang="en" sz="900" b="1" i="0" u="none" strike="noStrike" cap="none">
                <a:solidFill>
                  <a:srgbClr val="5A6272"/>
                </a:solidFill>
                <a:latin typeface="Proxima Nova"/>
                <a:ea typeface="Proxima Nova"/>
                <a:cs typeface="Proxima Nova"/>
                <a:sym typeface="Proxima Nova"/>
              </a:rPr>
              <a:t> min</a:t>
            </a:r>
            <a:endParaRPr sz="900" i="0" u="none" strike="noStrike" cap="none">
              <a:solidFill>
                <a:schemeClr val="dk1"/>
              </a:solidFill>
              <a:latin typeface="Proxima Nova"/>
              <a:ea typeface="Proxima Nova"/>
              <a:cs typeface="Proxima Nova"/>
              <a:sym typeface="Proxima Nova"/>
            </a:endParaRPr>
          </a:p>
        </p:txBody>
      </p:sp>
      <p:sp>
        <p:nvSpPr>
          <p:cNvPr id="119" name="Google Shape;119;p21"/>
          <p:cNvSpPr/>
          <p:nvPr/>
        </p:nvSpPr>
        <p:spPr>
          <a:xfrm>
            <a:off x="4843463" y="1860128"/>
            <a:ext cx="3600600" cy="247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500"/>
              <a:buFont typeface="Plus Jakarta Sans"/>
              <a:buNone/>
            </a:pPr>
            <a:r>
              <a:rPr lang="en" sz="1500" b="1" i="0" u="none" strike="noStrike" cap="none">
                <a:solidFill>
                  <a:srgbClr val="16213A"/>
                </a:solidFill>
                <a:latin typeface="Proxima Nova"/>
                <a:ea typeface="Proxima Nova"/>
                <a:cs typeface="Proxima Nova"/>
                <a:sym typeface="Proxima Nova"/>
              </a:rPr>
              <a:t>Your project</a:t>
            </a:r>
            <a:endParaRPr sz="1500" i="0" u="none" strike="noStrike" cap="none">
              <a:solidFill>
                <a:schemeClr val="dk1"/>
              </a:solidFill>
              <a:latin typeface="Proxima Nova"/>
              <a:ea typeface="Proxima Nova"/>
              <a:cs typeface="Proxima Nova"/>
              <a:sym typeface="Proxima Nova"/>
            </a:endParaRPr>
          </a:p>
        </p:txBody>
      </p:sp>
      <p:cxnSp>
        <p:nvCxnSpPr>
          <p:cNvPr id="120" name="Google Shape;120;p21"/>
          <p:cNvCxnSpPr/>
          <p:nvPr/>
        </p:nvCxnSpPr>
        <p:spPr>
          <a:xfrm>
            <a:off x="4843463" y="2533055"/>
            <a:ext cx="3495600" cy="0"/>
          </a:xfrm>
          <a:prstGeom prst="straightConnector1">
            <a:avLst/>
          </a:prstGeom>
          <a:noFill/>
          <a:ln w="7150" cap="flat" cmpd="sng">
            <a:solidFill>
              <a:srgbClr val="DED9CE"/>
            </a:solidFill>
            <a:prstDash val="solid"/>
            <a:round/>
            <a:headEnd type="none" w="sm" len="sm"/>
            <a:tailEnd type="none" w="sm" len="sm"/>
          </a:ln>
        </p:spPr>
      </p:cxnSp>
      <p:sp>
        <p:nvSpPr>
          <p:cNvPr id="121" name="Google Shape;121;p21"/>
          <p:cNvSpPr/>
          <p:nvPr/>
        </p:nvSpPr>
        <p:spPr>
          <a:xfrm>
            <a:off x="4843463" y="2260178"/>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1100"/>
              <a:buFont typeface="Plus Jakarta Sans"/>
              <a:buNone/>
            </a:pPr>
            <a:r>
              <a:rPr lang="en" sz="1100" b="1" i="0" u="none" strike="noStrike" cap="none">
                <a:solidFill>
                  <a:srgbClr val="07947C"/>
                </a:solidFill>
                <a:latin typeface="Proxima Nova"/>
                <a:ea typeface="Proxima Nova"/>
                <a:cs typeface="Proxima Nova"/>
                <a:sym typeface="Proxima Nova"/>
              </a:rPr>
              <a:t>05</a:t>
            </a:r>
            <a:endParaRPr sz="1100" i="0" u="none" strike="noStrike" cap="none">
              <a:solidFill>
                <a:srgbClr val="07947C"/>
              </a:solidFill>
              <a:latin typeface="Proxima Nova"/>
              <a:ea typeface="Proxima Nova"/>
              <a:cs typeface="Proxima Nova"/>
              <a:sym typeface="Proxima Nova"/>
            </a:endParaRPr>
          </a:p>
        </p:txBody>
      </p:sp>
      <p:sp>
        <p:nvSpPr>
          <p:cNvPr id="122" name="Google Shape;122;p21"/>
          <p:cNvSpPr/>
          <p:nvPr/>
        </p:nvSpPr>
        <p:spPr>
          <a:xfrm>
            <a:off x="5224463" y="2274466"/>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i="0" u="none" strike="noStrike" cap="none">
                <a:solidFill>
                  <a:srgbClr val="1C2230"/>
                </a:solidFill>
                <a:latin typeface="Proxima Nova"/>
                <a:ea typeface="Proxima Nova"/>
                <a:cs typeface="Proxima Nova"/>
                <a:sym typeface="Proxima Nova"/>
              </a:rPr>
              <a:t>Project at a glance</a:t>
            </a:r>
            <a:endParaRPr sz="1100" i="0" u="none" strike="noStrike" cap="none">
              <a:solidFill>
                <a:schemeClr val="dk1"/>
              </a:solidFill>
              <a:latin typeface="Proxima Nova"/>
              <a:ea typeface="Proxima Nova"/>
              <a:cs typeface="Proxima Nova"/>
              <a:sym typeface="Proxima Nova"/>
            </a:endParaRPr>
          </a:p>
        </p:txBody>
      </p:sp>
      <p:cxnSp>
        <p:nvCxnSpPr>
          <p:cNvPr id="123" name="Google Shape;123;p21"/>
          <p:cNvCxnSpPr/>
          <p:nvPr/>
        </p:nvCxnSpPr>
        <p:spPr>
          <a:xfrm>
            <a:off x="4843463" y="2884512"/>
            <a:ext cx="3495600" cy="0"/>
          </a:xfrm>
          <a:prstGeom prst="straightConnector1">
            <a:avLst/>
          </a:prstGeom>
          <a:noFill/>
          <a:ln w="7150" cap="flat" cmpd="sng">
            <a:solidFill>
              <a:srgbClr val="DED9CE"/>
            </a:solidFill>
            <a:prstDash val="solid"/>
            <a:round/>
            <a:headEnd type="none" w="sm" len="sm"/>
            <a:tailEnd type="none" w="sm" len="sm"/>
          </a:ln>
        </p:spPr>
      </p:cxnSp>
      <p:sp>
        <p:nvSpPr>
          <p:cNvPr id="124" name="Google Shape;124;p21"/>
          <p:cNvSpPr/>
          <p:nvPr/>
        </p:nvSpPr>
        <p:spPr>
          <a:xfrm>
            <a:off x="4843463" y="2611636"/>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1100"/>
              <a:buFont typeface="Plus Jakarta Sans"/>
              <a:buNone/>
            </a:pPr>
            <a:r>
              <a:rPr lang="en" sz="1100" b="1" i="0" u="none" strike="noStrike" cap="none">
                <a:solidFill>
                  <a:srgbClr val="07947C"/>
                </a:solidFill>
                <a:latin typeface="Proxima Nova"/>
                <a:ea typeface="Proxima Nova"/>
                <a:cs typeface="Proxima Nova"/>
                <a:sym typeface="Proxima Nova"/>
              </a:rPr>
              <a:t>06</a:t>
            </a:r>
            <a:endParaRPr sz="1100" i="0" u="none" strike="noStrike" cap="none">
              <a:solidFill>
                <a:srgbClr val="07947C"/>
              </a:solidFill>
              <a:latin typeface="Proxima Nova"/>
              <a:ea typeface="Proxima Nova"/>
              <a:cs typeface="Proxima Nova"/>
              <a:sym typeface="Proxima Nova"/>
            </a:endParaRPr>
          </a:p>
        </p:txBody>
      </p:sp>
      <p:sp>
        <p:nvSpPr>
          <p:cNvPr id="125" name="Google Shape;125;p21"/>
          <p:cNvSpPr/>
          <p:nvPr/>
        </p:nvSpPr>
        <p:spPr>
          <a:xfrm>
            <a:off x="5224463" y="2625923"/>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i="0" u="none" strike="noStrike" cap="none">
                <a:solidFill>
                  <a:srgbClr val="1C2230"/>
                </a:solidFill>
                <a:latin typeface="Proxima Nova"/>
                <a:ea typeface="Proxima Nova"/>
                <a:cs typeface="Proxima Nova"/>
                <a:sym typeface="Proxima Nova"/>
              </a:rPr>
              <a:t>Contract </a:t>
            </a:r>
            <a:r>
              <a:rPr lang="en" sz="1100">
                <a:solidFill>
                  <a:srgbClr val="1C2230"/>
                </a:solidFill>
                <a:latin typeface="Proxima Nova"/>
                <a:ea typeface="Proxima Nova"/>
                <a:cs typeface="Proxima Nova"/>
                <a:sym typeface="Proxima Nova"/>
              </a:rPr>
              <a:t>walkthrough</a:t>
            </a:r>
            <a:endParaRPr sz="1100" i="0" u="none" strike="noStrike" cap="none">
              <a:solidFill>
                <a:schemeClr val="dk1"/>
              </a:solidFill>
              <a:latin typeface="Proxima Nova"/>
              <a:ea typeface="Proxima Nova"/>
              <a:cs typeface="Proxima Nova"/>
              <a:sym typeface="Proxima Nova"/>
            </a:endParaRPr>
          </a:p>
        </p:txBody>
      </p:sp>
      <p:cxnSp>
        <p:nvCxnSpPr>
          <p:cNvPr id="126" name="Google Shape;126;p21"/>
          <p:cNvCxnSpPr/>
          <p:nvPr/>
        </p:nvCxnSpPr>
        <p:spPr>
          <a:xfrm>
            <a:off x="4843463" y="3235970"/>
            <a:ext cx="3495600" cy="0"/>
          </a:xfrm>
          <a:prstGeom prst="straightConnector1">
            <a:avLst/>
          </a:prstGeom>
          <a:noFill/>
          <a:ln w="7150" cap="flat" cmpd="sng">
            <a:solidFill>
              <a:srgbClr val="DED9CE"/>
            </a:solidFill>
            <a:prstDash val="solid"/>
            <a:round/>
            <a:headEnd type="none" w="sm" len="sm"/>
            <a:tailEnd type="none" w="sm" len="sm"/>
          </a:ln>
        </p:spPr>
      </p:cxnSp>
      <p:sp>
        <p:nvSpPr>
          <p:cNvPr id="127" name="Google Shape;127;p21"/>
          <p:cNvSpPr/>
          <p:nvPr/>
        </p:nvSpPr>
        <p:spPr>
          <a:xfrm>
            <a:off x="4843463" y="2963093"/>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1100"/>
              <a:buFont typeface="Plus Jakarta Sans"/>
              <a:buNone/>
            </a:pPr>
            <a:r>
              <a:rPr lang="en" sz="1100" b="1" i="0" u="none" strike="noStrike" cap="none">
                <a:solidFill>
                  <a:srgbClr val="07947C"/>
                </a:solidFill>
                <a:latin typeface="Proxima Nova"/>
                <a:ea typeface="Proxima Nova"/>
                <a:cs typeface="Proxima Nova"/>
                <a:sym typeface="Proxima Nova"/>
              </a:rPr>
              <a:t>07</a:t>
            </a:r>
            <a:endParaRPr sz="1100" i="0" u="none" strike="noStrike" cap="none">
              <a:solidFill>
                <a:srgbClr val="07947C"/>
              </a:solidFill>
              <a:latin typeface="Proxima Nova"/>
              <a:ea typeface="Proxima Nova"/>
              <a:cs typeface="Proxima Nova"/>
              <a:sym typeface="Proxima Nova"/>
            </a:endParaRPr>
          </a:p>
        </p:txBody>
      </p:sp>
      <p:sp>
        <p:nvSpPr>
          <p:cNvPr id="128" name="Google Shape;128;p21"/>
          <p:cNvSpPr/>
          <p:nvPr/>
        </p:nvSpPr>
        <p:spPr>
          <a:xfrm>
            <a:off x="5224463" y="2977381"/>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i="0" u="none" strike="noStrike" cap="none">
                <a:solidFill>
                  <a:srgbClr val="1C2230"/>
                </a:solidFill>
                <a:latin typeface="Proxima Nova"/>
                <a:ea typeface="Proxima Nova"/>
                <a:cs typeface="Proxima Nova"/>
                <a:sym typeface="Proxima Nova"/>
              </a:rPr>
              <a:t>Baseline walkthrough</a:t>
            </a:r>
            <a:endParaRPr sz="1100" i="0" u="none" strike="noStrike" cap="none">
              <a:solidFill>
                <a:schemeClr val="dk1"/>
              </a:solidFill>
              <a:latin typeface="Proxima Nova"/>
              <a:ea typeface="Proxima Nova"/>
              <a:cs typeface="Proxima Nova"/>
              <a:sym typeface="Proxima Nova"/>
            </a:endParaRPr>
          </a:p>
        </p:txBody>
      </p:sp>
      <p:cxnSp>
        <p:nvCxnSpPr>
          <p:cNvPr id="129" name="Google Shape;129;p21"/>
          <p:cNvCxnSpPr/>
          <p:nvPr/>
        </p:nvCxnSpPr>
        <p:spPr>
          <a:xfrm>
            <a:off x="4843463" y="3587428"/>
            <a:ext cx="3495600" cy="0"/>
          </a:xfrm>
          <a:prstGeom prst="straightConnector1">
            <a:avLst/>
          </a:prstGeom>
          <a:noFill/>
          <a:ln w="7150" cap="flat" cmpd="sng">
            <a:solidFill>
              <a:srgbClr val="DED9CE"/>
            </a:solidFill>
            <a:prstDash val="solid"/>
            <a:round/>
            <a:headEnd type="none" w="sm" len="sm"/>
            <a:tailEnd type="none" w="sm" len="sm"/>
          </a:ln>
        </p:spPr>
      </p:cxnSp>
      <p:sp>
        <p:nvSpPr>
          <p:cNvPr id="130" name="Google Shape;130;p21"/>
          <p:cNvSpPr/>
          <p:nvPr/>
        </p:nvSpPr>
        <p:spPr>
          <a:xfrm>
            <a:off x="4843463" y="3314552"/>
            <a:ext cx="304800" cy="205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1100"/>
              <a:buFont typeface="Plus Jakarta Sans"/>
              <a:buNone/>
            </a:pPr>
            <a:r>
              <a:rPr lang="en" sz="1100" b="1" i="0" u="none" strike="noStrike" cap="none">
                <a:solidFill>
                  <a:srgbClr val="07947C"/>
                </a:solidFill>
                <a:latin typeface="Proxima Nova"/>
                <a:ea typeface="Proxima Nova"/>
                <a:cs typeface="Proxima Nova"/>
                <a:sym typeface="Proxima Nova"/>
              </a:rPr>
              <a:t>08</a:t>
            </a:r>
            <a:endParaRPr sz="1100" i="0" u="none" strike="noStrike" cap="none">
              <a:solidFill>
                <a:srgbClr val="07947C"/>
              </a:solidFill>
              <a:latin typeface="Proxima Nova"/>
              <a:ea typeface="Proxima Nova"/>
              <a:cs typeface="Proxima Nova"/>
              <a:sym typeface="Proxima Nova"/>
            </a:endParaRPr>
          </a:p>
        </p:txBody>
      </p:sp>
      <p:sp>
        <p:nvSpPr>
          <p:cNvPr id="131" name="Google Shape;131;p21"/>
          <p:cNvSpPr/>
          <p:nvPr/>
        </p:nvSpPr>
        <p:spPr>
          <a:xfrm>
            <a:off x="5224463" y="3328839"/>
            <a:ext cx="3208200" cy="199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C2230"/>
              </a:buClr>
              <a:buSzPts val="1100"/>
              <a:buFont typeface="Inter"/>
              <a:buNone/>
            </a:pPr>
            <a:r>
              <a:rPr lang="en" sz="1100" i="0" u="none" strike="noStrike" cap="none">
                <a:solidFill>
                  <a:srgbClr val="1C2230"/>
                </a:solidFill>
                <a:latin typeface="Proxima Nova"/>
                <a:ea typeface="Proxima Nova"/>
                <a:cs typeface="Proxima Nova"/>
                <a:sym typeface="Proxima Nova"/>
              </a:rPr>
              <a:t>Immediate priorities </a:t>
            </a:r>
            <a:endParaRPr sz="110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p:nvPr/>
        </p:nvSpPr>
        <p:spPr>
          <a:xfrm>
            <a:off x="214200" y="-29275"/>
            <a:ext cx="8929800" cy="51435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lt1"/>
                </a:solidFill>
                <a:latin typeface="Open Sans"/>
                <a:ea typeface="Open Sans"/>
                <a:cs typeface="Open Sans"/>
                <a:sym typeface="Open Sans"/>
              </a:rPr>
              <a:t> </a:t>
            </a:r>
            <a:endParaRPr sz="1400">
              <a:solidFill>
                <a:schemeClr val="lt1"/>
              </a:solidFill>
              <a:latin typeface="Open Sans"/>
              <a:ea typeface="Open Sans"/>
              <a:cs typeface="Open Sans"/>
              <a:sym typeface="Open Sans"/>
            </a:endParaRPr>
          </a:p>
        </p:txBody>
      </p:sp>
      <p:sp>
        <p:nvSpPr>
          <p:cNvPr id="137" name="Google Shape;137;p22"/>
          <p:cNvSpPr txBox="1">
            <a:spLocks noGrp="1"/>
          </p:cNvSpPr>
          <p:nvPr>
            <p:ph type="ctrTitle"/>
          </p:nvPr>
        </p:nvSpPr>
        <p:spPr>
          <a:xfrm>
            <a:off x="666750" y="1001575"/>
            <a:ext cx="5575500" cy="1167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Proxima Nova"/>
                <a:ea typeface="Proxima Nova"/>
                <a:cs typeface="Proxima Nova"/>
                <a:sym typeface="Proxima Nova"/>
              </a:rPr>
              <a:t>How Toptal Projects Work</a:t>
            </a:r>
            <a:endParaRPr sz="1800">
              <a:solidFill>
                <a:schemeClr val="accent4"/>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WHO YOU REPRESENT</a:t>
            </a:r>
            <a:endParaRPr sz="900" i="0" u="none" strike="noStrike" cap="none">
              <a:solidFill>
                <a:srgbClr val="000000"/>
              </a:solidFill>
              <a:latin typeface="Proxima Nova"/>
              <a:ea typeface="Proxima Nova"/>
              <a:cs typeface="Proxima Nova"/>
              <a:sym typeface="Proxima Nova"/>
            </a:endParaRPr>
          </a:p>
        </p:txBody>
      </p:sp>
      <p:graphicFrame>
        <p:nvGraphicFramePr>
          <p:cNvPr id="143" name="Google Shape;143;p23"/>
          <p:cNvGraphicFramePr/>
          <p:nvPr/>
        </p:nvGraphicFramePr>
        <p:xfrm>
          <a:off x="824463" y="1410499"/>
          <a:ext cx="3000000" cy="3000000"/>
        </p:xfrm>
        <a:graphic>
          <a:graphicData uri="http://schemas.openxmlformats.org/drawingml/2006/table">
            <a:tbl>
              <a:tblPr>
                <a:noFill/>
                <a:tableStyleId>{CCF2D8BE-1765-4251-A71B-D7E14FF0B7AB}</a:tableStyleId>
              </a:tblPr>
              <a:tblGrid>
                <a:gridCol w="1538700">
                  <a:extLst>
                    <a:ext uri="{9D8B030D-6E8A-4147-A177-3AD203B41FA5}">
                      <a16:colId xmlns:a16="http://schemas.microsoft.com/office/drawing/2014/main" val="20000"/>
                    </a:ext>
                  </a:extLst>
                </a:gridCol>
                <a:gridCol w="2978175">
                  <a:extLst>
                    <a:ext uri="{9D8B030D-6E8A-4147-A177-3AD203B41FA5}">
                      <a16:colId xmlns:a16="http://schemas.microsoft.com/office/drawing/2014/main" val="20001"/>
                    </a:ext>
                  </a:extLst>
                </a:gridCol>
                <a:gridCol w="29781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solidFill>
                      <a:srgbClr val="0F256E"/>
                    </a:solidFill>
                  </a:tcPr>
                </a:tc>
                <a:tc>
                  <a:txBody>
                    <a:bodyPr/>
                    <a:lstStyle/>
                    <a:p>
                      <a:pPr marL="0" lvl="0" indent="0" algn="l" rtl="0">
                        <a:spcBef>
                          <a:spcPts val="0"/>
                        </a:spcBef>
                        <a:spcAft>
                          <a:spcPts val="0"/>
                        </a:spcAft>
                        <a:buNone/>
                      </a:pPr>
                      <a:r>
                        <a:rPr lang="en" sz="1100" b="1">
                          <a:solidFill>
                            <a:schemeClr val="lt1"/>
                          </a:solidFill>
                          <a:latin typeface="Proxima Nova"/>
                          <a:ea typeface="Proxima Nova"/>
                          <a:cs typeface="Proxima Nova"/>
                          <a:sym typeface="Proxima Nova"/>
                        </a:rPr>
                        <a:t>Talent Engagement</a:t>
                      </a:r>
                      <a:endParaRPr sz="1100" b="1">
                        <a:solidFill>
                          <a:schemeClr val="lt1"/>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solidFill>
                      <a:srgbClr val="0F256E"/>
                    </a:solidFill>
                  </a:tcPr>
                </a:tc>
                <a:tc>
                  <a:txBody>
                    <a:bodyPr/>
                    <a:lstStyle/>
                    <a:p>
                      <a:pPr marL="0" lvl="0" indent="0" algn="l" rtl="0">
                        <a:spcBef>
                          <a:spcPts val="0"/>
                        </a:spcBef>
                        <a:spcAft>
                          <a:spcPts val="0"/>
                        </a:spcAft>
                        <a:buNone/>
                      </a:pPr>
                      <a:r>
                        <a:rPr lang="en" sz="1100" b="1">
                          <a:solidFill>
                            <a:schemeClr val="lt1"/>
                          </a:solidFill>
                          <a:latin typeface="Proxima Nova"/>
                          <a:ea typeface="Proxima Nova"/>
                          <a:cs typeface="Proxima Nova"/>
                          <a:sym typeface="Proxima Nova"/>
                        </a:rPr>
                        <a:t>Professional Services Project</a:t>
                      </a:r>
                      <a:endParaRPr sz="1100" b="1">
                        <a:solidFill>
                          <a:schemeClr val="lt1"/>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solidFill>
                      <a:srgbClr val="0F256E"/>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000" i="1">
                          <a:latin typeface="Proxima Nova"/>
                          <a:ea typeface="Proxima Nova"/>
                          <a:cs typeface="Proxima Nova"/>
                          <a:sym typeface="Proxima Nova"/>
                        </a:rPr>
                        <a:t>You work for</a:t>
                      </a:r>
                      <a:endParaRPr sz="1000" i="1">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Proxima Nova"/>
                          <a:ea typeface="Proxima Nova"/>
                          <a:cs typeface="Proxima Nova"/>
                          <a:sym typeface="Proxima Nova"/>
                        </a:rPr>
                        <a:t>The client, as an extension of their team</a:t>
                      </a:r>
                      <a:endParaRPr sz="1100">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accent2"/>
                          </a:solidFill>
                          <a:latin typeface="Proxima Nova"/>
                          <a:ea typeface="Proxima Nova"/>
                          <a:cs typeface="Proxima Nova"/>
                          <a:sym typeface="Proxima Nova"/>
                        </a:rPr>
                        <a:t>Toptal, leading delivery on Toptal’s behalf</a:t>
                      </a:r>
                      <a:endParaRPr sz="1100">
                        <a:solidFill>
                          <a:schemeClr val="accent2"/>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000" i="1">
                          <a:latin typeface="Proxima Nova"/>
                          <a:ea typeface="Proxima Nova"/>
                          <a:cs typeface="Proxima Nova"/>
                          <a:sym typeface="Proxima Nova"/>
                        </a:rPr>
                        <a:t>The work is defined by</a:t>
                      </a:r>
                      <a:endParaRPr sz="1000" i="1">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Proxima Nova"/>
                          <a:ea typeface="Proxima Nova"/>
                          <a:cs typeface="Proxima Nova"/>
                          <a:sym typeface="Proxima Nova"/>
                        </a:rPr>
                        <a:t>The client</a:t>
                      </a:r>
                      <a:endParaRPr sz="1100">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accent2"/>
                          </a:solidFill>
                          <a:latin typeface="Proxima Nova"/>
                          <a:ea typeface="Proxima Nova"/>
                          <a:cs typeface="Proxima Nova"/>
                          <a:sym typeface="Proxima Nova"/>
                        </a:rPr>
                        <a:t>The contract </a:t>
                      </a:r>
                      <a:endParaRPr sz="1100">
                        <a:solidFill>
                          <a:schemeClr val="accent2"/>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000" i="1">
                          <a:latin typeface="Proxima Nova"/>
                          <a:ea typeface="Proxima Nova"/>
                          <a:cs typeface="Proxima Nova"/>
                          <a:sym typeface="Proxima Nova"/>
                        </a:rPr>
                        <a:t>Toptal is accountable for</a:t>
                      </a:r>
                      <a:endParaRPr sz="1000" i="1">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Proxima Nova"/>
                          <a:ea typeface="Proxima Nova"/>
                          <a:cs typeface="Proxima Nova"/>
                          <a:sym typeface="Proxima Nova"/>
                        </a:rPr>
                        <a:t>Finding the right talent with sufficient capacity to meet client needs</a:t>
                      </a:r>
                      <a:endParaRPr sz="1100">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accent2"/>
                          </a:solidFill>
                          <a:latin typeface="Proxima Nova"/>
                          <a:ea typeface="Proxima Nova"/>
                          <a:cs typeface="Proxima Nova"/>
                          <a:sym typeface="Proxima Nova"/>
                        </a:rPr>
                        <a:t>Contracted outcomes, deliverables, schedule, and budget</a:t>
                      </a:r>
                      <a:endParaRPr sz="1100">
                        <a:solidFill>
                          <a:schemeClr val="accent2"/>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000" i="1">
                          <a:latin typeface="Proxima Nova"/>
                          <a:ea typeface="Proxima Nova"/>
                          <a:cs typeface="Proxima Nova"/>
                          <a:sym typeface="Proxima Nova"/>
                        </a:rPr>
                        <a:t>Health is judged by</a:t>
                      </a:r>
                      <a:endParaRPr sz="1000" i="1">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Proxima Nova"/>
                          <a:ea typeface="Proxima Nova"/>
                          <a:cs typeface="Proxima Nova"/>
                          <a:sym typeface="Proxima Nova"/>
                        </a:rPr>
                        <a:t>Client perception of your performance</a:t>
                      </a:r>
                      <a:endParaRPr sz="1100">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accent2"/>
                          </a:solidFill>
                          <a:latin typeface="Proxima Nova"/>
                          <a:ea typeface="Proxima Nova"/>
                          <a:cs typeface="Proxima Nova"/>
                          <a:sym typeface="Proxima Nova"/>
                        </a:rPr>
                        <a:t>An independent PMO rating against contracted outcomes </a:t>
                      </a:r>
                      <a:endParaRPr sz="1100">
                        <a:solidFill>
                          <a:schemeClr val="accent2"/>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000" i="1">
                          <a:latin typeface="Proxima Nova"/>
                          <a:ea typeface="Proxima Nova"/>
                          <a:cs typeface="Proxima Nova"/>
                          <a:sym typeface="Proxima Nova"/>
                        </a:rPr>
                        <a:t>A new client request</a:t>
                      </a:r>
                      <a:endParaRPr sz="1000" i="1">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Proxima Nova"/>
                          <a:ea typeface="Proxima Nova"/>
                          <a:cs typeface="Proxima Nova"/>
                          <a:sym typeface="Proxima Nova"/>
                        </a:rPr>
                        <a:t>Is assigned by the client and worked by the talent</a:t>
                      </a:r>
                      <a:endParaRPr sz="1100">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accent2"/>
                          </a:solidFill>
                          <a:latin typeface="Proxima Nova"/>
                          <a:ea typeface="Proxima Nova"/>
                          <a:cs typeface="Proxima Nova"/>
                          <a:sym typeface="Proxima Nova"/>
                        </a:rPr>
                        <a:t>Is logged, assessed for impact, and mutually agreed to before work begins</a:t>
                      </a:r>
                      <a:endParaRPr sz="1100">
                        <a:solidFill>
                          <a:schemeClr val="accent2"/>
                        </a:solidFill>
                        <a:latin typeface="Proxima Nova"/>
                        <a:ea typeface="Proxima Nova"/>
                        <a:cs typeface="Proxima Nova"/>
                        <a:sym typeface="Proxima Nova"/>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44" name="Google Shape;144;p23"/>
          <p:cNvSpPr/>
          <p:nvPr/>
        </p:nvSpPr>
        <p:spPr>
          <a:xfrm>
            <a:off x="610362" y="4272972"/>
            <a:ext cx="7923300" cy="480300"/>
          </a:xfrm>
          <a:prstGeom prst="roundRect">
            <a:avLst>
              <a:gd name="adj" fmla="val 11429"/>
            </a:avLst>
          </a:prstGeom>
          <a:solidFill>
            <a:srgbClr val="0F256E"/>
          </a:solidFill>
          <a:ln w="9525" cap="flat" cmpd="sng">
            <a:solidFill>
              <a:srgbClr val="0F256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5" name="Google Shape;145;p23"/>
          <p:cNvSpPr/>
          <p:nvPr/>
        </p:nvSpPr>
        <p:spPr>
          <a:xfrm>
            <a:off x="816102" y="4362126"/>
            <a:ext cx="41100" cy="301800"/>
          </a:xfrm>
          <a:prstGeom prst="rect">
            <a:avLst/>
          </a:prstGeom>
          <a:solidFill>
            <a:srgbClr val="00CC83"/>
          </a:solidFill>
          <a:ln w="9525" cap="flat" cmpd="sng">
            <a:solidFill>
              <a:srgbClr val="00CC8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146" name="Google Shape;146;p23"/>
          <p:cNvSpPr txBox="1"/>
          <p:nvPr/>
        </p:nvSpPr>
        <p:spPr>
          <a:xfrm>
            <a:off x="987552" y="4272972"/>
            <a:ext cx="7374300" cy="48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6FB"/>
              </a:buClr>
              <a:buSzPts val="1100"/>
              <a:buFont typeface="Inter"/>
              <a:buNone/>
            </a:pPr>
            <a:r>
              <a:rPr lang="en" sz="1100">
                <a:solidFill>
                  <a:srgbClr val="F4F6FB"/>
                </a:solidFill>
                <a:latin typeface="Proxima Nova"/>
                <a:ea typeface="Proxima Nova"/>
                <a:cs typeface="Proxima Nova"/>
                <a:sym typeface="Proxima Nova"/>
              </a:rPr>
              <a:t>Core principle: </a:t>
            </a:r>
            <a:r>
              <a:rPr lang="en" sz="1100" b="1">
                <a:solidFill>
                  <a:srgbClr val="F4F6FB"/>
                </a:solidFill>
                <a:latin typeface="Proxima Nova"/>
                <a:ea typeface="Proxima Nova"/>
                <a:cs typeface="Proxima Nova"/>
                <a:sym typeface="Proxima Nova"/>
              </a:rPr>
              <a:t>The contract defines the work</a:t>
            </a:r>
            <a:r>
              <a:rPr lang="en" sz="1100">
                <a:solidFill>
                  <a:srgbClr val="F4F6FB"/>
                </a:solidFill>
                <a:latin typeface="Proxima Nova"/>
                <a:ea typeface="Proxima Nova"/>
                <a:cs typeface="Proxima Nova"/>
                <a:sym typeface="Proxima Nova"/>
              </a:rPr>
              <a:t>. Client requests do not automatically become authorized work. </a:t>
            </a:r>
            <a:endParaRPr sz="1100" i="0" u="none" strike="noStrike" cap="none">
              <a:solidFill>
                <a:schemeClr val="dk1"/>
              </a:solidFill>
              <a:latin typeface="Proxima Nova"/>
              <a:ea typeface="Proxima Nova"/>
              <a:cs typeface="Proxima Nova"/>
              <a:sym typeface="Proxima Nova"/>
            </a:endParaRPr>
          </a:p>
        </p:txBody>
      </p:sp>
      <p:sp>
        <p:nvSpPr>
          <p:cNvPr id="147" name="Google Shape;147;p23"/>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Two delivery models, two different jobs</a:t>
            </a:r>
            <a:endParaRPr sz="210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Three roles govern every professional services project</a:t>
            </a:r>
            <a:endParaRPr sz="2100" i="0" u="none" strike="noStrike" cap="none">
              <a:solidFill>
                <a:schemeClr val="dk1"/>
              </a:solidFill>
              <a:latin typeface="Proxima Nova"/>
              <a:ea typeface="Proxima Nova"/>
              <a:cs typeface="Proxima Nova"/>
              <a:sym typeface="Proxima Nova"/>
            </a:endParaRPr>
          </a:p>
        </p:txBody>
      </p:sp>
      <p:sp>
        <p:nvSpPr>
          <p:cNvPr id="153" name="Google Shape;153;p24"/>
          <p:cNvSpPr/>
          <p:nvPr/>
        </p:nvSpPr>
        <p:spPr>
          <a:xfrm>
            <a:off x="3301670" y="1531620"/>
            <a:ext cx="2540400" cy="2846100"/>
          </a:xfrm>
          <a:prstGeom prst="roundRect">
            <a:avLst>
              <a:gd name="adj" fmla="val 216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4" name="Google Shape;154;p24"/>
          <p:cNvSpPr txBox="1"/>
          <p:nvPr/>
        </p:nvSpPr>
        <p:spPr>
          <a:xfrm>
            <a:off x="3507410" y="1745943"/>
            <a:ext cx="21291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900"/>
              <a:buFont typeface="Inter"/>
              <a:buNone/>
            </a:pPr>
            <a:r>
              <a:rPr lang="en" sz="900" b="1" i="0" u="none" strike="noStrike" cap="none">
                <a:solidFill>
                  <a:srgbClr val="5B6475"/>
                </a:solidFill>
                <a:latin typeface="Proxima Nova"/>
                <a:ea typeface="Proxima Nova"/>
                <a:cs typeface="Proxima Nova"/>
                <a:sym typeface="Proxima Nova"/>
              </a:rPr>
              <a:t>VALUE REALIZATION</a:t>
            </a:r>
            <a:endParaRPr sz="900" i="0" u="none" strike="noStrike" cap="none">
              <a:solidFill>
                <a:schemeClr val="dk1"/>
              </a:solidFill>
              <a:latin typeface="Proxima Nova"/>
              <a:ea typeface="Proxima Nova"/>
              <a:cs typeface="Proxima Nova"/>
              <a:sym typeface="Proxima Nova"/>
            </a:endParaRPr>
          </a:p>
        </p:txBody>
      </p:sp>
      <p:sp>
        <p:nvSpPr>
          <p:cNvPr id="155" name="Google Shape;155;p24"/>
          <p:cNvSpPr txBox="1"/>
          <p:nvPr/>
        </p:nvSpPr>
        <p:spPr>
          <a:xfrm>
            <a:off x="3507410" y="2020263"/>
            <a:ext cx="21291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400"/>
              <a:buFont typeface="Inter"/>
              <a:buNone/>
            </a:pPr>
            <a:r>
              <a:rPr lang="en" sz="1400" b="1" i="0" u="none" strike="noStrike" cap="none">
                <a:solidFill>
                  <a:srgbClr val="1B2336"/>
                </a:solidFill>
                <a:latin typeface="Proxima Nova"/>
                <a:ea typeface="Proxima Nova"/>
                <a:cs typeface="Proxima Nova"/>
                <a:sym typeface="Proxima Nova"/>
              </a:rPr>
              <a:t>Delivery Manager</a:t>
            </a:r>
            <a:endParaRPr sz="1400" i="0" u="none" strike="noStrike" cap="none">
              <a:solidFill>
                <a:schemeClr val="dk1"/>
              </a:solidFill>
              <a:latin typeface="Proxima Nova"/>
              <a:ea typeface="Proxima Nova"/>
              <a:cs typeface="Proxima Nova"/>
              <a:sym typeface="Proxima Nova"/>
            </a:endParaRPr>
          </a:p>
        </p:txBody>
      </p:sp>
      <p:sp>
        <p:nvSpPr>
          <p:cNvPr id="156" name="Google Shape;156;p24"/>
          <p:cNvSpPr txBox="1"/>
          <p:nvPr/>
        </p:nvSpPr>
        <p:spPr>
          <a:xfrm>
            <a:off x="3507410" y="2363163"/>
            <a:ext cx="21291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1000"/>
              <a:buFont typeface="Inter"/>
              <a:buNone/>
            </a:pPr>
            <a:r>
              <a:rPr lang="en" sz="1000" i="1">
                <a:solidFill>
                  <a:srgbClr val="5B6475"/>
                </a:solidFill>
                <a:latin typeface="Proxima Nova"/>
                <a:ea typeface="Proxima Nova"/>
                <a:cs typeface="Proxima Nova"/>
                <a:sym typeface="Proxima Nova"/>
              </a:rPr>
              <a:t>Outcomes advocate</a:t>
            </a:r>
            <a:endParaRPr sz="1000" i="0" u="none" strike="noStrike" cap="none">
              <a:solidFill>
                <a:schemeClr val="dk1"/>
              </a:solidFill>
              <a:latin typeface="Proxima Nova"/>
              <a:ea typeface="Proxima Nova"/>
              <a:cs typeface="Proxima Nova"/>
              <a:sym typeface="Proxima Nova"/>
            </a:endParaRPr>
          </a:p>
        </p:txBody>
      </p:sp>
      <p:sp>
        <p:nvSpPr>
          <p:cNvPr id="157" name="Google Shape;157;p24"/>
          <p:cNvSpPr txBox="1"/>
          <p:nvPr/>
        </p:nvSpPr>
        <p:spPr>
          <a:xfrm>
            <a:off x="3507410" y="2663190"/>
            <a:ext cx="2129100" cy="1611600"/>
          </a:xfrm>
          <a:prstGeom prst="rect">
            <a:avLst/>
          </a:prstGeom>
          <a:noFill/>
          <a:ln>
            <a:noFill/>
          </a:ln>
        </p:spPr>
        <p:txBody>
          <a:bodyPr spcFirstLastPara="1" wrap="square" lIns="0" tIns="0" rIns="0" bIns="0" anchor="t" anchorCtr="0">
            <a:noAutofit/>
          </a:bodyPr>
          <a:lstStyle/>
          <a:p>
            <a:pPr marL="254000" marR="0" lvl="0" indent="-254000" algn="l" rtl="0">
              <a:spcBef>
                <a:spcPts val="0"/>
              </a:spcBef>
              <a:spcAft>
                <a:spcPts val="0"/>
              </a:spcAft>
              <a:buClr>
                <a:srgbClr val="1B2336"/>
              </a:buClr>
              <a:buSzPts val="1000"/>
              <a:buFont typeface="Proxima Nova"/>
              <a:buChar char="•"/>
            </a:pPr>
            <a:r>
              <a:rPr lang="en" sz="1000" i="0" u="none" strike="noStrike" cap="none">
                <a:solidFill>
                  <a:srgbClr val="1B2336"/>
                </a:solidFill>
                <a:latin typeface="Proxima Nova"/>
                <a:ea typeface="Proxima Nova"/>
                <a:cs typeface="Proxima Nova"/>
                <a:sym typeface="Proxima Nova"/>
              </a:rPr>
              <a:t>Advocates for client outcomes</a:t>
            </a:r>
            <a:endParaRPr sz="1000" i="0" u="none" strike="noStrike" cap="none">
              <a:solidFill>
                <a:schemeClr val="dk1"/>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i="0" u="none" strike="noStrike" cap="none">
                <a:solidFill>
                  <a:srgbClr val="1B2336"/>
                </a:solidFill>
                <a:latin typeface="Proxima Nova"/>
                <a:ea typeface="Proxima Nova"/>
                <a:cs typeface="Proxima Nova"/>
                <a:sym typeface="Proxima Nova"/>
              </a:rPr>
              <a:t>Keeps stakeholders aligned</a:t>
            </a:r>
            <a:endParaRPr sz="1000" i="0" u="none" strike="noStrike" cap="none">
              <a:solidFill>
                <a:schemeClr val="dk1"/>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i="0" u="none" strike="noStrike" cap="none">
                <a:solidFill>
                  <a:srgbClr val="1B2336"/>
                </a:solidFill>
                <a:latin typeface="Proxima Nova"/>
                <a:ea typeface="Proxima Nova"/>
                <a:cs typeface="Proxima Nova"/>
                <a:sym typeface="Proxima Nova"/>
              </a:rPr>
              <a:t>Owns value realization for the </a:t>
            </a:r>
            <a:r>
              <a:rPr lang="en" sz="1000">
                <a:solidFill>
                  <a:srgbClr val="1B2336"/>
                </a:solidFill>
                <a:latin typeface="Proxima Nova"/>
                <a:ea typeface="Proxima Nova"/>
                <a:cs typeface="Proxima Nova"/>
                <a:sym typeface="Proxima Nova"/>
              </a:rPr>
              <a:t>project</a:t>
            </a:r>
            <a:endParaRPr sz="1000">
              <a:solidFill>
                <a:srgbClr val="1B2336"/>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b="1">
                <a:solidFill>
                  <a:srgbClr val="1B2336"/>
                </a:solidFill>
                <a:latin typeface="Proxima Nova"/>
                <a:ea typeface="Proxima Nova"/>
                <a:cs typeface="Proxima Nova"/>
                <a:sym typeface="Proxima Nova"/>
              </a:rPr>
              <a:t>Leads the client conversation when delivery is at risk</a:t>
            </a:r>
            <a:endParaRPr sz="1000" b="1">
              <a:solidFill>
                <a:srgbClr val="1B2336"/>
              </a:solidFill>
              <a:latin typeface="Proxima Nova"/>
              <a:ea typeface="Proxima Nova"/>
              <a:cs typeface="Proxima Nova"/>
              <a:sym typeface="Proxima Nova"/>
            </a:endParaRPr>
          </a:p>
        </p:txBody>
      </p:sp>
      <p:sp>
        <p:nvSpPr>
          <p:cNvPr id="158" name="Google Shape;158;p24"/>
          <p:cNvSpPr/>
          <p:nvPr/>
        </p:nvSpPr>
        <p:spPr>
          <a:xfrm>
            <a:off x="610378" y="1531620"/>
            <a:ext cx="2540400" cy="2846100"/>
          </a:xfrm>
          <a:prstGeom prst="roundRect">
            <a:avLst>
              <a:gd name="adj" fmla="val 2160"/>
            </a:avLst>
          </a:prstGeom>
          <a:solidFill>
            <a:srgbClr val="FDFDFE"/>
          </a:solidFill>
          <a:ln w="9525"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9" name="Google Shape;159;p24"/>
          <p:cNvSpPr txBox="1"/>
          <p:nvPr/>
        </p:nvSpPr>
        <p:spPr>
          <a:xfrm>
            <a:off x="816118" y="1745943"/>
            <a:ext cx="21291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CC83"/>
              </a:buClr>
              <a:buSzPts val="900"/>
              <a:buFont typeface="Inter"/>
              <a:buNone/>
            </a:pPr>
            <a:r>
              <a:rPr lang="en" sz="900" b="1" i="0" u="none" strike="noStrike" cap="none">
                <a:solidFill>
                  <a:srgbClr val="5B6475"/>
                </a:solidFill>
                <a:latin typeface="Proxima Nova"/>
                <a:ea typeface="Proxima Nova"/>
                <a:cs typeface="Proxima Nova"/>
                <a:sym typeface="Proxima Nova"/>
              </a:rPr>
              <a:t>DELIVERY ASSURANCE</a:t>
            </a:r>
            <a:endParaRPr sz="900" i="0" u="none" strike="noStrike" cap="none">
              <a:solidFill>
                <a:srgbClr val="5B6475"/>
              </a:solidFill>
              <a:latin typeface="Proxima Nova"/>
              <a:ea typeface="Proxima Nova"/>
              <a:cs typeface="Proxima Nova"/>
              <a:sym typeface="Proxima Nova"/>
            </a:endParaRPr>
          </a:p>
        </p:txBody>
      </p:sp>
      <p:sp>
        <p:nvSpPr>
          <p:cNvPr id="160" name="Google Shape;160;p24"/>
          <p:cNvSpPr txBox="1"/>
          <p:nvPr/>
        </p:nvSpPr>
        <p:spPr>
          <a:xfrm>
            <a:off x="816118" y="2020263"/>
            <a:ext cx="21291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4F6FB"/>
              </a:buClr>
              <a:buSzPts val="1400"/>
              <a:buFont typeface="Inter"/>
              <a:buNone/>
            </a:pPr>
            <a:r>
              <a:rPr lang="en" sz="1400" b="1" i="0" u="none" strike="noStrike" cap="none">
                <a:solidFill>
                  <a:srgbClr val="1B2336"/>
                </a:solidFill>
                <a:latin typeface="Proxima Nova"/>
                <a:ea typeface="Proxima Nova"/>
                <a:cs typeface="Proxima Nova"/>
                <a:sym typeface="Proxima Nova"/>
              </a:rPr>
              <a:t>PMO Portfolio Lead</a:t>
            </a:r>
            <a:endParaRPr sz="1400" i="0" u="none" strike="noStrike" cap="none">
              <a:solidFill>
                <a:srgbClr val="1B2336"/>
              </a:solidFill>
              <a:latin typeface="Proxima Nova"/>
              <a:ea typeface="Proxima Nova"/>
              <a:cs typeface="Proxima Nova"/>
              <a:sym typeface="Proxima Nova"/>
            </a:endParaRPr>
          </a:p>
        </p:txBody>
      </p:sp>
      <p:sp>
        <p:nvSpPr>
          <p:cNvPr id="161" name="Google Shape;161;p24"/>
          <p:cNvSpPr txBox="1"/>
          <p:nvPr/>
        </p:nvSpPr>
        <p:spPr>
          <a:xfrm>
            <a:off x="816118" y="2363163"/>
            <a:ext cx="21291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9B3C7"/>
              </a:buClr>
              <a:buSzPts val="1000"/>
              <a:buFont typeface="Inter"/>
              <a:buNone/>
            </a:pPr>
            <a:r>
              <a:rPr lang="en" sz="1000" i="1" u="none" strike="noStrike" cap="none">
                <a:solidFill>
                  <a:srgbClr val="5B6475"/>
                </a:solidFill>
                <a:latin typeface="Proxima Nova"/>
                <a:ea typeface="Proxima Nova"/>
                <a:cs typeface="Proxima Nova"/>
                <a:sym typeface="Proxima Nova"/>
              </a:rPr>
              <a:t>The independent auditor</a:t>
            </a:r>
            <a:endParaRPr sz="1000" i="0" u="none" strike="noStrike" cap="none">
              <a:solidFill>
                <a:srgbClr val="5B6475"/>
              </a:solidFill>
              <a:latin typeface="Proxima Nova"/>
              <a:ea typeface="Proxima Nova"/>
              <a:cs typeface="Proxima Nova"/>
              <a:sym typeface="Proxima Nova"/>
            </a:endParaRPr>
          </a:p>
        </p:txBody>
      </p:sp>
      <p:sp>
        <p:nvSpPr>
          <p:cNvPr id="162" name="Google Shape;162;p24"/>
          <p:cNvSpPr txBox="1"/>
          <p:nvPr/>
        </p:nvSpPr>
        <p:spPr>
          <a:xfrm>
            <a:off x="816118" y="2663190"/>
            <a:ext cx="2129100" cy="1611600"/>
          </a:xfrm>
          <a:prstGeom prst="rect">
            <a:avLst/>
          </a:prstGeom>
          <a:noFill/>
          <a:ln>
            <a:noFill/>
          </a:ln>
        </p:spPr>
        <p:txBody>
          <a:bodyPr spcFirstLastPara="1" wrap="square" lIns="0" tIns="0" rIns="0" bIns="0" anchor="t" anchorCtr="0">
            <a:noAutofit/>
          </a:bodyPr>
          <a:lstStyle/>
          <a:p>
            <a:pPr marL="254000" marR="0" lvl="0" indent="-254000" algn="l" rtl="0">
              <a:spcBef>
                <a:spcPts val="0"/>
              </a:spcBef>
              <a:spcAft>
                <a:spcPts val="0"/>
              </a:spcAft>
              <a:buClr>
                <a:srgbClr val="1B2336"/>
              </a:buClr>
              <a:buSzPts val="1000"/>
              <a:buFont typeface="Proxima Nova"/>
              <a:buChar char="•"/>
            </a:pPr>
            <a:r>
              <a:rPr lang="en" sz="1000" i="0" u="none" strike="noStrike" cap="none">
                <a:solidFill>
                  <a:srgbClr val="1B2336"/>
                </a:solidFill>
                <a:latin typeface="Proxima Nova"/>
                <a:ea typeface="Proxima Nova"/>
                <a:cs typeface="Proxima Nova"/>
                <a:sym typeface="Proxima Nova"/>
              </a:rPr>
              <a:t>Independent and PMI-certified</a:t>
            </a:r>
            <a:endParaRPr sz="1000" i="0" u="none" strike="noStrike" cap="none">
              <a:solidFill>
                <a:srgbClr val="1B2336"/>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i="0" u="none" strike="noStrike" cap="none">
                <a:solidFill>
                  <a:srgbClr val="1B2336"/>
                </a:solidFill>
                <a:latin typeface="Proxima Nova"/>
                <a:ea typeface="Proxima Nova"/>
                <a:cs typeface="Proxima Nova"/>
                <a:sym typeface="Proxima Nova"/>
              </a:rPr>
              <a:t>Sets day-one baselines (WBS, RAID)</a:t>
            </a:r>
            <a:endParaRPr sz="1000" i="0" u="none" strike="noStrike" cap="none">
              <a:solidFill>
                <a:srgbClr val="1B2336"/>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i="0" u="none" strike="noStrike" cap="none">
                <a:solidFill>
                  <a:srgbClr val="1B2336"/>
                </a:solidFill>
                <a:latin typeface="Proxima Nova"/>
                <a:ea typeface="Proxima Nova"/>
                <a:cs typeface="Proxima Nova"/>
                <a:sym typeface="Proxima Nova"/>
              </a:rPr>
              <a:t>Flags </a:t>
            </a:r>
            <a:r>
              <a:rPr lang="en" sz="1000">
                <a:solidFill>
                  <a:srgbClr val="1B2336"/>
                </a:solidFill>
                <a:latin typeface="Proxima Nova"/>
                <a:ea typeface="Proxima Nova"/>
                <a:cs typeface="Proxima Nova"/>
                <a:sym typeface="Proxima Nova"/>
              </a:rPr>
              <a:t>unplanned</a:t>
            </a:r>
            <a:r>
              <a:rPr lang="en" sz="1000" i="0" u="none" strike="noStrike" cap="none">
                <a:solidFill>
                  <a:srgbClr val="1B2336"/>
                </a:solidFill>
                <a:latin typeface="Proxima Nova"/>
                <a:ea typeface="Proxima Nova"/>
                <a:cs typeface="Proxima Nova"/>
                <a:sym typeface="Proxima Nova"/>
              </a:rPr>
              <a:t> scope </a:t>
            </a:r>
            <a:r>
              <a:rPr lang="en" sz="1000">
                <a:solidFill>
                  <a:srgbClr val="1B2336"/>
                </a:solidFill>
                <a:latin typeface="Proxima Nova"/>
                <a:ea typeface="Proxima Nova"/>
                <a:cs typeface="Proxima Nova"/>
                <a:sym typeface="Proxima Nova"/>
              </a:rPr>
              <a:t>and unassessed risks / blockers</a:t>
            </a:r>
            <a:endParaRPr sz="1000" i="0" u="none" strike="noStrike" cap="none">
              <a:solidFill>
                <a:srgbClr val="1B2336"/>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a:solidFill>
                  <a:srgbClr val="1B2336"/>
                </a:solidFill>
                <a:latin typeface="Proxima Nova"/>
                <a:ea typeface="Proxima Nova"/>
                <a:cs typeface="Proxima Nova"/>
                <a:sym typeface="Proxima Nova"/>
              </a:rPr>
              <a:t>Issues the health rating; </a:t>
            </a:r>
            <a:r>
              <a:rPr lang="en" sz="1000" b="1">
                <a:solidFill>
                  <a:srgbClr val="1B2336"/>
                </a:solidFill>
                <a:latin typeface="Proxima Nova"/>
                <a:ea typeface="Proxima Nova"/>
                <a:cs typeface="Proxima Nova"/>
                <a:sym typeface="Proxima Nova"/>
              </a:rPr>
              <a:t>drafts</a:t>
            </a:r>
            <a:r>
              <a:rPr lang="en" sz="1000" b="1" i="0" u="none" strike="noStrike" cap="none">
                <a:solidFill>
                  <a:srgbClr val="1B2336"/>
                </a:solidFill>
                <a:latin typeface="Proxima Nova"/>
                <a:ea typeface="Proxima Nova"/>
                <a:cs typeface="Proxima Nova"/>
                <a:sym typeface="Proxima Nova"/>
              </a:rPr>
              <a:t> the status report</a:t>
            </a:r>
            <a:endParaRPr sz="1000" b="1" i="0" u="none" strike="noStrike" cap="none">
              <a:solidFill>
                <a:srgbClr val="1B2336"/>
              </a:solidFill>
              <a:latin typeface="Proxima Nova"/>
              <a:ea typeface="Proxima Nova"/>
              <a:cs typeface="Proxima Nova"/>
              <a:sym typeface="Proxima Nova"/>
            </a:endParaRPr>
          </a:p>
          <a:p>
            <a:pPr marL="254000" marR="0" lvl="0" indent="-254000" algn="l" rtl="0">
              <a:spcBef>
                <a:spcPts val="400"/>
              </a:spcBef>
              <a:spcAft>
                <a:spcPts val="0"/>
              </a:spcAft>
              <a:buClr>
                <a:srgbClr val="1B2336"/>
              </a:buClr>
              <a:buSzPts val="1000"/>
              <a:buFont typeface="Proxima Nova"/>
              <a:buChar char="•"/>
            </a:pPr>
            <a:r>
              <a:rPr lang="en" sz="1000">
                <a:solidFill>
                  <a:srgbClr val="1B2336"/>
                </a:solidFill>
                <a:latin typeface="Proxima Nova"/>
                <a:ea typeface="Proxima Nova"/>
                <a:cs typeface="Proxima Nova"/>
                <a:sym typeface="Proxima Nova"/>
              </a:rPr>
              <a:t>Enforces execution standards </a:t>
            </a:r>
            <a:endParaRPr sz="1000">
              <a:solidFill>
                <a:srgbClr val="1B2336"/>
              </a:solidFill>
              <a:latin typeface="Proxima Nova"/>
              <a:ea typeface="Proxima Nova"/>
              <a:cs typeface="Proxima Nova"/>
              <a:sym typeface="Proxima Nova"/>
            </a:endParaRPr>
          </a:p>
        </p:txBody>
      </p:sp>
      <p:sp>
        <p:nvSpPr>
          <p:cNvPr id="163" name="Google Shape;163;p24"/>
          <p:cNvSpPr/>
          <p:nvPr/>
        </p:nvSpPr>
        <p:spPr>
          <a:xfrm>
            <a:off x="5992962" y="1531620"/>
            <a:ext cx="2540400" cy="2846100"/>
          </a:xfrm>
          <a:prstGeom prst="roundRect">
            <a:avLst>
              <a:gd name="adj" fmla="val 2160"/>
            </a:avLst>
          </a:prstGeom>
          <a:solidFill>
            <a:srgbClr val="0F256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4" name="Google Shape;164;p24"/>
          <p:cNvSpPr txBox="1"/>
          <p:nvPr/>
        </p:nvSpPr>
        <p:spPr>
          <a:xfrm>
            <a:off x="6198702" y="1745943"/>
            <a:ext cx="21291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900"/>
              <a:buFont typeface="Inter"/>
              <a:buNone/>
            </a:pPr>
            <a:r>
              <a:rPr lang="en" sz="900" b="1" i="0" u="none" strike="noStrike" cap="none">
                <a:solidFill>
                  <a:srgbClr val="00CC83"/>
                </a:solidFill>
                <a:latin typeface="Proxima Nova"/>
                <a:ea typeface="Proxima Nova"/>
                <a:cs typeface="Proxima Nova"/>
                <a:sym typeface="Proxima Nova"/>
              </a:rPr>
              <a:t>PROJECT EXECUTION</a:t>
            </a:r>
            <a:endParaRPr sz="900" i="0" u="none" strike="noStrike" cap="none">
              <a:solidFill>
                <a:srgbClr val="00CC83"/>
              </a:solidFill>
              <a:latin typeface="Proxima Nova"/>
              <a:ea typeface="Proxima Nova"/>
              <a:cs typeface="Proxima Nova"/>
              <a:sym typeface="Proxima Nova"/>
            </a:endParaRPr>
          </a:p>
        </p:txBody>
      </p:sp>
      <p:sp>
        <p:nvSpPr>
          <p:cNvPr id="165" name="Google Shape;165;p24"/>
          <p:cNvSpPr txBox="1"/>
          <p:nvPr/>
        </p:nvSpPr>
        <p:spPr>
          <a:xfrm>
            <a:off x="6198702" y="2020263"/>
            <a:ext cx="21291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400"/>
              <a:buFont typeface="Inter"/>
              <a:buNone/>
            </a:pPr>
            <a:r>
              <a:rPr lang="en" b="1">
                <a:solidFill>
                  <a:schemeClr val="lt1"/>
                </a:solidFill>
                <a:latin typeface="Proxima Nova"/>
                <a:ea typeface="Proxima Nova"/>
                <a:cs typeface="Proxima Nova"/>
                <a:sym typeface="Proxima Nova"/>
              </a:rPr>
              <a:t>Project Manager</a:t>
            </a:r>
            <a:endParaRPr sz="1400" i="0" u="none" strike="noStrike" cap="none">
              <a:solidFill>
                <a:schemeClr val="lt1"/>
              </a:solidFill>
              <a:latin typeface="Proxima Nova"/>
              <a:ea typeface="Proxima Nova"/>
              <a:cs typeface="Proxima Nova"/>
              <a:sym typeface="Proxima Nova"/>
            </a:endParaRPr>
          </a:p>
        </p:txBody>
      </p:sp>
      <p:sp>
        <p:nvSpPr>
          <p:cNvPr id="166" name="Google Shape;166;p24"/>
          <p:cNvSpPr txBox="1"/>
          <p:nvPr/>
        </p:nvSpPr>
        <p:spPr>
          <a:xfrm>
            <a:off x="6198702" y="2363163"/>
            <a:ext cx="21291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1000"/>
              <a:buFont typeface="Inter"/>
              <a:buNone/>
            </a:pPr>
            <a:r>
              <a:rPr lang="en" sz="1000" i="1">
                <a:solidFill>
                  <a:srgbClr val="A9B3C7"/>
                </a:solidFill>
                <a:latin typeface="Proxima Nova"/>
                <a:ea typeface="Proxima Nova"/>
                <a:cs typeface="Proxima Nova"/>
                <a:sym typeface="Proxima Nova"/>
              </a:rPr>
              <a:t>The day-to-day leader</a:t>
            </a:r>
            <a:endParaRPr sz="1000" i="0" u="none" strike="noStrike" cap="none">
              <a:solidFill>
                <a:schemeClr val="dk1"/>
              </a:solidFill>
              <a:latin typeface="Proxima Nova"/>
              <a:ea typeface="Proxima Nova"/>
              <a:cs typeface="Proxima Nova"/>
              <a:sym typeface="Proxima Nova"/>
            </a:endParaRPr>
          </a:p>
        </p:txBody>
      </p:sp>
      <p:sp>
        <p:nvSpPr>
          <p:cNvPr id="167" name="Google Shape;167;p24"/>
          <p:cNvSpPr txBox="1"/>
          <p:nvPr/>
        </p:nvSpPr>
        <p:spPr>
          <a:xfrm>
            <a:off x="6198702" y="2663190"/>
            <a:ext cx="2129100" cy="1611600"/>
          </a:xfrm>
          <a:prstGeom prst="rect">
            <a:avLst/>
          </a:prstGeom>
          <a:noFill/>
          <a:ln>
            <a:noFill/>
          </a:ln>
        </p:spPr>
        <p:txBody>
          <a:bodyPr spcFirstLastPara="1" wrap="square" lIns="0" tIns="0" rIns="0" bIns="0" anchor="t" anchorCtr="0">
            <a:noAutofit/>
          </a:bodyPr>
          <a:lstStyle/>
          <a:p>
            <a:pPr marL="254000" marR="0" lvl="0" indent="-254000" algn="l" rtl="0">
              <a:spcBef>
                <a:spcPts val="400"/>
              </a:spcBef>
              <a:spcAft>
                <a:spcPts val="0"/>
              </a:spcAft>
              <a:buClr>
                <a:schemeClr val="lt1"/>
              </a:buClr>
              <a:buSzPts val="1000"/>
              <a:buFont typeface="Proxima Nova"/>
              <a:buChar char="•"/>
            </a:pPr>
            <a:r>
              <a:rPr lang="en" sz="1000" b="1" i="0" u="none" strike="noStrike" cap="none">
                <a:solidFill>
                  <a:schemeClr val="lt1"/>
                </a:solidFill>
                <a:latin typeface="Proxima Nova"/>
                <a:ea typeface="Proxima Nova"/>
                <a:cs typeface="Proxima Nova"/>
                <a:sym typeface="Proxima Nova"/>
              </a:rPr>
              <a:t>Coordinates daily work and sprints</a:t>
            </a:r>
            <a:endParaRPr sz="1000" b="1" i="0" u="none" strike="noStrike" cap="none">
              <a:solidFill>
                <a:schemeClr val="lt1"/>
              </a:solidFill>
              <a:latin typeface="Proxima Nova"/>
              <a:ea typeface="Proxima Nova"/>
              <a:cs typeface="Proxima Nova"/>
              <a:sym typeface="Proxima Nova"/>
            </a:endParaRPr>
          </a:p>
          <a:p>
            <a:pPr marL="254000" marR="0" lvl="0" indent="-254000" algn="l" rtl="0">
              <a:spcBef>
                <a:spcPts val="400"/>
              </a:spcBef>
              <a:spcAft>
                <a:spcPts val="0"/>
              </a:spcAft>
              <a:buClr>
                <a:schemeClr val="lt1"/>
              </a:buClr>
              <a:buSzPts val="1000"/>
              <a:buFont typeface="Proxima Nova"/>
              <a:buChar char="•"/>
            </a:pPr>
            <a:r>
              <a:rPr lang="en" sz="1000" i="0" u="none" strike="noStrike" cap="none">
                <a:solidFill>
                  <a:schemeClr val="lt1"/>
                </a:solidFill>
                <a:latin typeface="Proxima Nova"/>
                <a:ea typeface="Proxima Nova"/>
                <a:cs typeface="Proxima Nova"/>
                <a:sym typeface="Proxima Nova"/>
              </a:rPr>
              <a:t>Maintains the RAID log and schedule</a:t>
            </a:r>
            <a:endParaRPr sz="1000" i="0" u="none" strike="noStrike" cap="none">
              <a:solidFill>
                <a:schemeClr val="lt1"/>
              </a:solidFill>
              <a:latin typeface="Proxima Nova"/>
              <a:ea typeface="Proxima Nova"/>
              <a:cs typeface="Proxima Nova"/>
              <a:sym typeface="Proxima Nova"/>
            </a:endParaRPr>
          </a:p>
          <a:p>
            <a:pPr marL="254000" marR="0" lvl="0" indent="-254000" algn="l" rtl="0">
              <a:spcBef>
                <a:spcPts val="400"/>
              </a:spcBef>
              <a:spcAft>
                <a:spcPts val="0"/>
              </a:spcAft>
              <a:buClr>
                <a:schemeClr val="lt1"/>
              </a:buClr>
              <a:buSzPts val="1000"/>
              <a:buFont typeface="Proxima Nova"/>
              <a:buChar char="•"/>
            </a:pPr>
            <a:r>
              <a:rPr lang="en" sz="1000" i="0" u="none" strike="noStrike" cap="none">
                <a:solidFill>
                  <a:schemeClr val="lt1"/>
                </a:solidFill>
                <a:latin typeface="Proxima Nova"/>
                <a:ea typeface="Proxima Nova"/>
                <a:cs typeface="Proxima Nova"/>
                <a:sym typeface="Proxima Nova"/>
              </a:rPr>
              <a:t>Produces the delivery evidence</a:t>
            </a:r>
            <a:endParaRPr sz="1000" i="0" u="none" strike="noStrike" cap="none">
              <a:solidFill>
                <a:schemeClr val="lt1"/>
              </a:solidFill>
              <a:latin typeface="Proxima Nova"/>
              <a:ea typeface="Proxima Nova"/>
              <a:cs typeface="Proxima Nova"/>
              <a:sym typeface="Proxima Nova"/>
            </a:endParaRPr>
          </a:p>
        </p:txBody>
      </p:sp>
      <p:sp>
        <p:nvSpPr>
          <p:cNvPr id="168" name="Google Shape;168;p24"/>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ROLES &amp; RESPONSIBILITIES</a:t>
            </a:r>
            <a:endParaRPr sz="90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p:nvPr/>
        </p:nvSpPr>
        <p:spPr>
          <a:xfrm>
            <a:off x="611981" y="1412007"/>
            <a:ext cx="3881400" cy="1343700"/>
          </a:xfrm>
          <a:prstGeom prst="roundRect">
            <a:avLst>
              <a:gd name="adj" fmla="val 4076"/>
            </a:avLst>
          </a:prstGeom>
          <a:solidFill>
            <a:srgbClr val="F4F6FB"/>
          </a:solidFill>
          <a:ln w="7150" cap="flat" cmpd="sng">
            <a:solidFill>
              <a:srgbClr val="DED9C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4" name="Google Shape;174;p25"/>
          <p:cNvSpPr/>
          <p:nvPr/>
        </p:nvSpPr>
        <p:spPr>
          <a:xfrm>
            <a:off x="804863" y="1585838"/>
            <a:ext cx="3600600" cy="179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900"/>
              <a:buFont typeface="Inter"/>
              <a:buNone/>
            </a:pPr>
            <a:r>
              <a:rPr lang="en" sz="900" b="1" i="0" u="none" strike="noStrike" cap="none">
                <a:solidFill>
                  <a:srgbClr val="2550C9"/>
                </a:solidFill>
                <a:latin typeface="Proxima Nova"/>
                <a:ea typeface="Proxima Nova"/>
                <a:cs typeface="Proxima Nova"/>
                <a:sym typeface="Proxima Nova"/>
              </a:rPr>
              <a:t>1 · THE PLAN</a:t>
            </a:r>
            <a:endParaRPr sz="900" i="0" u="none" strike="noStrike" cap="none">
              <a:solidFill>
                <a:schemeClr val="dk1"/>
              </a:solidFill>
              <a:latin typeface="Proxima Nova"/>
              <a:ea typeface="Proxima Nova"/>
              <a:cs typeface="Proxima Nova"/>
              <a:sym typeface="Proxima Nova"/>
            </a:endParaRPr>
          </a:p>
        </p:txBody>
      </p:sp>
      <p:sp>
        <p:nvSpPr>
          <p:cNvPr id="175" name="Google Shape;175;p25"/>
          <p:cNvSpPr/>
          <p:nvPr/>
        </p:nvSpPr>
        <p:spPr>
          <a:xfrm>
            <a:off x="804863" y="1812503"/>
            <a:ext cx="3600600" cy="201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200"/>
              <a:buFont typeface="Plus Jakarta Sans"/>
              <a:buNone/>
            </a:pPr>
            <a:r>
              <a:rPr lang="en" sz="1200" b="1" i="0" u="none" strike="noStrike" cap="none">
                <a:solidFill>
                  <a:srgbClr val="16213A"/>
                </a:solidFill>
                <a:latin typeface="Proxima Nova"/>
                <a:ea typeface="Proxima Nova"/>
                <a:cs typeface="Proxima Nova"/>
                <a:sym typeface="Proxima Nova"/>
              </a:rPr>
              <a:t>Own a current, credible delivery plan</a:t>
            </a:r>
            <a:endParaRPr sz="1200" i="0" u="none" strike="noStrike" cap="none">
              <a:solidFill>
                <a:schemeClr val="dk1"/>
              </a:solidFill>
              <a:latin typeface="Proxima Nova"/>
              <a:ea typeface="Proxima Nova"/>
              <a:cs typeface="Proxima Nova"/>
              <a:sym typeface="Proxima Nova"/>
            </a:endParaRPr>
          </a:p>
        </p:txBody>
      </p:sp>
      <p:sp>
        <p:nvSpPr>
          <p:cNvPr id="176" name="Google Shape;176;p25"/>
          <p:cNvSpPr/>
          <p:nvPr/>
        </p:nvSpPr>
        <p:spPr>
          <a:xfrm>
            <a:off x="804863" y="2062014"/>
            <a:ext cx="3600600" cy="5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A6272"/>
              </a:buClr>
              <a:buSzPts val="1000"/>
              <a:buFont typeface="Inter"/>
              <a:buNone/>
            </a:pPr>
            <a:r>
              <a:rPr lang="en" sz="1000" i="0" u="none" strike="noStrike" cap="none">
                <a:solidFill>
                  <a:srgbClr val="5A6272"/>
                </a:solidFill>
                <a:latin typeface="Proxima Nova"/>
                <a:ea typeface="Proxima Nova"/>
                <a:cs typeface="Proxima Nova"/>
                <a:sym typeface="Proxima Nova"/>
              </a:rPr>
              <a:t>Keep the plan current and know what threatens it. The plan is not a collection of Jira tickets; you are accountable for the big picture.</a:t>
            </a:r>
            <a:endParaRPr sz="1000" i="0" u="none" strike="noStrike" cap="none">
              <a:solidFill>
                <a:schemeClr val="dk1"/>
              </a:solidFill>
              <a:latin typeface="Proxima Nova"/>
              <a:ea typeface="Proxima Nova"/>
              <a:cs typeface="Proxima Nova"/>
              <a:sym typeface="Proxima Nova"/>
            </a:endParaRPr>
          </a:p>
        </p:txBody>
      </p:sp>
      <p:sp>
        <p:nvSpPr>
          <p:cNvPr id="177" name="Google Shape;177;p25"/>
          <p:cNvSpPr/>
          <p:nvPr/>
        </p:nvSpPr>
        <p:spPr>
          <a:xfrm>
            <a:off x="4650581" y="1412007"/>
            <a:ext cx="3881400" cy="1343700"/>
          </a:xfrm>
          <a:prstGeom prst="roundRect">
            <a:avLst>
              <a:gd name="adj" fmla="val 4076"/>
            </a:avLst>
          </a:prstGeom>
          <a:solidFill>
            <a:srgbClr val="F4F6FB"/>
          </a:solidFill>
          <a:ln w="7150" cap="flat" cmpd="sng">
            <a:solidFill>
              <a:srgbClr val="DED9C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8" name="Google Shape;178;p25"/>
          <p:cNvSpPr/>
          <p:nvPr/>
        </p:nvSpPr>
        <p:spPr>
          <a:xfrm>
            <a:off x="4843463" y="1585838"/>
            <a:ext cx="3600600" cy="179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50C9"/>
              </a:buClr>
              <a:buSzPts val="900"/>
              <a:buFont typeface="Inter"/>
              <a:buNone/>
            </a:pPr>
            <a:r>
              <a:rPr lang="en" sz="900" b="1" i="0" u="none" strike="noStrike" cap="none">
                <a:solidFill>
                  <a:srgbClr val="2550C9"/>
                </a:solidFill>
                <a:latin typeface="Proxima Nova"/>
                <a:ea typeface="Proxima Nova"/>
                <a:cs typeface="Proxima Nova"/>
                <a:sym typeface="Proxima Nova"/>
              </a:rPr>
              <a:t>2 · THE WORK</a:t>
            </a:r>
            <a:endParaRPr sz="900" i="0" u="none" strike="noStrike" cap="none">
              <a:solidFill>
                <a:schemeClr val="dk1"/>
              </a:solidFill>
              <a:latin typeface="Proxima Nova"/>
              <a:ea typeface="Proxima Nova"/>
              <a:cs typeface="Proxima Nova"/>
              <a:sym typeface="Proxima Nova"/>
            </a:endParaRPr>
          </a:p>
        </p:txBody>
      </p:sp>
      <p:sp>
        <p:nvSpPr>
          <p:cNvPr id="179" name="Google Shape;179;p25"/>
          <p:cNvSpPr/>
          <p:nvPr/>
        </p:nvSpPr>
        <p:spPr>
          <a:xfrm>
            <a:off x="4843463" y="1812503"/>
            <a:ext cx="3600600" cy="201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200"/>
              <a:buFont typeface="Plus Jakarta Sans"/>
              <a:buNone/>
            </a:pPr>
            <a:r>
              <a:rPr lang="en" sz="1200" b="1" i="0" u="none" strike="noStrike" cap="none">
                <a:solidFill>
                  <a:srgbClr val="16213A"/>
                </a:solidFill>
                <a:latin typeface="Proxima Nova"/>
                <a:ea typeface="Proxima Nova"/>
                <a:cs typeface="Proxima Nova"/>
                <a:sym typeface="Proxima Nova"/>
              </a:rPr>
              <a:t>Drive execution within the approved plan</a:t>
            </a:r>
            <a:endParaRPr sz="1200" i="0" u="none" strike="noStrike" cap="none">
              <a:solidFill>
                <a:schemeClr val="dk1"/>
              </a:solidFill>
              <a:latin typeface="Proxima Nova"/>
              <a:ea typeface="Proxima Nova"/>
              <a:cs typeface="Proxima Nova"/>
              <a:sym typeface="Proxima Nova"/>
            </a:endParaRPr>
          </a:p>
        </p:txBody>
      </p:sp>
      <p:sp>
        <p:nvSpPr>
          <p:cNvPr id="180" name="Google Shape;180;p25"/>
          <p:cNvSpPr/>
          <p:nvPr/>
        </p:nvSpPr>
        <p:spPr>
          <a:xfrm>
            <a:off x="4843463" y="2062014"/>
            <a:ext cx="3600600" cy="5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A6272"/>
              </a:buClr>
              <a:buSzPts val="1000"/>
              <a:buFont typeface="Inter"/>
              <a:buNone/>
            </a:pPr>
            <a:r>
              <a:rPr lang="en" sz="1000" i="0" u="none" strike="noStrike" cap="none">
                <a:solidFill>
                  <a:srgbClr val="5A6272"/>
                </a:solidFill>
                <a:latin typeface="Proxima Nova"/>
                <a:ea typeface="Proxima Nova"/>
                <a:cs typeface="Proxima Nova"/>
                <a:sym typeface="Proxima Nova"/>
              </a:rPr>
              <a:t>Drive the team’s work, dependencies, actions and issue resolution. Run stand-ups, follow up on actions, and check deliverable readiness.</a:t>
            </a:r>
            <a:endParaRPr sz="1000" i="0" u="none" strike="noStrike" cap="none">
              <a:solidFill>
                <a:schemeClr val="dk1"/>
              </a:solidFill>
              <a:latin typeface="Proxima Nova"/>
              <a:ea typeface="Proxima Nova"/>
              <a:cs typeface="Proxima Nova"/>
              <a:sym typeface="Proxima Nova"/>
            </a:endParaRPr>
          </a:p>
        </p:txBody>
      </p:sp>
      <p:sp>
        <p:nvSpPr>
          <p:cNvPr id="181" name="Google Shape;181;p25"/>
          <p:cNvSpPr/>
          <p:nvPr/>
        </p:nvSpPr>
        <p:spPr>
          <a:xfrm>
            <a:off x="609600" y="2948657"/>
            <a:ext cx="8162700" cy="179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900"/>
              <a:buFont typeface="Inter"/>
              <a:buNone/>
            </a:pPr>
            <a:r>
              <a:rPr lang="en" sz="900" b="1" i="0" u="none" strike="noStrike" cap="none">
                <a:solidFill>
                  <a:srgbClr val="B5521A"/>
                </a:solidFill>
                <a:latin typeface="Proxima Nova"/>
                <a:ea typeface="Proxima Nova"/>
                <a:cs typeface="Proxima Nova"/>
                <a:sym typeface="Proxima Nova"/>
              </a:rPr>
              <a:t>THE DECISION LOOP</a:t>
            </a:r>
            <a:endParaRPr sz="900" i="0" u="none" strike="noStrike" cap="none">
              <a:solidFill>
                <a:schemeClr val="dk1"/>
              </a:solidFill>
              <a:latin typeface="Proxima Nova"/>
              <a:ea typeface="Proxima Nova"/>
              <a:cs typeface="Proxima Nova"/>
              <a:sym typeface="Proxima Nova"/>
            </a:endParaRPr>
          </a:p>
        </p:txBody>
      </p:sp>
      <p:sp>
        <p:nvSpPr>
          <p:cNvPr id="182" name="Google Shape;182;p25"/>
          <p:cNvSpPr/>
          <p:nvPr/>
        </p:nvSpPr>
        <p:spPr>
          <a:xfrm>
            <a:off x="611981" y="3187229"/>
            <a:ext cx="2408100" cy="1058100"/>
          </a:xfrm>
          <a:prstGeom prst="roundRect">
            <a:avLst>
              <a:gd name="adj" fmla="val 5176"/>
            </a:avLst>
          </a:prstGeom>
          <a:solidFill>
            <a:srgbClr val="FCFBF8"/>
          </a:solidFill>
          <a:ln w="7150" cap="flat" cmpd="sng">
            <a:solidFill>
              <a:srgbClr val="DED9C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3" name="Google Shape;183;p25"/>
          <p:cNvSpPr/>
          <p:nvPr/>
        </p:nvSpPr>
        <p:spPr>
          <a:xfrm>
            <a:off x="785813" y="3342010"/>
            <a:ext cx="2122500" cy="190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100"/>
              <a:buFont typeface="Plus Jakarta Sans"/>
              <a:buNone/>
            </a:pPr>
            <a:r>
              <a:rPr lang="en" sz="1100" b="1" i="0" u="none" strike="noStrike" cap="none">
                <a:solidFill>
                  <a:srgbClr val="16213A"/>
                </a:solidFill>
                <a:latin typeface="Proxima Nova"/>
                <a:ea typeface="Proxima Nova"/>
                <a:cs typeface="Proxima Nova"/>
                <a:sym typeface="Proxima Nova"/>
              </a:rPr>
              <a:t>3 · Propose</a:t>
            </a:r>
            <a:endParaRPr sz="1100" i="0" u="none" strike="noStrike" cap="none">
              <a:solidFill>
                <a:schemeClr val="dk1"/>
              </a:solidFill>
              <a:latin typeface="Proxima Nova"/>
              <a:ea typeface="Proxima Nova"/>
              <a:cs typeface="Proxima Nova"/>
              <a:sym typeface="Proxima Nova"/>
            </a:endParaRPr>
          </a:p>
        </p:txBody>
      </p:sp>
      <p:sp>
        <p:nvSpPr>
          <p:cNvPr id="184" name="Google Shape;184;p25"/>
          <p:cNvSpPr/>
          <p:nvPr/>
        </p:nvSpPr>
        <p:spPr>
          <a:xfrm>
            <a:off x="785813" y="3570610"/>
            <a:ext cx="2122500" cy="5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A6272"/>
              </a:buClr>
              <a:buSzPts val="1000"/>
              <a:buFont typeface="Inter"/>
              <a:buNone/>
            </a:pPr>
            <a:r>
              <a:rPr lang="en" sz="1000" i="0" u="none" strike="noStrike" cap="none">
                <a:solidFill>
                  <a:srgbClr val="5A6272"/>
                </a:solidFill>
                <a:latin typeface="Proxima Nova"/>
                <a:ea typeface="Proxima Nova"/>
                <a:cs typeface="Proxima Nova"/>
                <a:sym typeface="Proxima Nova"/>
              </a:rPr>
              <a:t>Bring proposed decisions to Toptal with context, impact, options and a recommended solution.</a:t>
            </a:r>
            <a:endParaRPr sz="1000" i="0" u="none" strike="noStrike" cap="none">
              <a:solidFill>
                <a:schemeClr val="dk1"/>
              </a:solidFill>
              <a:latin typeface="Proxima Nova"/>
              <a:ea typeface="Proxima Nova"/>
              <a:cs typeface="Proxima Nova"/>
              <a:sym typeface="Proxima Nova"/>
            </a:endParaRPr>
          </a:p>
        </p:txBody>
      </p:sp>
      <p:sp>
        <p:nvSpPr>
          <p:cNvPr id="185" name="Google Shape;185;p25"/>
          <p:cNvSpPr/>
          <p:nvPr/>
        </p:nvSpPr>
        <p:spPr>
          <a:xfrm>
            <a:off x="3098750" y="3582888"/>
            <a:ext cx="228600" cy="285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1500"/>
              <a:buFont typeface="Inter"/>
              <a:buNone/>
            </a:pPr>
            <a:r>
              <a:rPr lang="en" sz="1500" b="0" i="0" u="none" strike="noStrike" cap="none">
                <a:solidFill>
                  <a:srgbClr val="B5521A"/>
                </a:solidFill>
                <a:latin typeface="Inter"/>
                <a:ea typeface="Inter"/>
                <a:cs typeface="Inter"/>
                <a:sym typeface="Inter"/>
              </a:rPr>
              <a:t>→</a:t>
            </a:r>
            <a:endParaRPr sz="1500" b="0" i="0" u="none" strike="noStrike" cap="none">
              <a:solidFill>
                <a:schemeClr val="dk1"/>
              </a:solidFill>
              <a:latin typeface="Calibri"/>
              <a:ea typeface="Calibri"/>
              <a:cs typeface="Calibri"/>
              <a:sym typeface="Calibri"/>
            </a:endParaRPr>
          </a:p>
        </p:txBody>
      </p:sp>
      <p:sp>
        <p:nvSpPr>
          <p:cNvPr id="186" name="Google Shape;186;p25"/>
          <p:cNvSpPr/>
          <p:nvPr/>
        </p:nvSpPr>
        <p:spPr>
          <a:xfrm>
            <a:off x="3367832" y="3187229"/>
            <a:ext cx="2408100" cy="1058100"/>
          </a:xfrm>
          <a:prstGeom prst="roundRect">
            <a:avLst>
              <a:gd name="adj" fmla="val 5176"/>
            </a:avLst>
          </a:prstGeom>
          <a:solidFill>
            <a:srgbClr val="FCFBF8"/>
          </a:solidFill>
          <a:ln w="7150" cap="flat" cmpd="sng">
            <a:solidFill>
              <a:srgbClr val="DED9C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7" name="Google Shape;187;p25"/>
          <p:cNvSpPr/>
          <p:nvPr/>
        </p:nvSpPr>
        <p:spPr>
          <a:xfrm>
            <a:off x="3541663" y="3342010"/>
            <a:ext cx="2122500" cy="190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100"/>
              <a:buFont typeface="Plus Jakarta Sans"/>
              <a:buNone/>
            </a:pPr>
            <a:r>
              <a:rPr lang="en" sz="1100" b="1" i="0" u="none" strike="noStrike" cap="none">
                <a:solidFill>
                  <a:srgbClr val="16213A"/>
                </a:solidFill>
                <a:latin typeface="Proxima Nova"/>
                <a:ea typeface="Proxima Nova"/>
                <a:cs typeface="Proxima Nova"/>
                <a:sym typeface="Proxima Nova"/>
              </a:rPr>
              <a:t>4 · Get approval</a:t>
            </a:r>
            <a:endParaRPr sz="1100" i="0" u="none" strike="noStrike" cap="none">
              <a:solidFill>
                <a:schemeClr val="dk1"/>
              </a:solidFill>
              <a:latin typeface="Proxima Nova"/>
              <a:ea typeface="Proxima Nova"/>
              <a:cs typeface="Proxima Nova"/>
              <a:sym typeface="Proxima Nova"/>
            </a:endParaRPr>
          </a:p>
        </p:txBody>
      </p:sp>
      <p:sp>
        <p:nvSpPr>
          <p:cNvPr id="188" name="Google Shape;188;p25"/>
          <p:cNvSpPr/>
          <p:nvPr/>
        </p:nvSpPr>
        <p:spPr>
          <a:xfrm>
            <a:off x="3541663" y="3570610"/>
            <a:ext cx="2122500" cy="5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A6272"/>
              </a:buClr>
              <a:buSzPts val="1000"/>
              <a:buFont typeface="Inter"/>
              <a:buNone/>
            </a:pPr>
            <a:r>
              <a:rPr lang="en" sz="1000" i="0" u="none" strike="noStrike" cap="none">
                <a:solidFill>
                  <a:srgbClr val="5A6272"/>
                </a:solidFill>
                <a:latin typeface="Proxima Nova"/>
                <a:ea typeface="Proxima Nova"/>
                <a:cs typeface="Proxima Nova"/>
                <a:sym typeface="Proxima Nova"/>
              </a:rPr>
              <a:t>Obtain Toptal approval before changing the agreed approach or making commitments to the client.</a:t>
            </a:r>
            <a:endParaRPr sz="1000" i="0" u="none" strike="noStrike" cap="none">
              <a:solidFill>
                <a:schemeClr val="dk1"/>
              </a:solidFill>
              <a:latin typeface="Proxima Nova"/>
              <a:ea typeface="Proxima Nova"/>
              <a:cs typeface="Proxima Nova"/>
              <a:sym typeface="Proxima Nova"/>
            </a:endParaRPr>
          </a:p>
        </p:txBody>
      </p:sp>
      <p:sp>
        <p:nvSpPr>
          <p:cNvPr id="189" name="Google Shape;189;p25"/>
          <p:cNvSpPr/>
          <p:nvPr/>
        </p:nvSpPr>
        <p:spPr>
          <a:xfrm>
            <a:off x="5854676" y="3582888"/>
            <a:ext cx="228600" cy="285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21A"/>
              </a:buClr>
              <a:buSzPts val="1500"/>
              <a:buFont typeface="Inter"/>
              <a:buNone/>
            </a:pPr>
            <a:r>
              <a:rPr lang="en" sz="1500" b="0" i="0" u="none" strike="noStrike" cap="none">
                <a:solidFill>
                  <a:srgbClr val="B5521A"/>
                </a:solidFill>
                <a:latin typeface="Inter"/>
                <a:ea typeface="Inter"/>
                <a:cs typeface="Inter"/>
                <a:sym typeface="Inter"/>
              </a:rPr>
              <a:t>→</a:t>
            </a:r>
            <a:endParaRPr sz="1500" b="0" i="0" u="none" strike="noStrike" cap="none">
              <a:solidFill>
                <a:schemeClr val="dk1"/>
              </a:solidFill>
              <a:latin typeface="Calibri"/>
              <a:ea typeface="Calibri"/>
              <a:cs typeface="Calibri"/>
              <a:sym typeface="Calibri"/>
            </a:endParaRPr>
          </a:p>
        </p:txBody>
      </p:sp>
      <p:sp>
        <p:nvSpPr>
          <p:cNvPr id="190" name="Google Shape;190;p25"/>
          <p:cNvSpPr/>
          <p:nvPr/>
        </p:nvSpPr>
        <p:spPr>
          <a:xfrm>
            <a:off x="6123757" y="3187229"/>
            <a:ext cx="2408100" cy="1058100"/>
          </a:xfrm>
          <a:prstGeom prst="roundRect">
            <a:avLst>
              <a:gd name="adj" fmla="val 5176"/>
            </a:avLst>
          </a:prstGeom>
          <a:solidFill>
            <a:srgbClr val="FCFBF8"/>
          </a:solidFill>
          <a:ln w="7150" cap="flat" cmpd="sng">
            <a:solidFill>
              <a:srgbClr val="DED9C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1" name="Google Shape;191;p25"/>
          <p:cNvSpPr/>
          <p:nvPr/>
        </p:nvSpPr>
        <p:spPr>
          <a:xfrm>
            <a:off x="6297588" y="3342010"/>
            <a:ext cx="2122500" cy="190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6213A"/>
              </a:buClr>
              <a:buSzPts val="1100"/>
              <a:buFont typeface="Plus Jakarta Sans"/>
              <a:buNone/>
            </a:pPr>
            <a:r>
              <a:rPr lang="en" sz="1100" b="1" i="0" u="none" strike="noStrike" cap="none">
                <a:solidFill>
                  <a:srgbClr val="16213A"/>
                </a:solidFill>
                <a:latin typeface="Proxima Nova"/>
                <a:ea typeface="Proxima Nova"/>
                <a:cs typeface="Proxima Nova"/>
                <a:sym typeface="Proxima Nova"/>
              </a:rPr>
              <a:t>5 · Implement and track</a:t>
            </a:r>
            <a:endParaRPr sz="1100" i="0" u="none" strike="noStrike" cap="none">
              <a:solidFill>
                <a:schemeClr val="dk1"/>
              </a:solidFill>
              <a:latin typeface="Proxima Nova"/>
              <a:ea typeface="Proxima Nova"/>
              <a:cs typeface="Proxima Nova"/>
              <a:sym typeface="Proxima Nova"/>
            </a:endParaRPr>
          </a:p>
        </p:txBody>
      </p:sp>
      <p:sp>
        <p:nvSpPr>
          <p:cNvPr id="192" name="Google Shape;192;p25"/>
          <p:cNvSpPr/>
          <p:nvPr/>
        </p:nvSpPr>
        <p:spPr>
          <a:xfrm>
            <a:off x="6297588" y="3570610"/>
            <a:ext cx="2122500" cy="365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A6272"/>
              </a:buClr>
              <a:buSzPts val="1000"/>
              <a:buFont typeface="Inter"/>
              <a:buNone/>
            </a:pPr>
            <a:r>
              <a:rPr lang="en" sz="1000" i="0" u="none" strike="noStrike" cap="none">
                <a:solidFill>
                  <a:srgbClr val="5A6272"/>
                </a:solidFill>
                <a:latin typeface="Proxima Nova"/>
                <a:ea typeface="Proxima Nova"/>
                <a:cs typeface="Proxima Nova"/>
                <a:sym typeface="Proxima Nova"/>
              </a:rPr>
              <a:t>Implement the agreed decision and track it through to completion.</a:t>
            </a:r>
            <a:endParaRPr sz="1000" i="0" u="none" strike="noStrike" cap="none">
              <a:solidFill>
                <a:schemeClr val="dk1"/>
              </a:solidFill>
              <a:latin typeface="Proxima Nova"/>
              <a:ea typeface="Proxima Nova"/>
              <a:cs typeface="Proxima Nova"/>
              <a:sym typeface="Proxima Nova"/>
            </a:endParaRPr>
          </a:p>
        </p:txBody>
      </p:sp>
      <p:sp>
        <p:nvSpPr>
          <p:cNvPr id="193" name="Google Shape;193;p25"/>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The Project Manager owns the plan and the day-to-day work</a:t>
            </a:r>
            <a:endParaRPr sz="2100" i="0" u="none" strike="noStrike" cap="none">
              <a:solidFill>
                <a:schemeClr val="dk1"/>
              </a:solidFill>
              <a:latin typeface="Proxima Nova"/>
              <a:ea typeface="Proxima Nova"/>
              <a:cs typeface="Proxima Nova"/>
              <a:sym typeface="Proxima Nova"/>
            </a:endParaRPr>
          </a:p>
        </p:txBody>
      </p:sp>
      <p:sp>
        <p:nvSpPr>
          <p:cNvPr id="194" name="Google Shape;194;p25"/>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ROLES &amp; RESPONSIBILITIES</a:t>
            </a:r>
            <a:endParaRPr sz="90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9"/>
        <p:cNvGrpSpPr/>
        <p:nvPr/>
      </p:nvGrpSpPr>
      <p:grpSpPr>
        <a:xfrm>
          <a:off x="0" y="0"/>
          <a:ext cx="0" cy="0"/>
          <a:chOff x="0" y="0"/>
          <a:chExt cx="0" cy="0"/>
        </a:xfrm>
      </p:grpSpPr>
      <p:sp>
        <p:nvSpPr>
          <p:cNvPr id="200" name="Google Shape;200;p26"/>
          <p:cNvSpPr/>
          <p:nvPr/>
        </p:nvSpPr>
        <p:spPr>
          <a:xfrm>
            <a:off x="542901" y="1460751"/>
            <a:ext cx="4114800" cy="205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6B7280"/>
              </a:buClr>
              <a:buSzPts val="800"/>
              <a:buFont typeface="Arial"/>
              <a:buNone/>
            </a:pPr>
            <a:r>
              <a:rPr lang="en" sz="800" b="1">
                <a:solidFill>
                  <a:srgbClr val="6B7280"/>
                </a:solidFill>
                <a:latin typeface="Arial"/>
                <a:ea typeface="Arial"/>
                <a:cs typeface="Arial"/>
                <a:sym typeface="Arial"/>
              </a:rPr>
              <a:t>DELIVERY METHODOLOGY PHASES</a:t>
            </a:r>
            <a:endParaRPr sz="800">
              <a:solidFill>
                <a:schemeClr val="dk1"/>
              </a:solidFill>
              <a:latin typeface="Calibri"/>
              <a:ea typeface="Calibri"/>
              <a:cs typeface="Calibri"/>
              <a:sym typeface="Calibri"/>
            </a:endParaRPr>
          </a:p>
        </p:txBody>
      </p:sp>
      <p:sp>
        <p:nvSpPr>
          <p:cNvPr id="201" name="Google Shape;201;p26"/>
          <p:cNvSpPr/>
          <p:nvPr/>
        </p:nvSpPr>
        <p:spPr>
          <a:xfrm>
            <a:off x="542901" y="3208546"/>
            <a:ext cx="5486400" cy="205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6B7280"/>
              </a:buClr>
              <a:buSzPts val="800"/>
              <a:buFont typeface="Arial"/>
              <a:buNone/>
            </a:pPr>
            <a:r>
              <a:rPr lang="en" sz="800" b="1">
                <a:solidFill>
                  <a:srgbClr val="6B7280"/>
                </a:solidFill>
                <a:latin typeface="Arial"/>
                <a:ea typeface="Arial"/>
                <a:cs typeface="Arial"/>
                <a:sym typeface="Arial"/>
              </a:rPr>
              <a:t>PMO GOVERNANCE PHASES (OVERLAY)</a:t>
            </a:r>
            <a:endParaRPr sz="800">
              <a:solidFill>
                <a:schemeClr val="dk1"/>
              </a:solidFill>
              <a:latin typeface="Calibri"/>
              <a:ea typeface="Calibri"/>
              <a:cs typeface="Calibri"/>
              <a:sym typeface="Calibri"/>
            </a:endParaRPr>
          </a:p>
        </p:txBody>
      </p:sp>
      <p:sp>
        <p:nvSpPr>
          <p:cNvPr id="202" name="Google Shape;202;p26"/>
          <p:cNvSpPr/>
          <p:nvPr/>
        </p:nvSpPr>
        <p:spPr>
          <a:xfrm>
            <a:off x="572988" y="3482866"/>
            <a:ext cx="1133700" cy="720000"/>
          </a:xfrm>
          <a:prstGeom prst="roundRect">
            <a:avLst>
              <a:gd name="adj" fmla="val 4762"/>
            </a:avLst>
          </a:prstGeom>
          <a:solidFill>
            <a:srgbClr val="0F256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3" name="Google Shape;203;p26"/>
          <p:cNvSpPr/>
          <p:nvPr/>
        </p:nvSpPr>
        <p:spPr>
          <a:xfrm>
            <a:off x="641568" y="3537730"/>
            <a:ext cx="996300" cy="3771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Clr>
                <a:srgbClr val="FFFFFF"/>
              </a:buClr>
              <a:buSzPts val="900"/>
              <a:buFont typeface="Arial"/>
              <a:buNone/>
            </a:pPr>
            <a:r>
              <a:rPr lang="en" sz="900" b="1">
                <a:solidFill>
                  <a:srgbClr val="FFFFFF"/>
                </a:solidFill>
                <a:latin typeface="Arial"/>
                <a:ea typeface="Arial"/>
                <a:cs typeface="Arial"/>
                <a:sym typeface="Arial"/>
              </a:rPr>
              <a:t>Readiness</a:t>
            </a:r>
            <a:endParaRPr sz="900">
              <a:solidFill>
                <a:schemeClr val="dk1"/>
              </a:solidFill>
              <a:latin typeface="Calibri"/>
              <a:ea typeface="Calibri"/>
              <a:cs typeface="Calibri"/>
              <a:sym typeface="Calibri"/>
            </a:endParaRPr>
          </a:p>
        </p:txBody>
      </p:sp>
      <p:sp>
        <p:nvSpPr>
          <p:cNvPr id="204" name="Google Shape;204;p26"/>
          <p:cNvSpPr/>
          <p:nvPr/>
        </p:nvSpPr>
        <p:spPr>
          <a:xfrm>
            <a:off x="641568" y="3969784"/>
            <a:ext cx="996300" cy="205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E4ECFF"/>
              </a:buClr>
              <a:buSzPts val="700"/>
              <a:buFont typeface="Arial"/>
              <a:buNone/>
            </a:pPr>
            <a:r>
              <a:rPr lang="en" sz="700">
                <a:solidFill>
                  <a:srgbClr val="E4ECFF"/>
                </a:solidFill>
                <a:latin typeface="Arial"/>
                <a:ea typeface="Arial"/>
                <a:cs typeface="Arial"/>
                <a:sym typeface="Arial"/>
              </a:rPr>
              <a:t>Owner: </a:t>
            </a:r>
            <a:r>
              <a:rPr lang="en" sz="700">
                <a:solidFill>
                  <a:srgbClr val="E4ECFF"/>
                </a:solidFill>
              </a:rPr>
              <a:t>PMO</a:t>
            </a:r>
            <a:endParaRPr sz="700">
              <a:solidFill>
                <a:schemeClr val="dk1"/>
              </a:solidFill>
              <a:latin typeface="Calibri"/>
              <a:ea typeface="Calibri"/>
              <a:cs typeface="Calibri"/>
              <a:sym typeface="Calibri"/>
            </a:endParaRPr>
          </a:p>
        </p:txBody>
      </p:sp>
      <p:sp>
        <p:nvSpPr>
          <p:cNvPr id="205" name="Google Shape;205;p26"/>
          <p:cNvSpPr/>
          <p:nvPr/>
        </p:nvSpPr>
        <p:spPr>
          <a:xfrm>
            <a:off x="1816246" y="3482866"/>
            <a:ext cx="1133700" cy="720000"/>
          </a:xfrm>
          <a:prstGeom prst="roundRect">
            <a:avLst>
              <a:gd name="adj" fmla="val 4762"/>
            </a:avLst>
          </a:prstGeom>
          <a:solidFill>
            <a:srgbClr val="183A9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6" name="Google Shape;206;p26"/>
          <p:cNvSpPr/>
          <p:nvPr/>
        </p:nvSpPr>
        <p:spPr>
          <a:xfrm>
            <a:off x="1884826" y="3537730"/>
            <a:ext cx="996300" cy="3771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Clr>
                <a:srgbClr val="FFFFFF"/>
              </a:buClr>
              <a:buSzPts val="900"/>
              <a:buFont typeface="Arial"/>
              <a:buNone/>
            </a:pPr>
            <a:r>
              <a:rPr lang="en" sz="900" b="1">
                <a:solidFill>
                  <a:srgbClr val="FFFFFF"/>
                </a:solidFill>
                <a:latin typeface="Arial"/>
                <a:ea typeface="Arial"/>
                <a:cs typeface="Arial"/>
                <a:sym typeface="Arial"/>
              </a:rPr>
              <a:t>Planning</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a:solidFill>
                  <a:srgbClr val="FFFFFF"/>
                </a:solidFill>
                <a:latin typeface="Arial"/>
                <a:ea typeface="Arial"/>
                <a:cs typeface="Arial"/>
                <a:sym typeface="Arial"/>
              </a:rPr>
              <a:t>(Mobilize)</a:t>
            </a:r>
            <a:endParaRPr sz="900">
              <a:solidFill>
                <a:schemeClr val="dk1"/>
              </a:solidFill>
              <a:latin typeface="Calibri"/>
              <a:ea typeface="Calibri"/>
              <a:cs typeface="Calibri"/>
              <a:sym typeface="Calibri"/>
            </a:endParaRPr>
          </a:p>
        </p:txBody>
      </p:sp>
      <p:sp>
        <p:nvSpPr>
          <p:cNvPr id="207" name="Google Shape;207;p26"/>
          <p:cNvSpPr/>
          <p:nvPr/>
        </p:nvSpPr>
        <p:spPr>
          <a:xfrm>
            <a:off x="1884826" y="3969784"/>
            <a:ext cx="996300" cy="205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E4ECFF"/>
              </a:buClr>
              <a:buSzPts val="700"/>
              <a:buFont typeface="Arial"/>
              <a:buNone/>
            </a:pPr>
            <a:r>
              <a:rPr lang="en" sz="700">
                <a:solidFill>
                  <a:srgbClr val="E4ECFF"/>
                </a:solidFill>
                <a:latin typeface="Arial"/>
                <a:ea typeface="Arial"/>
                <a:cs typeface="Arial"/>
                <a:sym typeface="Arial"/>
              </a:rPr>
              <a:t>Owner: </a:t>
            </a:r>
            <a:r>
              <a:rPr lang="en" sz="700">
                <a:solidFill>
                  <a:srgbClr val="E4ECFF"/>
                </a:solidFill>
              </a:rPr>
              <a:t>PMO → PM</a:t>
            </a:r>
            <a:endParaRPr sz="700">
              <a:solidFill>
                <a:schemeClr val="dk1"/>
              </a:solidFill>
              <a:latin typeface="Calibri"/>
              <a:ea typeface="Calibri"/>
              <a:cs typeface="Calibri"/>
              <a:sym typeface="Calibri"/>
            </a:endParaRPr>
          </a:p>
        </p:txBody>
      </p:sp>
      <p:sp>
        <p:nvSpPr>
          <p:cNvPr id="208" name="Google Shape;208;p26"/>
          <p:cNvSpPr/>
          <p:nvPr/>
        </p:nvSpPr>
        <p:spPr>
          <a:xfrm>
            <a:off x="3059503" y="3482866"/>
            <a:ext cx="4698600" cy="720000"/>
          </a:xfrm>
          <a:prstGeom prst="roundRect">
            <a:avLst>
              <a:gd name="adj" fmla="val 4762"/>
            </a:avLst>
          </a:prstGeom>
          <a:solidFill>
            <a:srgbClr val="204EC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9" name="Google Shape;209;p26"/>
          <p:cNvSpPr/>
          <p:nvPr/>
        </p:nvSpPr>
        <p:spPr>
          <a:xfrm>
            <a:off x="3128083" y="3537730"/>
            <a:ext cx="4561800" cy="3771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Clr>
                <a:srgbClr val="FFFFFF"/>
              </a:buClr>
              <a:buSzPts val="900"/>
              <a:buFont typeface="Arial"/>
              <a:buNone/>
            </a:pPr>
            <a:r>
              <a:rPr lang="en" sz="900" b="1">
                <a:solidFill>
                  <a:srgbClr val="FFFFFF"/>
                </a:solidFill>
                <a:latin typeface="Arial"/>
                <a:ea typeface="Arial"/>
                <a:cs typeface="Arial"/>
                <a:sym typeface="Arial"/>
              </a:rPr>
              <a:t>Project Execution</a:t>
            </a:r>
            <a:endParaRPr sz="900">
              <a:solidFill>
                <a:schemeClr val="dk1"/>
              </a:solidFill>
              <a:latin typeface="Calibri"/>
              <a:ea typeface="Calibri"/>
              <a:cs typeface="Calibri"/>
              <a:sym typeface="Calibri"/>
            </a:endParaRPr>
          </a:p>
        </p:txBody>
      </p:sp>
      <p:sp>
        <p:nvSpPr>
          <p:cNvPr id="210" name="Google Shape;210;p26"/>
          <p:cNvSpPr/>
          <p:nvPr/>
        </p:nvSpPr>
        <p:spPr>
          <a:xfrm>
            <a:off x="3128083" y="3969784"/>
            <a:ext cx="4561800" cy="205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E4ECFF"/>
              </a:buClr>
              <a:buSzPts val="700"/>
              <a:buFont typeface="Arial"/>
              <a:buNone/>
            </a:pPr>
            <a:r>
              <a:rPr lang="en" sz="700">
                <a:solidFill>
                  <a:srgbClr val="E4ECFF"/>
                </a:solidFill>
                <a:latin typeface="Arial"/>
                <a:ea typeface="Arial"/>
                <a:cs typeface="Arial"/>
                <a:sym typeface="Arial"/>
              </a:rPr>
              <a:t>Owner: PM  ·  PMO verifies</a:t>
            </a:r>
            <a:endParaRPr sz="700">
              <a:solidFill>
                <a:schemeClr val="dk1"/>
              </a:solidFill>
              <a:latin typeface="Calibri"/>
              <a:ea typeface="Calibri"/>
              <a:cs typeface="Calibri"/>
              <a:sym typeface="Calibri"/>
            </a:endParaRPr>
          </a:p>
        </p:txBody>
      </p:sp>
      <p:sp>
        <p:nvSpPr>
          <p:cNvPr id="211" name="Google Shape;211;p26"/>
          <p:cNvSpPr/>
          <p:nvPr/>
        </p:nvSpPr>
        <p:spPr>
          <a:xfrm>
            <a:off x="7867946" y="3482862"/>
            <a:ext cx="1044600" cy="720000"/>
          </a:xfrm>
          <a:prstGeom prst="roundRect">
            <a:avLst>
              <a:gd name="adj" fmla="val 4762"/>
            </a:avLst>
          </a:prstGeom>
          <a:solidFill>
            <a:srgbClr val="25A9E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12" name="Google Shape;212;p26"/>
          <p:cNvSpPr/>
          <p:nvPr/>
        </p:nvSpPr>
        <p:spPr>
          <a:xfrm>
            <a:off x="7892021" y="3537730"/>
            <a:ext cx="996300" cy="3771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Clr>
                <a:srgbClr val="FFFFFF"/>
              </a:buClr>
              <a:buSzPts val="900"/>
              <a:buFont typeface="Arial"/>
              <a:buNone/>
            </a:pPr>
            <a:r>
              <a:rPr lang="en" sz="900" b="1">
                <a:solidFill>
                  <a:srgbClr val="FFFFFF"/>
                </a:solidFill>
                <a:latin typeface="Arial"/>
                <a:ea typeface="Arial"/>
                <a:cs typeface="Arial"/>
                <a:sym typeface="Arial"/>
              </a:rPr>
              <a:t>Acceptance &amp; Closure</a:t>
            </a:r>
            <a:endParaRPr sz="900">
              <a:solidFill>
                <a:schemeClr val="dk1"/>
              </a:solidFill>
              <a:latin typeface="Calibri"/>
              <a:ea typeface="Calibri"/>
              <a:cs typeface="Calibri"/>
              <a:sym typeface="Calibri"/>
            </a:endParaRPr>
          </a:p>
        </p:txBody>
      </p:sp>
      <p:sp>
        <p:nvSpPr>
          <p:cNvPr id="213" name="Google Shape;213;p26"/>
          <p:cNvSpPr/>
          <p:nvPr/>
        </p:nvSpPr>
        <p:spPr>
          <a:xfrm>
            <a:off x="7892021" y="3969784"/>
            <a:ext cx="996300" cy="205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E4ECFF"/>
              </a:buClr>
              <a:buSzPts val="700"/>
              <a:buFont typeface="Arial"/>
              <a:buNone/>
            </a:pPr>
            <a:r>
              <a:rPr lang="en" sz="700">
                <a:solidFill>
                  <a:srgbClr val="E4ECFF"/>
                </a:solidFill>
                <a:latin typeface="Arial"/>
                <a:ea typeface="Arial"/>
                <a:cs typeface="Arial"/>
                <a:sym typeface="Arial"/>
              </a:rPr>
              <a:t>Owner: </a:t>
            </a:r>
            <a:r>
              <a:rPr lang="en" sz="700">
                <a:solidFill>
                  <a:srgbClr val="E4ECFF"/>
                </a:solidFill>
              </a:rPr>
              <a:t>P</a:t>
            </a:r>
            <a:r>
              <a:rPr lang="en" sz="700">
                <a:solidFill>
                  <a:srgbClr val="E4ECFF"/>
                </a:solidFill>
                <a:latin typeface="Arial"/>
                <a:ea typeface="Arial"/>
                <a:cs typeface="Arial"/>
                <a:sym typeface="Arial"/>
              </a:rPr>
              <a:t>M → PMO</a:t>
            </a:r>
            <a:endParaRPr sz="700">
              <a:solidFill>
                <a:schemeClr val="dk1"/>
              </a:solidFill>
              <a:latin typeface="Calibri"/>
              <a:ea typeface="Calibri"/>
              <a:cs typeface="Calibri"/>
              <a:sym typeface="Calibri"/>
            </a:endParaRPr>
          </a:p>
        </p:txBody>
      </p:sp>
      <p:grpSp>
        <p:nvGrpSpPr>
          <p:cNvPr id="214" name="Google Shape;214;p26"/>
          <p:cNvGrpSpPr/>
          <p:nvPr/>
        </p:nvGrpSpPr>
        <p:grpSpPr>
          <a:xfrm>
            <a:off x="572992" y="1787650"/>
            <a:ext cx="1133730" cy="891600"/>
            <a:chOff x="610362" y="1714500"/>
            <a:chExt cx="1073100" cy="891600"/>
          </a:xfrm>
        </p:grpSpPr>
        <p:sp>
          <p:nvSpPr>
            <p:cNvPr id="215" name="Google Shape;215;p26"/>
            <p:cNvSpPr/>
            <p:nvPr/>
          </p:nvSpPr>
          <p:spPr>
            <a:xfrm>
              <a:off x="610362" y="1714500"/>
              <a:ext cx="1073100" cy="891600"/>
            </a:xfrm>
            <a:prstGeom prst="roundRect">
              <a:avLst>
                <a:gd name="adj" fmla="val 6154"/>
              </a:avLst>
            </a:prstGeom>
            <a:solidFill>
              <a:srgbClr val="0F256E"/>
            </a:solidFill>
            <a:ln w="9525" cap="flat" cmpd="sng">
              <a:solidFill>
                <a:srgbClr val="0F256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16" name="Google Shape;216;p26"/>
            <p:cNvSpPr txBox="1"/>
            <p:nvPr/>
          </p:nvSpPr>
          <p:spPr>
            <a:xfrm>
              <a:off x="699516"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4F6FB"/>
                </a:buClr>
                <a:buSzPts val="900"/>
                <a:buFont typeface="Inter"/>
                <a:buNone/>
              </a:pPr>
              <a:r>
                <a:rPr lang="en" sz="900" b="1" i="0" u="none" strike="noStrike" cap="none">
                  <a:solidFill>
                    <a:srgbClr val="F4F6FB"/>
                  </a:solidFill>
                  <a:latin typeface="Proxima Nova"/>
                  <a:ea typeface="Proxima Nova"/>
                  <a:cs typeface="Proxima Nova"/>
                  <a:sym typeface="Proxima Nova"/>
                </a:rPr>
                <a:t>1 Readiness</a:t>
              </a:r>
              <a:endParaRPr sz="900" i="0" u="none" strike="noStrike" cap="none">
                <a:solidFill>
                  <a:schemeClr val="dk1"/>
                </a:solidFill>
                <a:latin typeface="Proxima Nova"/>
                <a:ea typeface="Proxima Nova"/>
                <a:cs typeface="Proxima Nova"/>
                <a:sym typeface="Proxima Nova"/>
              </a:endParaRPr>
            </a:p>
          </p:txBody>
        </p:sp>
        <p:sp>
          <p:nvSpPr>
            <p:cNvPr id="217" name="Google Shape;217;p26"/>
            <p:cNvSpPr txBox="1"/>
            <p:nvPr/>
          </p:nvSpPr>
          <p:spPr>
            <a:xfrm>
              <a:off x="699516"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9B3C7"/>
                </a:buClr>
                <a:buSzPts val="800"/>
                <a:buFont typeface="Inter"/>
                <a:buNone/>
              </a:pPr>
              <a:r>
                <a:rPr lang="en" sz="800" i="0" u="none" strike="noStrike" cap="none">
                  <a:solidFill>
                    <a:srgbClr val="A9B3C7"/>
                  </a:solidFill>
                  <a:latin typeface="Proxima Nova"/>
                  <a:ea typeface="Proxima Nova"/>
                  <a:cs typeface="Proxima Nova"/>
                  <a:sym typeface="Proxima Nova"/>
                </a:rPr>
                <a:t>Sales handoff</a:t>
              </a:r>
              <a:endParaRPr sz="800" i="0" u="none" strike="noStrike" cap="none">
                <a:solidFill>
                  <a:schemeClr val="dk1"/>
                </a:solidFill>
                <a:latin typeface="Proxima Nova"/>
                <a:ea typeface="Proxima Nova"/>
                <a:cs typeface="Proxima Nova"/>
                <a:sym typeface="Proxima Nova"/>
              </a:endParaRPr>
            </a:p>
          </p:txBody>
        </p:sp>
      </p:grpSp>
      <p:grpSp>
        <p:nvGrpSpPr>
          <p:cNvPr id="218" name="Google Shape;218;p26"/>
          <p:cNvGrpSpPr/>
          <p:nvPr/>
        </p:nvGrpSpPr>
        <p:grpSpPr>
          <a:xfrm>
            <a:off x="1850132" y="1789803"/>
            <a:ext cx="1073100" cy="891600"/>
            <a:chOff x="1752023" y="1714500"/>
            <a:chExt cx="1073100" cy="891600"/>
          </a:xfrm>
        </p:grpSpPr>
        <p:sp>
          <p:nvSpPr>
            <p:cNvPr id="219" name="Google Shape;219;p26"/>
            <p:cNvSpPr/>
            <p:nvPr/>
          </p:nvSpPr>
          <p:spPr>
            <a:xfrm>
              <a:off x="1752023" y="1714500"/>
              <a:ext cx="1073100" cy="891600"/>
            </a:xfrm>
            <a:prstGeom prst="roundRect">
              <a:avLst>
                <a:gd name="adj" fmla="val 6154"/>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0" name="Google Shape;220;p26"/>
            <p:cNvSpPr txBox="1"/>
            <p:nvPr/>
          </p:nvSpPr>
          <p:spPr>
            <a:xfrm>
              <a:off x="1841177"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900"/>
                <a:buFont typeface="Inter"/>
                <a:buNone/>
              </a:pPr>
              <a:r>
                <a:rPr lang="en" sz="900" b="1" i="0" u="none" strike="noStrike" cap="none">
                  <a:solidFill>
                    <a:srgbClr val="1B2336"/>
                  </a:solidFill>
                  <a:latin typeface="Proxima Nova"/>
                  <a:ea typeface="Proxima Nova"/>
                  <a:cs typeface="Proxima Nova"/>
                  <a:sym typeface="Proxima Nova"/>
                </a:rPr>
                <a:t>2 Mobilize &amp; Align</a:t>
              </a:r>
              <a:endParaRPr sz="900" i="0" u="none" strike="noStrike" cap="none">
                <a:solidFill>
                  <a:schemeClr val="dk1"/>
                </a:solidFill>
                <a:latin typeface="Proxima Nova"/>
                <a:ea typeface="Proxima Nova"/>
                <a:cs typeface="Proxima Nova"/>
                <a:sym typeface="Proxima Nova"/>
              </a:endParaRPr>
            </a:p>
          </p:txBody>
        </p:sp>
        <p:sp>
          <p:nvSpPr>
            <p:cNvPr id="221" name="Google Shape;221;p26"/>
            <p:cNvSpPr txBox="1"/>
            <p:nvPr/>
          </p:nvSpPr>
          <p:spPr>
            <a:xfrm>
              <a:off x="1841177"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800"/>
                <a:buFont typeface="Inter"/>
                <a:buNone/>
              </a:pPr>
              <a:r>
                <a:rPr lang="en" sz="800" i="0" u="none" strike="noStrike" cap="none">
                  <a:solidFill>
                    <a:srgbClr val="5B6475"/>
                  </a:solidFill>
                  <a:latin typeface="Proxima Nova"/>
                  <a:ea typeface="Proxima Nova"/>
                  <a:cs typeface="Proxima Nova"/>
                  <a:sym typeface="Proxima Nova"/>
                </a:rPr>
                <a:t>Project </a:t>
              </a:r>
              <a:r>
                <a:rPr lang="en" sz="800">
                  <a:solidFill>
                    <a:srgbClr val="5B6475"/>
                  </a:solidFill>
                  <a:latin typeface="Proxima Nova"/>
                  <a:ea typeface="Proxima Nova"/>
                  <a:cs typeface="Proxima Nova"/>
                  <a:sym typeface="Proxima Nova"/>
                </a:rPr>
                <a:t>Success</a:t>
              </a:r>
              <a:r>
                <a:rPr lang="en" sz="800" i="0" u="none" strike="noStrike" cap="none">
                  <a:solidFill>
                    <a:srgbClr val="5B6475"/>
                  </a:solidFill>
                  <a:latin typeface="Proxima Nova"/>
                  <a:ea typeface="Proxima Nova"/>
                  <a:cs typeface="Proxima Nova"/>
                  <a:sym typeface="Proxima Nova"/>
                </a:rPr>
                <a:t> Review</a:t>
              </a:r>
              <a:endParaRPr sz="800" i="0" u="none" strike="noStrike" cap="none">
                <a:solidFill>
                  <a:schemeClr val="dk1"/>
                </a:solidFill>
                <a:latin typeface="Proxima Nova"/>
                <a:ea typeface="Proxima Nova"/>
                <a:cs typeface="Proxima Nova"/>
                <a:sym typeface="Proxima Nova"/>
              </a:endParaRPr>
            </a:p>
          </p:txBody>
        </p:sp>
      </p:grpSp>
      <p:grpSp>
        <p:nvGrpSpPr>
          <p:cNvPr id="222" name="Google Shape;222;p26"/>
          <p:cNvGrpSpPr/>
          <p:nvPr/>
        </p:nvGrpSpPr>
        <p:grpSpPr>
          <a:xfrm>
            <a:off x="3049918" y="1789803"/>
            <a:ext cx="1073100" cy="891600"/>
            <a:chOff x="2893684" y="1714500"/>
            <a:chExt cx="1073100" cy="891600"/>
          </a:xfrm>
        </p:grpSpPr>
        <p:sp>
          <p:nvSpPr>
            <p:cNvPr id="223" name="Google Shape;223;p26"/>
            <p:cNvSpPr/>
            <p:nvPr/>
          </p:nvSpPr>
          <p:spPr>
            <a:xfrm>
              <a:off x="2893684" y="1714500"/>
              <a:ext cx="1073100" cy="891600"/>
            </a:xfrm>
            <a:prstGeom prst="roundRect">
              <a:avLst>
                <a:gd name="adj" fmla="val 6154"/>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4" name="Google Shape;224;p26"/>
            <p:cNvSpPr txBox="1"/>
            <p:nvPr/>
          </p:nvSpPr>
          <p:spPr>
            <a:xfrm>
              <a:off x="2982838"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900"/>
                <a:buFont typeface="Inter"/>
                <a:buNone/>
              </a:pPr>
              <a:r>
                <a:rPr lang="en" sz="900" b="1" i="0" u="none" strike="noStrike" cap="none">
                  <a:solidFill>
                    <a:srgbClr val="1B2336"/>
                  </a:solidFill>
                  <a:latin typeface="Proxima Nova"/>
                  <a:ea typeface="Proxima Nova"/>
                  <a:cs typeface="Proxima Nova"/>
                  <a:sym typeface="Proxima Nova"/>
                </a:rPr>
                <a:t>3 Discovery</a:t>
              </a:r>
              <a:endParaRPr sz="900" i="0" u="none" strike="noStrike" cap="none">
                <a:solidFill>
                  <a:schemeClr val="dk1"/>
                </a:solidFill>
                <a:latin typeface="Proxima Nova"/>
                <a:ea typeface="Proxima Nova"/>
                <a:cs typeface="Proxima Nova"/>
                <a:sym typeface="Proxima Nova"/>
              </a:endParaRPr>
            </a:p>
          </p:txBody>
        </p:sp>
        <p:sp>
          <p:nvSpPr>
            <p:cNvPr id="225" name="Google Shape;225;p26"/>
            <p:cNvSpPr txBox="1"/>
            <p:nvPr/>
          </p:nvSpPr>
          <p:spPr>
            <a:xfrm>
              <a:off x="2982838"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800"/>
                <a:buFont typeface="Inter"/>
                <a:buNone/>
              </a:pPr>
              <a:r>
                <a:rPr lang="en" sz="800" i="0" u="none" strike="noStrike" cap="none">
                  <a:solidFill>
                    <a:srgbClr val="5B6475"/>
                  </a:solidFill>
                  <a:latin typeface="Proxima Nova"/>
                  <a:ea typeface="Proxima Nova"/>
                  <a:cs typeface="Proxima Nova"/>
                  <a:sym typeface="Proxima Nova"/>
                </a:rPr>
                <a:t>Requirements, Tech Solution</a:t>
              </a:r>
              <a:r>
                <a:rPr lang="en" sz="800">
                  <a:solidFill>
                    <a:srgbClr val="5B6475"/>
                  </a:solidFill>
                  <a:latin typeface="Proxima Nova"/>
                  <a:ea typeface="Proxima Nova"/>
                  <a:cs typeface="Proxima Nova"/>
                  <a:sym typeface="Proxima Nova"/>
                </a:rPr>
                <a:t>, &amp; Design</a:t>
              </a:r>
              <a:r>
                <a:rPr lang="en" sz="800" i="0" u="none" strike="noStrike" cap="none">
                  <a:solidFill>
                    <a:srgbClr val="5B6475"/>
                  </a:solidFill>
                  <a:latin typeface="Proxima Nova"/>
                  <a:ea typeface="Proxima Nova"/>
                  <a:cs typeface="Proxima Nova"/>
                  <a:sym typeface="Proxima Nova"/>
                </a:rPr>
                <a:t> Review</a:t>
              </a:r>
              <a:endParaRPr sz="800" i="0" u="none" strike="noStrike" cap="none">
                <a:solidFill>
                  <a:schemeClr val="dk1"/>
                </a:solidFill>
                <a:latin typeface="Proxima Nova"/>
                <a:ea typeface="Proxima Nova"/>
                <a:cs typeface="Proxima Nova"/>
                <a:sym typeface="Proxima Nova"/>
              </a:endParaRPr>
            </a:p>
          </p:txBody>
        </p:sp>
      </p:grpSp>
      <p:grpSp>
        <p:nvGrpSpPr>
          <p:cNvPr id="226" name="Google Shape;226;p26"/>
          <p:cNvGrpSpPr/>
          <p:nvPr/>
        </p:nvGrpSpPr>
        <p:grpSpPr>
          <a:xfrm>
            <a:off x="4249704" y="1789803"/>
            <a:ext cx="1073100" cy="891600"/>
            <a:chOff x="4035345" y="1714500"/>
            <a:chExt cx="1073100" cy="891600"/>
          </a:xfrm>
        </p:grpSpPr>
        <p:sp>
          <p:nvSpPr>
            <p:cNvPr id="227" name="Google Shape;227;p26"/>
            <p:cNvSpPr/>
            <p:nvPr/>
          </p:nvSpPr>
          <p:spPr>
            <a:xfrm>
              <a:off x="4035345" y="1714500"/>
              <a:ext cx="1073100" cy="891600"/>
            </a:xfrm>
            <a:prstGeom prst="roundRect">
              <a:avLst>
                <a:gd name="adj" fmla="val 6154"/>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8" name="Google Shape;228;p26"/>
            <p:cNvSpPr txBox="1"/>
            <p:nvPr/>
          </p:nvSpPr>
          <p:spPr>
            <a:xfrm>
              <a:off x="4124499"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900"/>
                <a:buFont typeface="Inter"/>
                <a:buNone/>
              </a:pPr>
              <a:r>
                <a:rPr lang="en" sz="900" b="1" i="0" u="none" strike="noStrike" cap="none">
                  <a:solidFill>
                    <a:srgbClr val="1B2336"/>
                  </a:solidFill>
                  <a:latin typeface="Proxima Nova"/>
                  <a:ea typeface="Proxima Nova"/>
                  <a:cs typeface="Proxima Nova"/>
                  <a:sym typeface="Proxima Nova"/>
                </a:rPr>
                <a:t>4 Build</a:t>
              </a:r>
              <a:endParaRPr sz="900" i="0" u="none" strike="noStrike" cap="none">
                <a:solidFill>
                  <a:schemeClr val="dk1"/>
                </a:solidFill>
                <a:latin typeface="Proxima Nova"/>
                <a:ea typeface="Proxima Nova"/>
                <a:cs typeface="Proxima Nova"/>
                <a:sym typeface="Proxima Nova"/>
              </a:endParaRPr>
            </a:p>
          </p:txBody>
        </p:sp>
        <p:sp>
          <p:nvSpPr>
            <p:cNvPr id="229" name="Google Shape;229;p26"/>
            <p:cNvSpPr txBox="1"/>
            <p:nvPr/>
          </p:nvSpPr>
          <p:spPr>
            <a:xfrm>
              <a:off x="4124499"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800"/>
                <a:buFont typeface="Inter"/>
                <a:buNone/>
              </a:pPr>
              <a:r>
                <a:rPr lang="en" sz="800" i="0" u="none" strike="noStrike" cap="none">
                  <a:solidFill>
                    <a:srgbClr val="5B6475"/>
                  </a:solidFill>
                  <a:latin typeface="Proxima Nova"/>
                  <a:ea typeface="Proxima Nova"/>
                  <a:cs typeface="Proxima Nova"/>
                  <a:sym typeface="Proxima Nova"/>
                </a:rPr>
                <a:t>Test Readiness Review</a:t>
              </a:r>
              <a:endParaRPr sz="800" i="0" u="none" strike="noStrike" cap="none">
                <a:solidFill>
                  <a:schemeClr val="dk1"/>
                </a:solidFill>
                <a:latin typeface="Proxima Nova"/>
                <a:ea typeface="Proxima Nova"/>
                <a:cs typeface="Proxima Nova"/>
                <a:sym typeface="Proxima Nova"/>
              </a:endParaRPr>
            </a:p>
          </p:txBody>
        </p:sp>
      </p:grpSp>
      <p:grpSp>
        <p:nvGrpSpPr>
          <p:cNvPr id="230" name="Google Shape;230;p26"/>
          <p:cNvGrpSpPr/>
          <p:nvPr/>
        </p:nvGrpSpPr>
        <p:grpSpPr>
          <a:xfrm>
            <a:off x="5449490" y="1789803"/>
            <a:ext cx="1073100" cy="891600"/>
            <a:chOff x="5177006" y="1714500"/>
            <a:chExt cx="1073100" cy="891600"/>
          </a:xfrm>
        </p:grpSpPr>
        <p:sp>
          <p:nvSpPr>
            <p:cNvPr id="231" name="Google Shape;231;p26"/>
            <p:cNvSpPr/>
            <p:nvPr/>
          </p:nvSpPr>
          <p:spPr>
            <a:xfrm>
              <a:off x="5177006" y="1714500"/>
              <a:ext cx="1073100" cy="891600"/>
            </a:xfrm>
            <a:prstGeom prst="roundRect">
              <a:avLst>
                <a:gd name="adj" fmla="val 6154"/>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2" name="Google Shape;232;p26"/>
            <p:cNvSpPr txBox="1"/>
            <p:nvPr/>
          </p:nvSpPr>
          <p:spPr>
            <a:xfrm>
              <a:off x="5266160"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900"/>
                <a:buFont typeface="Inter"/>
                <a:buNone/>
              </a:pPr>
              <a:r>
                <a:rPr lang="en" sz="900" b="1" i="0" u="none" strike="noStrike" cap="none">
                  <a:solidFill>
                    <a:srgbClr val="1B2336"/>
                  </a:solidFill>
                  <a:latin typeface="Proxima Nova"/>
                  <a:ea typeface="Proxima Nova"/>
                  <a:cs typeface="Proxima Nova"/>
                  <a:sym typeface="Proxima Nova"/>
                </a:rPr>
                <a:t>5 Validate</a:t>
              </a:r>
              <a:endParaRPr sz="900" i="0" u="none" strike="noStrike" cap="none">
                <a:solidFill>
                  <a:schemeClr val="dk1"/>
                </a:solidFill>
                <a:latin typeface="Proxima Nova"/>
                <a:ea typeface="Proxima Nova"/>
                <a:cs typeface="Proxima Nova"/>
                <a:sym typeface="Proxima Nova"/>
              </a:endParaRPr>
            </a:p>
          </p:txBody>
        </p:sp>
        <p:sp>
          <p:nvSpPr>
            <p:cNvPr id="233" name="Google Shape;233;p26"/>
            <p:cNvSpPr txBox="1"/>
            <p:nvPr/>
          </p:nvSpPr>
          <p:spPr>
            <a:xfrm>
              <a:off x="5266160"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800"/>
                <a:buFont typeface="Inter"/>
                <a:buNone/>
              </a:pPr>
              <a:r>
                <a:rPr lang="en" sz="800" i="0" u="none" strike="noStrike" cap="none">
                  <a:solidFill>
                    <a:srgbClr val="5B6475"/>
                  </a:solidFill>
                  <a:latin typeface="Proxima Nova"/>
                  <a:ea typeface="Proxima Nova"/>
                  <a:cs typeface="Proxima Nova"/>
                  <a:sym typeface="Proxima Nova"/>
                </a:rPr>
                <a:t>UAT </a:t>
              </a:r>
              <a:endParaRPr sz="800" i="0" u="none" strike="noStrike" cap="none">
                <a:solidFill>
                  <a:schemeClr val="dk1"/>
                </a:solidFill>
                <a:latin typeface="Proxima Nova"/>
                <a:ea typeface="Proxima Nova"/>
                <a:cs typeface="Proxima Nova"/>
                <a:sym typeface="Proxima Nova"/>
              </a:endParaRPr>
            </a:p>
          </p:txBody>
        </p:sp>
      </p:grpSp>
      <p:grpSp>
        <p:nvGrpSpPr>
          <p:cNvPr id="234" name="Google Shape;234;p26"/>
          <p:cNvGrpSpPr/>
          <p:nvPr/>
        </p:nvGrpSpPr>
        <p:grpSpPr>
          <a:xfrm>
            <a:off x="6649276" y="1789803"/>
            <a:ext cx="1073100" cy="891600"/>
            <a:chOff x="6318668" y="1714500"/>
            <a:chExt cx="1073100" cy="891600"/>
          </a:xfrm>
        </p:grpSpPr>
        <p:sp>
          <p:nvSpPr>
            <p:cNvPr id="235" name="Google Shape;235;p26"/>
            <p:cNvSpPr/>
            <p:nvPr/>
          </p:nvSpPr>
          <p:spPr>
            <a:xfrm>
              <a:off x="6318668" y="1714500"/>
              <a:ext cx="1073100" cy="891600"/>
            </a:xfrm>
            <a:prstGeom prst="roundRect">
              <a:avLst>
                <a:gd name="adj" fmla="val 6154"/>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6" name="Google Shape;236;p26"/>
            <p:cNvSpPr txBox="1"/>
            <p:nvPr/>
          </p:nvSpPr>
          <p:spPr>
            <a:xfrm>
              <a:off x="6407822"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900"/>
                <a:buFont typeface="Inter"/>
                <a:buNone/>
              </a:pPr>
              <a:r>
                <a:rPr lang="en" sz="900" b="1" i="0" u="none" strike="noStrike" cap="none">
                  <a:solidFill>
                    <a:srgbClr val="1B2336"/>
                  </a:solidFill>
                  <a:latin typeface="Proxima Nova"/>
                  <a:ea typeface="Proxima Nova"/>
                  <a:cs typeface="Proxima Nova"/>
                  <a:sym typeface="Proxima Nova"/>
                </a:rPr>
                <a:t>6 Deploy</a:t>
              </a:r>
              <a:endParaRPr sz="900" i="0" u="none" strike="noStrike" cap="none">
                <a:solidFill>
                  <a:schemeClr val="dk1"/>
                </a:solidFill>
                <a:latin typeface="Proxima Nova"/>
                <a:ea typeface="Proxima Nova"/>
                <a:cs typeface="Proxima Nova"/>
                <a:sym typeface="Proxima Nova"/>
              </a:endParaRPr>
            </a:p>
          </p:txBody>
        </p:sp>
        <p:sp>
          <p:nvSpPr>
            <p:cNvPr id="237" name="Google Shape;237;p26"/>
            <p:cNvSpPr txBox="1"/>
            <p:nvPr/>
          </p:nvSpPr>
          <p:spPr>
            <a:xfrm>
              <a:off x="6407822"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800"/>
                <a:buFont typeface="Inter"/>
                <a:buNone/>
              </a:pPr>
              <a:r>
                <a:rPr lang="en" sz="800" i="0" u="none" strike="noStrike" cap="none">
                  <a:solidFill>
                    <a:srgbClr val="5B6475"/>
                  </a:solidFill>
                  <a:latin typeface="Proxima Nova"/>
                  <a:ea typeface="Proxima Nova"/>
                  <a:cs typeface="Proxima Nova"/>
                  <a:sym typeface="Proxima Nova"/>
                </a:rPr>
                <a:t>Production Readiness Review</a:t>
              </a:r>
              <a:endParaRPr sz="800" i="0" u="none" strike="noStrike" cap="none">
                <a:solidFill>
                  <a:schemeClr val="dk1"/>
                </a:solidFill>
                <a:latin typeface="Proxima Nova"/>
                <a:ea typeface="Proxima Nova"/>
                <a:cs typeface="Proxima Nova"/>
                <a:sym typeface="Proxima Nova"/>
              </a:endParaRPr>
            </a:p>
          </p:txBody>
        </p:sp>
      </p:grpSp>
      <p:grpSp>
        <p:nvGrpSpPr>
          <p:cNvPr id="238" name="Google Shape;238;p26"/>
          <p:cNvGrpSpPr/>
          <p:nvPr/>
        </p:nvGrpSpPr>
        <p:grpSpPr>
          <a:xfrm>
            <a:off x="7849062" y="1789803"/>
            <a:ext cx="1073100" cy="891600"/>
            <a:chOff x="7460328" y="1714500"/>
            <a:chExt cx="1073100" cy="891600"/>
          </a:xfrm>
        </p:grpSpPr>
        <p:sp>
          <p:nvSpPr>
            <p:cNvPr id="239" name="Google Shape;239;p26"/>
            <p:cNvSpPr/>
            <p:nvPr/>
          </p:nvSpPr>
          <p:spPr>
            <a:xfrm>
              <a:off x="7460328" y="1714500"/>
              <a:ext cx="1073100" cy="891600"/>
            </a:xfrm>
            <a:prstGeom prst="roundRect">
              <a:avLst>
                <a:gd name="adj" fmla="val 6154"/>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0" name="Google Shape;240;p26"/>
            <p:cNvSpPr txBox="1"/>
            <p:nvPr/>
          </p:nvSpPr>
          <p:spPr>
            <a:xfrm>
              <a:off x="7549482" y="1810512"/>
              <a:ext cx="894900" cy="30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900"/>
                <a:buFont typeface="Inter"/>
                <a:buNone/>
              </a:pPr>
              <a:r>
                <a:rPr lang="en" sz="900" b="1" i="0" u="none" strike="noStrike" cap="none">
                  <a:solidFill>
                    <a:srgbClr val="1B2336"/>
                  </a:solidFill>
                  <a:latin typeface="Proxima Nova"/>
                  <a:ea typeface="Proxima Nova"/>
                  <a:cs typeface="Proxima Nova"/>
                  <a:sym typeface="Proxima Nova"/>
                </a:rPr>
                <a:t>7 Transition</a:t>
              </a:r>
              <a:endParaRPr sz="900" i="0" u="none" strike="noStrike" cap="none">
                <a:solidFill>
                  <a:schemeClr val="dk1"/>
                </a:solidFill>
                <a:latin typeface="Proxima Nova"/>
                <a:ea typeface="Proxima Nova"/>
                <a:cs typeface="Proxima Nova"/>
                <a:sym typeface="Proxima Nova"/>
              </a:endParaRPr>
            </a:p>
          </p:txBody>
        </p:sp>
        <p:sp>
          <p:nvSpPr>
            <p:cNvPr id="241" name="Google Shape;241;p26"/>
            <p:cNvSpPr txBox="1"/>
            <p:nvPr/>
          </p:nvSpPr>
          <p:spPr>
            <a:xfrm>
              <a:off x="7549482" y="2139696"/>
              <a:ext cx="894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475"/>
                </a:buClr>
                <a:buSzPts val="800"/>
                <a:buFont typeface="Inter"/>
                <a:buNone/>
              </a:pPr>
              <a:r>
                <a:rPr lang="en" sz="800" i="0" u="none" strike="noStrike" cap="none">
                  <a:solidFill>
                    <a:srgbClr val="5B6475"/>
                  </a:solidFill>
                  <a:latin typeface="Proxima Nova"/>
                  <a:ea typeface="Proxima Nova"/>
                  <a:cs typeface="Proxima Nova"/>
                  <a:sym typeface="Proxima Nova"/>
                </a:rPr>
                <a:t>Final Acceptance</a:t>
              </a:r>
              <a:endParaRPr sz="800" i="0" u="none" strike="noStrike" cap="none">
                <a:solidFill>
                  <a:schemeClr val="dk1"/>
                </a:solidFill>
                <a:latin typeface="Proxima Nova"/>
                <a:ea typeface="Proxima Nova"/>
                <a:cs typeface="Proxima Nova"/>
                <a:sym typeface="Proxima Nova"/>
              </a:endParaRPr>
            </a:p>
          </p:txBody>
        </p:sp>
      </p:grpSp>
      <p:sp>
        <p:nvSpPr>
          <p:cNvPr id="242" name="Google Shape;242;p26"/>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DELIVERY LIFECYCLE</a:t>
            </a:r>
            <a:endParaRPr sz="900" i="0" u="none" strike="noStrike" cap="none">
              <a:solidFill>
                <a:srgbClr val="000000"/>
              </a:solidFill>
              <a:latin typeface="Proxima Nova"/>
              <a:ea typeface="Proxima Nova"/>
              <a:cs typeface="Proxima Nova"/>
              <a:sym typeface="Proxima Nova"/>
            </a:endParaRPr>
          </a:p>
        </p:txBody>
      </p:sp>
      <p:sp>
        <p:nvSpPr>
          <p:cNvPr id="243" name="Google Shape;243;p26"/>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One governance model, across the whole lifecycle</a:t>
            </a:r>
            <a:endParaRPr sz="210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8"/>
        <p:cNvGrpSpPr/>
        <p:nvPr/>
      </p:nvGrpSpPr>
      <p:grpSpPr>
        <a:xfrm>
          <a:off x="0" y="0"/>
          <a:ext cx="0" cy="0"/>
          <a:chOff x="0" y="0"/>
          <a:chExt cx="0" cy="0"/>
        </a:xfrm>
      </p:grpSpPr>
      <p:sp>
        <p:nvSpPr>
          <p:cNvPr id="249" name="Google Shape;249;p27"/>
          <p:cNvSpPr/>
          <p:nvPr/>
        </p:nvSpPr>
        <p:spPr>
          <a:xfrm>
            <a:off x="605613" y="3058200"/>
            <a:ext cx="5486400" cy="205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6B7280"/>
              </a:buClr>
              <a:buSzPts val="800"/>
              <a:buFont typeface="Arial"/>
              <a:buNone/>
            </a:pPr>
            <a:r>
              <a:rPr lang="en" sz="800" b="1">
                <a:solidFill>
                  <a:srgbClr val="6B7280"/>
                </a:solidFill>
              </a:rPr>
              <a:t>WEEKLY GOVERNANCE RHYTHM</a:t>
            </a:r>
            <a:endParaRPr sz="800">
              <a:solidFill>
                <a:schemeClr val="dk1"/>
              </a:solidFill>
              <a:latin typeface="Calibri"/>
              <a:ea typeface="Calibri"/>
              <a:cs typeface="Calibri"/>
              <a:sym typeface="Calibri"/>
            </a:endParaRPr>
          </a:p>
        </p:txBody>
      </p:sp>
      <p:sp>
        <p:nvSpPr>
          <p:cNvPr id="250" name="Google Shape;250;p27"/>
          <p:cNvSpPr/>
          <p:nvPr/>
        </p:nvSpPr>
        <p:spPr>
          <a:xfrm>
            <a:off x="605613" y="3322233"/>
            <a:ext cx="288000" cy="288000"/>
          </a:xfrm>
          <a:prstGeom prst="ellipse">
            <a:avLst/>
          </a:prstGeom>
          <a:solidFill>
            <a:srgbClr val="183A9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1" name="Google Shape;251;p27"/>
          <p:cNvSpPr/>
          <p:nvPr/>
        </p:nvSpPr>
        <p:spPr>
          <a:xfrm>
            <a:off x="605613" y="3322233"/>
            <a:ext cx="288000" cy="288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100"/>
              <a:buFont typeface="Arial"/>
              <a:buNone/>
            </a:pPr>
            <a:r>
              <a:rPr lang="en" sz="1100" b="1">
                <a:solidFill>
                  <a:srgbClr val="FFFFFF"/>
                </a:solidFill>
                <a:latin typeface="Arial"/>
                <a:ea typeface="Arial"/>
                <a:cs typeface="Arial"/>
                <a:sym typeface="Arial"/>
              </a:rPr>
              <a:t>1</a:t>
            </a:r>
            <a:endParaRPr sz="1100">
              <a:solidFill>
                <a:schemeClr val="dk1"/>
              </a:solidFill>
              <a:latin typeface="Calibri"/>
              <a:ea typeface="Calibri"/>
              <a:cs typeface="Calibri"/>
              <a:sym typeface="Calibri"/>
            </a:endParaRPr>
          </a:p>
        </p:txBody>
      </p:sp>
      <p:sp>
        <p:nvSpPr>
          <p:cNvPr id="252" name="Google Shape;252;p27"/>
          <p:cNvSpPr/>
          <p:nvPr/>
        </p:nvSpPr>
        <p:spPr>
          <a:xfrm>
            <a:off x="982803" y="3322233"/>
            <a:ext cx="1549800" cy="288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262D3D"/>
              </a:buClr>
              <a:buSzPts val="900"/>
              <a:buFont typeface="Arial"/>
              <a:buNone/>
            </a:pPr>
            <a:r>
              <a:rPr lang="en" sz="900" b="1">
                <a:solidFill>
                  <a:srgbClr val="262D3D"/>
                </a:solidFill>
                <a:latin typeface="Arial"/>
                <a:ea typeface="Arial"/>
                <a:cs typeface="Arial"/>
                <a:sym typeface="Arial"/>
              </a:rPr>
              <a:t>Weekly check-in</a:t>
            </a:r>
            <a:endParaRPr sz="900">
              <a:solidFill>
                <a:schemeClr val="dk1"/>
              </a:solidFill>
              <a:latin typeface="Calibri"/>
              <a:ea typeface="Calibri"/>
              <a:cs typeface="Calibri"/>
              <a:sym typeface="Calibri"/>
            </a:endParaRPr>
          </a:p>
        </p:txBody>
      </p:sp>
      <p:sp>
        <p:nvSpPr>
          <p:cNvPr id="253" name="Google Shape;253;p27"/>
          <p:cNvSpPr/>
          <p:nvPr/>
        </p:nvSpPr>
        <p:spPr>
          <a:xfrm>
            <a:off x="605613" y="3675420"/>
            <a:ext cx="1858500" cy="7200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6B7280"/>
              </a:buClr>
              <a:buSzPts val="800"/>
              <a:buFont typeface="Arial"/>
              <a:buNone/>
            </a:pPr>
            <a:r>
              <a:rPr lang="en" sz="800">
                <a:solidFill>
                  <a:srgbClr val="6B7280"/>
                </a:solidFill>
              </a:rPr>
              <a:t>The PMO, DM and PM review progress, scope and blockers together.</a:t>
            </a:r>
            <a:endParaRPr sz="800">
              <a:solidFill>
                <a:schemeClr val="dk1"/>
              </a:solidFill>
              <a:latin typeface="Calibri"/>
              <a:ea typeface="Calibri"/>
              <a:cs typeface="Calibri"/>
              <a:sym typeface="Calibri"/>
            </a:endParaRPr>
          </a:p>
        </p:txBody>
      </p:sp>
      <p:sp>
        <p:nvSpPr>
          <p:cNvPr id="254" name="Google Shape;254;p27"/>
          <p:cNvSpPr/>
          <p:nvPr/>
        </p:nvSpPr>
        <p:spPr>
          <a:xfrm>
            <a:off x="2690445" y="3322233"/>
            <a:ext cx="288000" cy="288000"/>
          </a:xfrm>
          <a:prstGeom prst="ellipse">
            <a:avLst/>
          </a:prstGeom>
          <a:solidFill>
            <a:srgbClr val="07947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5" name="Google Shape;255;p27"/>
          <p:cNvSpPr/>
          <p:nvPr/>
        </p:nvSpPr>
        <p:spPr>
          <a:xfrm>
            <a:off x="2690458" y="3322233"/>
            <a:ext cx="288000" cy="288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100"/>
              <a:buFont typeface="Arial"/>
              <a:buNone/>
            </a:pPr>
            <a:r>
              <a:rPr lang="en" sz="1100" b="1">
                <a:solidFill>
                  <a:srgbClr val="FFFFFF"/>
                </a:solidFill>
                <a:latin typeface="Arial"/>
                <a:ea typeface="Arial"/>
                <a:cs typeface="Arial"/>
                <a:sym typeface="Arial"/>
              </a:rPr>
              <a:t>2</a:t>
            </a:r>
            <a:endParaRPr sz="1100">
              <a:solidFill>
                <a:schemeClr val="dk1"/>
              </a:solidFill>
              <a:latin typeface="Calibri"/>
              <a:ea typeface="Calibri"/>
              <a:cs typeface="Calibri"/>
              <a:sym typeface="Calibri"/>
            </a:endParaRPr>
          </a:p>
        </p:txBody>
      </p:sp>
      <p:sp>
        <p:nvSpPr>
          <p:cNvPr id="256" name="Google Shape;256;p27"/>
          <p:cNvSpPr/>
          <p:nvPr/>
        </p:nvSpPr>
        <p:spPr>
          <a:xfrm>
            <a:off x="3067635" y="3322233"/>
            <a:ext cx="1549800" cy="288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262D3D"/>
              </a:buClr>
              <a:buSzPts val="900"/>
              <a:buFont typeface="Arial"/>
              <a:buNone/>
            </a:pPr>
            <a:r>
              <a:rPr lang="en" sz="900" b="1">
                <a:solidFill>
                  <a:srgbClr val="262D3D"/>
                </a:solidFill>
                <a:latin typeface="Arial"/>
                <a:ea typeface="Arial"/>
                <a:cs typeface="Arial"/>
                <a:sym typeface="Arial"/>
              </a:rPr>
              <a:t>PMO assessment</a:t>
            </a:r>
            <a:endParaRPr sz="900">
              <a:solidFill>
                <a:schemeClr val="dk1"/>
              </a:solidFill>
              <a:latin typeface="Calibri"/>
              <a:ea typeface="Calibri"/>
              <a:cs typeface="Calibri"/>
              <a:sym typeface="Calibri"/>
            </a:endParaRPr>
          </a:p>
        </p:txBody>
      </p:sp>
      <p:sp>
        <p:nvSpPr>
          <p:cNvPr id="257" name="Google Shape;257;p27"/>
          <p:cNvSpPr/>
          <p:nvPr/>
        </p:nvSpPr>
        <p:spPr>
          <a:xfrm>
            <a:off x="2690445" y="3675420"/>
            <a:ext cx="1858500" cy="7200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6B7280"/>
              </a:buClr>
              <a:buSzPts val="800"/>
              <a:buFont typeface="Arial"/>
              <a:buNone/>
            </a:pPr>
            <a:r>
              <a:rPr lang="en" sz="800">
                <a:solidFill>
                  <a:srgbClr val="6B7280"/>
                </a:solidFill>
              </a:rPr>
              <a:t>The PMO independently issues the project’s health rating and drafts the weekly status report.</a:t>
            </a:r>
            <a:endParaRPr sz="800">
              <a:solidFill>
                <a:srgbClr val="6B7280"/>
              </a:solidFill>
            </a:endParaRPr>
          </a:p>
        </p:txBody>
      </p:sp>
      <p:sp>
        <p:nvSpPr>
          <p:cNvPr id="258" name="Google Shape;258;p27"/>
          <p:cNvSpPr/>
          <p:nvPr/>
        </p:nvSpPr>
        <p:spPr>
          <a:xfrm>
            <a:off x="4775277" y="3322233"/>
            <a:ext cx="288000" cy="288000"/>
          </a:xfrm>
          <a:prstGeom prst="ellipse">
            <a:avLst/>
          </a:prstGeom>
          <a:solidFill>
            <a:srgbClr val="183A9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9" name="Google Shape;259;p27"/>
          <p:cNvSpPr/>
          <p:nvPr/>
        </p:nvSpPr>
        <p:spPr>
          <a:xfrm>
            <a:off x="4775277" y="3322233"/>
            <a:ext cx="288000" cy="288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100"/>
              <a:buFont typeface="Arial"/>
              <a:buNone/>
            </a:pPr>
            <a:r>
              <a:rPr lang="en" sz="1100" b="1">
                <a:solidFill>
                  <a:srgbClr val="FFFFFF"/>
                </a:solidFill>
                <a:latin typeface="Arial"/>
                <a:ea typeface="Arial"/>
                <a:cs typeface="Arial"/>
                <a:sym typeface="Arial"/>
              </a:rPr>
              <a:t>3</a:t>
            </a:r>
            <a:endParaRPr sz="1100">
              <a:solidFill>
                <a:schemeClr val="dk1"/>
              </a:solidFill>
              <a:latin typeface="Calibri"/>
              <a:ea typeface="Calibri"/>
              <a:cs typeface="Calibri"/>
              <a:sym typeface="Calibri"/>
            </a:endParaRPr>
          </a:p>
        </p:txBody>
      </p:sp>
      <p:sp>
        <p:nvSpPr>
          <p:cNvPr id="260" name="Google Shape;260;p27"/>
          <p:cNvSpPr/>
          <p:nvPr/>
        </p:nvSpPr>
        <p:spPr>
          <a:xfrm>
            <a:off x="5152467" y="3322233"/>
            <a:ext cx="1549800" cy="288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262D3D"/>
              </a:buClr>
              <a:buSzPts val="900"/>
              <a:buFont typeface="Arial"/>
              <a:buNone/>
            </a:pPr>
            <a:r>
              <a:rPr lang="en" sz="900" b="1">
                <a:solidFill>
                  <a:srgbClr val="262D3D"/>
                </a:solidFill>
              </a:rPr>
              <a:t>Reality, impact, fix</a:t>
            </a:r>
            <a:endParaRPr sz="900" b="1">
              <a:solidFill>
                <a:srgbClr val="262D3D"/>
              </a:solidFill>
            </a:endParaRPr>
          </a:p>
        </p:txBody>
      </p:sp>
      <p:sp>
        <p:nvSpPr>
          <p:cNvPr id="261" name="Google Shape;261;p27"/>
          <p:cNvSpPr/>
          <p:nvPr/>
        </p:nvSpPr>
        <p:spPr>
          <a:xfrm>
            <a:off x="4775277" y="3675420"/>
            <a:ext cx="1858500" cy="7200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6B7280"/>
              </a:buClr>
              <a:buSzPts val="800"/>
              <a:buFont typeface="Arial"/>
              <a:buNone/>
            </a:pPr>
            <a:r>
              <a:rPr lang="en" sz="800">
                <a:solidFill>
                  <a:srgbClr val="6B7280"/>
                </a:solidFill>
              </a:rPr>
              <a:t>PMO gives the DM and PM what's really happening, what it means, and how we're fixing it.</a:t>
            </a:r>
            <a:endParaRPr sz="800">
              <a:solidFill>
                <a:srgbClr val="6B7280"/>
              </a:solidFill>
            </a:endParaRPr>
          </a:p>
        </p:txBody>
      </p:sp>
      <p:sp>
        <p:nvSpPr>
          <p:cNvPr id="262" name="Google Shape;262;p27"/>
          <p:cNvSpPr/>
          <p:nvPr/>
        </p:nvSpPr>
        <p:spPr>
          <a:xfrm>
            <a:off x="6860109" y="3322233"/>
            <a:ext cx="288000" cy="288000"/>
          </a:xfrm>
          <a:prstGeom prst="ellipse">
            <a:avLst/>
          </a:prstGeom>
          <a:solidFill>
            <a:srgbClr val="183A9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63" name="Google Shape;263;p27"/>
          <p:cNvSpPr/>
          <p:nvPr/>
        </p:nvSpPr>
        <p:spPr>
          <a:xfrm>
            <a:off x="6860109" y="3322233"/>
            <a:ext cx="288000" cy="288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100"/>
              <a:buFont typeface="Arial"/>
              <a:buNone/>
            </a:pPr>
            <a:r>
              <a:rPr lang="en" sz="1100" b="1">
                <a:solidFill>
                  <a:srgbClr val="FFFFFF"/>
                </a:solidFill>
                <a:latin typeface="Arial"/>
                <a:ea typeface="Arial"/>
                <a:cs typeface="Arial"/>
                <a:sym typeface="Arial"/>
              </a:rPr>
              <a:t>4</a:t>
            </a:r>
            <a:endParaRPr sz="1100">
              <a:solidFill>
                <a:schemeClr val="dk1"/>
              </a:solidFill>
              <a:latin typeface="Calibri"/>
              <a:ea typeface="Calibri"/>
              <a:cs typeface="Calibri"/>
              <a:sym typeface="Calibri"/>
            </a:endParaRPr>
          </a:p>
        </p:txBody>
      </p:sp>
      <p:sp>
        <p:nvSpPr>
          <p:cNvPr id="264" name="Google Shape;264;p27"/>
          <p:cNvSpPr/>
          <p:nvPr/>
        </p:nvSpPr>
        <p:spPr>
          <a:xfrm>
            <a:off x="7237299" y="3322233"/>
            <a:ext cx="1549800" cy="288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262D3D"/>
              </a:buClr>
              <a:buSzPts val="900"/>
              <a:buFont typeface="Arial"/>
              <a:buNone/>
            </a:pPr>
            <a:r>
              <a:rPr lang="en" sz="900" b="1">
                <a:solidFill>
                  <a:srgbClr val="262D3D"/>
                </a:solidFill>
              </a:rPr>
              <a:t>Client Informed </a:t>
            </a:r>
            <a:endParaRPr sz="900">
              <a:solidFill>
                <a:schemeClr val="dk1"/>
              </a:solidFill>
              <a:latin typeface="Calibri"/>
              <a:ea typeface="Calibri"/>
              <a:cs typeface="Calibri"/>
              <a:sym typeface="Calibri"/>
            </a:endParaRPr>
          </a:p>
        </p:txBody>
      </p:sp>
      <p:sp>
        <p:nvSpPr>
          <p:cNvPr id="265" name="Google Shape;265;p27"/>
          <p:cNvSpPr/>
          <p:nvPr/>
        </p:nvSpPr>
        <p:spPr>
          <a:xfrm>
            <a:off x="6860109" y="3675420"/>
            <a:ext cx="1858500" cy="7200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6B7280"/>
              </a:buClr>
              <a:buSzPts val="800"/>
              <a:buFont typeface="Arial"/>
              <a:buNone/>
            </a:pPr>
            <a:r>
              <a:rPr lang="en" sz="800">
                <a:solidFill>
                  <a:srgbClr val="6B7280"/>
                </a:solidFill>
              </a:rPr>
              <a:t>The DM leads the delivery response with the client. Bad news arrives early, with a plan attached.</a:t>
            </a:r>
            <a:endParaRPr sz="800">
              <a:solidFill>
                <a:srgbClr val="6B7280"/>
              </a:solidFill>
            </a:endParaRPr>
          </a:p>
        </p:txBody>
      </p:sp>
      <p:sp>
        <p:nvSpPr>
          <p:cNvPr id="266" name="Google Shape;266;p27"/>
          <p:cNvSpPr/>
          <p:nvPr/>
        </p:nvSpPr>
        <p:spPr>
          <a:xfrm>
            <a:off x="2226493" y="3784946"/>
            <a:ext cx="237600" cy="237600"/>
          </a:xfrm>
          <a:prstGeom prst="rightArrow">
            <a:avLst>
              <a:gd name="adj1" fmla="val 50000"/>
              <a:gd name="adj2" fmla="val 50000"/>
            </a:avLst>
          </a:prstGeom>
          <a:solidFill>
            <a:srgbClr val="A9B3C7"/>
          </a:solidFill>
          <a:ln w="12700" cap="flat" cmpd="sng">
            <a:solidFill>
              <a:srgbClr val="A9B3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7"/>
          <p:cNvSpPr/>
          <p:nvPr/>
        </p:nvSpPr>
        <p:spPr>
          <a:xfrm>
            <a:off x="4477482" y="3784946"/>
            <a:ext cx="237600" cy="237600"/>
          </a:xfrm>
          <a:prstGeom prst="rightArrow">
            <a:avLst>
              <a:gd name="adj1" fmla="val 50000"/>
              <a:gd name="adj2" fmla="val 50000"/>
            </a:avLst>
          </a:prstGeom>
          <a:solidFill>
            <a:srgbClr val="A9B3C7"/>
          </a:solidFill>
          <a:ln w="12700" cap="flat" cmpd="sng">
            <a:solidFill>
              <a:srgbClr val="A9B3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7"/>
          <p:cNvSpPr/>
          <p:nvPr/>
        </p:nvSpPr>
        <p:spPr>
          <a:xfrm>
            <a:off x="6622518" y="3784946"/>
            <a:ext cx="237600" cy="237600"/>
          </a:xfrm>
          <a:prstGeom prst="rightArrow">
            <a:avLst>
              <a:gd name="adj1" fmla="val 50000"/>
              <a:gd name="adj2" fmla="val 50000"/>
            </a:avLst>
          </a:prstGeom>
          <a:solidFill>
            <a:srgbClr val="A9B3C7"/>
          </a:solidFill>
          <a:ln w="12700" cap="flat" cmpd="sng">
            <a:solidFill>
              <a:srgbClr val="A9B3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7"/>
          <p:cNvSpPr/>
          <p:nvPr/>
        </p:nvSpPr>
        <p:spPr>
          <a:xfrm>
            <a:off x="542901" y="1409545"/>
            <a:ext cx="4114800" cy="205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6B7280"/>
              </a:buClr>
              <a:buSzPts val="800"/>
              <a:buFont typeface="Arial"/>
              <a:buNone/>
            </a:pPr>
            <a:r>
              <a:rPr lang="en" sz="800" b="1">
                <a:solidFill>
                  <a:srgbClr val="6B7280"/>
                </a:solidFill>
              </a:rPr>
              <a:t>30 MINUTES  ·  WEEKLY  ·  ALL THREE ROLES</a:t>
            </a:r>
            <a:endParaRPr sz="800" b="1">
              <a:solidFill>
                <a:srgbClr val="6B7280"/>
              </a:solidFill>
            </a:endParaRPr>
          </a:p>
        </p:txBody>
      </p:sp>
      <p:sp>
        <p:nvSpPr>
          <p:cNvPr id="270" name="Google Shape;270;p27"/>
          <p:cNvSpPr/>
          <p:nvPr/>
        </p:nvSpPr>
        <p:spPr>
          <a:xfrm>
            <a:off x="535838" y="1701241"/>
            <a:ext cx="2709000" cy="1166100"/>
          </a:xfrm>
          <a:prstGeom prst="roundRect">
            <a:avLst>
              <a:gd name="adj" fmla="val 3529"/>
            </a:avLst>
          </a:prstGeom>
          <a:solidFill>
            <a:srgbClr val="F3F3F3"/>
          </a:solidFill>
          <a:ln w="9525" cap="flat" cmpd="sng">
            <a:solidFill>
              <a:srgbClr val="D9DEE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71" name="Google Shape;271;p27"/>
          <p:cNvSpPr/>
          <p:nvPr/>
        </p:nvSpPr>
        <p:spPr>
          <a:xfrm>
            <a:off x="686714" y="1804111"/>
            <a:ext cx="2407200" cy="240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F256E"/>
              </a:buClr>
              <a:buSzPts val="1000"/>
              <a:buFont typeface="Arial"/>
              <a:buNone/>
            </a:pPr>
            <a:r>
              <a:rPr lang="en" sz="1000" b="1">
                <a:solidFill>
                  <a:srgbClr val="0F256E"/>
                </a:solidFill>
                <a:latin typeface="Arial"/>
                <a:ea typeface="Arial"/>
                <a:cs typeface="Arial"/>
                <a:sym typeface="Arial"/>
              </a:rPr>
              <a:t>Talent PM</a:t>
            </a:r>
            <a:endParaRPr sz="1000">
              <a:solidFill>
                <a:schemeClr val="dk1"/>
              </a:solidFill>
              <a:latin typeface="Calibri"/>
              <a:ea typeface="Calibri"/>
              <a:cs typeface="Calibri"/>
              <a:sym typeface="Calibri"/>
            </a:endParaRPr>
          </a:p>
        </p:txBody>
      </p:sp>
      <p:sp>
        <p:nvSpPr>
          <p:cNvPr id="272" name="Google Shape;272;p27"/>
          <p:cNvSpPr/>
          <p:nvPr/>
        </p:nvSpPr>
        <p:spPr>
          <a:xfrm>
            <a:off x="686714" y="2078431"/>
            <a:ext cx="2407200" cy="6858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262D3D"/>
              </a:buClr>
              <a:buSzPts val="900"/>
              <a:buFont typeface="Arial"/>
              <a:buNone/>
            </a:pPr>
            <a:r>
              <a:rPr lang="en" sz="900">
                <a:solidFill>
                  <a:srgbClr val="262D3D"/>
                </a:solidFill>
                <a:latin typeface="Arial"/>
                <a:ea typeface="Arial"/>
                <a:cs typeface="Arial"/>
                <a:sym typeface="Arial"/>
              </a:rPr>
              <a:t>Plan, milestones, dependencies, decisions, actions, acceptance evidence — current as of the meeting.</a:t>
            </a:r>
            <a:endParaRPr sz="900">
              <a:solidFill>
                <a:schemeClr val="dk1"/>
              </a:solidFill>
              <a:latin typeface="Calibri"/>
              <a:ea typeface="Calibri"/>
              <a:cs typeface="Calibri"/>
              <a:sym typeface="Calibri"/>
            </a:endParaRPr>
          </a:p>
        </p:txBody>
      </p:sp>
      <p:sp>
        <p:nvSpPr>
          <p:cNvPr id="273" name="Google Shape;273;p27"/>
          <p:cNvSpPr/>
          <p:nvPr/>
        </p:nvSpPr>
        <p:spPr>
          <a:xfrm>
            <a:off x="3340760" y="1701241"/>
            <a:ext cx="2709000" cy="1166100"/>
          </a:xfrm>
          <a:prstGeom prst="roundRect">
            <a:avLst>
              <a:gd name="adj" fmla="val 3529"/>
            </a:avLst>
          </a:prstGeom>
          <a:solidFill>
            <a:srgbClr val="F3F3F3"/>
          </a:solidFill>
          <a:ln w="9525" cap="flat" cmpd="sng">
            <a:solidFill>
              <a:srgbClr val="D9DEE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74" name="Google Shape;274;p27"/>
          <p:cNvSpPr/>
          <p:nvPr/>
        </p:nvSpPr>
        <p:spPr>
          <a:xfrm>
            <a:off x="3491636" y="1804111"/>
            <a:ext cx="2407200" cy="240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F256E"/>
              </a:buClr>
              <a:buSzPts val="1000"/>
              <a:buFont typeface="Arial"/>
              <a:buNone/>
            </a:pPr>
            <a:r>
              <a:rPr lang="en" sz="1000" b="1">
                <a:solidFill>
                  <a:srgbClr val="0F256E"/>
                </a:solidFill>
                <a:latin typeface="Arial"/>
                <a:ea typeface="Arial"/>
                <a:cs typeface="Arial"/>
                <a:sym typeface="Arial"/>
              </a:rPr>
              <a:t>Delivery Manager</a:t>
            </a:r>
            <a:endParaRPr sz="1000">
              <a:solidFill>
                <a:schemeClr val="dk1"/>
              </a:solidFill>
              <a:latin typeface="Calibri"/>
              <a:ea typeface="Calibri"/>
              <a:cs typeface="Calibri"/>
              <a:sym typeface="Calibri"/>
            </a:endParaRPr>
          </a:p>
        </p:txBody>
      </p:sp>
      <p:sp>
        <p:nvSpPr>
          <p:cNvPr id="275" name="Google Shape;275;p27"/>
          <p:cNvSpPr/>
          <p:nvPr/>
        </p:nvSpPr>
        <p:spPr>
          <a:xfrm>
            <a:off x="3491636" y="2078431"/>
            <a:ext cx="2407200" cy="6858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262D3D"/>
              </a:buClr>
              <a:buSzPts val="900"/>
              <a:buFont typeface="Arial"/>
              <a:buNone/>
            </a:pPr>
            <a:r>
              <a:rPr lang="en" sz="900">
                <a:solidFill>
                  <a:srgbClr val="262D3D"/>
                </a:solidFill>
                <a:latin typeface="Arial"/>
                <a:ea typeface="Arial"/>
                <a:cs typeface="Arial"/>
                <a:sym typeface="Arial"/>
              </a:rPr>
              <a:t>Client signal: perception, expectation gaps, change on the horizon, decisions pending.</a:t>
            </a:r>
            <a:endParaRPr sz="900">
              <a:solidFill>
                <a:schemeClr val="dk1"/>
              </a:solidFill>
              <a:latin typeface="Calibri"/>
              <a:ea typeface="Calibri"/>
              <a:cs typeface="Calibri"/>
              <a:sym typeface="Calibri"/>
            </a:endParaRPr>
          </a:p>
        </p:txBody>
      </p:sp>
      <p:sp>
        <p:nvSpPr>
          <p:cNvPr id="276" name="Google Shape;276;p27"/>
          <p:cNvSpPr/>
          <p:nvPr/>
        </p:nvSpPr>
        <p:spPr>
          <a:xfrm>
            <a:off x="6145682" y="1701241"/>
            <a:ext cx="2709000" cy="1166100"/>
          </a:xfrm>
          <a:prstGeom prst="roundRect">
            <a:avLst>
              <a:gd name="adj" fmla="val 3529"/>
            </a:avLst>
          </a:prstGeom>
          <a:solidFill>
            <a:srgbClr val="F3F3F3"/>
          </a:solidFill>
          <a:ln w="9525" cap="flat" cmpd="sng">
            <a:solidFill>
              <a:srgbClr val="D9DEE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77" name="Google Shape;277;p27"/>
          <p:cNvSpPr/>
          <p:nvPr/>
        </p:nvSpPr>
        <p:spPr>
          <a:xfrm>
            <a:off x="6296558" y="1804111"/>
            <a:ext cx="2407200" cy="240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F256E"/>
              </a:buClr>
              <a:buSzPts val="1000"/>
              <a:buFont typeface="Arial"/>
              <a:buNone/>
            </a:pPr>
            <a:r>
              <a:rPr lang="en" sz="1000" b="1">
                <a:solidFill>
                  <a:srgbClr val="0F256E"/>
                </a:solidFill>
                <a:latin typeface="Arial"/>
                <a:ea typeface="Arial"/>
                <a:cs typeface="Arial"/>
                <a:sym typeface="Arial"/>
              </a:rPr>
              <a:t>PMO</a:t>
            </a:r>
            <a:endParaRPr sz="1000">
              <a:solidFill>
                <a:schemeClr val="dk1"/>
              </a:solidFill>
              <a:latin typeface="Calibri"/>
              <a:ea typeface="Calibri"/>
              <a:cs typeface="Calibri"/>
              <a:sym typeface="Calibri"/>
            </a:endParaRPr>
          </a:p>
        </p:txBody>
      </p:sp>
      <p:sp>
        <p:nvSpPr>
          <p:cNvPr id="278" name="Google Shape;278;p27"/>
          <p:cNvSpPr/>
          <p:nvPr/>
        </p:nvSpPr>
        <p:spPr>
          <a:xfrm>
            <a:off x="6296558" y="2078431"/>
            <a:ext cx="2407200" cy="685800"/>
          </a:xfrm>
          <a:prstGeom prst="rect">
            <a:avLst/>
          </a:prstGeom>
          <a:noFill/>
          <a:ln>
            <a:noFill/>
          </a:ln>
        </p:spPr>
        <p:txBody>
          <a:bodyPr spcFirstLastPara="1" wrap="square" lIns="68575" tIns="34275" rIns="68575" bIns="34275" anchor="t" anchorCtr="0">
            <a:noAutofit/>
          </a:bodyPr>
          <a:lstStyle/>
          <a:p>
            <a:pPr marL="0" marR="0" lvl="0" indent="0" algn="l" rtl="0">
              <a:lnSpc>
                <a:spcPct val="112000"/>
              </a:lnSpc>
              <a:spcBef>
                <a:spcPts val="0"/>
              </a:spcBef>
              <a:spcAft>
                <a:spcPts val="0"/>
              </a:spcAft>
              <a:buClr>
                <a:srgbClr val="262D3D"/>
              </a:buClr>
              <a:buSzPts val="900"/>
              <a:buFont typeface="Arial"/>
              <a:buNone/>
            </a:pPr>
            <a:r>
              <a:rPr lang="en" sz="900">
                <a:solidFill>
                  <a:srgbClr val="262D3D"/>
                </a:solidFill>
                <a:latin typeface="Arial"/>
                <a:ea typeface="Arial"/>
                <a:cs typeface="Arial"/>
                <a:sym typeface="Arial"/>
              </a:rPr>
              <a:t>Baseline variance, burn, margin position, and the open escalation set.</a:t>
            </a:r>
            <a:endParaRPr sz="900">
              <a:solidFill>
                <a:schemeClr val="dk1"/>
              </a:solidFill>
              <a:latin typeface="Calibri"/>
              <a:ea typeface="Calibri"/>
              <a:cs typeface="Calibri"/>
              <a:sym typeface="Calibri"/>
            </a:endParaRPr>
          </a:p>
        </p:txBody>
      </p:sp>
      <p:sp>
        <p:nvSpPr>
          <p:cNvPr id="279" name="Google Shape;279;p27"/>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DELIVERY LIFECYCLE</a:t>
            </a:r>
            <a:endParaRPr sz="900" i="0" u="none" strike="noStrike" cap="none">
              <a:solidFill>
                <a:srgbClr val="000000"/>
              </a:solidFill>
              <a:latin typeface="Proxima Nova"/>
              <a:ea typeface="Proxima Nova"/>
              <a:cs typeface="Proxima Nova"/>
              <a:sym typeface="Proxima Nova"/>
            </a:endParaRPr>
          </a:p>
        </p:txBody>
      </p:sp>
      <p:sp>
        <p:nvSpPr>
          <p:cNvPr id="280" name="Google Shape;280;p27"/>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The weekly governance check-in</a:t>
            </a:r>
            <a:endParaRPr sz="210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8"/>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Scenarios: requests and blockers </a:t>
            </a:r>
            <a:endParaRPr sz="2100">
              <a:solidFill>
                <a:schemeClr val="dk1"/>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1B2336"/>
              </a:buClr>
              <a:buSzPts val="2100"/>
              <a:buFont typeface="Inter"/>
              <a:buNone/>
            </a:pPr>
            <a:endParaRPr sz="2100" b="1">
              <a:solidFill>
                <a:srgbClr val="1B2336"/>
              </a:solidFill>
              <a:latin typeface="Proxima Nova"/>
              <a:ea typeface="Proxima Nova"/>
              <a:cs typeface="Proxima Nova"/>
              <a:sym typeface="Proxima Nova"/>
            </a:endParaRPr>
          </a:p>
        </p:txBody>
      </p:sp>
      <p:sp>
        <p:nvSpPr>
          <p:cNvPr id="286" name="Google Shape;286;p28"/>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DECISION RIGHTS IN PRACTICE</a:t>
            </a:r>
            <a:endParaRPr sz="900" i="0" u="none" strike="noStrike" cap="none">
              <a:solidFill>
                <a:srgbClr val="000000"/>
              </a:solidFill>
              <a:latin typeface="Proxima Nova"/>
              <a:ea typeface="Proxima Nova"/>
              <a:cs typeface="Proxima Nova"/>
              <a:sym typeface="Proxima Nova"/>
            </a:endParaRPr>
          </a:p>
        </p:txBody>
      </p:sp>
      <p:sp>
        <p:nvSpPr>
          <p:cNvPr id="287" name="Google Shape;287;p28"/>
          <p:cNvSpPr/>
          <p:nvPr/>
        </p:nvSpPr>
        <p:spPr>
          <a:xfrm>
            <a:off x="610350" y="1525630"/>
            <a:ext cx="2540400" cy="2478600"/>
          </a:xfrm>
          <a:prstGeom prst="roundRect">
            <a:avLst>
              <a:gd name="adj" fmla="val 254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8" name="Google Shape;288;p28"/>
          <p:cNvSpPr txBox="1"/>
          <p:nvPr/>
        </p:nvSpPr>
        <p:spPr>
          <a:xfrm>
            <a:off x="781812" y="2264036"/>
            <a:ext cx="21975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04ECF"/>
              </a:buClr>
              <a:buSzPts val="900"/>
              <a:buFont typeface="Inter"/>
              <a:buNone/>
            </a:pPr>
            <a:r>
              <a:rPr lang="en" sz="900" b="1">
                <a:solidFill>
                  <a:srgbClr val="204ECF"/>
                </a:solidFill>
                <a:latin typeface="Proxima Nova"/>
                <a:ea typeface="Proxima Nova"/>
                <a:cs typeface="Proxima Nova"/>
                <a:sym typeface="Proxima Nova"/>
              </a:rPr>
              <a:t>WHAT YOU DO</a:t>
            </a:r>
            <a:endParaRPr sz="900" i="0" u="none" strike="noStrike" cap="none">
              <a:solidFill>
                <a:schemeClr val="dk1"/>
              </a:solidFill>
              <a:latin typeface="Proxima Nova"/>
              <a:ea typeface="Proxima Nova"/>
              <a:cs typeface="Proxima Nova"/>
              <a:sym typeface="Proxima Nova"/>
            </a:endParaRPr>
          </a:p>
        </p:txBody>
      </p:sp>
      <p:sp>
        <p:nvSpPr>
          <p:cNvPr id="289" name="Google Shape;289;p28"/>
          <p:cNvSpPr txBox="1"/>
          <p:nvPr/>
        </p:nvSpPr>
        <p:spPr>
          <a:xfrm>
            <a:off x="781800" y="1646299"/>
            <a:ext cx="2197500" cy="5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100"/>
              <a:buFont typeface="Inter"/>
              <a:buNone/>
            </a:pPr>
            <a:r>
              <a:rPr lang="en" sz="1100" b="1">
                <a:solidFill>
                  <a:srgbClr val="1B2336"/>
                </a:solidFill>
                <a:latin typeface="Proxima Nova"/>
                <a:ea typeface="Proxima Nova"/>
                <a:cs typeface="Proxima Nova"/>
                <a:sym typeface="Proxima Nova"/>
              </a:rPr>
              <a:t>“While you’re in there, can you add one more report?</a:t>
            </a:r>
            <a:endParaRPr sz="1100" i="0" u="none" strike="noStrike" cap="none">
              <a:solidFill>
                <a:schemeClr val="dk1"/>
              </a:solidFill>
              <a:latin typeface="Proxima Nova"/>
              <a:ea typeface="Proxima Nova"/>
              <a:cs typeface="Proxima Nova"/>
              <a:sym typeface="Proxima Nova"/>
            </a:endParaRPr>
          </a:p>
        </p:txBody>
      </p:sp>
      <p:sp>
        <p:nvSpPr>
          <p:cNvPr id="290" name="Google Shape;290;p28"/>
          <p:cNvSpPr txBox="1"/>
          <p:nvPr/>
        </p:nvSpPr>
        <p:spPr>
          <a:xfrm>
            <a:off x="781812" y="2529669"/>
            <a:ext cx="2197500" cy="788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5B6475"/>
              </a:buClr>
              <a:buSzPts val="900"/>
              <a:buFont typeface="Inter"/>
              <a:buNone/>
            </a:pPr>
            <a:r>
              <a:rPr lang="en" sz="900">
                <a:solidFill>
                  <a:srgbClr val="5B6475"/>
                </a:solidFill>
                <a:latin typeface="Proxima Nova"/>
                <a:ea typeface="Proxima Nova"/>
                <a:cs typeface="Proxima Nova"/>
                <a:sym typeface="Proxima Nova"/>
              </a:rPr>
              <a:t>Acknowledge the request without committing. Update the RAID log, check the ask against the contract scope, and assess effort and schedule impact. </a:t>
            </a:r>
            <a:endParaRPr sz="900" i="0" u="none" strike="noStrike" cap="none">
              <a:solidFill>
                <a:schemeClr val="dk1"/>
              </a:solidFill>
              <a:latin typeface="Proxima Nova"/>
              <a:ea typeface="Proxima Nova"/>
              <a:cs typeface="Proxima Nova"/>
              <a:sym typeface="Proxima Nova"/>
            </a:endParaRPr>
          </a:p>
        </p:txBody>
      </p:sp>
      <p:sp>
        <p:nvSpPr>
          <p:cNvPr id="291" name="Google Shape;291;p28"/>
          <p:cNvSpPr/>
          <p:nvPr/>
        </p:nvSpPr>
        <p:spPr>
          <a:xfrm>
            <a:off x="747522" y="3352629"/>
            <a:ext cx="2266200" cy="514500"/>
          </a:xfrm>
          <a:prstGeom prst="roundRect">
            <a:avLst>
              <a:gd name="adj" fmla="val 8000"/>
            </a:avLst>
          </a:prstGeom>
          <a:solidFill>
            <a:srgbClr val="EAEFF8"/>
          </a:solidFill>
          <a:ln w="9525" cap="flat" cmpd="sng">
            <a:solidFill>
              <a:srgbClr val="EAEFF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292" name="Google Shape;292;p28"/>
          <p:cNvSpPr txBox="1"/>
          <p:nvPr/>
        </p:nvSpPr>
        <p:spPr>
          <a:xfrm>
            <a:off x="850392" y="3352629"/>
            <a:ext cx="2060400" cy="5145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B2336"/>
              </a:buClr>
              <a:buSzPts val="900"/>
              <a:buFont typeface="Inter"/>
              <a:buNone/>
            </a:pPr>
            <a:r>
              <a:rPr lang="en" sz="900" b="1">
                <a:solidFill>
                  <a:srgbClr val="1B2336"/>
                </a:solidFill>
                <a:latin typeface="Proxima Nova"/>
                <a:ea typeface="Proxima Nova"/>
                <a:cs typeface="Proxima Nova"/>
                <a:sym typeface="Proxima Nova"/>
              </a:rPr>
              <a:t>Engage Toptal.</a:t>
            </a:r>
            <a:r>
              <a:rPr lang="en" sz="900">
                <a:solidFill>
                  <a:srgbClr val="1B2336"/>
                </a:solidFill>
                <a:latin typeface="Proxima Nova"/>
                <a:ea typeface="Proxima Nova"/>
                <a:cs typeface="Proxima Nova"/>
                <a:sym typeface="Proxima Nova"/>
              </a:rPr>
              <a:t> Schedule time with the DM and PMO to discuss path forward.</a:t>
            </a:r>
            <a:endParaRPr sz="900" i="0" u="none" strike="noStrike" cap="none">
              <a:solidFill>
                <a:schemeClr val="dk1"/>
              </a:solidFill>
              <a:latin typeface="Proxima Nova"/>
              <a:ea typeface="Proxima Nova"/>
              <a:cs typeface="Proxima Nova"/>
              <a:sym typeface="Proxima Nova"/>
            </a:endParaRPr>
          </a:p>
        </p:txBody>
      </p:sp>
      <p:sp>
        <p:nvSpPr>
          <p:cNvPr id="293" name="Google Shape;293;p28"/>
          <p:cNvSpPr/>
          <p:nvPr/>
        </p:nvSpPr>
        <p:spPr>
          <a:xfrm>
            <a:off x="3301661" y="1525630"/>
            <a:ext cx="2540400" cy="2478600"/>
          </a:xfrm>
          <a:prstGeom prst="roundRect">
            <a:avLst>
              <a:gd name="adj" fmla="val 254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4" name="Google Shape;294;p28"/>
          <p:cNvSpPr txBox="1"/>
          <p:nvPr/>
        </p:nvSpPr>
        <p:spPr>
          <a:xfrm>
            <a:off x="3473120" y="2264036"/>
            <a:ext cx="21975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04ECF"/>
              </a:buClr>
              <a:buSzPts val="900"/>
              <a:buFont typeface="Inter"/>
              <a:buNone/>
            </a:pPr>
            <a:r>
              <a:rPr lang="en" sz="900" b="1">
                <a:solidFill>
                  <a:srgbClr val="204ECF"/>
                </a:solidFill>
                <a:latin typeface="Proxima Nova"/>
                <a:ea typeface="Proxima Nova"/>
                <a:cs typeface="Proxima Nova"/>
                <a:sym typeface="Proxima Nova"/>
              </a:rPr>
              <a:t>WHAT YOU DO</a:t>
            </a:r>
            <a:endParaRPr sz="900" i="0" u="none" strike="noStrike" cap="none">
              <a:solidFill>
                <a:schemeClr val="dk1"/>
              </a:solidFill>
              <a:latin typeface="Proxima Nova"/>
              <a:ea typeface="Proxima Nova"/>
              <a:cs typeface="Proxima Nova"/>
              <a:sym typeface="Proxima Nova"/>
            </a:endParaRPr>
          </a:p>
        </p:txBody>
      </p:sp>
      <p:sp>
        <p:nvSpPr>
          <p:cNvPr id="295" name="Google Shape;295;p28"/>
          <p:cNvSpPr txBox="1"/>
          <p:nvPr/>
        </p:nvSpPr>
        <p:spPr>
          <a:xfrm>
            <a:off x="3473120" y="2529669"/>
            <a:ext cx="2197500" cy="788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5B6475"/>
              </a:buClr>
              <a:buSzPts val="900"/>
              <a:buFont typeface="Inter"/>
              <a:buNone/>
            </a:pPr>
            <a:r>
              <a:rPr lang="en" sz="900">
                <a:solidFill>
                  <a:srgbClr val="5B6475"/>
                </a:solidFill>
                <a:latin typeface="Proxima Nova"/>
                <a:ea typeface="Proxima Nova"/>
                <a:cs typeface="Proxima Nova"/>
                <a:sym typeface="Proxima Nova"/>
              </a:rPr>
              <a:t>Log the blocker in the RAID log. Do not swap the contracted outcome for a workaround or other activity to be productive or charge time.</a:t>
            </a:r>
            <a:endParaRPr sz="900" i="0" u="none" strike="noStrike" cap="none">
              <a:solidFill>
                <a:schemeClr val="dk1"/>
              </a:solidFill>
              <a:latin typeface="Proxima Nova"/>
              <a:ea typeface="Proxima Nova"/>
              <a:cs typeface="Proxima Nova"/>
              <a:sym typeface="Proxima Nova"/>
            </a:endParaRPr>
          </a:p>
        </p:txBody>
      </p:sp>
      <p:sp>
        <p:nvSpPr>
          <p:cNvPr id="296" name="Google Shape;296;p28"/>
          <p:cNvSpPr/>
          <p:nvPr/>
        </p:nvSpPr>
        <p:spPr>
          <a:xfrm>
            <a:off x="3438830" y="3352629"/>
            <a:ext cx="2266200" cy="514500"/>
          </a:xfrm>
          <a:prstGeom prst="roundRect">
            <a:avLst>
              <a:gd name="adj" fmla="val 8000"/>
            </a:avLst>
          </a:prstGeom>
          <a:solidFill>
            <a:srgbClr val="EAEFF8"/>
          </a:solidFill>
          <a:ln w="9525" cap="flat" cmpd="sng">
            <a:solidFill>
              <a:srgbClr val="EAEFF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297" name="Google Shape;297;p28"/>
          <p:cNvSpPr txBox="1"/>
          <p:nvPr/>
        </p:nvSpPr>
        <p:spPr>
          <a:xfrm>
            <a:off x="3541700" y="3352629"/>
            <a:ext cx="2060400" cy="5145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B2336"/>
              </a:buClr>
              <a:buSzPts val="900"/>
              <a:buFont typeface="Inter"/>
              <a:buNone/>
            </a:pPr>
            <a:r>
              <a:rPr lang="en" sz="900" b="1">
                <a:solidFill>
                  <a:srgbClr val="1B2336"/>
                </a:solidFill>
                <a:latin typeface="Proxima Nova"/>
                <a:ea typeface="Proxima Nova"/>
                <a:cs typeface="Proxima Nova"/>
                <a:sym typeface="Proxima Nova"/>
              </a:rPr>
              <a:t>Engage Toptal. </a:t>
            </a:r>
            <a:r>
              <a:rPr lang="en" sz="900">
                <a:solidFill>
                  <a:srgbClr val="1B2336"/>
                </a:solidFill>
                <a:latin typeface="Proxima Nova"/>
                <a:ea typeface="Proxima Nova"/>
                <a:cs typeface="Proxima Nova"/>
                <a:sym typeface="Proxima Nova"/>
              </a:rPr>
              <a:t>Escalate to the DM and PMO if the block persists &gt; 2 days</a:t>
            </a:r>
            <a:r>
              <a:rPr lang="en" sz="900" i="0" u="none" strike="noStrike" cap="none">
                <a:solidFill>
                  <a:srgbClr val="1B2336"/>
                </a:solidFill>
                <a:latin typeface="Proxima Nova"/>
                <a:ea typeface="Proxima Nova"/>
                <a:cs typeface="Proxima Nova"/>
                <a:sym typeface="Proxima Nova"/>
              </a:rPr>
              <a:t>. No workaround </a:t>
            </a:r>
            <a:r>
              <a:rPr lang="en" sz="900">
                <a:solidFill>
                  <a:srgbClr val="1B2336"/>
                </a:solidFill>
                <a:latin typeface="Proxima Nova"/>
                <a:ea typeface="Proxima Nova"/>
                <a:cs typeface="Proxima Nova"/>
                <a:sym typeface="Proxima Nova"/>
              </a:rPr>
              <a:t>that</a:t>
            </a:r>
            <a:r>
              <a:rPr lang="en" sz="900" i="0" u="none" strike="noStrike" cap="none">
                <a:solidFill>
                  <a:srgbClr val="1B2336"/>
                </a:solidFill>
                <a:latin typeface="Proxima Nova"/>
                <a:ea typeface="Proxima Nova"/>
                <a:cs typeface="Proxima Nova"/>
                <a:sym typeface="Proxima Nova"/>
              </a:rPr>
              <a:t> changes the approach.</a:t>
            </a:r>
            <a:endParaRPr sz="900" i="0" u="none" strike="noStrike" cap="none">
              <a:solidFill>
                <a:schemeClr val="dk1"/>
              </a:solidFill>
              <a:latin typeface="Proxima Nova"/>
              <a:ea typeface="Proxima Nova"/>
              <a:cs typeface="Proxima Nova"/>
              <a:sym typeface="Proxima Nova"/>
            </a:endParaRPr>
          </a:p>
        </p:txBody>
      </p:sp>
      <p:sp>
        <p:nvSpPr>
          <p:cNvPr id="298" name="Google Shape;298;p28"/>
          <p:cNvSpPr/>
          <p:nvPr/>
        </p:nvSpPr>
        <p:spPr>
          <a:xfrm>
            <a:off x="5992972" y="1525630"/>
            <a:ext cx="2540400" cy="2478600"/>
          </a:xfrm>
          <a:prstGeom prst="roundRect">
            <a:avLst>
              <a:gd name="adj" fmla="val 254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9" name="Google Shape;299;p28"/>
          <p:cNvSpPr txBox="1"/>
          <p:nvPr/>
        </p:nvSpPr>
        <p:spPr>
          <a:xfrm>
            <a:off x="6164428" y="2264036"/>
            <a:ext cx="21975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04ECF"/>
              </a:buClr>
              <a:buSzPts val="900"/>
              <a:buFont typeface="Inter"/>
              <a:buNone/>
            </a:pPr>
            <a:r>
              <a:rPr lang="en" sz="900" b="1">
                <a:solidFill>
                  <a:srgbClr val="204ECF"/>
                </a:solidFill>
                <a:latin typeface="Proxima Nova"/>
                <a:ea typeface="Proxima Nova"/>
                <a:cs typeface="Proxima Nova"/>
                <a:sym typeface="Proxima Nova"/>
              </a:rPr>
              <a:t>WHAT YOU DO</a:t>
            </a:r>
            <a:endParaRPr sz="900" i="0" u="none" strike="noStrike" cap="none">
              <a:solidFill>
                <a:schemeClr val="dk1"/>
              </a:solidFill>
              <a:latin typeface="Proxima Nova"/>
              <a:ea typeface="Proxima Nova"/>
              <a:cs typeface="Proxima Nova"/>
              <a:sym typeface="Proxima Nova"/>
            </a:endParaRPr>
          </a:p>
        </p:txBody>
      </p:sp>
      <p:sp>
        <p:nvSpPr>
          <p:cNvPr id="300" name="Google Shape;300;p28"/>
          <p:cNvSpPr txBox="1"/>
          <p:nvPr/>
        </p:nvSpPr>
        <p:spPr>
          <a:xfrm>
            <a:off x="6164428" y="2529669"/>
            <a:ext cx="2197500" cy="788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5B6475"/>
              </a:buClr>
              <a:buSzPts val="900"/>
              <a:buFont typeface="Inter"/>
              <a:buNone/>
            </a:pPr>
            <a:r>
              <a:rPr lang="en" sz="900">
                <a:solidFill>
                  <a:srgbClr val="5B6475"/>
                </a:solidFill>
                <a:latin typeface="Proxima Nova"/>
                <a:ea typeface="Proxima Nova"/>
                <a:cs typeface="Proxima Nova"/>
                <a:sym typeface="Proxima Nova"/>
              </a:rPr>
              <a:t>Thank the sponsor but redirect to the project scope. Update the RAID log. </a:t>
            </a:r>
            <a:endParaRPr sz="900" i="0" u="none" strike="noStrike" cap="none">
              <a:solidFill>
                <a:schemeClr val="dk1"/>
              </a:solidFill>
              <a:latin typeface="Proxima Nova"/>
              <a:ea typeface="Proxima Nova"/>
              <a:cs typeface="Proxima Nova"/>
              <a:sym typeface="Proxima Nova"/>
            </a:endParaRPr>
          </a:p>
        </p:txBody>
      </p:sp>
      <p:sp>
        <p:nvSpPr>
          <p:cNvPr id="301" name="Google Shape;301;p28"/>
          <p:cNvSpPr/>
          <p:nvPr/>
        </p:nvSpPr>
        <p:spPr>
          <a:xfrm>
            <a:off x="6130138" y="3352629"/>
            <a:ext cx="2266200" cy="514500"/>
          </a:xfrm>
          <a:prstGeom prst="roundRect">
            <a:avLst>
              <a:gd name="adj" fmla="val 8000"/>
            </a:avLst>
          </a:prstGeom>
          <a:solidFill>
            <a:srgbClr val="EAEFF8"/>
          </a:solidFill>
          <a:ln w="9525" cap="flat" cmpd="sng">
            <a:solidFill>
              <a:srgbClr val="EAEFF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302" name="Google Shape;302;p28"/>
          <p:cNvSpPr txBox="1"/>
          <p:nvPr/>
        </p:nvSpPr>
        <p:spPr>
          <a:xfrm>
            <a:off x="6233008" y="3352629"/>
            <a:ext cx="2060400" cy="5145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B2336"/>
              </a:buClr>
              <a:buSzPts val="900"/>
              <a:buFont typeface="Inter"/>
              <a:buNone/>
            </a:pPr>
            <a:r>
              <a:rPr lang="en" sz="900" b="1">
                <a:solidFill>
                  <a:srgbClr val="1B2336"/>
                </a:solidFill>
                <a:latin typeface="Proxima Nova"/>
                <a:ea typeface="Proxima Nova"/>
                <a:cs typeface="Proxima Nova"/>
                <a:sym typeface="Proxima Nova"/>
              </a:rPr>
              <a:t>Engage Toptal.</a:t>
            </a:r>
            <a:r>
              <a:rPr lang="en" sz="900" b="1" i="0" u="none" strike="noStrike" cap="none">
                <a:solidFill>
                  <a:srgbClr val="1B2336"/>
                </a:solidFill>
                <a:latin typeface="Proxima Nova"/>
                <a:ea typeface="Proxima Nova"/>
                <a:cs typeface="Proxima Nova"/>
                <a:sym typeface="Proxima Nova"/>
              </a:rPr>
              <a:t> </a:t>
            </a:r>
            <a:r>
              <a:rPr lang="en" sz="900">
                <a:solidFill>
                  <a:srgbClr val="1B2336"/>
                </a:solidFill>
                <a:latin typeface="Proxima Nova"/>
                <a:ea typeface="Proxima Nova"/>
                <a:cs typeface="Proxima Nova"/>
                <a:sym typeface="Proxima Nova"/>
              </a:rPr>
              <a:t>Inform the DM who routes it to the Account Team if it is a new opportunity.</a:t>
            </a:r>
            <a:endParaRPr sz="900" i="0" u="none" strike="noStrike" cap="none">
              <a:solidFill>
                <a:schemeClr val="dk1"/>
              </a:solidFill>
              <a:latin typeface="Proxima Nova"/>
              <a:ea typeface="Proxima Nova"/>
              <a:cs typeface="Proxima Nova"/>
              <a:sym typeface="Proxima Nova"/>
            </a:endParaRPr>
          </a:p>
        </p:txBody>
      </p:sp>
      <p:sp>
        <p:nvSpPr>
          <p:cNvPr id="303" name="Google Shape;303;p28"/>
          <p:cNvSpPr txBox="1"/>
          <p:nvPr/>
        </p:nvSpPr>
        <p:spPr>
          <a:xfrm>
            <a:off x="3473113" y="1646299"/>
            <a:ext cx="2197500" cy="5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100"/>
              <a:buFont typeface="Inter"/>
              <a:buNone/>
            </a:pPr>
            <a:r>
              <a:rPr lang="en" sz="1100" b="1">
                <a:solidFill>
                  <a:srgbClr val="1B2336"/>
                </a:solidFill>
                <a:latin typeface="Proxima Nova"/>
                <a:ea typeface="Proxima Nova"/>
                <a:cs typeface="Proxima Nova"/>
                <a:sym typeface="Proxima Nova"/>
              </a:rPr>
              <a:t>Day 3, still no environment access. The team offers to start in Toptal’s own environment.</a:t>
            </a:r>
            <a:endParaRPr sz="1100" i="0" u="none" strike="noStrike" cap="none">
              <a:solidFill>
                <a:schemeClr val="dk1"/>
              </a:solidFill>
              <a:latin typeface="Proxima Nova"/>
              <a:ea typeface="Proxima Nova"/>
              <a:cs typeface="Proxima Nova"/>
              <a:sym typeface="Proxima Nova"/>
            </a:endParaRPr>
          </a:p>
        </p:txBody>
      </p:sp>
      <p:sp>
        <p:nvSpPr>
          <p:cNvPr id="304" name="Google Shape;304;p28"/>
          <p:cNvSpPr txBox="1"/>
          <p:nvPr/>
        </p:nvSpPr>
        <p:spPr>
          <a:xfrm>
            <a:off x="6164400" y="1646299"/>
            <a:ext cx="2197500" cy="5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100"/>
              <a:buFont typeface="Inter"/>
              <a:buNone/>
            </a:pPr>
            <a:r>
              <a:rPr lang="en" sz="1100" b="1">
                <a:solidFill>
                  <a:srgbClr val="1B2336"/>
                </a:solidFill>
                <a:latin typeface="Proxima Nova"/>
                <a:ea typeface="Proxima Nova"/>
                <a:cs typeface="Proxima Nova"/>
                <a:sym typeface="Proxima Nova"/>
              </a:rPr>
              <a:t>A client sponsor starts assigning the team work on another initiative.</a:t>
            </a:r>
            <a:endParaRPr sz="1100" i="0" u="none" strike="noStrike" cap="none">
              <a:solidFill>
                <a:schemeClr val="dk1"/>
              </a:solidFill>
              <a:latin typeface="Proxima Nova"/>
              <a:ea typeface="Proxima Nova"/>
              <a:cs typeface="Proxima Nova"/>
              <a:sym typeface="Proxima Nova"/>
            </a:endParaRPr>
          </a:p>
        </p:txBody>
      </p:sp>
      <p:sp>
        <p:nvSpPr>
          <p:cNvPr id="305" name="Google Shape;305;p28"/>
          <p:cNvSpPr/>
          <p:nvPr/>
        </p:nvSpPr>
        <p:spPr>
          <a:xfrm>
            <a:off x="610362" y="4199820"/>
            <a:ext cx="7923300" cy="480300"/>
          </a:xfrm>
          <a:prstGeom prst="roundRect">
            <a:avLst>
              <a:gd name="adj" fmla="val 11429"/>
            </a:avLst>
          </a:prstGeom>
          <a:solidFill>
            <a:srgbClr val="0F256E"/>
          </a:solidFill>
          <a:ln w="9525" cap="flat" cmpd="sng">
            <a:solidFill>
              <a:srgbClr val="0F256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6" name="Google Shape;306;p28"/>
          <p:cNvSpPr/>
          <p:nvPr/>
        </p:nvSpPr>
        <p:spPr>
          <a:xfrm>
            <a:off x="816102" y="4288974"/>
            <a:ext cx="41100" cy="301800"/>
          </a:xfrm>
          <a:prstGeom prst="rect">
            <a:avLst/>
          </a:prstGeom>
          <a:solidFill>
            <a:srgbClr val="00CC83"/>
          </a:solidFill>
          <a:ln w="9525" cap="flat" cmpd="sng">
            <a:solidFill>
              <a:srgbClr val="00CC8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307" name="Google Shape;307;p28"/>
          <p:cNvSpPr txBox="1"/>
          <p:nvPr/>
        </p:nvSpPr>
        <p:spPr>
          <a:xfrm>
            <a:off x="987550" y="4199825"/>
            <a:ext cx="7545900" cy="48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6FB"/>
              </a:buClr>
              <a:buSzPts val="1100"/>
              <a:buFont typeface="Inter"/>
              <a:buNone/>
            </a:pPr>
            <a:r>
              <a:rPr lang="en" sz="1100">
                <a:solidFill>
                  <a:srgbClr val="F4F6FB"/>
                </a:solidFill>
                <a:latin typeface="Proxima Nova"/>
                <a:ea typeface="Proxima Nova"/>
                <a:cs typeface="Proxima Nova"/>
                <a:sym typeface="Proxima Nova"/>
              </a:rPr>
              <a:t>To keep commitments consistent, if a decision changes what Toptal delivers, when (dates), effort, or project team roles, </a:t>
            </a:r>
            <a:r>
              <a:rPr lang="en" sz="1100" b="1">
                <a:solidFill>
                  <a:srgbClr val="F4F6FB"/>
                </a:solidFill>
                <a:latin typeface="Proxima Nova"/>
                <a:ea typeface="Proxima Nova"/>
                <a:cs typeface="Proxima Nova"/>
                <a:sym typeface="Proxima Nova"/>
              </a:rPr>
              <a:t>engage the DM and PMO</a:t>
            </a:r>
            <a:r>
              <a:rPr lang="en" sz="1100">
                <a:solidFill>
                  <a:srgbClr val="F4F6FB"/>
                </a:solidFill>
                <a:latin typeface="Proxima Nova"/>
                <a:ea typeface="Proxima Nova"/>
                <a:cs typeface="Proxima Nova"/>
                <a:sym typeface="Proxima Nova"/>
              </a:rPr>
              <a:t>. Decisions around task sequencing, assignment, or plan refinements are yours to make.</a:t>
            </a:r>
            <a:endParaRPr sz="110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9"/>
          <p:cNvSpPr txBox="1"/>
          <p:nvPr/>
        </p:nvSpPr>
        <p:spPr>
          <a:xfrm>
            <a:off x="610369" y="857250"/>
            <a:ext cx="79233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2336"/>
              </a:buClr>
              <a:buSzPts val="2100"/>
              <a:buFont typeface="Inter"/>
              <a:buNone/>
            </a:pPr>
            <a:r>
              <a:rPr lang="en" sz="2100" b="1">
                <a:solidFill>
                  <a:srgbClr val="1B2336"/>
                </a:solidFill>
                <a:latin typeface="Proxima Nova"/>
                <a:ea typeface="Proxima Nova"/>
                <a:cs typeface="Proxima Nova"/>
                <a:sym typeface="Proxima Nova"/>
              </a:rPr>
              <a:t>Scenarios: schedule, acceptance and status</a:t>
            </a:r>
            <a:endParaRPr sz="2100" b="1">
              <a:solidFill>
                <a:srgbClr val="1B2336"/>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1B2336"/>
              </a:buClr>
              <a:buSzPts val="2100"/>
              <a:buFont typeface="Inter"/>
              <a:buNone/>
            </a:pPr>
            <a:endParaRPr sz="2100" b="1">
              <a:solidFill>
                <a:srgbClr val="1B2336"/>
              </a:solidFill>
              <a:latin typeface="Proxima Nova"/>
              <a:ea typeface="Proxima Nova"/>
              <a:cs typeface="Proxima Nova"/>
              <a:sym typeface="Proxima Nova"/>
            </a:endParaRPr>
          </a:p>
        </p:txBody>
      </p:sp>
      <p:sp>
        <p:nvSpPr>
          <p:cNvPr id="313" name="Google Shape;313;p29"/>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DECISION RIGHTS IN PRACTICE</a:t>
            </a:r>
            <a:endParaRPr sz="900" i="0" u="none" strike="noStrike" cap="none">
              <a:solidFill>
                <a:srgbClr val="000000"/>
              </a:solidFill>
              <a:latin typeface="Proxima Nova"/>
              <a:ea typeface="Proxima Nova"/>
              <a:cs typeface="Proxima Nova"/>
              <a:sym typeface="Proxima Nova"/>
            </a:endParaRPr>
          </a:p>
        </p:txBody>
      </p:sp>
      <p:sp>
        <p:nvSpPr>
          <p:cNvPr id="314" name="Google Shape;314;p29"/>
          <p:cNvSpPr/>
          <p:nvPr/>
        </p:nvSpPr>
        <p:spPr>
          <a:xfrm>
            <a:off x="610350" y="1525630"/>
            <a:ext cx="2540400" cy="2478600"/>
          </a:xfrm>
          <a:prstGeom prst="roundRect">
            <a:avLst>
              <a:gd name="adj" fmla="val 254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5" name="Google Shape;315;p29"/>
          <p:cNvSpPr txBox="1"/>
          <p:nvPr/>
        </p:nvSpPr>
        <p:spPr>
          <a:xfrm>
            <a:off x="781812" y="2264036"/>
            <a:ext cx="21975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04ECF"/>
              </a:buClr>
              <a:buSzPts val="900"/>
              <a:buFont typeface="Inter"/>
              <a:buNone/>
            </a:pPr>
            <a:r>
              <a:rPr lang="en" sz="900" b="1">
                <a:solidFill>
                  <a:srgbClr val="204ECF"/>
                </a:solidFill>
                <a:latin typeface="Proxima Nova"/>
                <a:ea typeface="Proxima Nova"/>
                <a:cs typeface="Proxima Nova"/>
                <a:sym typeface="Proxima Nova"/>
              </a:rPr>
              <a:t>WHAT YOU DO</a:t>
            </a:r>
            <a:endParaRPr sz="900" i="0" u="none" strike="noStrike" cap="none">
              <a:solidFill>
                <a:schemeClr val="dk1"/>
              </a:solidFill>
              <a:latin typeface="Proxima Nova"/>
              <a:ea typeface="Proxima Nova"/>
              <a:cs typeface="Proxima Nova"/>
              <a:sym typeface="Proxima Nova"/>
            </a:endParaRPr>
          </a:p>
        </p:txBody>
      </p:sp>
      <p:sp>
        <p:nvSpPr>
          <p:cNvPr id="316" name="Google Shape;316;p29"/>
          <p:cNvSpPr txBox="1"/>
          <p:nvPr/>
        </p:nvSpPr>
        <p:spPr>
          <a:xfrm>
            <a:off x="781800" y="1646299"/>
            <a:ext cx="2197500" cy="5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100"/>
              <a:buFont typeface="Inter"/>
              <a:buNone/>
            </a:pPr>
            <a:r>
              <a:rPr lang="en" sz="1100" b="1">
                <a:solidFill>
                  <a:srgbClr val="1B2336"/>
                </a:solidFill>
                <a:latin typeface="Proxima Nova"/>
                <a:ea typeface="Proxima Nova"/>
                <a:cs typeface="Proxima Nova"/>
                <a:sym typeface="Proxima Nova"/>
              </a:rPr>
              <a:t>“Can we bring the milestone forward two weeks?”</a:t>
            </a:r>
            <a:endParaRPr sz="1100" i="0" u="none" strike="noStrike" cap="none">
              <a:solidFill>
                <a:schemeClr val="dk1"/>
              </a:solidFill>
              <a:latin typeface="Proxima Nova"/>
              <a:ea typeface="Proxima Nova"/>
              <a:cs typeface="Proxima Nova"/>
              <a:sym typeface="Proxima Nova"/>
            </a:endParaRPr>
          </a:p>
        </p:txBody>
      </p:sp>
      <p:sp>
        <p:nvSpPr>
          <p:cNvPr id="317" name="Google Shape;317;p29"/>
          <p:cNvSpPr txBox="1"/>
          <p:nvPr/>
        </p:nvSpPr>
        <p:spPr>
          <a:xfrm>
            <a:off x="781812" y="2529669"/>
            <a:ext cx="2197500" cy="788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5B6475"/>
              </a:buClr>
              <a:buSzPts val="900"/>
              <a:buFont typeface="Inter"/>
              <a:buNone/>
            </a:pPr>
            <a:r>
              <a:rPr lang="en" sz="900">
                <a:solidFill>
                  <a:srgbClr val="5B6475"/>
                </a:solidFill>
                <a:latin typeface="Proxima Nova"/>
                <a:ea typeface="Proxima Nova"/>
                <a:cs typeface="Proxima Nova"/>
                <a:sym typeface="Proxima Nova"/>
              </a:rPr>
              <a:t>Acknowledge the request without committing. Log it, check it against the contract scope, and assess the impact on the plan, team and dependencies.</a:t>
            </a:r>
            <a:endParaRPr sz="900">
              <a:solidFill>
                <a:srgbClr val="5B6475"/>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5B6475"/>
              </a:buClr>
              <a:buSzPts val="900"/>
              <a:buFont typeface="Inter"/>
              <a:buNone/>
            </a:pPr>
            <a:endParaRPr sz="900">
              <a:solidFill>
                <a:srgbClr val="5B6475"/>
              </a:solidFill>
              <a:latin typeface="Proxima Nova"/>
              <a:ea typeface="Proxima Nova"/>
              <a:cs typeface="Proxima Nova"/>
              <a:sym typeface="Proxima Nova"/>
            </a:endParaRPr>
          </a:p>
        </p:txBody>
      </p:sp>
      <p:sp>
        <p:nvSpPr>
          <p:cNvPr id="318" name="Google Shape;318;p29"/>
          <p:cNvSpPr/>
          <p:nvPr/>
        </p:nvSpPr>
        <p:spPr>
          <a:xfrm>
            <a:off x="747522" y="3352629"/>
            <a:ext cx="2266200" cy="514500"/>
          </a:xfrm>
          <a:prstGeom prst="roundRect">
            <a:avLst>
              <a:gd name="adj" fmla="val 8000"/>
            </a:avLst>
          </a:prstGeom>
          <a:solidFill>
            <a:srgbClr val="EAEFF8"/>
          </a:solidFill>
          <a:ln w="9525" cap="flat" cmpd="sng">
            <a:solidFill>
              <a:srgbClr val="EAEFF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319" name="Google Shape;319;p29"/>
          <p:cNvSpPr txBox="1"/>
          <p:nvPr/>
        </p:nvSpPr>
        <p:spPr>
          <a:xfrm>
            <a:off x="850392" y="3352629"/>
            <a:ext cx="2060400" cy="5145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B2336"/>
              </a:buClr>
              <a:buSzPts val="900"/>
              <a:buFont typeface="Inter"/>
              <a:buNone/>
            </a:pPr>
            <a:r>
              <a:rPr lang="en" sz="900" b="1">
                <a:solidFill>
                  <a:srgbClr val="1B2336"/>
                </a:solidFill>
                <a:latin typeface="Proxima Nova"/>
                <a:ea typeface="Proxima Nova"/>
                <a:cs typeface="Proxima Nova"/>
                <a:sym typeface="Proxima Nova"/>
              </a:rPr>
              <a:t>Engage Toptal.</a:t>
            </a:r>
            <a:r>
              <a:rPr lang="en" sz="900">
                <a:solidFill>
                  <a:srgbClr val="1B2336"/>
                </a:solidFill>
                <a:latin typeface="Proxima Nova"/>
                <a:ea typeface="Proxima Nova"/>
                <a:cs typeface="Proxima Nova"/>
                <a:sym typeface="Proxima Nova"/>
              </a:rPr>
              <a:t> Discuss with DM and PMO. DM gives the client the answer and the trade-offs. </a:t>
            </a:r>
            <a:endParaRPr sz="900" i="0" u="none" strike="noStrike" cap="none">
              <a:solidFill>
                <a:schemeClr val="dk1"/>
              </a:solidFill>
              <a:latin typeface="Proxima Nova"/>
              <a:ea typeface="Proxima Nova"/>
              <a:cs typeface="Proxima Nova"/>
              <a:sym typeface="Proxima Nova"/>
            </a:endParaRPr>
          </a:p>
        </p:txBody>
      </p:sp>
      <p:sp>
        <p:nvSpPr>
          <p:cNvPr id="320" name="Google Shape;320;p29"/>
          <p:cNvSpPr/>
          <p:nvPr/>
        </p:nvSpPr>
        <p:spPr>
          <a:xfrm>
            <a:off x="3301661" y="1525630"/>
            <a:ext cx="2540400" cy="2478600"/>
          </a:xfrm>
          <a:prstGeom prst="roundRect">
            <a:avLst>
              <a:gd name="adj" fmla="val 254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1" name="Google Shape;321;p29"/>
          <p:cNvSpPr txBox="1"/>
          <p:nvPr/>
        </p:nvSpPr>
        <p:spPr>
          <a:xfrm>
            <a:off x="3473120" y="2264036"/>
            <a:ext cx="21975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04ECF"/>
              </a:buClr>
              <a:buSzPts val="900"/>
              <a:buFont typeface="Inter"/>
              <a:buNone/>
            </a:pPr>
            <a:r>
              <a:rPr lang="en" sz="900" b="1">
                <a:solidFill>
                  <a:srgbClr val="204ECF"/>
                </a:solidFill>
                <a:latin typeface="Proxima Nova"/>
                <a:ea typeface="Proxima Nova"/>
                <a:cs typeface="Proxima Nova"/>
                <a:sym typeface="Proxima Nova"/>
              </a:rPr>
              <a:t>WHAT YOU DO</a:t>
            </a:r>
            <a:endParaRPr sz="900" i="0" u="none" strike="noStrike" cap="none">
              <a:solidFill>
                <a:schemeClr val="dk1"/>
              </a:solidFill>
              <a:latin typeface="Proxima Nova"/>
              <a:ea typeface="Proxima Nova"/>
              <a:cs typeface="Proxima Nova"/>
              <a:sym typeface="Proxima Nova"/>
            </a:endParaRPr>
          </a:p>
        </p:txBody>
      </p:sp>
      <p:sp>
        <p:nvSpPr>
          <p:cNvPr id="322" name="Google Shape;322;p29"/>
          <p:cNvSpPr txBox="1"/>
          <p:nvPr/>
        </p:nvSpPr>
        <p:spPr>
          <a:xfrm>
            <a:off x="3473120" y="2529669"/>
            <a:ext cx="2197500" cy="788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5B6475"/>
              </a:buClr>
              <a:buSzPts val="900"/>
              <a:buFont typeface="Inter"/>
              <a:buNone/>
            </a:pPr>
            <a:r>
              <a:rPr lang="en" sz="900">
                <a:solidFill>
                  <a:srgbClr val="5B6475"/>
                </a:solidFill>
                <a:latin typeface="Proxima Nova"/>
                <a:ea typeface="Proxima Nova"/>
                <a:cs typeface="Proxima Nova"/>
                <a:sym typeface="Proxima Nova"/>
              </a:rPr>
              <a:t>Thank the sponsor and let them know a formal acceptance sign-off will be sent. </a:t>
            </a:r>
            <a:endParaRPr sz="900" i="0" u="none" strike="noStrike" cap="none">
              <a:solidFill>
                <a:schemeClr val="dk1"/>
              </a:solidFill>
              <a:latin typeface="Proxima Nova"/>
              <a:ea typeface="Proxima Nova"/>
              <a:cs typeface="Proxima Nova"/>
              <a:sym typeface="Proxima Nova"/>
            </a:endParaRPr>
          </a:p>
        </p:txBody>
      </p:sp>
      <p:sp>
        <p:nvSpPr>
          <p:cNvPr id="323" name="Google Shape;323;p29"/>
          <p:cNvSpPr/>
          <p:nvPr/>
        </p:nvSpPr>
        <p:spPr>
          <a:xfrm>
            <a:off x="3438830" y="3352629"/>
            <a:ext cx="2266200" cy="514500"/>
          </a:xfrm>
          <a:prstGeom prst="roundRect">
            <a:avLst>
              <a:gd name="adj" fmla="val 8000"/>
            </a:avLst>
          </a:prstGeom>
          <a:solidFill>
            <a:srgbClr val="EAEFF8"/>
          </a:solidFill>
          <a:ln w="9525" cap="flat" cmpd="sng">
            <a:solidFill>
              <a:srgbClr val="EAEFF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324" name="Google Shape;324;p29"/>
          <p:cNvSpPr txBox="1"/>
          <p:nvPr/>
        </p:nvSpPr>
        <p:spPr>
          <a:xfrm>
            <a:off x="3541700" y="3352629"/>
            <a:ext cx="2060400" cy="5145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B2336"/>
              </a:buClr>
              <a:buSzPts val="900"/>
              <a:buFont typeface="Inter"/>
              <a:buNone/>
            </a:pPr>
            <a:r>
              <a:rPr lang="en" sz="900" b="1">
                <a:solidFill>
                  <a:srgbClr val="1B2336"/>
                </a:solidFill>
                <a:latin typeface="Proxima Nova"/>
                <a:ea typeface="Proxima Nova"/>
                <a:cs typeface="Proxima Nova"/>
                <a:sym typeface="Proxima Nova"/>
              </a:rPr>
              <a:t>Engage Toptal. </a:t>
            </a:r>
            <a:r>
              <a:rPr lang="en" sz="900">
                <a:solidFill>
                  <a:srgbClr val="1B2336"/>
                </a:solidFill>
                <a:latin typeface="Proxima Nova"/>
                <a:ea typeface="Proxima Nova"/>
                <a:cs typeface="Proxima Nova"/>
                <a:sym typeface="Proxima Nova"/>
              </a:rPr>
              <a:t>Inform PMO to trigger deliverable or milestone acceptance.</a:t>
            </a:r>
            <a:endParaRPr sz="900" i="0" u="none" strike="noStrike" cap="none">
              <a:solidFill>
                <a:schemeClr val="dk1"/>
              </a:solidFill>
              <a:latin typeface="Proxima Nova"/>
              <a:ea typeface="Proxima Nova"/>
              <a:cs typeface="Proxima Nova"/>
              <a:sym typeface="Proxima Nova"/>
            </a:endParaRPr>
          </a:p>
        </p:txBody>
      </p:sp>
      <p:sp>
        <p:nvSpPr>
          <p:cNvPr id="325" name="Google Shape;325;p29"/>
          <p:cNvSpPr/>
          <p:nvPr/>
        </p:nvSpPr>
        <p:spPr>
          <a:xfrm>
            <a:off x="5992972" y="1525630"/>
            <a:ext cx="2540400" cy="2478600"/>
          </a:xfrm>
          <a:prstGeom prst="roundRect">
            <a:avLst>
              <a:gd name="adj" fmla="val 2540"/>
            </a:avLst>
          </a:prstGeom>
          <a:solidFill>
            <a:srgbClr val="FDFDFE"/>
          </a:solidFill>
          <a:ln w="7150" cap="flat" cmpd="sng">
            <a:solidFill>
              <a:srgbClr val="DDE3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6" name="Google Shape;326;p29"/>
          <p:cNvSpPr txBox="1"/>
          <p:nvPr/>
        </p:nvSpPr>
        <p:spPr>
          <a:xfrm>
            <a:off x="6164428" y="2264036"/>
            <a:ext cx="2197500" cy="20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04ECF"/>
              </a:buClr>
              <a:buSzPts val="900"/>
              <a:buFont typeface="Inter"/>
              <a:buNone/>
            </a:pPr>
            <a:r>
              <a:rPr lang="en" sz="900" b="1">
                <a:solidFill>
                  <a:srgbClr val="204ECF"/>
                </a:solidFill>
                <a:latin typeface="Proxima Nova"/>
                <a:ea typeface="Proxima Nova"/>
                <a:cs typeface="Proxima Nova"/>
                <a:sym typeface="Proxima Nova"/>
              </a:rPr>
              <a:t>WHAT YOU DO</a:t>
            </a:r>
            <a:endParaRPr sz="900" i="0" u="none" strike="noStrike" cap="none">
              <a:solidFill>
                <a:schemeClr val="dk1"/>
              </a:solidFill>
              <a:latin typeface="Proxima Nova"/>
              <a:ea typeface="Proxima Nova"/>
              <a:cs typeface="Proxima Nova"/>
              <a:sym typeface="Proxima Nova"/>
            </a:endParaRPr>
          </a:p>
        </p:txBody>
      </p:sp>
      <p:sp>
        <p:nvSpPr>
          <p:cNvPr id="327" name="Google Shape;327;p29"/>
          <p:cNvSpPr txBox="1"/>
          <p:nvPr/>
        </p:nvSpPr>
        <p:spPr>
          <a:xfrm>
            <a:off x="6164428" y="2529669"/>
            <a:ext cx="2197500" cy="788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5B6475"/>
              </a:buClr>
              <a:buSzPts val="900"/>
              <a:buFont typeface="Inter"/>
              <a:buNone/>
            </a:pPr>
            <a:r>
              <a:rPr lang="en" sz="900">
                <a:solidFill>
                  <a:srgbClr val="5B6475"/>
                </a:solidFill>
                <a:latin typeface="Proxima Nova"/>
                <a:ea typeface="Proxima Nova"/>
                <a:cs typeface="Proxima Nova"/>
                <a:sym typeface="Proxima Nova"/>
              </a:rPr>
              <a:t>Report progress against contracted deliverables, not activity. Update the schedule and RAID log with the facts.</a:t>
            </a:r>
            <a:endParaRPr sz="900">
              <a:solidFill>
                <a:srgbClr val="5B6475"/>
              </a:solidFill>
              <a:latin typeface="Proxima Nova"/>
              <a:ea typeface="Proxima Nova"/>
              <a:cs typeface="Proxima Nova"/>
              <a:sym typeface="Proxima Nova"/>
            </a:endParaRPr>
          </a:p>
          <a:p>
            <a:pPr marL="0" marR="0" lvl="0" indent="0" algn="l" rtl="0">
              <a:lnSpc>
                <a:spcPct val="115000"/>
              </a:lnSpc>
              <a:spcBef>
                <a:spcPts val="0"/>
              </a:spcBef>
              <a:spcAft>
                <a:spcPts val="0"/>
              </a:spcAft>
              <a:buClr>
                <a:srgbClr val="5B6475"/>
              </a:buClr>
              <a:buSzPts val="900"/>
              <a:buFont typeface="Inter"/>
              <a:buNone/>
            </a:pPr>
            <a:endParaRPr sz="900">
              <a:solidFill>
                <a:srgbClr val="5B6475"/>
              </a:solidFill>
              <a:latin typeface="Proxima Nova"/>
              <a:ea typeface="Proxima Nova"/>
              <a:cs typeface="Proxima Nova"/>
              <a:sym typeface="Proxima Nova"/>
            </a:endParaRPr>
          </a:p>
        </p:txBody>
      </p:sp>
      <p:sp>
        <p:nvSpPr>
          <p:cNvPr id="328" name="Google Shape;328;p29"/>
          <p:cNvSpPr/>
          <p:nvPr/>
        </p:nvSpPr>
        <p:spPr>
          <a:xfrm>
            <a:off x="6130138" y="3352629"/>
            <a:ext cx="2266200" cy="514500"/>
          </a:xfrm>
          <a:prstGeom prst="roundRect">
            <a:avLst>
              <a:gd name="adj" fmla="val 8000"/>
            </a:avLst>
          </a:prstGeom>
          <a:solidFill>
            <a:srgbClr val="EAEFF8"/>
          </a:solidFill>
          <a:ln w="9525" cap="flat" cmpd="sng">
            <a:solidFill>
              <a:srgbClr val="EAEFF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329" name="Google Shape;329;p29"/>
          <p:cNvSpPr txBox="1"/>
          <p:nvPr/>
        </p:nvSpPr>
        <p:spPr>
          <a:xfrm>
            <a:off x="6233008" y="3352629"/>
            <a:ext cx="2060400" cy="5145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B2336"/>
              </a:buClr>
              <a:buSzPts val="900"/>
              <a:buFont typeface="Inter"/>
              <a:buNone/>
            </a:pPr>
            <a:r>
              <a:rPr lang="en" sz="900" b="1">
                <a:solidFill>
                  <a:srgbClr val="1B2336"/>
                </a:solidFill>
                <a:latin typeface="Proxima Nova"/>
                <a:ea typeface="Proxima Nova"/>
                <a:cs typeface="Proxima Nova"/>
                <a:sym typeface="Proxima Nova"/>
              </a:rPr>
              <a:t>Engage Toptal. </a:t>
            </a:r>
            <a:r>
              <a:rPr lang="en" sz="900">
                <a:solidFill>
                  <a:srgbClr val="1B2336"/>
                </a:solidFill>
                <a:latin typeface="Proxima Nova"/>
                <a:ea typeface="Proxima Nova"/>
                <a:cs typeface="Proxima Nova"/>
                <a:sym typeface="Proxima Nova"/>
              </a:rPr>
              <a:t>Raise it at the weekly check-in. The PMO issues the health rating.</a:t>
            </a:r>
            <a:endParaRPr sz="900">
              <a:solidFill>
                <a:srgbClr val="1B2336"/>
              </a:solidFill>
              <a:latin typeface="Proxima Nova"/>
              <a:ea typeface="Proxima Nova"/>
              <a:cs typeface="Proxima Nova"/>
              <a:sym typeface="Proxima Nova"/>
            </a:endParaRPr>
          </a:p>
        </p:txBody>
      </p:sp>
      <p:sp>
        <p:nvSpPr>
          <p:cNvPr id="330" name="Google Shape;330;p29"/>
          <p:cNvSpPr txBox="1"/>
          <p:nvPr/>
        </p:nvSpPr>
        <p:spPr>
          <a:xfrm>
            <a:off x="3473113" y="1646299"/>
            <a:ext cx="2197500" cy="5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100"/>
              <a:buFont typeface="Inter"/>
              <a:buNone/>
            </a:pPr>
            <a:r>
              <a:rPr lang="en" sz="1100" b="1">
                <a:solidFill>
                  <a:srgbClr val="1B2336"/>
                </a:solidFill>
                <a:latin typeface="Proxima Nova"/>
                <a:ea typeface="Proxima Nova"/>
                <a:cs typeface="Proxima Nova"/>
                <a:sym typeface="Proxima Nova"/>
              </a:rPr>
              <a:t>In a demo the sponsor says “Looks great, we’re happy.”</a:t>
            </a:r>
            <a:endParaRPr sz="1100" i="0" u="none" strike="noStrike" cap="none">
              <a:solidFill>
                <a:schemeClr val="dk1"/>
              </a:solidFill>
              <a:latin typeface="Proxima Nova"/>
              <a:ea typeface="Proxima Nova"/>
              <a:cs typeface="Proxima Nova"/>
              <a:sym typeface="Proxima Nova"/>
            </a:endParaRPr>
          </a:p>
        </p:txBody>
      </p:sp>
      <p:sp>
        <p:nvSpPr>
          <p:cNvPr id="331" name="Google Shape;331;p29"/>
          <p:cNvSpPr txBox="1"/>
          <p:nvPr/>
        </p:nvSpPr>
        <p:spPr>
          <a:xfrm>
            <a:off x="6164400" y="1646299"/>
            <a:ext cx="2197500" cy="5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2336"/>
              </a:buClr>
              <a:buSzPts val="1100"/>
              <a:buFont typeface="Inter"/>
              <a:buNone/>
            </a:pPr>
            <a:r>
              <a:rPr lang="en" sz="1100" b="1">
                <a:solidFill>
                  <a:srgbClr val="1B2336"/>
                </a:solidFill>
                <a:latin typeface="Proxima Nova"/>
                <a:ea typeface="Proxima Nova"/>
                <a:cs typeface="Proxima Nova"/>
                <a:sym typeface="Proxima Nova"/>
              </a:rPr>
              <a:t>The client is happy and the team is busy, but contracted deliverables are behind plan.</a:t>
            </a:r>
            <a:endParaRPr sz="1100" i="0" u="none" strike="noStrike" cap="none">
              <a:solidFill>
                <a:schemeClr val="dk1"/>
              </a:solidFill>
              <a:latin typeface="Proxima Nova"/>
              <a:ea typeface="Proxima Nova"/>
              <a:cs typeface="Proxima Nova"/>
              <a:sym typeface="Proxima Nova"/>
            </a:endParaRPr>
          </a:p>
        </p:txBody>
      </p:sp>
      <p:sp>
        <p:nvSpPr>
          <p:cNvPr id="332" name="Google Shape;332;p29"/>
          <p:cNvSpPr/>
          <p:nvPr/>
        </p:nvSpPr>
        <p:spPr>
          <a:xfrm>
            <a:off x="610362" y="4199820"/>
            <a:ext cx="7923300" cy="480300"/>
          </a:xfrm>
          <a:prstGeom prst="roundRect">
            <a:avLst>
              <a:gd name="adj" fmla="val 11429"/>
            </a:avLst>
          </a:prstGeom>
          <a:solidFill>
            <a:srgbClr val="0F256E"/>
          </a:solidFill>
          <a:ln w="9525" cap="flat" cmpd="sng">
            <a:solidFill>
              <a:srgbClr val="0F256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3" name="Google Shape;333;p29"/>
          <p:cNvSpPr/>
          <p:nvPr/>
        </p:nvSpPr>
        <p:spPr>
          <a:xfrm>
            <a:off x="816102" y="4288974"/>
            <a:ext cx="41100" cy="301800"/>
          </a:xfrm>
          <a:prstGeom prst="rect">
            <a:avLst/>
          </a:prstGeom>
          <a:solidFill>
            <a:srgbClr val="00CC83"/>
          </a:solidFill>
          <a:ln w="9525" cap="flat" cmpd="sng">
            <a:solidFill>
              <a:srgbClr val="00CC8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Proxima Nova"/>
              <a:ea typeface="Proxima Nova"/>
              <a:cs typeface="Proxima Nova"/>
              <a:sym typeface="Proxima Nova"/>
            </a:endParaRPr>
          </a:p>
        </p:txBody>
      </p:sp>
      <p:sp>
        <p:nvSpPr>
          <p:cNvPr id="334" name="Google Shape;334;p29"/>
          <p:cNvSpPr txBox="1"/>
          <p:nvPr/>
        </p:nvSpPr>
        <p:spPr>
          <a:xfrm>
            <a:off x="987550" y="4199825"/>
            <a:ext cx="7545900" cy="48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F6FB"/>
              </a:buClr>
              <a:buSzPts val="1100"/>
              <a:buFont typeface="Inter"/>
              <a:buNone/>
            </a:pPr>
            <a:r>
              <a:rPr lang="en" sz="1100">
                <a:solidFill>
                  <a:srgbClr val="F4F6FB"/>
                </a:solidFill>
                <a:latin typeface="Proxima Nova"/>
                <a:ea typeface="Proxima Nova"/>
                <a:cs typeface="Proxima Nova"/>
                <a:sym typeface="Proxima Nova"/>
              </a:rPr>
              <a:t>To keep commitments consistent, if a decision changes what Toptal delivers, when (dates), effort, or project team roles, </a:t>
            </a:r>
            <a:r>
              <a:rPr lang="en" sz="1100" b="1">
                <a:solidFill>
                  <a:srgbClr val="F4F6FB"/>
                </a:solidFill>
                <a:latin typeface="Proxima Nova"/>
                <a:ea typeface="Proxima Nova"/>
                <a:cs typeface="Proxima Nova"/>
                <a:sym typeface="Proxima Nova"/>
              </a:rPr>
              <a:t>engage the DM and PMO</a:t>
            </a:r>
            <a:r>
              <a:rPr lang="en" sz="1100">
                <a:solidFill>
                  <a:srgbClr val="F4F6FB"/>
                </a:solidFill>
                <a:latin typeface="Proxima Nova"/>
                <a:ea typeface="Proxima Nova"/>
                <a:cs typeface="Proxima Nova"/>
                <a:sym typeface="Proxima Nova"/>
              </a:rPr>
              <a:t>. Decisions around task sequencing, assignment, or plan refinements are yours to make.</a:t>
            </a:r>
            <a:endParaRPr sz="110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0"/>
          <p:cNvSpPr/>
          <p:nvPr/>
        </p:nvSpPr>
        <p:spPr>
          <a:xfrm>
            <a:off x="214100" y="0"/>
            <a:ext cx="8929800" cy="51435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lt1"/>
                </a:solidFill>
                <a:latin typeface="Open Sans"/>
                <a:ea typeface="Open Sans"/>
                <a:cs typeface="Open Sans"/>
                <a:sym typeface="Open Sans"/>
              </a:rPr>
              <a:t> </a:t>
            </a:r>
            <a:endParaRPr sz="1400">
              <a:solidFill>
                <a:schemeClr val="lt1"/>
              </a:solidFill>
              <a:latin typeface="Open Sans"/>
              <a:ea typeface="Open Sans"/>
              <a:cs typeface="Open Sans"/>
              <a:sym typeface="Open Sans"/>
            </a:endParaRPr>
          </a:p>
        </p:txBody>
      </p:sp>
      <p:sp>
        <p:nvSpPr>
          <p:cNvPr id="340" name="Google Shape;340;p30"/>
          <p:cNvSpPr txBox="1">
            <a:spLocks noGrp="1"/>
          </p:cNvSpPr>
          <p:nvPr>
            <p:ph type="ctrTitle"/>
          </p:nvPr>
        </p:nvSpPr>
        <p:spPr>
          <a:xfrm>
            <a:off x="666750" y="1001575"/>
            <a:ext cx="5575500" cy="1167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Proxima Nova"/>
                <a:ea typeface="Proxima Nova"/>
                <a:cs typeface="Proxima Nova"/>
                <a:sym typeface="Proxima Nova"/>
              </a:rPr>
              <a:t>Project Details</a:t>
            </a:r>
            <a:endParaRPr sz="1800">
              <a:solidFill>
                <a:schemeClr val="accent4"/>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1"/>
          <p:cNvSpPr txBox="1">
            <a:spLocks noGrp="1"/>
          </p:cNvSpPr>
          <p:nvPr>
            <p:ph type="ctrTitle"/>
          </p:nvPr>
        </p:nvSpPr>
        <p:spPr>
          <a:xfrm>
            <a:off x="633776" y="880400"/>
            <a:ext cx="8023800" cy="3324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2400"/>
              <a:buFont typeface="Montserrat"/>
              <a:buNone/>
            </a:pPr>
            <a:r>
              <a:rPr lang="en"/>
              <a:t>The people delivering this project</a:t>
            </a:r>
            <a:endParaRPr sz="2400">
              <a:latin typeface="Proxima Nova"/>
              <a:ea typeface="Proxima Nova"/>
              <a:cs typeface="Proxima Nova"/>
              <a:sym typeface="Proxima Nova"/>
            </a:endParaRPr>
          </a:p>
        </p:txBody>
      </p:sp>
      <p:sp>
        <p:nvSpPr>
          <p:cNvPr id="346" name="Google Shape;346;p31"/>
          <p:cNvSpPr/>
          <p:nvPr/>
        </p:nvSpPr>
        <p:spPr>
          <a:xfrm>
            <a:off x="633776" y="356650"/>
            <a:ext cx="8023800" cy="25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1200"/>
              <a:buFont typeface="Calibri"/>
              <a:buNone/>
            </a:pPr>
            <a:r>
              <a:rPr lang="en" sz="900" b="1">
                <a:solidFill>
                  <a:srgbClr val="2E5AAC"/>
                </a:solidFill>
                <a:latin typeface="Proxima Nova"/>
                <a:ea typeface="Proxima Nova"/>
                <a:cs typeface="Proxima Nova"/>
                <a:sym typeface="Proxima Nova"/>
              </a:rPr>
              <a:t>YOUR TEAM</a:t>
            </a:r>
            <a:endParaRPr sz="900" i="0" u="none" strike="noStrike" cap="none">
              <a:solidFill>
                <a:srgbClr val="000000"/>
              </a:solidFill>
              <a:latin typeface="Proxima Nova"/>
              <a:ea typeface="Proxima Nova"/>
              <a:cs typeface="Proxima Nova"/>
              <a:sym typeface="Proxima Nova"/>
            </a:endParaRPr>
          </a:p>
        </p:txBody>
      </p:sp>
      <p:pic>
        <p:nvPicPr>
          <p:cNvPr id="347" name="Google Shape;347;p31" title="Kris Wu-0161 (3).jpg"/>
          <p:cNvPicPr preferRelativeResize="0">
            <a:picLocks noGrp="1"/>
          </p:cNvPicPr>
          <p:nvPr>
            <p:ph type="pic" idx="2"/>
          </p:nvPr>
        </p:nvPicPr>
        <p:blipFill rotWithShape="1">
          <a:blip r:embed="rId3">
            <a:alphaModFix/>
          </a:blip>
          <a:srcRect/>
          <a:stretch/>
        </p:blipFill>
        <p:spPr>
          <a:xfrm>
            <a:off x="6382052" y="1580938"/>
            <a:ext cx="885601" cy="885601"/>
          </a:xfrm>
          <a:prstGeom prst="rect">
            <a:avLst/>
          </a:prstGeom>
          <a:noFill/>
          <a:ln>
            <a:noFill/>
          </a:ln>
        </p:spPr>
      </p:pic>
      <p:pic>
        <p:nvPicPr>
          <p:cNvPr id="348" name="Google Shape;348;p31"/>
          <p:cNvPicPr preferRelativeResize="0">
            <a:picLocks noGrp="1"/>
          </p:cNvPicPr>
          <p:nvPr>
            <p:ph type="pic" idx="3"/>
          </p:nvPr>
        </p:nvPicPr>
        <p:blipFill rotWithShape="1">
          <a:blip r:embed="rId4">
            <a:alphaModFix/>
          </a:blip>
          <a:srcRect/>
          <a:stretch/>
        </p:blipFill>
        <p:spPr>
          <a:xfrm>
            <a:off x="725300" y="1584150"/>
            <a:ext cx="885601" cy="885601"/>
          </a:xfrm>
          <a:prstGeom prst="rect">
            <a:avLst/>
          </a:prstGeom>
          <a:noFill/>
          <a:ln>
            <a:noFill/>
          </a:ln>
        </p:spPr>
      </p:pic>
      <p:pic>
        <p:nvPicPr>
          <p:cNvPr id="349" name="Google Shape;349;p31"/>
          <p:cNvPicPr preferRelativeResize="0"/>
          <p:nvPr/>
        </p:nvPicPr>
        <p:blipFill>
          <a:blip r:embed="rId5">
            <a:alphaModFix/>
          </a:blip>
          <a:stretch>
            <a:fillRect/>
          </a:stretch>
        </p:blipFill>
        <p:spPr>
          <a:xfrm>
            <a:off x="6363478" y="2280610"/>
            <a:ext cx="192346" cy="192344"/>
          </a:xfrm>
          <a:prstGeom prst="rect">
            <a:avLst/>
          </a:prstGeom>
          <a:noFill/>
          <a:ln>
            <a:noFill/>
          </a:ln>
        </p:spPr>
      </p:pic>
      <p:sp>
        <p:nvSpPr>
          <p:cNvPr id="350" name="Google Shape;350;p31"/>
          <p:cNvSpPr txBox="1"/>
          <p:nvPr/>
        </p:nvSpPr>
        <p:spPr>
          <a:xfrm>
            <a:off x="7528226" y="1737913"/>
            <a:ext cx="1335900" cy="1848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1200" b="1">
                <a:solidFill>
                  <a:srgbClr val="204ECF"/>
                </a:solidFill>
                <a:latin typeface="Proxima Nova"/>
                <a:ea typeface="Proxima Nova"/>
                <a:cs typeface="Proxima Nova"/>
                <a:sym typeface="Proxima Nova"/>
              </a:rPr>
              <a:t>Kris Wu</a:t>
            </a:r>
            <a:endParaRPr sz="1200" b="1">
              <a:solidFill>
                <a:srgbClr val="204ECF"/>
              </a:solidFill>
              <a:latin typeface="Proxima Nova"/>
              <a:ea typeface="Proxima Nova"/>
              <a:cs typeface="Proxima Nova"/>
              <a:sym typeface="Proxima Nova"/>
            </a:endParaRPr>
          </a:p>
        </p:txBody>
      </p:sp>
      <p:pic>
        <p:nvPicPr>
          <p:cNvPr id="351" name="Google Shape;351;p31"/>
          <p:cNvPicPr preferRelativeResize="0"/>
          <p:nvPr/>
        </p:nvPicPr>
        <p:blipFill>
          <a:blip r:embed="rId6">
            <a:alphaModFix/>
          </a:blip>
          <a:stretch>
            <a:fillRect/>
          </a:stretch>
        </p:blipFill>
        <p:spPr>
          <a:xfrm>
            <a:off x="7528222" y="1985391"/>
            <a:ext cx="91214" cy="114017"/>
          </a:xfrm>
          <a:prstGeom prst="rect">
            <a:avLst/>
          </a:prstGeom>
          <a:noFill/>
          <a:ln>
            <a:noFill/>
          </a:ln>
        </p:spPr>
      </p:pic>
      <p:sp>
        <p:nvSpPr>
          <p:cNvPr id="352" name="Google Shape;352;p31"/>
          <p:cNvSpPr txBox="1"/>
          <p:nvPr/>
        </p:nvSpPr>
        <p:spPr>
          <a:xfrm>
            <a:off x="7647750" y="1977563"/>
            <a:ext cx="1157400" cy="1230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800" b="1">
                <a:solidFill>
                  <a:srgbClr val="07947C"/>
                </a:solidFill>
                <a:latin typeface="Proxima Nova"/>
                <a:ea typeface="Proxima Nova"/>
                <a:cs typeface="Proxima Nova"/>
                <a:sym typeface="Proxima Nova"/>
              </a:rPr>
              <a:t>Delivery Manager</a:t>
            </a:r>
            <a:endParaRPr sz="800">
              <a:solidFill>
                <a:srgbClr val="07947C"/>
              </a:solidFill>
              <a:latin typeface="Proxima Nova"/>
              <a:ea typeface="Proxima Nova"/>
              <a:cs typeface="Proxima Nova"/>
              <a:sym typeface="Proxima Nova"/>
            </a:endParaRPr>
          </a:p>
        </p:txBody>
      </p:sp>
      <p:sp>
        <p:nvSpPr>
          <p:cNvPr id="353" name="Google Shape;353;p31"/>
          <p:cNvSpPr txBox="1"/>
          <p:nvPr/>
        </p:nvSpPr>
        <p:spPr>
          <a:xfrm>
            <a:off x="7647752" y="2138188"/>
            <a:ext cx="1157400" cy="1230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800" b="1">
                <a:solidFill>
                  <a:srgbClr val="455065"/>
                </a:solidFill>
                <a:latin typeface="Proxima Nova"/>
                <a:ea typeface="Proxima Nova"/>
                <a:cs typeface="Proxima Nova"/>
                <a:sym typeface="Proxima Nova"/>
              </a:rPr>
              <a:t>Vancouver, Canada </a:t>
            </a:r>
            <a:endParaRPr sz="800">
              <a:solidFill>
                <a:srgbClr val="455065"/>
              </a:solidFill>
              <a:latin typeface="Proxima Nova"/>
              <a:ea typeface="Proxima Nova"/>
              <a:cs typeface="Proxima Nova"/>
              <a:sym typeface="Proxima Nova"/>
            </a:endParaRPr>
          </a:p>
        </p:txBody>
      </p:sp>
      <p:pic>
        <p:nvPicPr>
          <p:cNvPr id="354" name="Google Shape;354;p31"/>
          <p:cNvPicPr preferRelativeResize="0"/>
          <p:nvPr/>
        </p:nvPicPr>
        <p:blipFill>
          <a:blip r:embed="rId7">
            <a:alphaModFix/>
          </a:blip>
          <a:stretch>
            <a:fillRect/>
          </a:stretch>
        </p:blipFill>
        <p:spPr>
          <a:xfrm>
            <a:off x="7528222" y="2150337"/>
            <a:ext cx="91214" cy="91209"/>
          </a:xfrm>
          <a:prstGeom prst="rect">
            <a:avLst/>
          </a:prstGeom>
          <a:noFill/>
          <a:ln>
            <a:noFill/>
          </a:ln>
        </p:spPr>
      </p:pic>
      <p:pic>
        <p:nvPicPr>
          <p:cNvPr id="355" name="Google Shape;355;p31"/>
          <p:cNvPicPr preferRelativeResize="0"/>
          <p:nvPr/>
        </p:nvPicPr>
        <p:blipFill>
          <a:blip r:embed="rId5">
            <a:alphaModFix/>
          </a:blip>
          <a:stretch>
            <a:fillRect/>
          </a:stretch>
        </p:blipFill>
        <p:spPr>
          <a:xfrm>
            <a:off x="706726" y="2283823"/>
            <a:ext cx="192346" cy="192344"/>
          </a:xfrm>
          <a:prstGeom prst="rect">
            <a:avLst/>
          </a:prstGeom>
          <a:noFill/>
          <a:ln>
            <a:noFill/>
          </a:ln>
        </p:spPr>
      </p:pic>
      <p:sp>
        <p:nvSpPr>
          <p:cNvPr id="356" name="Google Shape;356;p31"/>
          <p:cNvSpPr txBox="1"/>
          <p:nvPr/>
        </p:nvSpPr>
        <p:spPr>
          <a:xfrm>
            <a:off x="1871473" y="1741125"/>
            <a:ext cx="1203600" cy="1848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1200" b="1">
                <a:solidFill>
                  <a:srgbClr val="204ECF"/>
                </a:solidFill>
                <a:latin typeface="Proxima Nova"/>
                <a:ea typeface="Proxima Nova"/>
                <a:cs typeface="Proxima Nova"/>
                <a:sym typeface="Proxima Nova"/>
              </a:rPr>
              <a:t>James Kyle West</a:t>
            </a:r>
            <a:endParaRPr sz="1200" b="1">
              <a:solidFill>
                <a:srgbClr val="204ECF"/>
              </a:solidFill>
              <a:latin typeface="Proxima Nova"/>
              <a:ea typeface="Proxima Nova"/>
              <a:cs typeface="Proxima Nova"/>
              <a:sym typeface="Proxima Nova"/>
            </a:endParaRPr>
          </a:p>
        </p:txBody>
      </p:sp>
      <p:pic>
        <p:nvPicPr>
          <p:cNvPr id="357" name="Google Shape;357;p31"/>
          <p:cNvPicPr preferRelativeResize="0"/>
          <p:nvPr/>
        </p:nvPicPr>
        <p:blipFill>
          <a:blip r:embed="rId6">
            <a:alphaModFix/>
          </a:blip>
          <a:stretch>
            <a:fillRect/>
          </a:stretch>
        </p:blipFill>
        <p:spPr>
          <a:xfrm>
            <a:off x="1871470" y="1988603"/>
            <a:ext cx="91214" cy="114017"/>
          </a:xfrm>
          <a:prstGeom prst="rect">
            <a:avLst/>
          </a:prstGeom>
          <a:noFill/>
          <a:ln>
            <a:noFill/>
          </a:ln>
        </p:spPr>
      </p:pic>
      <p:sp>
        <p:nvSpPr>
          <p:cNvPr id="358" name="Google Shape;358;p31"/>
          <p:cNvSpPr txBox="1"/>
          <p:nvPr/>
        </p:nvSpPr>
        <p:spPr>
          <a:xfrm>
            <a:off x="1991000" y="1980775"/>
            <a:ext cx="1339500" cy="1230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800" b="1">
                <a:solidFill>
                  <a:srgbClr val="07947C"/>
                </a:solidFill>
                <a:latin typeface="Proxima Nova"/>
                <a:ea typeface="Proxima Nova"/>
                <a:cs typeface="Proxima Nova"/>
                <a:sym typeface="Proxima Nova"/>
              </a:rPr>
              <a:t>Tech Lead</a:t>
            </a:r>
            <a:endParaRPr sz="800">
              <a:solidFill>
                <a:srgbClr val="07947C"/>
              </a:solidFill>
              <a:latin typeface="Proxima Nova"/>
              <a:ea typeface="Proxima Nova"/>
              <a:cs typeface="Proxima Nova"/>
              <a:sym typeface="Proxima Nova"/>
            </a:endParaRPr>
          </a:p>
        </p:txBody>
      </p:sp>
      <p:sp>
        <p:nvSpPr>
          <p:cNvPr id="359" name="Google Shape;359;p31"/>
          <p:cNvSpPr txBox="1"/>
          <p:nvPr/>
        </p:nvSpPr>
        <p:spPr>
          <a:xfrm>
            <a:off x="1990997" y="2141400"/>
            <a:ext cx="1038000" cy="1230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800" b="1">
                <a:solidFill>
                  <a:srgbClr val="455065"/>
                </a:solidFill>
                <a:latin typeface="Proxima Nova"/>
                <a:ea typeface="Proxima Nova"/>
                <a:cs typeface="Proxima Nova"/>
                <a:sym typeface="Proxima Nova"/>
              </a:rPr>
              <a:t>Centennial, CO</a:t>
            </a:r>
            <a:endParaRPr sz="800">
              <a:solidFill>
                <a:srgbClr val="455065"/>
              </a:solidFill>
              <a:latin typeface="Proxima Nova"/>
              <a:ea typeface="Proxima Nova"/>
              <a:cs typeface="Proxima Nova"/>
              <a:sym typeface="Proxima Nova"/>
            </a:endParaRPr>
          </a:p>
        </p:txBody>
      </p:sp>
      <p:pic>
        <p:nvPicPr>
          <p:cNvPr id="360" name="Google Shape;360;p31"/>
          <p:cNvPicPr preferRelativeResize="0"/>
          <p:nvPr/>
        </p:nvPicPr>
        <p:blipFill>
          <a:blip r:embed="rId7">
            <a:alphaModFix/>
          </a:blip>
          <a:stretch>
            <a:fillRect/>
          </a:stretch>
        </p:blipFill>
        <p:spPr>
          <a:xfrm>
            <a:off x="1871470" y="2153550"/>
            <a:ext cx="91214" cy="91209"/>
          </a:xfrm>
          <a:prstGeom prst="rect">
            <a:avLst/>
          </a:prstGeom>
          <a:noFill/>
          <a:ln>
            <a:noFill/>
          </a:ln>
        </p:spPr>
      </p:pic>
      <p:pic>
        <p:nvPicPr>
          <p:cNvPr id="361" name="Google Shape;361;p31"/>
          <p:cNvPicPr preferRelativeResize="0">
            <a:picLocks noGrp="1"/>
          </p:cNvPicPr>
          <p:nvPr>
            <p:ph type="pic" idx="4"/>
          </p:nvPr>
        </p:nvPicPr>
        <p:blipFill rotWithShape="1">
          <a:blip r:embed="rId8">
            <a:alphaModFix/>
          </a:blip>
          <a:srcRect/>
          <a:stretch/>
        </p:blipFill>
        <p:spPr>
          <a:xfrm>
            <a:off x="3427675" y="1580938"/>
            <a:ext cx="885601" cy="885601"/>
          </a:xfrm>
          <a:prstGeom prst="rect">
            <a:avLst/>
          </a:prstGeom>
          <a:noFill/>
          <a:ln>
            <a:noFill/>
          </a:ln>
        </p:spPr>
      </p:pic>
      <p:pic>
        <p:nvPicPr>
          <p:cNvPr id="362" name="Google Shape;362;p31"/>
          <p:cNvPicPr preferRelativeResize="0"/>
          <p:nvPr/>
        </p:nvPicPr>
        <p:blipFill>
          <a:blip r:embed="rId5">
            <a:alphaModFix/>
          </a:blip>
          <a:stretch>
            <a:fillRect/>
          </a:stretch>
        </p:blipFill>
        <p:spPr>
          <a:xfrm>
            <a:off x="3409101" y="2280610"/>
            <a:ext cx="192346" cy="192344"/>
          </a:xfrm>
          <a:prstGeom prst="rect">
            <a:avLst/>
          </a:prstGeom>
          <a:noFill/>
          <a:ln>
            <a:noFill/>
          </a:ln>
        </p:spPr>
      </p:pic>
      <p:sp>
        <p:nvSpPr>
          <p:cNvPr id="363" name="Google Shape;363;p31"/>
          <p:cNvSpPr txBox="1"/>
          <p:nvPr/>
        </p:nvSpPr>
        <p:spPr>
          <a:xfrm>
            <a:off x="4573849" y="1737913"/>
            <a:ext cx="1335900" cy="1848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1200" b="1">
                <a:solidFill>
                  <a:srgbClr val="204ECF"/>
                </a:solidFill>
                <a:latin typeface="Proxima Nova"/>
                <a:ea typeface="Proxima Nova"/>
                <a:cs typeface="Proxima Nova"/>
                <a:sym typeface="Proxima Nova"/>
              </a:rPr>
              <a:t>David Diatikar</a:t>
            </a:r>
            <a:endParaRPr sz="1200" b="1">
              <a:solidFill>
                <a:srgbClr val="204ECF"/>
              </a:solidFill>
              <a:latin typeface="Proxima Nova"/>
              <a:ea typeface="Proxima Nova"/>
              <a:cs typeface="Proxima Nova"/>
              <a:sym typeface="Proxima Nova"/>
            </a:endParaRPr>
          </a:p>
        </p:txBody>
      </p:sp>
      <p:pic>
        <p:nvPicPr>
          <p:cNvPr id="364" name="Google Shape;364;p31"/>
          <p:cNvPicPr preferRelativeResize="0"/>
          <p:nvPr/>
        </p:nvPicPr>
        <p:blipFill>
          <a:blip r:embed="rId6">
            <a:alphaModFix/>
          </a:blip>
          <a:stretch>
            <a:fillRect/>
          </a:stretch>
        </p:blipFill>
        <p:spPr>
          <a:xfrm>
            <a:off x="4573845" y="1985391"/>
            <a:ext cx="91214" cy="114017"/>
          </a:xfrm>
          <a:prstGeom prst="rect">
            <a:avLst/>
          </a:prstGeom>
          <a:noFill/>
          <a:ln>
            <a:noFill/>
          </a:ln>
        </p:spPr>
      </p:pic>
      <p:sp>
        <p:nvSpPr>
          <p:cNvPr id="365" name="Google Shape;365;p31"/>
          <p:cNvSpPr txBox="1"/>
          <p:nvPr/>
        </p:nvSpPr>
        <p:spPr>
          <a:xfrm>
            <a:off x="4693375" y="1977563"/>
            <a:ext cx="1290000" cy="1230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800" b="1">
                <a:solidFill>
                  <a:srgbClr val="07947C"/>
                </a:solidFill>
                <a:latin typeface="Proxima Nova"/>
                <a:ea typeface="Proxima Nova"/>
                <a:cs typeface="Proxima Nova"/>
                <a:sym typeface="Proxima Nova"/>
              </a:rPr>
              <a:t>Project / Product Manager</a:t>
            </a:r>
            <a:endParaRPr sz="800">
              <a:solidFill>
                <a:srgbClr val="07947C"/>
              </a:solidFill>
              <a:latin typeface="Proxima Nova"/>
              <a:ea typeface="Proxima Nova"/>
              <a:cs typeface="Proxima Nova"/>
              <a:sym typeface="Proxima Nova"/>
            </a:endParaRPr>
          </a:p>
        </p:txBody>
      </p:sp>
      <p:sp>
        <p:nvSpPr>
          <p:cNvPr id="366" name="Google Shape;366;p31"/>
          <p:cNvSpPr txBox="1"/>
          <p:nvPr/>
        </p:nvSpPr>
        <p:spPr>
          <a:xfrm>
            <a:off x="4693375" y="2138188"/>
            <a:ext cx="1157400" cy="1230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500"/>
              </a:spcBef>
              <a:spcAft>
                <a:spcPts val="0"/>
              </a:spcAft>
              <a:buNone/>
            </a:pPr>
            <a:r>
              <a:rPr lang="en" sz="800" b="1">
                <a:solidFill>
                  <a:srgbClr val="455065"/>
                </a:solidFill>
                <a:latin typeface="Proxima Nova"/>
                <a:ea typeface="Proxima Nova"/>
                <a:cs typeface="Proxima Nova"/>
                <a:sym typeface="Proxima Nova"/>
              </a:rPr>
              <a:t>San Antonio, TX</a:t>
            </a:r>
            <a:endParaRPr sz="800">
              <a:solidFill>
                <a:srgbClr val="455065"/>
              </a:solidFill>
              <a:latin typeface="Proxima Nova"/>
              <a:ea typeface="Proxima Nova"/>
              <a:cs typeface="Proxima Nova"/>
              <a:sym typeface="Proxima Nova"/>
            </a:endParaRPr>
          </a:p>
        </p:txBody>
      </p:sp>
      <p:pic>
        <p:nvPicPr>
          <p:cNvPr id="367" name="Google Shape;367;p31"/>
          <p:cNvPicPr preferRelativeResize="0"/>
          <p:nvPr/>
        </p:nvPicPr>
        <p:blipFill>
          <a:blip r:embed="rId7">
            <a:alphaModFix/>
          </a:blip>
          <a:stretch>
            <a:fillRect/>
          </a:stretch>
        </p:blipFill>
        <p:spPr>
          <a:xfrm>
            <a:off x="4573845" y="2150337"/>
            <a:ext cx="91214" cy="912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2"/>
        <p:cNvGrpSpPr/>
        <p:nvPr/>
      </p:nvGrpSpPr>
      <p:grpSpPr>
        <a:xfrm>
          <a:off x="0" y="0"/>
          <a:ext cx="0" cy="0"/>
          <a:chOff x="0" y="0"/>
          <a:chExt cx="0" cy="0"/>
        </a:xfrm>
      </p:grpSpPr>
      <p:sp>
        <p:nvSpPr>
          <p:cNvPr id="373" name="Google Shape;373;p32"/>
          <p:cNvSpPr/>
          <p:nvPr/>
        </p:nvSpPr>
        <p:spPr>
          <a:xfrm>
            <a:off x="480073" y="425196"/>
            <a:ext cx="6858300" cy="20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900"/>
              <a:buFont typeface="Calibri"/>
              <a:buNone/>
            </a:pPr>
            <a:r>
              <a:rPr lang="en" sz="900" b="1">
                <a:solidFill>
                  <a:srgbClr val="2E5AAC"/>
                </a:solidFill>
                <a:latin typeface="Proxima Nova"/>
                <a:ea typeface="Proxima Nova"/>
                <a:cs typeface="Proxima Nova"/>
                <a:sym typeface="Proxima Nova"/>
              </a:rPr>
              <a:t>PROJECT SUCCESS AGREEMENT</a:t>
            </a:r>
            <a:endParaRPr sz="900" b="0" i="0" u="none" strike="noStrike" cap="none">
              <a:solidFill>
                <a:schemeClr val="dk1"/>
              </a:solidFill>
              <a:latin typeface="Calibri"/>
              <a:ea typeface="Calibri"/>
              <a:cs typeface="Calibri"/>
              <a:sym typeface="Calibri"/>
            </a:endParaRPr>
          </a:p>
        </p:txBody>
      </p:sp>
      <p:sp>
        <p:nvSpPr>
          <p:cNvPr id="374" name="Google Shape;374;p32"/>
          <p:cNvSpPr/>
          <p:nvPr/>
        </p:nvSpPr>
        <p:spPr>
          <a:xfrm>
            <a:off x="480073" y="1153021"/>
            <a:ext cx="685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Our draft understanding — please confirm, correct, or add.</a:t>
            </a:r>
            <a:endParaRPr sz="1100">
              <a:solidFill>
                <a:srgbClr val="041133"/>
              </a:solidFill>
              <a:latin typeface="Proxima Nova"/>
              <a:ea typeface="Proxima Nova"/>
              <a:cs typeface="Proxima Nova"/>
              <a:sym typeface="Proxima Nova"/>
            </a:endParaRPr>
          </a:p>
        </p:txBody>
      </p:sp>
      <p:sp>
        <p:nvSpPr>
          <p:cNvPr id="375" name="Google Shape;375;p32"/>
          <p:cNvSpPr/>
          <p:nvPr/>
        </p:nvSpPr>
        <p:spPr>
          <a:xfrm>
            <a:off x="480073" y="1564501"/>
            <a:ext cx="8184000" cy="877800"/>
          </a:xfrm>
          <a:prstGeom prst="roundRect">
            <a:avLst>
              <a:gd name="adj" fmla="val 6250"/>
            </a:avLst>
          </a:prstGeom>
          <a:solidFill>
            <a:srgbClr val="FFFFFF"/>
          </a:solidFill>
          <a:ln w="9525" cap="flat" cmpd="sng">
            <a:solidFill>
              <a:srgbClr val="D3DCEC"/>
            </a:solidFill>
            <a:prstDash val="solid"/>
            <a:round/>
            <a:headEnd type="none" w="sm" len="sm"/>
            <a:tailEnd type="none" w="sm" len="sm"/>
          </a:ln>
          <a:effectLst>
            <a:outerShdw blurRad="85727" dist="28576" dir="5400000" algn="bl" rotWithShape="0">
              <a:srgbClr val="0B1836">
                <a:alpha val="1608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76" name="Google Shape;376;p32"/>
          <p:cNvSpPr/>
          <p:nvPr/>
        </p:nvSpPr>
        <p:spPr>
          <a:xfrm>
            <a:off x="699535" y="1763383"/>
            <a:ext cx="480300" cy="480300"/>
          </a:xfrm>
          <a:prstGeom prst="ellipse">
            <a:avLst/>
          </a:prstGeom>
          <a:solidFill>
            <a:srgbClr val="E6EBF5"/>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77" name="Google Shape;377;p32"/>
          <p:cNvSpPr/>
          <p:nvPr/>
        </p:nvSpPr>
        <p:spPr>
          <a:xfrm>
            <a:off x="1371637" y="1620242"/>
            <a:ext cx="7086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64D"/>
              </a:buClr>
              <a:buSzPts val="1200"/>
              <a:buFont typeface="Calibri"/>
              <a:buNone/>
            </a:pPr>
            <a:r>
              <a:rPr lang="en" sz="1200" b="1">
                <a:solidFill>
                  <a:schemeClr val="dk1"/>
                </a:solidFill>
                <a:latin typeface="Proxima Nova"/>
                <a:ea typeface="Proxima Nova"/>
                <a:cs typeface="Proxima Nova"/>
                <a:sym typeface="Proxima Nova"/>
              </a:rPr>
              <a:t>Why are we doing this?</a:t>
            </a:r>
            <a:endParaRPr sz="1200" b="0" i="0" u="none" strike="noStrike" cap="none">
              <a:solidFill>
                <a:schemeClr val="dk1"/>
              </a:solidFill>
              <a:latin typeface="Calibri"/>
              <a:ea typeface="Calibri"/>
              <a:cs typeface="Calibri"/>
              <a:sym typeface="Calibri"/>
            </a:endParaRPr>
          </a:p>
        </p:txBody>
      </p:sp>
      <p:sp>
        <p:nvSpPr>
          <p:cNvPr id="378" name="Google Shape;378;p32"/>
          <p:cNvSpPr/>
          <p:nvPr/>
        </p:nvSpPr>
        <p:spPr>
          <a:xfrm>
            <a:off x="1371625" y="1835457"/>
            <a:ext cx="7086600" cy="593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AA6BC"/>
              </a:buClr>
              <a:buSzPts val="1000"/>
              <a:buFont typeface="Calibri"/>
              <a:buNone/>
            </a:pPr>
            <a:r>
              <a:rPr lang="en" sz="900">
                <a:solidFill>
                  <a:schemeClr val="dk1"/>
                </a:solidFill>
                <a:latin typeface="Calibri"/>
                <a:ea typeface="Calibri"/>
                <a:cs typeface="Calibri"/>
                <a:sym typeface="Calibri"/>
              </a:rPr>
              <a:t>Equus’s JD Edwards EnterpriseOne environment (28 workloads) runs on general-purpose Azure VMs. It sits on an unsupported legacy stack: JDE E1 8.0, SQL Server 2000, Windows Server 2003, and Windows XP dev seats. There is no formalized DR, backup governance, or SLA. This engagement relocates the environment onto a secure, supported, and governed Oracle Cloud Infrastructure (OCI) platform without changing the application.</a:t>
            </a:r>
            <a:endParaRPr sz="900" u="none" strike="noStrike" cap="none">
              <a:solidFill>
                <a:schemeClr val="dk1"/>
              </a:solidFill>
              <a:latin typeface="Calibri"/>
              <a:ea typeface="Calibri"/>
              <a:cs typeface="Calibri"/>
              <a:sym typeface="Calibri"/>
            </a:endParaRPr>
          </a:p>
        </p:txBody>
      </p:sp>
      <p:sp>
        <p:nvSpPr>
          <p:cNvPr id="379" name="Google Shape;379;p32"/>
          <p:cNvSpPr/>
          <p:nvPr/>
        </p:nvSpPr>
        <p:spPr>
          <a:xfrm>
            <a:off x="480073" y="2552053"/>
            <a:ext cx="8184000" cy="877800"/>
          </a:xfrm>
          <a:prstGeom prst="roundRect">
            <a:avLst>
              <a:gd name="adj" fmla="val 6250"/>
            </a:avLst>
          </a:prstGeom>
          <a:solidFill>
            <a:srgbClr val="FFFFFF"/>
          </a:solidFill>
          <a:ln w="9525" cap="flat" cmpd="sng">
            <a:solidFill>
              <a:srgbClr val="D3DCEC"/>
            </a:solidFill>
            <a:prstDash val="solid"/>
            <a:round/>
            <a:headEnd type="none" w="sm" len="sm"/>
            <a:tailEnd type="none" w="sm" len="sm"/>
          </a:ln>
          <a:effectLst>
            <a:outerShdw blurRad="85727" dist="28576" dir="5400000" algn="bl" rotWithShape="0">
              <a:srgbClr val="0B1836">
                <a:alpha val="1608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sz="1200" b="1">
              <a:solidFill>
                <a:schemeClr val="dk1"/>
              </a:solidFill>
              <a:latin typeface="Proxima Nova"/>
              <a:ea typeface="Proxima Nova"/>
              <a:cs typeface="Proxima Nova"/>
              <a:sym typeface="Proxima Nova"/>
            </a:endParaRPr>
          </a:p>
        </p:txBody>
      </p:sp>
      <p:sp>
        <p:nvSpPr>
          <p:cNvPr id="380" name="Google Shape;380;p32"/>
          <p:cNvSpPr/>
          <p:nvPr/>
        </p:nvSpPr>
        <p:spPr>
          <a:xfrm>
            <a:off x="699535" y="2750935"/>
            <a:ext cx="480300" cy="480300"/>
          </a:xfrm>
          <a:prstGeom prst="ellipse">
            <a:avLst/>
          </a:prstGeom>
          <a:solidFill>
            <a:srgbClr val="E6EBF5"/>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1" name="Google Shape;381;p32"/>
          <p:cNvSpPr/>
          <p:nvPr/>
        </p:nvSpPr>
        <p:spPr>
          <a:xfrm>
            <a:off x="1371637" y="2589005"/>
            <a:ext cx="7086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64D"/>
              </a:buClr>
              <a:buSzPts val="1200"/>
              <a:buFont typeface="Calibri"/>
              <a:buNone/>
            </a:pPr>
            <a:r>
              <a:rPr lang="en" sz="1200" b="1">
                <a:solidFill>
                  <a:schemeClr val="dk1"/>
                </a:solidFill>
                <a:latin typeface="Proxima Nova"/>
                <a:ea typeface="Proxima Nova"/>
                <a:cs typeface="Proxima Nova"/>
                <a:sym typeface="Proxima Nova"/>
              </a:rPr>
              <a:t>What problem are we solving?</a:t>
            </a:r>
            <a:endParaRPr sz="1200" b="1">
              <a:solidFill>
                <a:schemeClr val="dk1"/>
              </a:solidFill>
              <a:latin typeface="Proxima Nova"/>
              <a:ea typeface="Proxima Nova"/>
              <a:cs typeface="Proxima Nova"/>
              <a:sym typeface="Proxima Nova"/>
            </a:endParaRPr>
          </a:p>
        </p:txBody>
      </p:sp>
      <p:sp>
        <p:nvSpPr>
          <p:cNvPr id="382" name="Google Shape;382;p32"/>
          <p:cNvSpPr/>
          <p:nvPr/>
        </p:nvSpPr>
        <p:spPr>
          <a:xfrm>
            <a:off x="1371625" y="2812102"/>
            <a:ext cx="7086600" cy="626400"/>
          </a:xfrm>
          <a:prstGeom prst="rect">
            <a:avLst/>
          </a:prstGeom>
          <a:noFill/>
          <a:ln>
            <a:noFill/>
          </a:ln>
        </p:spPr>
        <p:txBody>
          <a:bodyPr spcFirstLastPara="1" wrap="square" lIns="0" tIns="0" rIns="0" bIns="0" anchor="ctr" anchorCtr="0">
            <a:noAutofit/>
          </a:bodyPr>
          <a:lstStyle/>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Unsupported operating systems and databases have limited security containment</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No formalized disaster recovery, backup governance, or SLAs</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Operational ownership is fragmented and support is reactive</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Azure configuration is not fully documented, and some JDE 8.0 dependencies are undocumented</a:t>
            </a:r>
            <a:endParaRPr sz="900">
              <a:solidFill>
                <a:schemeClr val="dk1"/>
              </a:solidFill>
              <a:latin typeface="Calibri"/>
              <a:ea typeface="Calibri"/>
              <a:cs typeface="Calibri"/>
              <a:sym typeface="Calibri"/>
            </a:endParaRPr>
          </a:p>
        </p:txBody>
      </p:sp>
      <p:sp>
        <p:nvSpPr>
          <p:cNvPr id="383" name="Google Shape;383;p32"/>
          <p:cNvSpPr/>
          <p:nvPr/>
        </p:nvSpPr>
        <p:spPr>
          <a:xfrm>
            <a:off x="480075" y="3539606"/>
            <a:ext cx="8184000" cy="1470900"/>
          </a:xfrm>
          <a:prstGeom prst="roundRect">
            <a:avLst>
              <a:gd name="adj" fmla="val 6250"/>
            </a:avLst>
          </a:prstGeom>
          <a:solidFill>
            <a:srgbClr val="FFFFFF"/>
          </a:solidFill>
          <a:ln w="9525" cap="flat" cmpd="sng">
            <a:solidFill>
              <a:srgbClr val="D3DCEC"/>
            </a:solidFill>
            <a:prstDash val="solid"/>
            <a:round/>
            <a:headEnd type="none" w="sm" len="sm"/>
            <a:tailEnd type="none" w="sm" len="sm"/>
          </a:ln>
          <a:effectLst>
            <a:outerShdw blurRad="85727" dist="28576" dir="5400000" algn="bl" rotWithShape="0">
              <a:srgbClr val="0B1836">
                <a:alpha val="1608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4" name="Google Shape;384;p32"/>
          <p:cNvSpPr/>
          <p:nvPr/>
        </p:nvSpPr>
        <p:spPr>
          <a:xfrm>
            <a:off x="699535" y="3738487"/>
            <a:ext cx="480300" cy="480300"/>
          </a:xfrm>
          <a:prstGeom prst="ellipse">
            <a:avLst/>
          </a:prstGeom>
          <a:solidFill>
            <a:srgbClr val="E6EBF5"/>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5" name="Google Shape;385;p32"/>
          <p:cNvSpPr/>
          <p:nvPr/>
        </p:nvSpPr>
        <p:spPr>
          <a:xfrm>
            <a:off x="1371637" y="3582820"/>
            <a:ext cx="7086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4264D"/>
              </a:buClr>
              <a:buSzPts val="1200"/>
              <a:buFont typeface="Calibri"/>
              <a:buNone/>
            </a:pPr>
            <a:r>
              <a:rPr lang="en" sz="1200" b="1" i="0" u="none" strike="noStrike" cap="none">
                <a:solidFill>
                  <a:srgbClr val="14264D"/>
                </a:solidFill>
                <a:latin typeface="Calibri"/>
                <a:ea typeface="Calibri"/>
                <a:cs typeface="Calibri"/>
                <a:sym typeface="Calibri"/>
              </a:rPr>
              <a:t>What does </a:t>
            </a:r>
            <a:r>
              <a:rPr lang="en" sz="1200" b="1">
                <a:solidFill>
                  <a:schemeClr val="dk1"/>
                </a:solidFill>
                <a:latin typeface="Proxima Nova"/>
                <a:ea typeface="Proxima Nova"/>
                <a:cs typeface="Proxima Nova"/>
                <a:sym typeface="Proxima Nova"/>
              </a:rPr>
              <a:t>success</a:t>
            </a:r>
            <a:r>
              <a:rPr lang="en" sz="1200" b="1" i="0" u="none" strike="noStrike" cap="none">
                <a:solidFill>
                  <a:srgbClr val="14264D"/>
                </a:solidFill>
                <a:latin typeface="Calibri"/>
                <a:ea typeface="Calibri"/>
                <a:cs typeface="Calibri"/>
                <a:sym typeface="Calibri"/>
              </a:rPr>
              <a:t> look like?</a:t>
            </a:r>
            <a:endParaRPr sz="1200" b="0" i="0" u="none" strike="noStrike" cap="none">
              <a:solidFill>
                <a:schemeClr val="dk1"/>
              </a:solidFill>
              <a:latin typeface="Calibri"/>
              <a:ea typeface="Calibri"/>
              <a:cs typeface="Calibri"/>
              <a:sym typeface="Calibri"/>
            </a:endParaRPr>
          </a:p>
        </p:txBody>
      </p:sp>
      <p:sp>
        <p:nvSpPr>
          <p:cNvPr id="386" name="Google Shape;386;p32"/>
          <p:cNvSpPr/>
          <p:nvPr/>
        </p:nvSpPr>
        <p:spPr>
          <a:xfrm>
            <a:off x="1371625" y="3829381"/>
            <a:ext cx="7221300" cy="1133700"/>
          </a:xfrm>
          <a:prstGeom prst="rect">
            <a:avLst/>
          </a:prstGeom>
          <a:noFill/>
          <a:ln>
            <a:noFill/>
          </a:ln>
        </p:spPr>
        <p:txBody>
          <a:bodyPr spcFirstLastPara="1" wrap="square" lIns="0" tIns="0" rIns="0" bIns="0" anchor="ctr" anchorCtr="0">
            <a:noAutofit/>
          </a:bodyPr>
          <a:lstStyle/>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All 28 workloads migrated to OCI with no application change and zero planned data loss</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Production cutover completed in a weekend window, with go/no-go checkpoints and full rollback capability</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Performance on OCI validated against current production: JDE login, order entry, financial reporting, package builds, batch execution, and records-per-minute throughput</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Existing integrations (Workday, Databricks, Control-M, SSIS) working after migration</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Formal, tested DR and backup with SLA-backed availability</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Legacy OS/DB contained within security enclaves with compensating controls</a:t>
            </a:r>
            <a:endParaRPr sz="900">
              <a:solidFill>
                <a:schemeClr val="dk1"/>
              </a:solidFill>
              <a:latin typeface="Calibri"/>
              <a:ea typeface="Calibri"/>
              <a:cs typeface="Calibri"/>
              <a:sym typeface="Calibri"/>
            </a:endParaRPr>
          </a:p>
          <a:p>
            <a:pPr marL="257175" marR="0" lvl="0" indent="-200025" algn="l" rtl="0">
              <a:lnSpc>
                <a:spcPct val="100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Environment handed off to steady-state managed operations </a:t>
            </a:r>
            <a:endParaRPr sz="1000" i="1">
              <a:solidFill>
                <a:schemeClr val="dk1"/>
              </a:solidFill>
              <a:latin typeface="Proxima Nova"/>
              <a:ea typeface="Proxima Nova"/>
              <a:cs typeface="Proxima Nova"/>
              <a:sym typeface="Proxima Nova"/>
            </a:endParaRPr>
          </a:p>
        </p:txBody>
      </p:sp>
      <p:pic>
        <p:nvPicPr>
          <p:cNvPr id="387" name="Google Shape;387;p32"/>
          <p:cNvPicPr preferRelativeResize="0"/>
          <p:nvPr/>
        </p:nvPicPr>
        <p:blipFill>
          <a:blip r:embed="rId3">
            <a:alphaModFix/>
          </a:blip>
          <a:stretch>
            <a:fillRect/>
          </a:stretch>
        </p:blipFill>
        <p:spPr>
          <a:xfrm>
            <a:off x="775488" y="3814440"/>
            <a:ext cx="328394" cy="328394"/>
          </a:xfrm>
          <a:prstGeom prst="rect">
            <a:avLst/>
          </a:prstGeom>
          <a:noFill/>
          <a:ln>
            <a:noFill/>
          </a:ln>
        </p:spPr>
      </p:pic>
      <p:pic>
        <p:nvPicPr>
          <p:cNvPr id="388" name="Google Shape;388;p32"/>
          <p:cNvPicPr preferRelativeResize="0"/>
          <p:nvPr/>
        </p:nvPicPr>
        <p:blipFill>
          <a:blip r:embed="rId4">
            <a:alphaModFix/>
          </a:blip>
          <a:stretch>
            <a:fillRect/>
          </a:stretch>
        </p:blipFill>
        <p:spPr>
          <a:xfrm>
            <a:off x="772922" y="1835467"/>
            <a:ext cx="333525" cy="336131"/>
          </a:xfrm>
          <a:prstGeom prst="rect">
            <a:avLst/>
          </a:prstGeom>
          <a:noFill/>
          <a:ln>
            <a:noFill/>
          </a:ln>
        </p:spPr>
      </p:pic>
      <p:pic>
        <p:nvPicPr>
          <p:cNvPr id="389" name="Google Shape;389;p32"/>
          <p:cNvPicPr preferRelativeResize="0"/>
          <p:nvPr/>
        </p:nvPicPr>
        <p:blipFill>
          <a:blip r:embed="rId5">
            <a:alphaModFix/>
          </a:blip>
          <a:stretch>
            <a:fillRect/>
          </a:stretch>
        </p:blipFill>
        <p:spPr>
          <a:xfrm>
            <a:off x="784237" y="2835637"/>
            <a:ext cx="310896" cy="310896"/>
          </a:xfrm>
          <a:prstGeom prst="rect">
            <a:avLst/>
          </a:prstGeom>
          <a:noFill/>
          <a:ln>
            <a:noFill/>
          </a:ln>
        </p:spPr>
      </p:pic>
      <p:sp>
        <p:nvSpPr>
          <p:cNvPr id="390" name="Google Shape;390;p32"/>
          <p:cNvSpPr txBox="1">
            <a:spLocks noGrp="1"/>
          </p:cNvSpPr>
          <p:nvPr>
            <p:ph type="ctrTitle" idx="4294967295"/>
          </p:nvPr>
        </p:nvSpPr>
        <p:spPr>
          <a:xfrm>
            <a:off x="480076" y="734900"/>
            <a:ext cx="8023800" cy="3324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2400"/>
              <a:buFont typeface="Montserrat"/>
              <a:buNone/>
            </a:pPr>
            <a:r>
              <a:rPr lang="en" sz="2400"/>
              <a:t>Why we’re here</a:t>
            </a:r>
            <a:endParaRPr sz="2400">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ctrTitle" idx="4294967295"/>
          </p:nvPr>
        </p:nvSpPr>
        <p:spPr>
          <a:xfrm>
            <a:off x="6407600" y="231200"/>
            <a:ext cx="2417400" cy="25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Font typeface="Montserrat"/>
              <a:buNone/>
            </a:pPr>
            <a:r>
              <a:rPr lang="en" sz="2000">
                <a:solidFill>
                  <a:schemeClr val="lt1"/>
                </a:solidFill>
              </a:rPr>
              <a:t>Solution Overview</a:t>
            </a:r>
            <a:endParaRPr sz="2000" b="1">
              <a:solidFill>
                <a:schemeClr val="lt1"/>
              </a:solidFill>
              <a:latin typeface="Proxima Nova"/>
              <a:ea typeface="Proxima Nova"/>
              <a:cs typeface="Proxima Nova"/>
              <a:sym typeface="Proxima Nova"/>
            </a:endParaRPr>
          </a:p>
        </p:txBody>
      </p:sp>
      <p:sp>
        <p:nvSpPr>
          <p:cNvPr id="396" name="Google Shape;396;p33"/>
          <p:cNvSpPr txBox="1"/>
          <p:nvPr/>
        </p:nvSpPr>
        <p:spPr>
          <a:xfrm>
            <a:off x="6407600" y="597225"/>
            <a:ext cx="2571000" cy="2538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500"/>
              </a:spcBef>
              <a:spcAft>
                <a:spcPts val="0"/>
              </a:spcAft>
              <a:buNone/>
            </a:pPr>
            <a:r>
              <a:rPr lang="en" sz="850">
                <a:solidFill>
                  <a:schemeClr val="lt1"/>
                </a:solidFill>
                <a:latin typeface="Proxima Nova"/>
                <a:ea typeface="Proxima Nova"/>
                <a:cs typeface="Proxima Nova"/>
                <a:sym typeface="Proxima Nova"/>
              </a:rPr>
              <a:t>A host-first, lift-and-shift migration of Rimage’s JD Edwards EnterpriseOne 8.0 estate from Microsoft Azure to a purpose-built OCI landing zone. The application, data, and versions stay unchanged. Legacy operating systems and databases are placed inside segmented security enclaves with virtual patching and continuous monitoring. Private connectivity to the Rimage corporate network runs over Oracle FastConnect with a redundant VPN. Work runs in six phases over about 18 weeks: Discovery &amp; Planning, Build &amp; Validation, Non-Prod Migration, Production Readiness, Production Cutover, and Hypercare &amp; Stabilization. Each phase is gated on defined success criteria. Once the environment is stable on OCI, it transitions to steady-state managed operations, with ITIL-aligned governance, formal backup and DR, and 24x7 monitoring.</a:t>
            </a:r>
            <a:endParaRPr sz="850">
              <a:solidFill>
                <a:schemeClr val="lt1"/>
              </a:solidFill>
              <a:latin typeface="Proxima Nova"/>
              <a:ea typeface="Proxima Nova"/>
              <a:cs typeface="Proxima Nova"/>
              <a:sym typeface="Proxima Nova"/>
            </a:endParaRPr>
          </a:p>
        </p:txBody>
      </p:sp>
      <p:sp>
        <p:nvSpPr>
          <p:cNvPr id="397" name="Google Shape;397;p33"/>
          <p:cNvSpPr/>
          <p:nvPr/>
        </p:nvSpPr>
        <p:spPr>
          <a:xfrm>
            <a:off x="480073" y="425196"/>
            <a:ext cx="6858300" cy="20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900"/>
              <a:buFont typeface="Calibri"/>
              <a:buNone/>
            </a:pPr>
            <a:r>
              <a:rPr lang="en" sz="900" b="1">
                <a:solidFill>
                  <a:srgbClr val="2E5AAC"/>
                </a:solidFill>
                <a:latin typeface="Proxima Nova"/>
                <a:ea typeface="Proxima Nova"/>
                <a:cs typeface="Proxima Nova"/>
                <a:sym typeface="Proxima Nova"/>
              </a:rPr>
              <a:t>PROJECT SUCCESS AGREEMENT</a:t>
            </a:r>
            <a:endParaRPr sz="900" b="0" i="0" u="none" strike="noStrike" cap="none">
              <a:solidFill>
                <a:schemeClr val="dk1"/>
              </a:solidFill>
              <a:latin typeface="Calibri"/>
              <a:ea typeface="Calibri"/>
              <a:cs typeface="Calibri"/>
              <a:sym typeface="Calibri"/>
            </a:endParaRPr>
          </a:p>
        </p:txBody>
      </p:sp>
      <p:sp>
        <p:nvSpPr>
          <p:cNvPr id="398" name="Google Shape;398;p33"/>
          <p:cNvSpPr txBox="1">
            <a:spLocks noGrp="1"/>
          </p:cNvSpPr>
          <p:nvPr>
            <p:ph type="ctrTitle" idx="4294967295"/>
          </p:nvPr>
        </p:nvSpPr>
        <p:spPr>
          <a:xfrm>
            <a:off x="480076" y="734900"/>
            <a:ext cx="8023800" cy="3324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2400"/>
              <a:buFont typeface="Montserrat"/>
              <a:buNone/>
            </a:pPr>
            <a:r>
              <a:rPr lang="en" sz="2400"/>
              <a:t>What we will deliver</a:t>
            </a:r>
            <a:endParaRPr sz="2400">
              <a:latin typeface="Proxima Nova"/>
              <a:ea typeface="Proxima Nova"/>
              <a:cs typeface="Proxima Nova"/>
              <a:sym typeface="Proxima Nova"/>
            </a:endParaRPr>
          </a:p>
        </p:txBody>
      </p:sp>
      <p:sp>
        <p:nvSpPr>
          <p:cNvPr id="399" name="Google Shape;399;p33"/>
          <p:cNvSpPr txBox="1"/>
          <p:nvPr/>
        </p:nvSpPr>
        <p:spPr>
          <a:xfrm>
            <a:off x="6351350" y="3577002"/>
            <a:ext cx="2683500" cy="1159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500"/>
              </a:spcBef>
              <a:spcAft>
                <a:spcPts val="0"/>
              </a:spcAft>
              <a:buNone/>
            </a:pPr>
            <a:r>
              <a:rPr lang="en" sz="1200" b="1">
                <a:solidFill>
                  <a:schemeClr val="lt1"/>
                </a:solidFill>
                <a:latin typeface="Proxima Nova"/>
                <a:ea typeface="Proxima Nova"/>
                <a:cs typeface="Proxima Nova"/>
                <a:sym typeface="Proxima Nova"/>
              </a:rPr>
              <a:t>Out of Scope:</a:t>
            </a:r>
            <a:endParaRPr sz="1200" b="1">
              <a:solidFill>
                <a:schemeClr val="lt1"/>
              </a:solidFill>
              <a:latin typeface="Proxima Nova"/>
              <a:ea typeface="Proxima Nova"/>
              <a:cs typeface="Proxima Nova"/>
              <a:sym typeface="Proxima Nova"/>
            </a:endParaRPr>
          </a:p>
          <a:p>
            <a:pPr marL="228600" lvl="0" indent="-168275" algn="l" rtl="0">
              <a:lnSpc>
                <a:spcPct val="115000"/>
              </a:lnSpc>
              <a:spcBef>
                <a:spcPts val="500"/>
              </a:spcBef>
              <a:spcAft>
                <a:spcPts val="0"/>
              </a:spcAft>
              <a:buClr>
                <a:schemeClr val="lt1"/>
              </a:buClr>
              <a:buSzPts val="850"/>
              <a:buFont typeface="Proxima Nova"/>
              <a:buChar char="●"/>
            </a:pPr>
            <a:r>
              <a:rPr lang="en" sz="850">
                <a:solidFill>
                  <a:schemeClr val="lt1"/>
                </a:solidFill>
                <a:latin typeface="Proxima Nova"/>
                <a:ea typeface="Proxima Nova"/>
                <a:cs typeface="Proxima Nova"/>
                <a:sym typeface="Proxima Nova"/>
              </a:rPr>
              <a:t>Application changes or upgrades, including a JDE 9.2 reimplementation or platform replacement</a:t>
            </a:r>
            <a:endParaRPr sz="850">
              <a:solidFill>
                <a:schemeClr val="lt1"/>
              </a:solidFill>
              <a:latin typeface="Proxima Nova"/>
              <a:ea typeface="Proxima Nova"/>
              <a:cs typeface="Proxima Nova"/>
              <a:sym typeface="Proxima Nova"/>
            </a:endParaRPr>
          </a:p>
          <a:p>
            <a:pPr marL="228600" lvl="0" indent="-168275" algn="l" rtl="0">
              <a:lnSpc>
                <a:spcPct val="115000"/>
              </a:lnSpc>
              <a:spcBef>
                <a:spcPts val="0"/>
              </a:spcBef>
              <a:spcAft>
                <a:spcPts val="0"/>
              </a:spcAft>
              <a:buClr>
                <a:schemeClr val="lt1"/>
              </a:buClr>
              <a:buSzPts val="850"/>
              <a:buFont typeface="Proxima Nova"/>
              <a:buChar char="●"/>
            </a:pPr>
            <a:r>
              <a:rPr lang="en" sz="850">
                <a:solidFill>
                  <a:schemeClr val="lt1"/>
                </a:solidFill>
                <a:latin typeface="Proxima Nova"/>
                <a:ea typeface="Proxima Nova"/>
                <a:cs typeface="Proxima Nova"/>
                <a:sym typeface="Proxima Nova"/>
              </a:rPr>
              <a:t>Modernization roadmap items (Linux web/middleware tiers, reverse proxies, identity and certificate management, Zero Trust), which are a separate future track</a:t>
            </a:r>
            <a:endParaRPr sz="850">
              <a:solidFill>
                <a:schemeClr val="lt1"/>
              </a:solidFill>
              <a:latin typeface="Proxima Nova"/>
              <a:ea typeface="Proxima Nova"/>
              <a:cs typeface="Proxima Nova"/>
              <a:sym typeface="Proxima Nova"/>
            </a:endParaRPr>
          </a:p>
        </p:txBody>
      </p:sp>
      <p:graphicFrame>
        <p:nvGraphicFramePr>
          <p:cNvPr id="400" name="Google Shape;400;p33"/>
          <p:cNvGraphicFramePr/>
          <p:nvPr/>
        </p:nvGraphicFramePr>
        <p:xfrm>
          <a:off x="480075" y="1213375"/>
          <a:ext cx="3000000" cy="3000000"/>
        </p:xfrm>
        <a:graphic>
          <a:graphicData uri="http://schemas.openxmlformats.org/drawingml/2006/table">
            <a:tbl>
              <a:tblPr>
                <a:noFill/>
                <a:tableStyleId>{CCF2D8BE-1765-4251-A71B-D7E14FF0B7AB}</a:tableStyleId>
              </a:tblPr>
              <a:tblGrid>
                <a:gridCol w="1962950">
                  <a:extLst>
                    <a:ext uri="{9D8B030D-6E8A-4147-A177-3AD203B41FA5}">
                      <a16:colId xmlns:a16="http://schemas.microsoft.com/office/drawing/2014/main" val="20000"/>
                    </a:ext>
                  </a:extLst>
                </a:gridCol>
                <a:gridCol w="3528700">
                  <a:extLst>
                    <a:ext uri="{9D8B030D-6E8A-4147-A177-3AD203B41FA5}">
                      <a16:colId xmlns:a16="http://schemas.microsoft.com/office/drawing/2014/main" val="20001"/>
                    </a:ext>
                  </a:extLst>
                </a:gridCol>
              </a:tblGrid>
              <a:tr h="381000">
                <a:tc>
                  <a:txBody>
                    <a:bodyPr/>
                    <a:lstStyle/>
                    <a:p>
                      <a:pPr marL="0" lvl="0" indent="0" algn="l" rtl="0">
                        <a:lnSpc>
                          <a:spcPct val="115000"/>
                        </a:lnSpc>
                        <a:spcBef>
                          <a:spcPts val="500"/>
                        </a:spcBef>
                        <a:spcAft>
                          <a:spcPts val="0"/>
                        </a:spcAft>
                        <a:buNone/>
                      </a:pPr>
                      <a:r>
                        <a:rPr lang="en" sz="1100" b="1">
                          <a:solidFill>
                            <a:schemeClr val="accent1"/>
                          </a:solidFill>
                          <a:latin typeface="Proxima Nova"/>
                          <a:ea typeface="Proxima Nova"/>
                          <a:cs typeface="Proxima Nova"/>
                          <a:sym typeface="Proxima Nova"/>
                        </a:rPr>
                        <a:t>Workstream </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500"/>
                        </a:spcBef>
                        <a:spcAft>
                          <a:spcPts val="0"/>
                        </a:spcAft>
                        <a:buNone/>
                      </a:pPr>
                      <a:r>
                        <a:rPr lang="en" sz="1100" b="1">
                          <a:solidFill>
                            <a:schemeClr val="accent1"/>
                          </a:solidFill>
                          <a:latin typeface="Proxima Nova"/>
                          <a:ea typeface="Proxima Nova"/>
                          <a:cs typeface="Proxima Nova"/>
                          <a:sym typeface="Proxima Nova"/>
                        </a:rPr>
                        <a:t>Outcomes / Deliverables</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lnSpc>
                          <a:spcPct val="100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Discovery &amp; Planning </a:t>
                      </a:r>
                      <a:endParaRPr sz="900">
                        <a:solidFill>
                          <a:schemeClr val="dk1"/>
                        </a:solidFill>
                        <a:latin typeface="Proxima Nova Semibold"/>
                        <a:ea typeface="Proxima Nova Semibold"/>
                        <a:cs typeface="Proxima Nova Semibold"/>
                        <a:sym typeface="Proxima Nova Semibold"/>
                      </a:endParaRPr>
                    </a:p>
                    <a:p>
                      <a:pPr marL="0" lvl="0" indent="0" algn="l" rtl="0">
                        <a:lnSpc>
                          <a:spcPct val="100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(Weeks 1 - 3)</a:t>
                      </a:r>
                      <a:endParaRPr sz="13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00025" lvl="0" indent="-200025" algn="l" rtl="0">
                        <a:lnSpc>
                          <a:spcPct val="115000"/>
                        </a:lnSpc>
                        <a:spcBef>
                          <a:spcPts val="50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Validated inventory, dependencies, and performance baseline</a:t>
                      </a:r>
                      <a:endParaRPr sz="900">
                        <a:solidFill>
                          <a:schemeClr val="dk1"/>
                        </a:solidFill>
                        <a:latin typeface="Proxima Nova"/>
                        <a:ea typeface="Proxima Nova"/>
                        <a:cs typeface="Proxima Nova"/>
                        <a:sym typeface="Proxima Nova"/>
                      </a:endParaRPr>
                    </a:p>
                    <a:p>
                      <a:pPr marL="200025"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Future-state architecture and network design</a:t>
                      </a:r>
                      <a:endParaRPr sz="900">
                        <a:solidFill>
                          <a:schemeClr val="dk1"/>
                        </a:solidFill>
                        <a:latin typeface="Proxima Nova"/>
                        <a:ea typeface="Proxima Nova"/>
                        <a:cs typeface="Proxima Nova"/>
                        <a:sym typeface="Proxima Nova"/>
                      </a:endParaRPr>
                    </a:p>
                    <a:p>
                      <a:pPr marL="200025"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Migration, cutover, and testing plan with success criteria</a:t>
                      </a:r>
                      <a:endParaRPr>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OCI Build, Network &amp; Security </a:t>
                      </a:r>
                      <a:endParaRPr sz="900">
                        <a:solidFill>
                          <a:schemeClr val="dk1"/>
                        </a:solidFill>
                        <a:latin typeface="Proxima Nova Semibold"/>
                        <a:ea typeface="Proxima Nova Semibold"/>
                        <a:cs typeface="Proxima Nova Semibold"/>
                        <a:sym typeface="Proxima Nova Semibold"/>
                      </a:endParaRPr>
                    </a:p>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(Weeks 4 - 6)</a:t>
                      </a:r>
                      <a:endParaRPr sz="13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00025" marR="0" lvl="0" indent="-200025" algn="l" rtl="0">
                        <a:lnSpc>
                          <a:spcPct val="115000"/>
                        </a:lnSpc>
                        <a:spcBef>
                          <a:spcPts val="50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Toptal-managed OCI environment, sized to your workload</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Private, redundant connectivity to your corporate network</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Security enclaves protecting legacy systems</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Backup, DR, and monitoring proven before any data moves</a:t>
                      </a:r>
                      <a:endParaRPr sz="900">
                        <a:solidFill>
                          <a:schemeClr val="dk1"/>
                        </a:solidFill>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Migration, Testing &amp; Cutover</a:t>
                      </a:r>
                      <a:endParaRPr sz="900">
                        <a:solidFill>
                          <a:schemeClr val="dk1"/>
                        </a:solidFill>
                        <a:latin typeface="Proxima Nova Semibold"/>
                        <a:ea typeface="Proxima Nova Semibold"/>
                        <a:cs typeface="Proxima Nova Semibold"/>
                        <a:sym typeface="Proxima Nova Semibold"/>
                      </a:endParaRPr>
                    </a:p>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(Weeks 7 - 13)</a:t>
                      </a:r>
                      <a:endParaRPr sz="13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00025" marR="0" lvl="0" indent="-200025" algn="l" rtl="0">
                        <a:lnSpc>
                          <a:spcPct val="115000"/>
                        </a:lnSpc>
                        <a:spcBef>
                          <a:spcPts val="50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Dev/test environments migrated first</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Rehearsed data synchronization and cutover</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Performance validated against current production</a:t>
                      </a:r>
                      <a:endParaRPr sz="900">
                        <a:solidFill>
                          <a:schemeClr val="dk1"/>
                        </a:solidFill>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Backup, DR &amp; Stabilization </a:t>
                      </a:r>
                      <a:endParaRPr sz="900">
                        <a:solidFill>
                          <a:schemeClr val="dk1"/>
                        </a:solidFill>
                        <a:latin typeface="Proxima Nova Semibold"/>
                        <a:ea typeface="Proxima Nova Semibold"/>
                        <a:cs typeface="Proxima Nova Semibold"/>
                        <a:sym typeface="Proxima Nova Semibold"/>
                      </a:endParaRPr>
                    </a:p>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(Weeks 15 - 18)</a:t>
                      </a:r>
                      <a:endParaRPr sz="13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00025" marR="0" lvl="0" indent="-200025" algn="l" rtl="0">
                        <a:lnSpc>
                          <a:spcPct val="115000"/>
                        </a:lnSpc>
                        <a:spcBef>
                          <a:spcPts val="50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Weekend cutover with go/no-go checkpoints and full rollback</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Zero planned data loss</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Hypercare support through steady-state handoff</a:t>
                      </a:r>
                      <a:endParaRPr sz="900">
                        <a:solidFill>
                          <a:schemeClr val="dk1"/>
                        </a:solidFill>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Managed Services </a:t>
                      </a:r>
                      <a:endParaRPr sz="900">
                        <a:solidFill>
                          <a:schemeClr val="dk1"/>
                        </a:solidFill>
                        <a:latin typeface="Proxima Nova Semibold"/>
                        <a:ea typeface="Proxima Nova Semibold"/>
                        <a:cs typeface="Proxima Nova Semibold"/>
                        <a:sym typeface="Proxima Nova Semibold"/>
                      </a:endParaRPr>
                    </a:p>
                    <a:p>
                      <a:pPr marL="0" lvl="0" indent="0" algn="l" rtl="0">
                        <a:lnSpc>
                          <a:spcPct val="115000"/>
                        </a:lnSpc>
                        <a:spcBef>
                          <a:spcPts val="500"/>
                        </a:spcBef>
                        <a:spcAft>
                          <a:spcPts val="0"/>
                        </a:spcAft>
                        <a:buNone/>
                      </a:pPr>
                      <a:r>
                        <a:rPr lang="en" sz="900">
                          <a:solidFill>
                            <a:schemeClr val="dk1"/>
                          </a:solidFill>
                          <a:latin typeface="Proxima Nova Semibold"/>
                          <a:ea typeface="Proxima Nova Semibold"/>
                          <a:cs typeface="Proxima Nova Semibold"/>
                          <a:sym typeface="Proxima Nova Semibold"/>
                        </a:rPr>
                        <a:t>(36 months)</a:t>
                      </a:r>
                      <a:endParaRPr sz="1300">
                        <a:latin typeface="Proxima Nova"/>
                        <a:ea typeface="Proxima Nova"/>
                        <a:cs typeface="Proxima Nova"/>
                        <a:sym typeface="Proxima Nov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200025" marR="0" lvl="0" indent="-200025" algn="l" rtl="0">
                        <a:lnSpc>
                          <a:spcPct val="115000"/>
                        </a:lnSpc>
                        <a:spcBef>
                          <a:spcPts val="50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24x7 monitoring with SLA-backed availability</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Ongoing security operations and compliance reporting</a:t>
                      </a:r>
                      <a:endParaRPr sz="900">
                        <a:solidFill>
                          <a:schemeClr val="dk1"/>
                        </a:solidFill>
                        <a:latin typeface="Proxima Nova"/>
                        <a:ea typeface="Proxima Nova"/>
                        <a:cs typeface="Proxima Nova"/>
                        <a:sym typeface="Proxima Nova"/>
                      </a:endParaRPr>
                    </a:p>
                    <a:p>
                      <a:pPr marL="200025" marR="0" lvl="0" indent="-200025" algn="l" rtl="0">
                        <a:lnSpc>
                          <a:spcPct val="115000"/>
                        </a:lnSpc>
                        <a:spcBef>
                          <a:spcPts val="0"/>
                        </a:spcBef>
                        <a:spcAft>
                          <a:spcPts val="0"/>
                        </a:spcAft>
                        <a:buClr>
                          <a:schemeClr val="dk1"/>
                        </a:buClr>
                        <a:buSzPts val="900"/>
                        <a:buFont typeface="Proxima Nova"/>
                        <a:buChar char="●"/>
                      </a:pPr>
                      <a:r>
                        <a:rPr lang="en" sz="900">
                          <a:solidFill>
                            <a:schemeClr val="dk1"/>
                          </a:solidFill>
                          <a:latin typeface="Proxima Nova"/>
                          <a:ea typeface="Proxima Nova"/>
                          <a:cs typeface="Proxima Nova"/>
                          <a:sym typeface="Proxima Nova"/>
                        </a:rPr>
                        <a:t>Managed backup and scheduled DR testing</a:t>
                      </a:r>
                      <a:endParaRPr sz="900">
                        <a:solidFill>
                          <a:schemeClr val="dk1"/>
                        </a:solidFill>
                        <a:latin typeface="Proxima Nova"/>
                        <a:ea typeface="Proxima Nova"/>
                        <a:cs typeface="Proxima Nova"/>
                        <a:sym typeface="Proxima Nova"/>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cxnSp>
        <p:nvCxnSpPr>
          <p:cNvPr id="401" name="Google Shape;401;p33"/>
          <p:cNvCxnSpPr/>
          <p:nvPr/>
        </p:nvCxnSpPr>
        <p:spPr>
          <a:xfrm>
            <a:off x="480070" y="1584147"/>
            <a:ext cx="5482200" cy="0"/>
          </a:xfrm>
          <a:prstGeom prst="straightConnector1">
            <a:avLst/>
          </a:prstGeom>
          <a:noFill/>
          <a:ln w="12700" cap="flat" cmpd="sng">
            <a:solidFill>
              <a:srgbClr val="D3DCEC"/>
            </a:solidFill>
            <a:prstDash val="solid"/>
            <a:round/>
            <a:headEnd type="none" w="sm" len="sm"/>
            <a:tailEnd type="none" w="sm" len="sm"/>
          </a:ln>
        </p:spPr>
      </p:cxnSp>
      <p:cxnSp>
        <p:nvCxnSpPr>
          <p:cNvPr id="402" name="Google Shape;402;p33"/>
          <p:cNvCxnSpPr/>
          <p:nvPr/>
        </p:nvCxnSpPr>
        <p:spPr>
          <a:xfrm>
            <a:off x="480070" y="2229847"/>
            <a:ext cx="5482200" cy="0"/>
          </a:xfrm>
          <a:prstGeom prst="straightConnector1">
            <a:avLst/>
          </a:prstGeom>
          <a:noFill/>
          <a:ln w="12700" cap="flat" cmpd="sng">
            <a:solidFill>
              <a:srgbClr val="D3DCEC"/>
            </a:solidFill>
            <a:prstDash val="solid"/>
            <a:round/>
            <a:headEnd type="none" w="sm" len="sm"/>
            <a:tailEnd type="none" w="sm" len="sm"/>
          </a:ln>
        </p:spPr>
      </p:cxnSp>
      <p:cxnSp>
        <p:nvCxnSpPr>
          <p:cNvPr id="403" name="Google Shape;403;p33"/>
          <p:cNvCxnSpPr/>
          <p:nvPr/>
        </p:nvCxnSpPr>
        <p:spPr>
          <a:xfrm>
            <a:off x="480070" y="3023047"/>
            <a:ext cx="5482200" cy="0"/>
          </a:xfrm>
          <a:prstGeom prst="straightConnector1">
            <a:avLst/>
          </a:prstGeom>
          <a:noFill/>
          <a:ln w="12700" cap="flat" cmpd="sng">
            <a:solidFill>
              <a:srgbClr val="D3DCEC"/>
            </a:solidFill>
            <a:prstDash val="solid"/>
            <a:round/>
            <a:headEnd type="none" w="sm" len="sm"/>
            <a:tailEnd type="none" w="sm" len="sm"/>
          </a:ln>
        </p:spPr>
      </p:cxnSp>
      <p:cxnSp>
        <p:nvCxnSpPr>
          <p:cNvPr id="404" name="Google Shape;404;p33"/>
          <p:cNvCxnSpPr/>
          <p:nvPr/>
        </p:nvCxnSpPr>
        <p:spPr>
          <a:xfrm>
            <a:off x="480070" y="3658522"/>
            <a:ext cx="5482200" cy="0"/>
          </a:xfrm>
          <a:prstGeom prst="straightConnector1">
            <a:avLst/>
          </a:prstGeom>
          <a:noFill/>
          <a:ln w="12700" cap="flat" cmpd="sng">
            <a:solidFill>
              <a:srgbClr val="D3DCEC"/>
            </a:solidFill>
            <a:prstDash val="solid"/>
            <a:round/>
            <a:headEnd type="none" w="sm" len="sm"/>
            <a:tailEnd type="none" w="sm" len="sm"/>
          </a:ln>
        </p:spPr>
      </p:cxnSp>
      <p:cxnSp>
        <p:nvCxnSpPr>
          <p:cNvPr id="405" name="Google Shape;405;p33"/>
          <p:cNvCxnSpPr/>
          <p:nvPr/>
        </p:nvCxnSpPr>
        <p:spPr>
          <a:xfrm>
            <a:off x="480070" y="4293997"/>
            <a:ext cx="5482200" cy="0"/>
          </a:xfrm>
          <a:prstGeom prst="straightConnector1">
            <a:avLst/>
          </a:prstGeom>
          <a:noFill/>
          <a:ln w="12700" cap="flat" cmpd="sng">
            <a:solidFill>
              <a:srgbClr val="D3DCEC"/>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p:nvPr/>
        </p:nvSpPr>
        <p:spPr>
          <a:xfrm>
            <a:off x="480073" y="425196"/>
            <a:ext cx="6858300" cy="20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900"/>
              <a:buFont typeface="Calibri"/>
              <a:buNone/>
            </a:pPr>
            <a:r>
              <a:rPr lang="en" sz="900" b="1">
                <a:solidFill>
                  <a:srgbClr val="2E5AAC"/>
                </a:solidFill>
                <a:latin typeface="Proxima Nova"/>
                <a:ea typeface="Proxima Nova"/>
                <a:cs typeface="Proxima Nova"/>
                <a:sym typeface="Proxima Nova"/>
              </a:rPr>
              <a:t>APPROACH</a:t>
            </a:r>
            <a:endParaRPr sz="900" b="0" i="0" u="none" strike="noStrike" cap="none">
              <a:solidFill>
                <a:schemeClr val="dk1"/>
              </a:solidFill>
              <a:latin typeface="Calibri"/>
              <a:ea typeface="Calibri"/>
              <a:cs typeface="Calibri"/>
              <a:sym typeface="Calibri"/>
            </a:endParaRPr>
          </a:p>
        </p:txBody>
      </p:sp>
      <p:sp>
        <p:nvSpPr>
          <p:cNvPr id="411" name="Google Shape;411;p34"/>
          <p:cNvSpPr/>
          <p:nvPr/>
        </p:nvSpPr>
        <p:spPr>
          <a:xfrm>
            <a:off x="342909" y="606510"/>
            <a:ext cx="8456100" cy="4803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41133"/>
              </a:buClr>
              <a:buSzPts val="2000"/>
              <a:buFont typeface="Arial"/>
              <a:buNone/>
            </a:pPr>
            <a:r>
              <a:rPr lang="en" sz="2000" b="1" i="0" u="none" strike="noStrike" cap="none">
                <a:solidFill>
                  <a:srgbClr val="041133"/>
                </a:solidFill>
                <a:latin typeface="Arial"/>
                <a:ea typeface="Arial"/>
                <a:cs typeface="Arial"/>
                <a:sym typeface="Arial"/>
              </a:rPr>
              <a:t>Six-Phase Migration Plan (~18 Weeks)</a:t>
            </a:r>
            <a:endParaRPr sz="2000" b="0" i="0" u="none" strike="noStrike" cap="none">
              <a:solidFill>
                <a:schemeClr val="dk1"/>
              </a:solidFill>
              <a:latin typeface="Calibri"/>
              <a:ea typeface="Calibri"/>
              <a:cs typeface="Calibri"/>
              <a:sym typeface="Calibri"/>
            </a:endParaRPr>
          </a:p>
        </p:txBody>
      </p:sp>
      <p:sp>
        <p:nvSpPr>
          <p:cNvPr id="412" name="Google Shape;412;p34"/>
          <p:cNvSpPr/>
          <p:nvPr/>
        </p:nvSpPr>
        <p:spPr>
          <a:xfrm>
            <a:off x="342909" y="1141434"/>
            <a:ext cx="8435400" cy="240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626679"/>
              </a:buClr>
              <a:buSzPts val="900"/>
              <a:buFont typeface="Arial"/>
              <a:buNone/>
            </a:pPr>
            <a:r>
              <a:rPr lang="en" sz="900" b="0" i="0" u="none" strike="noStrike" cap="none">
                <a:solidFill>
                  <a:srgbClr val="626679"/>
                </a:solidFill>
                <a:latin typeface="Arial"/>
                <a:ea typeface="Arial"/>
                <a:cs typeface="Arial"/>
                <a:sym typeface="Arial"/>
              </a:rPr>
              <a:t>Proposed plan based on our current understanding of scope and effort. Timing is flexible to Rimage's needs and confirmed during discovery.</a:t>
            </a:r>
            <a:endParaRPr sz="900" b="0" i="0" u="none" strike="noStrike" cap="none">
              <a:solidFill>
                <a:schemeClr val="dk1"/>
              </a:solidFill>
              <a:latin typeface="Calibri"/>
              <a:ea typeface="Calibri"/>
              <a:cs typeface="Calibri"/>
              <a:sym typeface="Calibri"/>
            </a:endParaRPr>
          </a:p>
        </p:txBody>
      </p:sp>
      <p:cxnSp>
        <p:nvCxnSpPr>
          <p:cNvPr id="413" name="Google Shape;413;p34"/>
          <p:cNvCxnSpPr/>
          <p:nvPr/>
        </p:nvCxnSpPr>
        <p:spPr>
          <a:xfrm>
            <a:off x="984721" y="1738080"/>
            <a:ext cx="7172400" cy="0"/>
          </a:xfrm>
          <a:prstGeom prst="straightConnector1">
            <a:avLst/>
          </a:prstGeom>
          <a:noFill/>
          <a:ln w="19050" cap="flat" cmpd="sng">
            <a:solidFill>
              <a:srgbClr val="DDE3F0"/>
            </a:solidFill>
            <a:prstDash val="solid"/>
            <a:round/>
            <a:headEnd type="none" w="sm" len="sm"/>
            <a:tailEnd type="none" w="sm" len="sm"/>
          </a:ln>
        </p:spPr>
      </p:cxnSp>
      <p:sp>
        <p:nvSpPr>
          <p:cNvPr id="414" name="Google Shape;414;p34"/>
          <p:cNvSpPr/>
          <p:nvPr/>
        </p:nvSpPr>
        <p:spPr>
          <a:xfrm>
            <a:off x="833841" y="1587204"/>
            <a:ext cx="301800" cy="301800"/>
          </a:xfrm>
          <a:prstGeom prst="ellipse">
            <a:avLst/>
          </a:prstGeom>
          <a:solidFill>
            <a:srgbClr val="204EC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5" name="Google Shape;415;p34"/>
          <p:cNvSpPr/>
          <p:nvPr/>
        </p:nvSpPr>
        <p:spPr>
          <a:xfrm>
            <a:off x="833841" y="1587204"/>
            <a:ext cx="301800" cy="301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200"/>
              <a:buFont typeface="Arial"/>
              <a:buNone/>
            </a:pPr>
            <a:r>
              <a:rPr lang="en" sz="1200" b="1" i="0" u="none" strike="noStrike" cap="none">
                <a:solidFill>
                  <a:srgbClr val="FFFFFF"/>
                </a:solidFill>
                <a:latin typeface="Arial"/>
                <a:ea typeface="Arial"/>
                <a:cs typeface="Arial"/>
                <a:sym typeface="Arial"/>
              </a:rPr>
              <a:t>1</a:t>
            </a:r>
            <a:endParaRPr sz="1200" b="0" i="0" u="none" strike="noStrike" cap="none">
              <a:solidFill>
                <a:schemeClr val="dk1"/>
              </a:solidFill>
              <a:latin typeface="Calibri"/>
              <a:ea typeface="Calibri"/>
              <a:cs typeface="Calibri"/>
              <a:sym typeface="Calibri"/>
            </a:endParaRPr>
          </a:p>
        </p:txBody>
      </p:sp>
      <p:sp>
        <p:nvSpPr>
          <p:cNvPr id="416" name="Google Shape;416;p34"/>
          <p:cNvSpPr/>
          <p:nvPr/>
        </p:nvSpPr>
        <p:spPr>
          <a:xfrm>
            <a:off x="342909" y="2080980"/>
            <a:ext cx="1283700" cy="2434500"/>
          </a:xfrm>
          <a:prstGeom prst="roundRect">
            <a:avLst>
              <a:gd name="adj" fmla="val 4809"/>
            </a:avLst>
          </a:prstGeom>
          <a:solidFill>
            <a:srgbClr val="FFFFFF"/>
          </a:solidFill>
          <a:ln w="9525" cap="flat" cmpd="sng">
            <a:solidFill>
              <a:srgbClr val="DDE3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7" name="Google Shape;417;p34"/>
          <p:cNvSpPr/>
          <p:nvPr/>
        </p:nvSpPr>
        <p:spPr>
          <a:xfrm>
            <a:off x="342909" y="2080980"/>
            <a:ext cx="1283700" cy="617100"/>
          </a:xfrm>
          <a:prstGeom prst="roundRect">
            <a:avLst>
              <a:gd name="adj" fmla="val 6667"/>
            </a:avLst>
          </a:prstGeom>
          <a:solidFill>
            <a:srgbClr val="204EC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8" name="Google Shape;418;p34"/>
          <p:cNvSpPr/>
          <p:nvPr/>
        </p:nvSpPr>
        <p:spPr>
          <a:xfrm>
            <a:off x="377200" y="2115270"/>
            <a:ext cx="1215000" cy="548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Discovery</a:t>
            </a:r>
            <a:endParaRPr sz="9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&amp; Planning</a:t>
            </a:r>
            <a:endParaRPr sz="900" b="0" i="0" u="none" strike="noStrike" cap="none">
              <a:solidFill>
                <a:schemeClr val="dk1"/>
              </a:solidFill>
              <a:latin typeface="Calibri"/>
              <a:ea typeface="Calibri"/>
              <a:cs typeface="Calibri"/>
              <a:sym typeface="Calibri"/>
            </a:endParaRPr>
          </a:p>
        </p:txBody>
      </p:sp>
      <p:sp>
        <p:nvSpPr>
          <p:cNvPr id="419" name="Google Shape;419;p34"/>
          <p:cNvSpPr/>
          <p:nvPr/>
        </p:nvSpPr>
        <p:spPr>
          <a:xfrm>
            <a:off x="377200" y="2766780"/>
            <a:ext cx="1215000" cy="240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204ECF"/>
              </a:buClr>
              <a:buSzPts val="800"/>
              <a:buFont typeface="Arial"/>
              <a:buNone/>
            </a:pPr>
            <a:r>
              <a:rPr lang="en" sz="800" b="1" i="0" u="none" strike="noStrike" cap="none">
                <a:solidFill>
                  <a:srgbClr val="204ECF"/>
                </a:solidFill>
                <a:latin typeface="Arial"/>
                <a:ea typeface="Arial"/>
                <a:cs typeface="Arial"/>
                <a:sym typeface="Arial"/>
              </a:rPr>
              <a:t>Weeks 1–3</a:t>
            </a:r>
            <a:endParaRPr sz="800" b="0" i="0" u="none" strike="noStrike" cap="none">
              <a:solidFill>
                <a:schemeClr val="dk1"/>
              </a:solidFill>
              <a:latin typeface="Calibri"/>
              <a:ea typeface="Calibri"/>
              <a:cs typeface="Calibri"/>
              <a:sym typeface="Calibri"/>
            </a:endParaRPr>
          </a:p>
        </p:txBody>
      </p:sp>
      <p:sp>
        <p:nvSpPr>
          <p:cNvPr id="420" name="Google Shape;420;p34"/>
          <p:cNvSpPr/>
          <p:nvPr/>
        </p:nvSpPr>
        <p:spPr>
          <a:xfrm>
            <a:off x="438924" y="3054816"/>
            <a:ext cx="1091400" cy="1371600"/>
          </a:xfrm>
          <a:prstGeom prst="rect">
            <a:avLst/>
          </a:prstGeom>
          <a:noFill/>
          <a:ln>
            <a:noFill/>
          </a:ln>
        </p:spPr>
        <p:txBody>
          <a:bodyPr spcFirstLastPara="1" wrap="square" lIns="68575" tIns="34275" rIns="68575" bIns="34275" anchor="t" anchorCtr="0">
            <a:noAutofit/>
          </a:bodyPr>
          <a:lstStyle/>
          <a:p>
            <a:pPr marL="0" marR="0" lvl="0" indent="0" algn="ctr" rtl="0">
              <a:lnSpc>
                <a:spcPct val="112000"/>
              </a:lnSpc>
              <a:spcBef>
                <a:spcPts val="0"/>
              </a:spcBef>
              <a:spcAft>
                <a:spcPts val="0"/>
              </a:spcAft>
              <a:buClr>
                <a:srgbClr val="626679"/>
              </a:buClr>
              <a:buSzPts val="800"/>
              <a:buFont typeface="Arial"/>
              <a:buNone/>
            </a:pPr>
            <a:r>
              <a:rPr lang="en" sz="800" b="0" i="0" u="none" strike="noStrike" cap="none">
                <a:solidFill>
                  <a:srgbClr val="626679"/>
                </a:solidFill>
                <a:latin typeface="Arial"/>
                <a:ea typeface="Arial"/>
                <a:cs typeface="Arial"/>
                <a:sym typeface="Arial"/>
              </a:rPr>
              <a:t>Baseline, dependency mapping, target design, runbooks</a:t>
            </a:r>
            <a:endParaRPr sz="800" b="0" i="0" u="none" strike="noStrike" cap="none">
              <a:solidFill>
                <a:schemeClr val="dk1"/>
              </a:solidFill>
              <a:latin typeface="Calibri"/>
              <a:ea typeface="Calibri"/>
              <a:cs typeface="Calibri"/>
              <a:sym typeface="Calibri"/>
            </a:endParaRPr>
          </a:p>
        </p:txBody>
      </p:sp>
      <p:sp>
        <p:nvSpPr>
          <p:cNvPr id="421" name="Google Shape;421;p34"/>
          <p:cNvSpPr/>
          <p:nvPr/>
        </p:nvSpPr>
        <p:spPr>
          <a:xfrm>
            <a:off x="2268344" y="1587204"/>
            <a:ext cx="301800" cy="301800"/>
          </a:xfrm>
          <a:prstGeom prst="ellipse">
            <a:avLst/>
          </a:prstGeom>
          <a:solidFill>
            <a:srgbClr val="183A9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2" name="Google Shape;422;p34"/>
          <p:cNvSpPr/>
          <p:nvPr/>
        </p:nvSpPr>
        <p:spPr>
          <a:xfrm>
            <a:off x="2268344" y="1587204"/>
            <a:ext cx="301800" cy="301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200"/>
              <a:buFont typeface="Arial"/>
              <a:buNone/>
            </a:pPr>
            <a:r>
              <a:rPr lang="en" sz="1200" b="1" i="0" u="none" strike="noStrike" cap="none">
                <a:solidFill>
                  <a:srgbClr val="FFFFFF"/>
                </a:solidFill>
                <a:latin typeface="Arial"/>
                <a:ea typeface="Arial"/>
                <a:cs typeface="Arial"/>
                <a:sym typeface="Arial"/>
              </a:rPr>
              <a:t>2</a:t>
            </a:r>
            <a:endParaRPr sz="1200" b="0" i="0" u="none" strike="noStrike" cap="none">
              <a:solidFill>
                <a:schemeClr val="dk1"/>
              </a:solidFill>
              <a:latin typeface="Calibri"/>
              <a:ea typeface="Calibri"/>
              <a:cs typeface="Calibri"/>
              <a:sym typeface="Calibri"/>
            </a:endParaRPr>
          </a:p>
        </p:txBody>
      </p:sp>
      <p:sp>
        <p:nvSpPr>
          <p:cNvPr id="423" name="Google Shape;423;p34"/>
          <p:cNvSpPr/>
          <p:nvPr/>
        </p:nvSpPr>
        <p:spPr>
          <a:xfrm>
            <a:off x="1777412" y="2080980"/>
            <a:ext cx="1283700" cy="2434500"/>
          </a:xfrm>
          <a:prstGeom prst="roundRect">
            <a:avLst>
              <a:gd name="adj" fmla="val 4809"/>
            </a:avLst>
          </a:prstGeom>
          <a:solidFill>
            <a:srgbClr val="FFFFFF"/>
          </a:solidFill>
          <a:ln w="9525" cap="flat" cmpd="sng">
            <a:solidFill>
              <a:srgbClr val="DDE3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4" name="Google Shape;424;p34"/>
          <p:cNvSpPr/>
          <p:nvPr/>
        </p:nvSpPr>
        <p:spPr>
          <a:xfrm>
            <a:off x="1777412" y="2080980"/>
            <a:ext cx="1283700" cy="617100"/>
          </a:xfrm>
          <a:prstGeom prst="roundRect">
            <a:avLst>
              <a:gd name="adj" fmla="val 6667"/>
            </a:avLst>
          </a:prstGeom>
          <a:solidFill>
            <a:srgbClr val="183A9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5" name="Google Shape;425;p34"/>
          <p:cNvSpPr/>
          <p:nvPr/>
        </p:nvSpPr>
        <p:spPr>
          <a:xfrm>
            <a:off x="1811703" y="2115270"/>
            <a:ext cx="1215000" cy="548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Build &amp;</a:t>
            </a:r>
            <a:endParaRPr sz="9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Validation</a:t>
            </a:r>
            <a:endParaRPr sz="900" b="0" i="0" u="none" strike="noStrike" cap="none">
              <a:solidFill>
                <a:schemeClr val="dk1"/>
              </a:solidFill>
              <a:latin typeface="Calibri"/>
              <a:ea typeface="Calibri"/>
              <a:cs typeface="Calibri"/>
              <a:sym typeface="Calibri"/>
            </a:endParaRPr>
          </a:p>
        </p:txBody>
      </p:sp>
      <p:sp>
        <p:nvSpPr>
          <p:cNvPr id="426" name="Google Shape;426;p34"/>
          <p:cNvSpPr/>
          <p:nvPr/>
        </p:nvSpPr>
        <p:spPr>
          <a:xfrm>
            <a:off x="1811703" y="2766780"/>
            <a:ext cx="1215000" cy="240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183A9E"/>
              </a:buClr>
              <a:buSzPts val="800"/>
              <a:buFont typeface="Arial"/>
              <a:buNone/>
            </a:pPr>
            <a:r>
              <a:rPr lang="en" sz="800" b="1" i="0" u="none" strike="noStrike" cap="none">
                <a:solidFill>
                  <a:srgbClr val="183A9E"/>
                </a:solidFill>
                <a:latin typeface="Arial"/>
                <a:ea typeface="Arial"/>
                <a:cs typeface="Arial"/>
                <a:sym typeface="Arial"/>
              </a:rPr>
              <a:t>Weeks 4–6</a:t>
            </a:r>
            <a:endParaRPr sz="800" b="0" i="0" u="none" strike="noStrike" cap="none">
              <a:solidFill>
                <a:schemeClr val="dk1"/>
              </a:solidFill>
              <a:latin typeface="Calibri"/>
              <a:ea typeface="Calibri"/>
              <a:cs typeface="Calibri"/>
              <a:sym typeface="Calibri"/>
            </a:endParaRPr>
          </a:p>
        </p:txBody>
      </p:sp>
      <p:sp>
        <p:nvSpPr>
          <p:cNvPr id="427" name="Google Shape;427;p34"/>
          <p:cNvSpPr/>
          <p:nvPr/>
        </p:nvSpPr>
        <p:spPr>
          <a:xfrm>
            <a:off x="1873427" y="3054816"/>
            <a:ext cx="1091400" cy="1371600"/>
          </a:xfrm>
          <a:prstGeom prst="rect">
            <a:avLst/>
          </a:prstGeom>
          <a:noFill/>
          <a:ln>
            <a:noFill/>
          </a:ln>
        </p:spPr>
        <p:txBody>
          <a:bodyPr spcFirstLastPara="1" wrap="square" lIns="68575" tIns="34275" rIns="68575" bIns="34275" anchor="t" anchorCtr="0">
            <a:noAutofit/>
          </a:bodyPr>
          <a:lstStyle/>
          <a:p>
            <a:pPr marL="0" marR="0" lvl="0" indent="0" algn="ctr" rtl="0">
              <a:lnSpc>
                <a:spcPct val="112000"/>
              </a:lnSpc>
              <a:spcBef>
                <a:spcPts val="0"/>
              </a:spcBef>
              <a:spcAft>
                <a:spcPts val="0"/>
              </a:spcAft>
              <a:buClr>
                <a:srgbClr val="626679"/>
              </a:buClr>
              <a:buSzPts val="800"/>
              <a:buFont typeface="Arial"/>
              <a:buNone/>
            </a:pPr>
            <a:r>
              <a:rPr lang="en" sz="800" b="0" i="0" u="none" strike="noStrike" cap="none">
                <a:solidFill>
                  <a:srgbClr val="626679"/>
                </a:solidFill>
                <a:latin typeface="Arial"/>
                <a:ea typeface="Arial"/>
                <a:cs typeface="Arial"/>
                <a:sym typeface="Arial"/>
              </a:rPr>
              <a:t>OCI build, network, security, monitoring, DR readiness</a:t>
            </a:r>
            <a:endParaRPr sz="800" b="0" i="0" u="none" strike="noStrike" cap="none">
              <a:solidFill>
                <a:schemeClr val="dk1"/>
              </a:solidFill>
              <a:latin typeface="Calibri"/>
              <a:ea typeface="Calibri"/>
              <a:cs typeface="Calibri"/>
              <a:sym typeface="Calibri"/>
            </a:endParaRPr>
          </a:p>
        </p:txBody>
      </p:sp>
      <p:sp>
        <p:nvSpPr>
          <p:cNvPr id="428" name="Google Shape;428;p34"/>
          <p:cNvSpPr/>
          <p:nvPr/>
        </p:nvSpPr>
        <p:spPr>
          <a:xfrm>
            <a:off x="3702847" y="1587204"/>
            <a:ext cx="301800" cy="301800"/>
          </a:xfrm>
          <a:prstGeom prst="ellipse">
            <a:avLst/>
          </a:prstGeom>
          <a:solidFill>
            <a:srgbClr val="0E246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9" name="Google Shape;429;p34"/>
          <p:cNvSpPr/>
          <p:nvPr/>
        </p:nvSpPr>
        <p:spPr>
          <a:xfrm>
            <a:off x="3702847" y="1587204"/>
            <a:ext cx="301800" cy="301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200"/>
              <a:buFont typeface="Arial"/>
              <a:buNone/>
            </a:pPr>
            <a:r>
              <a:rPr lang="en" sz="1200" b="1" i="0" u="none" strike="noStrike" cap="none">
                <a:solidFill>
                  <a:srgbClr val="FFFFFF"/>
                </a:solidFill>
                <a:latin typeface="Arial"/>
                <a:ea typeface="Arial"/>
                <a:cs typeface="Arial"/>
                <a:sym typeface="Arial"/>
              </a:rPr>
              <a:t>3</a:t>
            </a:r>
            <a:endParaRPr sz="1200" b="0" i="0" u="none" strike="noStrike" cap="none">
              <a:solidFill>
                <a:schemeClr val="dk1"/>
              </a:solidFill>
              <a:latin typeface="Calibri"/>
              <a:ea typeface="Calibri"/>
              <a:cs typeface="Calibri"/>
              <a:sym typeface="Calibri"/>
            </a:endParaRPr>
          </a:p>
        </p:txBody>
      </p:sp>
      <p:sp>
        <p:nvSpPr>
          <p:cNvPr id="430" name="Google Shape;430;p34"/>
          <p:cNvSpPr/>
          <p:nvPr/>
        </p:nvSpPr>
        <p:spPr>
          <a:xfrm>
            <a:off x="3211916" y="2080980"/>
            <a:ext cx="1283700" cy="2434500"/>
          </a:xfrm>
          <a:prstGeom prst="roundRect">
            <a:avLst>
              <a:gd name="adj" fmla="val 4809"/>
            </a:avLst>
          </a:prstGeom>
          <a:solidFill>
            <a:srgbClr val="FFFFFF"/>
          </a:solidFill>
          <a:ln w="9525" cap="flat" cmpd="sng">
            <a:solidFill>
              <a:srgbClr val="DDE3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1" name="Google Shape;431;p34"/>
          <p:cNvSpPr/>
          <p:nvPr/>
        </p:nvSpPr>
        <p:spPr>
          <a:xfrm>
            <a:off x="3211916" y="2080980"/>
            <a:ext cx="1283700" cy="617100"/>
          </a:xfrm>
          <a:prstGeom prst="roundRect">
            <a:avLst>
              <a:gd name="adj" fmla="val 6667"/>
            </a:avLst>
          </a:prstGeom>
          <a:solidFill>
            <a:srgbClr val="0E246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2" name="Google Shape;432;p34"/>
          <p:cNvSpPr/>
          <p:nvPr/>
        </p:nvSpPr>
        <p:spPr>
          <a:xfrm>
            <a:off x="3246207" y="2115270"/>
            <a:ext cx="1215000" cy="548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Non-Prod</a:t>
            </a:r>
            <a:endParaRPr sz="9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Migration</a:t>
            </a:r>
            <a:endParaRPr sz="900" b="0" i="0" u="none" strike="noStrike" cap="none">
              <a:solidFill>
                <a:schemeClr val="dk1"/>
              </a:solidFill>
              <a:latin typeface="Calibri"/>
              <a:ea typeface="Calibri"/>
              <a:cs typeface="Calibri"/>
              <a:sym typeface="Calibri"/>
            </a:endParaRPr>
          </a:p>
        </p:txBody>
      </p:sp>
      <p:sp>
        <p:nvSpPr>
          <p:cNvPr id="433" name="Google Shape;433;p34"/>
          <p:cNvSpPr/>
          <p:nvPr/>
        </p:nvSpPr>
        <p:spPr>
          <a:xfrm>
            <a:off x="3246207" y="2766780"/>
            <a:ext cx="1215000" cy="240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E246E"/>
              </a:buClr>
              <a:buSzPts val="800"/>
              <a:buFont typeface="Arial"/>
              <a:buNone/>
            </a:pPr>
            <a:r>
              <a:rPr lang="en" sz="800" b="1" i="0" u="none" strike="noStrike" cap="none">
                <a:solidFill>
                  <a:srgbClr val="0E246E"/>
                </a:solidFill>
                <a:latin typeface="Arial"/>
                <a:ea typeface="Arial"/>
                <a:cs typeface="Arial"/>
                <a:sym typeface="Arial"/>
              </a:rPr>
              <a:t>Weeks 7–9</a:t>
            </a:r>
            <a:endParaRPr sz="800" b="0" i="0" u="none" strike="noStrike" cap="none">
              <a:solidFill>
                <a:schemeClr val="dk1"/>
              </a:solidFill>
              <a:latin typeface="Calibri"/>
              <a:ea typeface="Calibri"/>
              <a:cs typeface="Calibri"/>
              <a:sym typeface="Calibri"/>
            </a:endParaRPr>
          </a:p>
        </p:txBody>
      </p:sp>
      <p:sp>
        <p:nvSpPr>
          <p:cNvPr id="434" name="Google Shape;434;p34"/>
          <p:cNvSpPr/>
          <p:nvPr/>
        </p:nvSpPr>
        <p:spPr>
          <a:xfrm>
            <a:off x="3307930" y="3054816"/>
            <a:ext cx="1091400" cy="1371600"/>
          </a:xfrm>
          <a:prstGeom prst="rect">
            <a:avLst/>
          </a:prstGeom>
          <a:noFill/>
          <a:ln>
            <a:noFill/>
          </a:ln>
        </p:spPr>
        <p:txBody>
          <a:bodyPr spcFirstLastPara="1" wrap="square" lIns="68575" tIns="34275" rIns="68575" bIns="34275" anchor="t" anchorCtr="0">
            <a:noAutofit/>
          </a:bodyPr>
          <a:lstStyle/>
          <a:p>
            <a:pPr marL="0" marR="0" lvl="0" indent="0" algn="ctr" rtl="0">
              <a:lnSpc>
                <a:spcPct val="112000"/>
              </a:lnSpc>
              <a:spcBef>
                <a:spcPts val="0"/>
              </a:spcBef>
              <a:spcAft>
                <a:spcPts val="0"/>
              </a:spcAft>
              <a:buClr>
                <a:srgbClr val="626679"/>
              </a:buClr>
              <a:buSzPts val="800"/>
              <a:buFont typeface="Arial"/>
              <a:buNone/>
            </a:pPr>
            <a:r>
              <a:rPr lang="en" sz="800" b="0" i="0" u="none" strike="noStrike" cap="none">
                <a:solidFill>
                  <a:srgbClr val="626679"/>
                </a:solidFill>
                <a:latin typeface="Arial"/>
                <a:ea typeface="Arial"/>
                <a:cs typeface="Arial"/>
                <a:sym typeface="Arial"/>
              </a:rPr>
              <a:t>Migrate dev/test, SQL test, UAT, cutover rehearsal</a:t>
            </a:r>
            <a:endParaRPr sz="800" b="0" i="0" u="none" strike="noStrike" cap="none">
              <a:solidFill>
                <a:schemeClr val="dk1"/>
              </a:solidFill>
              <a:latin typeface="Calibri"/>
              <a:ea typeface="Calibri"/>
              <a:cs typeface="Calibri"/>
              <a:sym typeface="Calibri"/>
            </a:endParaRPr>
          </a:p>
        </p:txBody>
      </p:sp>
      <p:sp>
        <p:nvSpPr>
          <p:cNvPr id="435" name="Google Shape;435;p34"/>
          <p:cNvSpPr/>
          <p:nvPr/>
        </p:nvSpPr>
        <p:spPr>
          <a:xfrm>
            <a:off x="5137350" y="1587204"/>
            <a:ext cx="301800" cy="301800"/>
          </a:xfrm>
          <a:prstGeom prst="ellipse">
            <a:avLst/>
          </a:prstGeom>
          <a:solidFill>
            <a:srgbClr val="204EC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6" name="Google Shape;436;p34"/>
          <p:cNvSpPr/>
          <p:nvPr/>
        </p:nvSpPr>
        <p:spPr>
          <a:xfrm>
            <a:off x="5137350" y="1587204"/>
            <a:ext cx="301800" cy="301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200"/>
              <a:buFont typeface="Arial"/>
              <a:buNone/>
            </a:pPr>
            <a:r>
              <a:rPr lang="en" sz="1200" b="1" i="0" u="none" strike="noStrike" cap="none">
                <a:solidFill>
                  <a:srgbClr val="FFFFFF"/>
                </a:solidFill>
                <a:latin typeface="Arial"/>
                <a:ea typeface="Arial"/>
                <a:cs typeface="Arial"/>
                <a:sym typeface="Arial"/>
              </a:rPr>
              <a:t>4</a:t>
            </a:r>
            <a:endParaRPr sz="1200" b="0" i="0" u="none" strike="noStrike" cap="none">
              <a:solidFill>
                <a:schemeClr val="dk1"/>
              </a:solidFill>
              <a:latin typeface="Calibri"/>
              <a:ea typeface="Calibri"/>
              <a:cs typeface="Calibri"/>
              <a:sym typeface="Calibri"/>
            </a:endParaRPr>
          </a:p>
        </p:txBody>
      </p:sp>
      <p:sp>
        <p:nvSpPr>
          <p:cNvPr id="437" name="Google Shape;437;p34"/>
          <p:cNvSpPr/>
          <p:nvPr/>
        </p:nvSpPr>
        <p:spPr>
          <a:xfrm>
            <a:off x="4646419" y="2080980"/>
            <a:ext cx="1283700" cy="2434500"/>
          </a:xfrm>
          <a:prstGeom prst="roundRect">
            <a:avLst>
              <a:gd name="adj" fmla="val 4809"/>
            </a:avLst>
          </a:prstGeom>
          <a:solidFill>
            <a:srgbClr val="FFFFFF"/>
          </a:solidFill>
          <a:ln w="9525" cap="flat" cmpd="sng">
            <a:solidFill>
              <a:srgbClr val="DDE3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8" name="Google Shape;438;p34"/>
          <p:cNvSpPr/>
          <p:nvPr/>
        </p:nvSpPr>
        <p:spPr>
          <a:xfrm>
            <a:off x="4646419" y="2080980"/>
            <a:ext cx="1283700" cy="617100"/>
          </a:xfrm>
          <a:prstGeom prst="roundRect">
            <a:avLst>
              <a:gd name="adj" fmla="val 6667"/>
            </a:avLst>
          </a:prstGeom>
          <a:solidFill>
            <a:srgbClr val="204EC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9" name="Google Shape;439;p34"/>
          <p:cNvSpPr/>
          <p:nvPr/>
        </p:nvSpPr>
        <p:spPr>
          <a:xfrm>
            <a:off x="4680710" y="2115270"/>
            <a:ext cx="1215000" cy="548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Production</a:t>
            </a:r>
            <a:endParaRPr sz="9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Readiness</a:t>
            </a:r>
            <a:endParaRPr sz="900" b="0" i="0" u="none" strike="noStrike" cap="none">
              <a:solidFill>
                <a:schemeClr val="dk1"/>
              </a:solidFill>
              <a:latin typeface="Calibri"/>
              <a:ea typeface="Calibri"/>
              <a:cs typeface="Calibri"/>
              <a:sym typeface="Calibri"/>
            </a:endParaRPr>
          </a:p>
        </p:txBody>
      </p:sp>
      <p:sp>
        <p:nvSpPr>
          <p:cNvPr id="440" name="Google Shape;440;p34"/>
          <p:cNvSpPr/>
          <p:nvPr/>
        </p:nvSpPr>
        <p:spPr>
          <a:xfrm>
            <a:off x="4680710" y="2766780"/>
            <a:ext cx="1215000" cy="240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204ECF"/>
              </a:buClr>
              <a:buSzPts val="800"/>
              <a:buFont typeface="Arial"/>
              <a:buNone/>
            </a:pPr>
            <a:r>
              <a:rPr lang="en" sz="800" b="1" i="0" u="none" strike="noStrike" cap="none">
                <a:solidFill>
                  <a:srgbClr val="204ECF"/>
                </a:solidFill>
                <a:latin typeface="Arial"/>
                <a:ea typeface="Arial"/>
                <a:cs typeface="Arial"/>
                <a:sym typeface="Arial"/>
              </a:rPr>
              <a:t>Weeks 10–13</a:t>
            </a:r>
            <a:endParaRPr sz="800" b="0" i="0" u="none" strike="noStrike" cap="none">
              <a:solidFill>
                <a:schemeClr val="dk1"/>
              </a:solidFill>
              <a:latin typeface="Calibri"/>
              <a:ea typeface="Calibri"/>
              <a:cs typeface="Calibri"/>
              <a:sym typeface="Calibri"/>
            </a:endParaRPr>
          </a:p>
        </p:txBody>
      </p:sp>
      <p:sp>
        <p:nvSpPr>
          <p:cNvPr id="441" name="Google Shape;441;p34"/>
          <p:cNvSpPr/>
          <p:nvPr/>
        </p:nvSpPr>
        <p:spPr>
          <a:xfrm>
            <a:off x="4742433" y="3054816"/>
            <a:ext cx="1091400" cy="1371600"/>
          </a:xfrm>
          <a:prstGeom prst="rect">
            <a:avLst/>
          </a:prstGeom>
          <a:noFill/>
          <a:ln>
            <a:noFill/>
          </a:ln>
        </p:spPr>
        <p:txBody>
          <a:bodyPr spcFirstLastPara="1" wrap="square" lIns="68575" tIns="34275" rIns="68575" bIns="34275" anchor="t" anchorCtr="0">
            <a:noAutofit/>
          </a:bodyPr>
          <a:lstStyle/>
          <a:p>
            <a:pPr marL="0" marR="0" lvl="0" indent="0" algn="ctr" rtl="0">
              <a:lnSpc>
                <a:spcPct val="112000"/>
              </a:lnSpc>
              <a:spcBef>
                <a:spcPts val="0"/>
              </a:spcBef>
              <a:spcAft>
                <a:spcPts val="0"/>
              </a:spcAft>
              <a:buClr>
                <a:srgbClr val="626679"/>
              </a:buClr>
              <a:buSzPts val="800"/>
              <a:buFont typeface="Arial"/>
              <a:buNone/>
            </a:pPr>
            <a:r>
              <a:rPr lang="en" sz="800" b="0" i="0" u="none" strike="noStrike" cap="none">
                <a:solidFill>
                  <a:srgbClr val="626679"/>
                </a:solidFill>
                <a:latin typeface="Arial"/>
                <a:ea typeface="Arial"/>
                <a:cs typeface="Arial"/>
                <a:sym typeface="Arial"/>
              </a:rPr>
              <a:t>Rehearsals, parallel validation, go-live approval</a:t>
            </a:r>
            <a:endParaRPr sz="800" b="0" i="0" u="none" strike="noStrike" cap="none">
              <a:solidFill>
                <a:schemeClr val="dk1"/>
              </a:solidFill>
              <a:latin typeface="Calibri"/>
              <a:ea typeface="Calibri"/>
              <a:cs typeface="Calibri"/>
              <a:sym typeface="Calibri"/>
            </a:endParaRPr>
          </a:p>
        </p:txBody>
      </p:sp>
      <p:sp>
        <p:nvSpPr>
          <p:cNvPr id="442" name="Google Shape;442;p34"/>
          <p:cNvSpPr/>
          <p:nvPr/>
        </p:nvSpPr>
        <p:spPr>
          <a:xfrm>
            <a:off x="6571854" y="1587204"/>
            <a:ext cx="301800" cy="301800"/>
          </a:xfrm>
          <a:prstGeom prst="ellipse">
            <a:avLst/>
          </a:prstGeom>
          <a:solidFill>
            <a:srgbClr val="183A9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3" name="Google Shape;443;p34"/>
          <p:cNvSpPr/>
          <p:nvPr/>
        </p:nvSpPr>
        <p:spPr>
          <a:xfrm>
            <a:off x="6571854" y="1587204"/>
            <a:ext cx="301800" cy="301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200"/>
              <a:buFont typeface="Arial"/>
              <a:buNone/>
            </a:pPr>
            <a:r>
              <a:rPr lang="en" sz="1200" b="1" i="0" u="none" strike="noStrike" cap="none">
                <a:solidFill>
                  <a:srgbClr val="FFFFFF"/>
                </a:solidFill>
                <a:latin typeface="Arial"/>
                <a:ea typeface="Arial"/>
                <a:cs typeface="Arial"/>
                <a:sym typeface="Arial"/>
              </a:rPr>
              <a:t>5</a:t>
            </a:r>
            <a:endParaRPr sz="1200" b="0" i="0" u="none" strike="noStrike" cap="none">
              <a:solidFill>
                <a:schemeClr val="dk1"/>
              </a:solidFill>
              <a:latin typeface="Calibri"/>
              <a:ea typeface="Calibri"/>
              <a:cs typeface="Calibri"/>
              <a:sym typeface="Calibri"/>
            </a:endParaRPr>
          </a:p>
        </p:txBody>
      </p:sp>
      <p:sp>
        <p:nvSpPr>
          <p:cNvPr id="444" name="Google Shape;444;p34"/>
          <p:cNvSpPr/>
          <p:nvPr/>
        </p:nvSpPr>
        <p:spPr>
          <a:xfrm>
            <a:off x="6080922" y="2080980"/>
            <a:ext cx="1283700" cy="2434500"/>
          </a:xfrm>
          <a:prstGeom prst="roundRect">
            <a:avLst>
              <a:gd name="adj" fmla="val 4809"/>
            </a:avLst>
          </a:prstGeom>
          <a:solidFill>
            <a:srgbClr val="FFFFFF"/>
          </a:solidFill>
          <a:ln w="9525" cap="flat" cmpd="sng">
            <a:solidFill>
              <a:srgbClr val="DDE3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5" name="Google Shape;445;p34"/>
          <p:cNvSpPr/>
          <p:nvPr/>
        </p:nvSpPr>
        <p:spPr>
          <a:xfrm>
            <a:off x="6080922" y="2080980"/>
            <a:ext cx="1283700" cy="617100"/>
          </a:xfrm>
          <a:prstGeom prst="roundRect">
            <a:avLst>
              <a:gd name="adj" fmla="val 6667"/>
            </a:avLst>
          </a:prstGeom>
          <a:solidFill>
            <a:srgbClr val="183A9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6" name="Google Shape;446;p34"/>
          <p:cNvSpPr/>
          <p:nvPr/>
        </p:nvSpPr>
        <p:spPr>
          <a:xfrm>
            <a:off x="6115213" y="2115270"/>
            <a:ext cx="1215000" cy="548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Production</a:t>
            </a:r>
            <a:endParaRPr sz="9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Cutover</a:t>
            </a:r>
            <a:endParaRPr sz="900" b="0" i="0" u="none" strike="noStrike" cap="none">
              <a:solidFill>
                <a:schemeClr val="dk1"/>
              </a:solidFill>
              <a:latin typeface="Calibri"/>
              <a:ea typeface="Calibri"/>
              <a:cs typeface="Calibri"/>
              <a:sym typeface="Calibri"/>
            </a:endParaRPr>
          </a:p>
        </p:txBody>
      </p:sp>
      <p:sp>
        <p:nvSpPr>
          <p:cNvPr id="447" name="Google Shape;447;p34"/>
          <p:cNvSpPr/>
          <p:nvPr/>
        </p:nvSpPr>
        <p:spPr>
          <a:xfrm>
            <a:off x="6115213" y="2766780"/>
            <a:ext cx="1215000" cy="240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183A9E"/>
              </a:buClr>
              <a:buSzPts val="800"/>
              <a:buFont typeface="Arial"/>
              <a:buNone/>
            </a:pPr>
            <a:r>
              <a:rPr lang="en" sz="800" b="1" i="0" u="none" strike="noStrike" cap="none">
                <a:solidFill>
                  <a:srgbClr val="183A9E"/>
                </a:solidFill>
                <a:latin typeface="Arial"/>
                <a:ea typeface="Arial"/>
                <a:cs typeface="Arial"/>
                <a:sym typeface="Arial"/>
              </a:rPr>
              <a:t>Week 14</a:t>
            </a:r>
            <a:endParaRPr sz="800" b="0" i="0" u="none" strike="noStrike" cap="none">
              <a:solidFill>
                <a:schemeClr val="dk1"/>
              </a:solidFill>
              <a:latin typeface="Calibri"/>
              <a:ea typeface="Calibri"/>
              <a:cs typeface="Calibri"/>
              <a:sym typeface="Calibri"/>
            </a:endParaRPr>
          </a:p>
        </p:txBody>
      </p:sp>
      <p:sp>
        <p:nvSpPr>
          <p:cNvPr id="448" name="Google Shape;448;p34"/>
          <p:cNvSpPr/>
          <p:nvPr/>
        </p:nvSpPr>
        <p:spPr>
          <a:xfrm>
            <a:off x="6176937" y="3054816"/>
            <a:ext cx="1091400" cy="1371600"/>
          </a:xfrm>
          <a:prstGeom prst="rect">
            <a:avLst/>
          </a:prstGeom>
          <a:noFill/>
          <a:ln>
            <a:noFill/>
          </a:ln>
        </p:spPr>
        <p:txBody>
          <a:bodyPr spcFirstLastPara="1" wrap="square" lIns="68575" tIns="34275" rIns="68575" bIns="34275" anchor="t" anchorCtr="0">
            <a:noAutofit/>
          </a:bodyPr>
          <a:lstStyle/>
          <a:p>
            <a:pPr marL="0" marR="0" lvl="0" indent="0" algn="ctr" rtl="0">
              <a:lnSpc>
                <a:spcPct val="112000"/>
              </a:lnSpc>
              <a:spcBef>
                <a:spcPts val="0"/>
              </a:spcBef>
              <a:spcAft>
                <a:spcPts val="0"/>
              </a:spcAft>
              <a:buClr>
                <a:srgbClr val="626679"/>
              </a:buClr>
              <a:buSzPts val="800"/>
              <a:buFont typeface="Arial"/>
              <a:buNone/>
            </a:pPr>
            <a:r>
              <a:rPr lang="en" sz="800" b="0" i="0" u="none" strike="noStrike" cap="none">
                <a:solidFill>
                  <a:srgbClr val="626679"/>
                </a:solidFill>
                <a:latin typeface="Arial"/>
                <a:ea typeface="Arial"/>
                <a:cs typeface="Arial"/>
                <a:sym typeface="Arial"/>
              </a:rPr>
              <a:t>Final sync, weekend cutover, go-live acceptance</a:t>
            </a:r>
            <a:endParaRPr sz="800" b="0" i="0" u="none" strike="noStrike" cap="none">
              <a:solidFill>
                <a:schemeClr val="dk1"/>
              </a:solidFill>
              <a:latin typeface="Calibri"/>
              <a:ea typeface="Calibri"/>
              <a:cs typeface="Calibri"/>
              <a:sym typeface="Calibri"/>
            </a:endParaRPr>
          </a:p>
        </p:txBody>
      </p:sp>
      <p:sp>
        <p:nvSpPr>
          <p:cNvPr id="449" name="Google Shape;449;p34"/>
          <p:cNvSpPr/>
          <p:nvPr/>
        </p:nvSpPr>
        <p:spPr>
          <a:xfrm>
            <a:off x="8006357" y="1587204"/>
            <a:ext cx="301800" cy="301800"/>
          </a:xfrm>
          <a:prstGeom prst="ellipse">
            <a:avLst/>
          </a:prstGeom>
          <a:solidFill>
            <a:srgbClr val="25A9E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0" name="Google Shape;450;p34"/>
          <p:cNvSpPr/>
          <p:nvPr/>
        </p:nvSpPr>
        <p:spPr>
          <a:xfrm>
            <a:off x="8006357" y="1587204"/>
            <a:ext cx="301800" cy="301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1200"/>
              <a:buFont typeface="Arial"/>
              <a:buNone/>
            </a:pPr>
            <a:r>
              <a:rPr lang="en" sz="1200" b="1" i="0" u="none" strike="noStrike" cap="none">
                <a:solidFill>
                  <a:srgbClr val="FFFFFF"/>
                </a:solidFill>
                <a:latin typeface="Arial"/>
                <a:ea typeface="Arial"/>
                <a:cs typeface="Arial"/>
                <a:sym typeface="Arial"/>
              </a:rPr>
              <a:t>6</a:t>
            </a:r>
            <a:endParaRPr sz="1200" b="0" i="0" u="none" strike="noStrike" cap="none">
              <a:solidFill>
                <a:schemeClr val="dk1"/>
              </a:solidFill>
              <a:latin typeface="Calibri"/>
              <a:ea typeface="Calibri"/>
              <a:cs typeface="Calibri"/>
              <a:sym typeface="Calibri"/>
            </a:endParaRPr>
          </a:p>
        </p:txBody>
      </p:sp>
      <p:sp>
        <p:nvSpPr>
          <p:cNvPr id="451" name="Google Shape;451;p34"/>
          <p:cNvSpPr/>
          <p:nvPr/>
        </p:nvSpPr>
        <p:spPr>
          <a:xfrm>
            <a:off x="7515425" y="2080980"/>
            <a:ext cx="1283700" cy="2434500"/>
          </a:xfrm>
          <a:prstGeom prst="roundRect">
            <a:avLst>
              <a:gd name="adj" fmla="val 4809"/>
            </a:avLst>
          </a:prstGeom>
          <a:solidFill>
            <a:srgbClr val="FFFFFF"/>
          </a:solidFill>
          <a:ln w="9525" cap="flat" cmpd="sng">
            <a:solidFill>
              <a:srgbClr val="DDE3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 name="Google Shape;452;p34"/>
          <p:cNvSpPr/>
          <p:nvPr/>
        </p:nvSpPr>
        <p:spPr>
          <a:xfrm>
            <a:off x="7515425" y="2080980"/>
            <a:ext cx="1283700" cy="617100"/>
          </a:xfrm>
          <a:prstGeom prst="roundRect">
            <a:avLst>
              <a:gd name="adj" fmla="val 6667"/>
            </a:avLst>
          </a:prstGeom>
          <a:solidFill>
            <a:srgbClr val="25A9E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3" name="Google Shape;453;p34"/>
          <p:cNvSpPr/>
          <p:nvPr/>
        </p:nvSpPr>
        <p:spPr>
          <a:xfrm>
            <a:off x="7549716" y="2115270"/>
            <a:ext cx="1215000" cy="548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Hypercare &amp;</a:t>
            </a:r>
            <a:endParaRPr sz="9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900"/>
              <a:buFont typeface="Arial"/>
              <a:buNone/>
            </a:pPr>
            <a:r>
              <a:rPr lang="en" sz="900" b="1" i="0" u="none" strike="noStrike" cap="none">
                <a:solidFill>
                  <a:srgbClr val="FFFFFF"/>
                </a:solidFill>
                <a:latin typeface="Arial"/>
                <a:ea typeface="Arial"/>
                <a:cs typeface="Arial"/>
                <a:sym typeface="Arial"/>
              </a:rPr>
              <a:t>Stabilization</a:t>
            </a:r>
            <a:endParaRPr sz="900" b="0" i="0" u="none" strike="noStrike" cap="none">
              <a:solidFill>
                <a:schemeClr val="dk1"/>
              </a:solidFill>
              <a:latin typeface="Calibri"/>
              <a:ea typeface="Calibri"/>
              <a:cs typeface="Calibri"/>
              <a:sym typeface="Calibri"/>
            </a:endParaRPr>
          </a:p>
        </p:txBody>
      </p:sp>
      <p:sp>
        <p:nvSpPr>
          <p:cNvPr id="454" name="Google Shape;454;p34"/>
          <p:cNvSpPr/>
          <p:nvPr/>
        </p:nvSpPr>
        <p:spPr>
          <a:xfrm>
            <a:off x="7549716" y="2766780"/>
            <a:ext cx="1215000" cy="2400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25A9EE"/>
              </a:buClr>
              <a:buSzPts val="800"/>
              <a:buFont typeface="Arial"/>
              <a:buNone/>
            </a:pPr>
            <a:r>
              <a:rPr lang="en" sz="800" b="1" i="0" u="none" strike="noStrike" cap="none">
                <a:solidFill>
                  <a:srgbClr val="25A9EE"/>
                </a:solidFill>
                <a:latin typeface="Arial"/>
                <a:ea typeface="Arial"/>
                <a:cs typeface="Arial"/>
                <a:sym typeface="Arial"/>
              </a:rPr>
              <a:t>Weeks 15–18</a:t>
            </a:r>
            <a:endParaRPr sz="800" b="0" i="0" u="none" strike="noStrike" cap="none">
              <a:solidFill>
                <a:schemeClr val="dk1"/>
              </a:solidFill>
              <a:latin typeface="Calibri"/>
              <a:ea typeface="Calibri"/>
              <a:cs typeface="Calibri"/>
              <a:sym typeface="Calibri"/>
            </a:endParaRPr>
          </a:p>
        </p:txBody>
      </p:sp>
      <p:sp>
        <p:nvSpPr>
          <p:cNvPr id="455" name="Google Shape;455;p34"/>
          <p:cNvSpPr/>
          <p:nvPr/>
        </p:nvSpPr>
        <p:spPr>
          <a:xfrm>
            <a:off x="7611440" y="3054816"/>
            <a:ext cx="1091400" cy="1371600"/>
          </a:xfrm>
          <a:prstGeom prst="rect">
            <a:avLst/>
          </a:prstGeom>
          <a:noFill/>
          <a:ln>
            <a:noFill/>
          </a:ln>
        </p:spPr>
        <p:txBody>
          <a:bodyPr spcFirstLastPara="1" wrap="square" lIns="68575" tIns="34275" rIns="68575" bIns="34275" anchor="t" anchorCtr="0">
            <a:noAutofit/>
          </a:bodyPr>
          <a:lstStyle/>
          <a:p>
            <a:pPr marL="0" marR="0" lvl="0" indent="0" algn="ctr" rtl="0">
              <a:lnSpc>
                <a:spcPct val="112000"/>
              </a:lnSpc>
              <a:spcBef>
                <a:spcPts val="0"/>
              </a:spcBef>
              <a:spcAft>
                <a:spcPts val="0"/>
              </a:spcAft>
              <a:buClr>
                <a:srgbClr val="626679"/>
              </a:buClr>
              <a:buSzPts val="800"/>
              <a:buFont typeface="Arial"/>
              <a:buNone/>
            </a:pPr>
            <a:r>
              <a:rPr lang="en" sz="800" b="0" i="0" u="none" strike="noStrike" cap="none">
                <a:solidFill>
                  <a:srgbClr val="626679"/>
                </a:solidFill>
                <a:latin typeface="Arial"/>
                <a:ea typeface="Arial"/>
                <a:cs typeface="Arial"/>
                <a:sym typeface="Arial"/>
              </a:rPr>
              <a:t>Enhanced support, optimization, steady-state handoff</a:t>
            </a:r>
            <a:endParaRPr sz="800" b="0" i="0" u="none" strike="noStrike" cap="none">
              <a:solidFill>
                <a:schemeClr val="dk1"/>
              </a:solidFill>
              <a:latin typeface="Calibri"/>
              <a:ea typeface="Calibri"/>
              <a:cs typeface="Calibri"/>
              <a:sym typeface="Calibri"/>
            </a:endParaRPr>
          </a:p>
        </p:txBody>
      </p:sp>
      <p:sp>
        <p:nvSpPr>
          <p:cNvPr id="456" name="Google Shape;456;p34"/>
          <p:cNvSpPr/>
          <p:nvPr/>
        </p:nvSpPr>
        <p:spPr>
          <a:xfrm>
            <a:off x="342909" y="4652730"/>
            <a:ext cx="891600" cy="240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41133"/>
              </a:buClr>
              <a:buSzPts val="800"/>
              <a:buFont typeface="Arial"/>
              <a:buNone/>
            </a:pPr>
            <a:r>
              <a:rPr lang="en" sz="800" b="1" i="0" u="none" strike="noStrike" cap="none">
                <a:solidFill>
                  <a:srgbClr val="041133"/>
                </a:solidFill>
                <a:latin typeface="Arial"/>
                <a:ea typeface="Arial"/>
                <a:cs typeface="Arial"/>
                <a:sym typeface="Arial"/>
              </a:rPr>
              <a:t>Milestones:</a:t>
            </a:r>
            <a:endParaRPr sz="800" b="0" i="0" u="none" strike="noStrike" cap="none">
              <a:solidFill>
                <a:schemeClr val="dk1"/>
              </a:solidFill>
              <a:latin typeface="Calibri"/>
              <a:ea typeface="Calibri"/>
              <a:cs typeface="Calibri"/>
              <a:sym typeface="Calibri"/>
            </a:endParaRPr>
          </a:p>
        </p:txBody>
      </p:sp>
      <p:sp>
        <p:nvSpPr>
          <p:cNvPr id="457" name="Google Shape;457;p34"/>
          <p:cNvSpPr/>
          <p:nvPr/>
        </p:nvSpPr>
        <p:spPr>
          <a:xfrm>
            <a:off x="1165891" y="4652730"/>
            <a:ext cx="7544100" cy="2400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204ECF"/>
              </a:buClr>
              <a:buSzPts val="800"/>
              <a:buFont typeface="Arial"/>
              <a:buNone/>
            </a:pPr>
            <a:r>
              <a:rPr lang="en" sz="800" b="1" i="0" u="none" strike="noStrike" cap="none">
                <a:solidFill>
                  <a:srgbClr val="204ECF"/>
                </a:solidFill>
                <a:latin typeface="Arial"/>
                <a:ea typeface="Arial"/>
                <a:cs typeface="Arial"/>
                <a:sym typeface="Arial"/>
              </a:rPr>
              <a:t>◆ Non-Prod Validation Complete    </a:t>
            </a:r>
            <a:r>
              <a:rPr lang="en" sz="800" b="1" i="0" u="none" strike="noStrike" cap="none">
                <a:solidFill>
                  <a:srgbClr val="183A9E"/>
                </a:solidFill>
                <a:latin typeface="Arial"/>
                <a:ea typeface="Arial"/>
                <a:cs typeface="Arial"/>
                <a:sym typeface="Arial"/>
              </a:rPr>
              <a:t>◆ Production Environment Operational    </a:t>
            </a:r>
            <a:r>
              <a:rPr lang="en" sz="800" b="1" i="0" u="none" strike="noStrike" cap="none">
                <a:solidFill>
                  <a:srgbClr val="25A9EE"/>
                </a:solidFill>
                <a:latin typeface="Arial"/>
                <a:ea typeface="Arial"/>
                <a:cs typeface="Arial"/>
                <a:sym typeface="Arial"/>
              </a:rPr>
              <a:t>◆ Transition to Steady-State</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2"/>
        <p:cNvGrpSpPr/>
        <p:nvPr/>
      </p:nvGrpSpPr>
      <p:grpSpPr>
        <a:xfrm>
          <a:off x="0" y="0"/>
          <a:ext cx="0" cy="0"/>
          <a:chOff x="0" y="0"/>
          <a:chExt cx="0" cy="0"/>
        </a:xfrm>
      </p:grpSpPr>
      <p:sp>
        <p:nvSpPr>
          <p:cNvPr id="463" name="Google Shape;463;p35"/>
          <p:cNvSpPr/>
          <p:nvPr/>
        </p:nvSpPr>
        <p:spPr>
          <a:xfrm>
            <a:off x="480073" y="425196"/>
            <a:ext cx="6858300" cy="20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5AAC"/>
              </a:buClr>
              <a:buSzPts val="900"/>
              <a:buFont typeface="Calibri"/>
              <a:buNone/>
            </a:pPr>
            <a:r>
              <a:rPr lang="en" sz="900" b="1">
                <a:solidFill>
                  <a:srgbClr val="2E5AAC"/>
                </a:solidFill>
                <a:latin typeface="Proxima Nova"/>
                <a:ea typeface="Proxima Nova"/>
                <a:cs typeface="Proxima Nova"/>
                <a:sym typeface="Proxima Nova"/>
              </a:rPr>
              <a:t>PATH FORWARD</a:t>
            </a:r>
            <a:endParaRPr sz="900" b="0" i="0" u="none" strike="noStrike" cap="none">
              <a:solidFill>
                <a:schemeClr val="dk1"/>
              </a:solidFill>
              <a:latin typeface="Calibri"/>
              <a:ea typeface="Calibri"/>
              <a:cs typeface="Calibri"/>
              <a:sym typeface="Calibri"/>
            </a:endParaRPr>
          </a:p>
        </p:txBody>
      </p:sp>
      <p:sp>
        <p:nvSpPr>
          <p:cNvPr id="464" name="Google Shape;464;p35"/>
          <p:cNvSpPr/>
          <p:nvPr/>
        </p:nvSpPr>
        <p:spPr>
          <a:xfrm>
            <a:off x="480073" y="1234440"/>
            <a:ext cx="685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890"/>
              </a:buClr>
              <a:buSzPts val="1100"/>
              <a:buFont typeface="Calibri"/>
              <a:buNone/>
            </a:pPr>
            <a:r>
              <a:rPr lang="en" sz="1100">
                <a:solidFill>
                  <a:srgbClr val="041133"/>
                </a:solidFill>
                <a:latin typeface="Proxima Nova"/>
                <a:ea typeface="Proxima Nova"/>
                <a:cs typeface="Proxima Nova"/>
                <a:sym typeface="Proxima Nova"/>
              </a:rPr>
              <a:t>What needs to happen in the next few days.</a:t>
            </a:r>
            <a:endParaRPr sz="1100">
              <a:solidFill>
                <a:srgbClr val="041133"/>
              </a:solidFill>
              <a:latin typeface="Proxima Nova"/>
              <a:ea typeface="Proxima Nova"/>
              <a:cs typeface="Proxima Nova"/>
              <a:sym typeface="Proxima Nova"/>
            </a:endParaRPr>
          </a:p>
        </p:txBody>
      </p:sp>
      <p:sp>
        <p:nvSpPr>
          <p:cNvPr id="465" name="Google Shape;465;p35"/>
          <p:cNvSpPr txBox="1">
            <a:spLocks noGrp="1"/>
          </p:cNvSpPr>
          <p:nvPr>
            <p:ph type="ctrTitle" idx="4294967295"/>
          </p:nvPr>
        </p:nvSpPr>
        <p:spPr>
          <a:xfrm>
            <a:off x="480076" y="734900"/>
            <a:ext cx="8023800" cy="2910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2400"/>
              <a:buFont typeface="Montserrat"/>
              <a:buNone/>
            </a:pPr>
            <a:r>
              <a:rPr lang="en"/>
              <a:t>Next Steps</a:t>
            </a:r>
            <a:endParaRPr sz="2400">
              <a:latin typeface="Proxima Nova"/>
              <a:ea typeface="Proxima Nova"/>
              <a:cs typeface="Proxima Nova"/>
              <a:sym typeface="Proxima Nova"/>
            </a:endParaRPr>
          </a:p>
        </p:txBody>
      </p:sp>
      <p:graphicFrame>
        <p:nvGraphicFramePr>
          <p:cNvPr id="466" name="Google Shape;466;p35"/>
          <p:cNvGraphicFramePr/>
          <p:nvPr/>
        </p:nvGraphicFramePr>
        <p:xfrm>
          <a:off x="657773" y="1748790"/>
          <a:ext cx="3000000" cy="3000000"/>
        </p:xfrm>
        <a:graphic>
          <a:graphicData uri="http://schemas.openxmlformats.org/drawingml/2006/table">
            <a:tbl>
              <a:tblPr>
                <a:noFill/>
                <a:tableStyleId>{F0867A2D-8EFE-4BD8-9A43-5C0CBFDE5C42}</a:tableStyleId>
              </a:tblPr>
              <a:tblGrid>
                <a:gridCol w="1580325">
                  <a:extLst>
                    <a:ext uri="{9D8B030D-6E8A-4147-A177-3AD203B41FA5}">
                      <a16:colId xmlns:a16="http://schemas.microsoft.com/office/drawing/2014/main" val="20000"/>
                    </a:ext>
                  </a:extLst>
                </a:gridCol>
                <a:gridCol w="4914975">
                  <a:extLst>
                    <a:ext uri="{9D8B030D-6E8A-4147-A177-3AD203B41FA5}">
                      <a16:colId xmlns:a16="http://schemas.microsoft.com/office/drawing/2014/main" val="20001"/>
                    </a:ext>
                  </a:extLst>
                </a:gridCol>
                <a:gridCol w="1508800">
                  <a:extLst>
                    <a:ext uri="{9D8B030D-6E8A-4147-A177-3AD203B41FA5}">
                      <a16:colId xmlns:a16="http://schemas.microsoft.com/office/drawing/2014/main" val="20002"/>
                    </a:ext>
                  </a:extLst>
                </a:gridCol>
              </a:tblGrid>
              <a:tr h="440050">
                <a:tc>
                  <a:txBody>
                    <a:bodyPr/>
                    <a:lstStyle/>
                    <a:p>
                      <a:pPr marL="0" marR="0" lvl="0" indent="0" algn="l" rtl="0">
                        <a:spcBef>
                          <a:spcPts val="0"/>
                        </a:spcBef>
                        <a:spcAft>
                          <a:spcPts val="0"/>
                        </a:spcAft>
                        <a:buClr>
                          <a:srgbClr val="FFFFFF"/>
                        </a:buClr>
                        <a:buSzPts val="1000"/>
                        <a:buFont typeface="Calibri"/>
                        <a:buNone/>
                      </a:pPr>
                      <a:r>
                        <a:rPr lang="en" sz="1100" b="1" u="none" strike="noStrike" cap="none">
                          <a:solidFill>
                            <a:srgbClr val="FFFFFF"/>
                          </a:solidFill>
                          <a:latin typeface="Proxima Nova"/>
                          <a:ea typeface="Proxima Nova"/>
                          <a:cs typeface="Proxima Nova"/>
                          <a:sym typeface="Proxima Nova"/>
                        </a:rPr>
                        <a:t>Owner</a:t>
                      </a:r>
                      <a:endParaRPr sz="1100" u="none" strike="noStrike" cap="none">
                        <a:latin typeface="Proxima Nova"/>
                        <a:ea typeface="Proxima Nova"/>
                        <a:cs typeface="Proxima Nova"/>
                        <a:sym typeface="Proxima Nova"/>
                      </a:endParaRPr>
                    </a:p>
                  </a:txBody>
                  <a:tcPr marL="68600" marR="68600" marT="34300" marB="34300" anchor="ctr">
                    <a:lnL w="9525" cap="flat" cmpd="sng">
                      <a:solidFill>
                        <a:srgbClr val="D3DCEC"/>
                      </a:solidFill>
                      <a:prstDash val="solid"/>
                      <a:round/>
                      <a:headEnd type="none" w="sm" len="sm"/>
                      <a:tailEnd type="none" w="sm" len="sm"/>
                    </a:lnL>
                    <a:lnR w="9525" cap="flat" cmpd="sng">
                      <a:solidFill>
                        <a:srgbClr val="D3DCEC"/>
                      </a:solidFill>
                      <a:prstDash val="solid"/>
                      <a:round/>
                      <a:headEnd type="none" w="sm" len="sm"/>
                      <a:tailEnd type="none" w="sm" len="sm"/>
                    </a:lnR>
                    <a:lnT w="9525"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Clr>
                          <a:srgbClr val="FFFFFF"/>
                        </a:buClr>
                        <a:buSzPts val="1000"/>
                        <a:buFont typeface="Calibri"/>
                        <a:buNone/>
                      </a:pPr>
                      <a:r>
                        <a:rPr lang="en" sz="1100" b="1" u="none" strike="noStrike" cap="none">
                          <a:solidFill>
                            <a:srgbClr val="FFFFFF"/>
                          </a:solidFill>
                          <a:latin typeface="Proxima Nova"/>
                          <a:ea typeface="Proxima Nova"/>
                          <a:cs typeface="Proxima Nova"/>
                          <a:sym typeface="Proxima Nova"/>
                        </a:rPr>
                        <a:t>Action</a:t>
                      </a:r>
                      <a:endParaRPr sz="1100" u="none" strike="noStrike" cap="none">
                        <a:latin typeface="Proxima Nova"/>
                        <a:ea typeface="Proxima Nova"/>
                        <a:cs typeface="Proxima Nova"/>
                        <a:sym typeface="Proxima Nova"/>
                      </a:endParaRPr>
                    </a:p>
                  </a:txBody>
                  <a:tcPr marL="68600" marR="68600" marT="34300" marB="34300" anchor="ctr">
                    <a:lnL w="9525" cap="flat" cmpd="sng">
                      <a:solidFill>
                        <a:srgbClr val="D3DCEC"/>
                      </a:solidFill>
                      <a:prstDash val="solid"/>
                      <a:round/>
                      <a:headEnd type="none" w="sm" len="sm"/>
                      <a:tailEnd type="none" w="sm" len="sm"/>
                    </a:lnL>
                    <a:lnR w="9525" cap="flat" cmpd="sng">
                      <a:solidFill>
                        <a:srgbClr val="D3DCEC"/>
                      </a:solidFill>
                      <a:prstDash val="solid"/>
                      <a:round/>
                      <a:headEnd type="none" w="sm" len="sm"/>
                      <a:tailEnd type="none" w="sm" len="sm"/>
                    </a:lnR>
                    <a:lnT w="9525"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Clr>
                          <a:srgbClr val="FFFFFF"/>
                        </a:buClr>
                        <a:buSzPts val="1000"/>
                        <a:buFont typeface="Calibri"/>
                        <a:buNone/>
                      </a:pPr>
                      <a:r>
                        <a:rPr lang="en" sz="1100" b="1" u="none" strike="noStrike" cap="none">
                          <a:solidFill>
                            <a:srgbClr val="FFFFFF"/>
                          </a:solidFill>
                          <a:latin typeface="Proxima Nova"/>
                          <a:ea typeface="Proxima Nova"/>
                          <a:cs typeface="Proxima Nova"/>
                          <a:sym typeface="Proxima Nova"/>
                        </a:rPr>
                        <a:t>Due</a:t>
                      </a:r>
                      <a:endParaRPr sz="1100" u="none" strike="noStrike" cap="none">
                        <a:latin typeface="Proxima Nova"/>
                        <a:ea typeface="Proxima Nova"/>
                        <a:cs typeface="Proxima Nova"/>
                        <a:sym typeface="Proxima Nova"/>
                      </a:endParaRPr>
                    </a:p>
                  </a:txBody>
                  <a:tcPr marL="68600" marR="68600" marT="34300" marB="34300" anchor="ctr">
                    <a:lnL w="9525" cap="flat" cmpd="sng">
                      <a:solidFill>
                        <a:srgbClr val="D3DCEC"/>
                      </a:solidFill>
                      <a:prstDash val="solid"/>
                      <a:round/>
                      <a:headEnd type="none" w="sm" len="sm"/>
                      <a:tailEnd type="none" w="sm" len="sm"/>
                    </a:lnL>
                    <a:lnR w="9525" cap="flat" cmpd="sng">
                      <a:solidFill>
                        <a:srgbClr val="D3DCEC"/>
                      </a:solidFill>
                      <a:prstDash val="solid"/>
                      <a:round/>
                      <a:headEnd type="none" w="sm" len="sm"/>
                      <a:tailEnd type="none" w="sm" len="sm"/>
                    </a:lnR>
                    <a:lnT w="9525"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77100">
                <a:tc>
                  <a:txBody>
                    <a:bodyPr/>
                    <a:lstStyle/>
                    <a:p>
                      <a:pPr marL="0" marR="0" lvl="0" indent="0" algn="l" rtl="0">
                        <a:spcBef>
                          <a:spcPts val="0"/>
                        </a:spcBef>
                        <a:spcAft>
                          <a:spcPts val="0"/>
                        </a:spcAft>
                        <a:buClr>
                          <a:srgbClr val="14264D"/>
                        </a:buClr>
                        <a:buSzPts val="1250"/>
                        <a:buFont typeface="Calibri"/>
                        <a:buNone/>
                      </a:pPr>
                      <a:r>
                        <a:rPr lang="en" sz="1000" b="1" u="none" strike="noStrike" cap="none">
                          <a:solidFill>
                            <a:srgbClr val="14264D"/>
                          </a:solidFill>
                          <a:latin typeface="Proxima Nova"/>
                          <a:ea typeface="Proxima Nova"/>
                          <a:cs typeface="Proxima Nova"/>
                          <a:sym typeface="Proxima Nova"/>
                        </a:rPr>
                        <a:t>[Client]</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C63"/>
                        </a:buClr>
                        <a:buSzPts val="1250"/>
                        <a:buFont typeface="Calibri"/>
                        <a:buNone/>
                      </a:pPr>
                      <a:r>
                        <a:rPr lang="en" sz="1000" u="none" strike="noStrike" cap="none">
                          <a:solidFill>
                            <a:srgbClr val="3F4C63"/>
                          </a:solidFill>
                          <a:latin typeface="Proxima Nova"/>
                          <a:ea typeface="Proxima Nova"/>
                          <a:cs typeface="Proxima Nova"/>
                          <a:sym typeface="Proxima Nova"/>
                        </a:rPr>
                        <a:t>Provide access to [system / data / environment]</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C63"/>
                        </a:buClr>
                        <a:buSzPts val="1250"/>
                        <a:buFont typeface="Calibri"/>
                        <a:buNone/>
                      </a:pPr>
                      <a:r>
                        <a:rPr lang="en" sz="1000" u="none" strike="noStrike" cap="none">
                          <a:solidFill>
                            <a:srgbClr val="3F4C63"/>
                          </a:solidFill>
                          <a:latin typeface="Proxima Nova"/>
                          <a:ea typeface="Proxima Nova"/>
                          <a:cs typeface="Proxima Nova"/>
                          <a:sym typeface="Proxima Nova"/>
                        </a:rPr>
                        <a:t>[Date]</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77100">
                <a:tc>
                  <a:txBody>
                    <a:bodyPr/>
                    <a:lstStyle/>
                    <a:p>
                      <a:pPr marL="0" marR="0" lvl="0" indent="0" algn="l" rtl="0">
                        <a:spcBef>
                          <a:spcPts val="0"/>
                        </a:spcBef>
                        <a:spcAft>
                          <a:spcPts val="0"/>
                        </a:spcAft>
                        <a:buClr>
                          <a:srgbClr val="14264D"/>
                        </a:buClr>
                        <a:buSzPts val="1250"/>
                        <a:buFont typeface="Calibri"/>
                        <a:buNone/>
                      </a:pPr>
                      <a:r>
                        <a:rPr lang="en" sz="1000" b="1" u="none" strike="noStrike" cap="none">
                          <a:solidFill>
                            <a:srgbClr val="14264D"/>
                          </a:solidFill>
                          <a:latin typeface="Proxima Nova"/>
                          <a:ea typeface="Proxima Nova"/>
                          <a:cs typeface="Proxima Nova"/>
                          <a:sym typeface="Proxima Nova"/>
                        </a:rPr>
                        <a:t>[Toptal]</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EEF2F9"/>
                    </a:solidFill>
                  </a:tcPr>
                </a:tc>
                <a:tc>
                  <a:txBody>
                    <a:bodyPr/>
                    <a:lstStyle/>
                    <a:p>
                      <a:pPr marL="0" marR="0" lvl="0" indent="0" algn="l" rtl="0">
                        <a:spcBef>
                          <a:spcPts val="0"/>
                        </a:spcBef>
                        <a:spcAft>
                          <a:spcPts val="0"/>
                        </a:spcAft>
                        <a:buClr>
                          <a:srgbClr val="3F4C63"/>
                        </a:buClr>
                        <a:buSzPts val="1250"/>
                        <a:buFont typeface="Calibri"/>
                        <a:buNone/>
                      </a:pPr>
                      <a:r>
                        <a:rPr lang="en" sz="1000" u="none" strike="noStrike" cap="none">
                          <a:solidFill>
                            <a:srgbClr val="3F4C63"/>
                          </a:solidFill>
                          <a:latin typeface="Proxima Nova"/>
                          <a:ea typeface="Proxima Nova"/>
                          <a:cs typeface="Proxima Nova"/>
                          <a:sym typeface="Proxima Nova"/>
                        </a:rPr>
                        <a:t>Finalize the Project Success Agreement with the sponsor</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EEF2F9"/>
                    </a:solidFill>
                  </a:tcPr>
                </a:tc>
                <a:tc>
                  <a:txBody>
                    <a:bodyPr/>
                    <a:lstStyle/>
                    <a:p>
                      <a:pPr marL="0" marR="0" lvl="0" indent="0" algn="l" rtl="0">
                        <a:spcBef>
                          <a:spcPts val="0"/>
                        </a:spcBef>
                        <a:spcAft>
                          <a:spcPts val="0"/>
                        </a:spcAft>
                        <a:buClr>
                          <a:srgbClr val="3F4C63"/>
                        </a:buClr>
                        <a:buSzPts val="1250"/>
                        <a:buFont typeface="Calibri"/>
                        <a:buNone/>
                      </a:pPr>
                      <a:r>
                        <a:rPr lang="en" sz="1000" u="none" strike="noStrike" cap="none">
                          <a:solidFill>
                            <a:srgbClr val="3F4C63"/>
                          </a:solidFill>
                          <a:latin typeface="Proxima Nova"/>
                          <a:ea typeface="Proxima Nova"/>
                          <a:cs typeface="Proxima Nova"/>
                          <a:sym typeface="Proxima Nova"/>
                        </a:rPr>
                        <a:t>[Date]</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EEF2F9"/>
                    </a:solidFill>
                  </a:tcPr>
                </a:tc>
                <a:extLst>
                  <a:ext uri="{0D108BD9-81ED-4DB2-BD59-A6C34878D82A}">
                    <a16:rowId xmlns:a16="http://schemas.microsoft.com/office/drawing/2014/main" val="10002"/>
                  </a:ext>
                </a:extLst>
              </a:tr>
              <a:tr h="477100">
                <a:tc>
                  <a:txBody>
                    <a:bodyPr/>
                    <a:lstStyle/>
                    <a:p>
                      <a:pPr marL="0" marR="0" lvl="0" indent="0" algn="l" rtl="0">
                        <a:spcBef>
                          <a:spcPts val="0"/>
                        </a:spcBef>
                        <a:spcAft>
                          <a:spcPts val="0"/>
                        </a:spcAft>
                        <a:buClr>
                          <a:srgbClr val="14264D"/>
                        </a:buClr>
                        <a:buSzPts val="1250"/>
                        <a:buFont typeface="Calibri"/>
                        <a:buNone/>
                      </a:pPr>
                      <a:r>
                        <a:rPr lang="en" sz="1000" b="1" u="none" strike="noStrike" cap="none">
                          <a:solidFill>
                            <a:srgbClr val="14264D"/>
                          </a:solidFill>
                          <a:latin typeface="Proxima Nova"/>
                          <a:ea typeface="Proxima Nova"/>
                          <a:cs typeface="Proxima Nova"/>
                          <a:sym typeface="Proxima Nova"/>
                        </a:rPr>
                        <a:t>[Client]</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C63"/>
                        </a:buClr>
                        <a:buSzPts val="1250"/>
                        <a:buFont typeface="Calibri"/>
                        <a:buNone/>
                      </a:pPr>
                      <a:r>
                        <a:rPr lang="en" sz="1000" u="none" strike="noStrike" cap="none">
                          <a:solidFill>
                            <a:srgbClr val="3F4C63"/>
                          </a:solidFill>
                          <a:latin typeface="Proxima Nova"/>
                          <a:ea typeface="Proxima Nova"/>
                          <a:cs typeface="Proxima Nova"/>
                          <a:sym typeface="Proxima Nova"/>
                        </a:rPr>
                        <a:t>Confirm named reviewer(s) for approvals</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C63"/>
                        </a:buClr>
                        <a:buSzPts val="1250"/>
                        <a:buFont typeface="Calibri"/>
                        <a:buNone/>
                      </a:pPr>
                      <a:r>
                        <a:rPr lang="en" sz="1000" u="none" strike="noStrike" cap="none">
                          <a:solidFill>
                            <a:srgbClr val="3F4C63"/>
                          </a:solidFill>
                          <a:latin typeface="Proxima Nova"/>
                          <a:ea typeface="Proxima Nova"/>
                          <a:cs typeface="Proxima Nova"/>
                          <a:sym typeface="Proxima Nova"/>
                        </a:rPr>
                        <a:t>[Date]</a:t>
                      </a:r>
                      <a:endParaRPr sz="1000" u="none" strike="noStrike" cap="none">
                        <a:latin typeface="Proxima Nova"/>
                        <a:ea typeface="Proxima Nova"/>
                        <a:cs typeface="Proxima Nova"/>
                        <a:sym typeface="Proxima Nova"/>
                      </a:endParaRPr>
                    </a:p>
                  </a:txBody>
                  <a:tcPr marL="91450" marR="91450" marT="45725" marB="45725" anchor="ctr">
                    <a:lnL w="12700" cap="flat" cmpd="sng">
                      <a:solidFill>
                        <a:srgbClr val="D3DCEC"/>
                      </a:solidFill>
                      <a:prstDash val="solid"/>
                      <a:round/>
                      <a:headEnd type="none" w="sm" len="sm"/>
                      <a:tailEnd type="none" w="sm" len="sm"/>
                    </a:lnL>
                    <a:lnR w="12700" cap="flat" cmpd="sng">
                      <a:solidFill>
                        <a:srgbClr val="D3DCEC"/>
                      </a:solidFill>
                      <a:prstDash val="solid"/>
                      <a:round/>
                      <a:headEnd type="none" w="sm" len="sm"/>
                      <a:tailEnd type="none" w="sm" len="sm"/>
                    </a:lnR>
                    <a:lnT w="12700" cap="flat" cmpd="sng">
                      <a:solidFill>
                        <a:srgbClr val="D3DCEC"/>
                      </a:solidFill>
                      <a:prstDash val="solid"/>
                      <a:round/>
                      <a:headEnd type="none" w="sm" len="sm"/>
                      <a:tailEnd type="none" w="sm" len="sm"/>
                    </a:lnT>
                    <a:lnB w="12700" cap="flat" cmpd="sng">
                      <a:solidFill>
                        <a:srgbClr val="D3DCEC"/>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Toptal">
      <a:dk1>
        <a:srgbClr val="041133"/>
      </a:dk1>
      <a:lt1>
        <a:srgbClr val="FFFFFF"/>
      </a:lt1>
      <a:dk2>
        <a:srgbClr val="626679"/>
      </a:dk2>
      <a:lt2>
        <a:srgbClr val="F4F6FB"/>
      </a:lt2>
      <a:accent1>
        <a:srgbClr val="204ECF"/>
      </a:accent1>
      <a:accent2>
        <a:srgbClr val="183A9E"/>
      </a:accent2>
      <a:accent3>
        <a:srgbClr val="0E246E"/>
      </a:accent3>
      <a:accent4>
        <a:srgbClr val="25A9EE"/>
      </a:accent4>
      <a:accent5>
        <a:srgbClr val="1F4ECE"/>
      </a:accent5>
      <a:accent6>
        <a:srgbClr val="0E246E"/>
      </a:accent6>
      <a:hlink>
        <a:srgbClr val="1F4ECE"/>
      </a:hlink>
      <a:folHlink>
        <a:srgbClr val="18399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2314</Words>
  <Application>Microsoft Office PowerPoint</Application>
  <PresentationFormat>On-screen Show (16:9)</PresentationFormat>
  <Paragraphs>321</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Proxima Nova Semibold</vt:lpstr>
      <vt:lpstr>Open Sans</vt:lpstr>
      <vt:lpstr>Calibri</vt:lpstr>
      <vt:lpstr>Inter</vt:lpstr>
      <vt:lpstr>Plus Jakarta Sans</vt:lpstr>
      <vt:lpstr>Proxima Nova</vt:lpstr>
      <vt:lpstr>Montserrat</vt:lpstr>
      <vt:lpstr>Arial</vt:lpstr>
      <vt:lpstr>Office Theme</vt:lpstr>
      <vt:lpstr>[Client Name] [Project Name] Governance Kickoff </vt:lpstr>
      <vt:lpstr>PowerPoint Presentation</vt:lpstr>
      <vt:lpstr>How Toptal Projects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Details</vt:lpstr>
      <vt:lpstr>The people delivering this project</vt:lpstr>
      <vt:lpstr>Why we’re here</vt:lpstr>
      <vt:lpstr>Solution Overview</vt:lpstr>
      <vt:lpstr>PowerPoint Presentation</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James Mora</cp:lastModifiedBy>
  <cp:revision>1</cp:revision>
  <dcterms:modified xsi:type="dcterms:W3CDTF">2026-10-31T01:31:58Z</dcterms:modified>
</cp:coreProperties>
</file>