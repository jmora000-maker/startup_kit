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Proxima Nova"/>
      <p:regular r:id="rId23"/>
      <p:bold r:id="rId24"/>
      <p:italic r:id="rId25"/>
      <p:boldItalic r:id="rId26"/>
    </p:embeddedFont>
    <p:embeddedFont>
      <p:font typeface="Montserrat"/>
      <p:bold r:id="rId27"/>
      <p:boldItalic r:id="rId28"/>
    </p:embeddedFont>
    <p:embeddedFont>
      <p:font typeface="Proxima Nova Semibold"/>
      <p:regular r:id="rId29"/>
      <p:bold r:id="rId30"/>
      <p:boldItalic r:id="rId31"/>
    </p:embeddedFont>
    <p:embeddedFont>
      <p:font typeface="Open Sans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55">
          <p15:clr>
            <a:srgbClr val="747775"/>
          </p15:clr>
        </p15:guide>
        <p15:guide id="2" orient="horz" pos="864">
          <p15:clr>
            <a:srgbClr val="747775"/>
          </p15:clr>
        </p15:guide>
        <p15:guide id="3" orient="horz" pos="998">
          <p15:clr>
            <a:srgbClr val="747775"/>
          </p15:clr>
        </p15:guide>
        <p15:guide id="4" pos="420">
          <p15:clr>
            <a:srgbClr val="747775"/>
          </p15:clr>
        </p15:guide>
        <p15:guide id="5" orient="horz" pos="764">
          <p15:clr>
            <a:srgbClr val="747775"/>
          </p15:clr>
        </p15:guide>
        <p15:guide id="6" orient="horz" pos="117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48CED7-A0B8-4A06-85AC-5F1379CAB3A5}">
  <a:tblStyle styleId="{E948CED7-A0B8-4A06-85AC-5F1379CAB3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5" orient="horz"/>
        <p:guide pos="864" orient="horz"/>
        <p:guide pos="998" orient="horz"/>
        <p:guide pos="420"/>
        <p:guide pos="764" orient="horz"/>
        <p:guide pos="117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ProximaNova-bold.fntdata"/><Relationship Id="rId23" Type="http://schemas.openxmlformats.org/officeDocument/2006/relationships/font" Target="fonts/ProximaNova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roximaNova-boldItalic.fntdata"/><Relationship Id="rId25" Type="http://schemas.openxmlformats.org/officeDocument/2006/relationships/font" Target="fonts/ProximaNova-italic.fntdata"/><Relationship Id="rId28" Type="http://schemas.openxmlformats.org/officeDocument/2006/relationships/font" Target="fonts/Montserrat-boldItalic.fntdata"/><Relationship Id="rId27" Type="http://schemas.openxmlformats.org/officeDocument/2006/relationships/font" Target="fonts/Montserra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roximaNovaSemibol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roximaNovaSemibold-boldItalic.fntdata"/><Relationship Id="rId30" Type="http://schemas.openxmlformats.org/officeDocument/2006/relationships/font" Target="fonts/ProximaNovaSemibold-bold.fntdata"/><Relationship Id="rId11" Type="http://schemas.openxmlformats.org/officeDocument/2006/relationships/slide" Target="slides/slide5.xml"/><Relationship Id="rId33" Type="http://schemas.openxmlformats.org/officeDocument/2006/relationships/font" Target="fonts/OpenSans-bold.fntdata"/><Relationship Id="rId10" Type="http://schemas.openxmlformats.org/officeDocument/2006/relationships/slide" Target="slides/slide4.xml"/><Relationship Id="rId32" Type="http://schemas.openxmlformats.org/officeDocument/2006/relationships/font" Target="fonts/OpenSans-regular.fntdata"/><Relationship Id="rId13" Type="http://schemas.openxmlformats.org/officeDocument/2006/relationships/slide" Target="slides/slide7.xml"/><Relationship Id="rId35" Type="http://schemas.openxmlformats.org/officeDocument/2006/relationships/font" Target="fonts/OpenSans-boldItalic.fntdata"/><Relationship Id="rId12" Type="http://schemas.openxmlformats.org/officeDocument/2006/relationships/slide" Target="slides/slide6.xml"/><Relationship Id="rId34" Type="http://schemas.openxmlformats.org/officeDocument/2006/relationships/font" Target="fonts/OpenSans-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2dc226b82_0_46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f2dc226b82_0_46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03aceb6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f03aceb6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Table Slides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Severity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03aceb631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03aceb631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Table Slides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Severity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011b280258_0_25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011b280258_0_25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4bdcfafbd_0_271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g3f4bdcfafbd_0_271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169" name="Google Shape;169;g3f4bdcfafbd_0_271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4bdcfafbd_0_3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f4bdcfafbd_0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4bdcfafbd_0_5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4bdcfafbd_0_5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03aceb631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f03aceb631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Table Slides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Severity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4bdcfafbd_0_11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g3f4bdcfafbd_0_11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4bdcfafbd_0_1185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g3f4bdcfafbd_0_1185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256" name="Google Shape;256;g3f4bdcfafbd_0_1185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4bdcfafbd_0_604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g3f4bdcfafbd_0_604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276" name="Google Shape;276;g3f4bdcfafbd_0_604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f4bdcfafbd_0_689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g3f4bdcfafbd_0_689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307" name="Google Shape;307;g3f4bdcfafbd_0_689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dcfafbd_0_723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g3f4bdcfafbd_0_723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316" name="Google Shape;316;g3f4bdcfafbd_0_723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4bdcfafbd_0_6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4bdcfafbd_0_6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4bdcfafbd_0_615:notes"/>
          <p:cNvSpPr/>
          <p:nvPr>
            <p:ph idx="2" type="sldImg"/>
          </p:nvPr>
        </p:nvSpPr>
        <p:spPr>
          <a:xfrm>
            <a:off x="685727" y="857273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g3f4bdcfafbd_0_615:notes"/>
          <p:cNvSpPr txBox="1"/>
          <p:nvPr>
            <p:ph idx="1" type="body"/>
          </p:nvPr>
        </p:nvSpPr>
        <p:spPr>
          <a:xfrm>
            <a:off x="685800" y="3300500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Walk each answer aloud and ask the client to confirm or correct. Capture changes live. This is where alignment actually happens — do not rush it. Anything that shifts scope, timeline, or the exclusions gets logged; the PM codifies the final wording with the sponsor after kickoff and secures approval before Discovery.</a:t>
            </a:r>
            <a:endParaRPr/>
          </a:p>
        </p:txBody>
      </p:sp>
      <p:sp>
        <p:nvSpPr>
          <p:cNvPr id="340" name="Google Shape;340;g3f4bdcfafbd_0_615:notes"/>
          <p:cNvSpPr txBox="1"/>
          <p:nvPr>
            <p:ph idx="12" type="sldNum"/>
          </p:nvPr>
        </p:nvSpPr>
        <p:spPr>
          <a:xfrm>
            <a:off x="3884613" y="6514083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f4bdcfafbd_0_9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f4bdcfafbd_0_9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itle Slide ">
  <p:cSld name="24_Title Slid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09835" y="4754928"/>
            <a:ext cx="2859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55"/>
            <a:ext cx="9144001" cy="5140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675" y="419000"/>
            <a:ext cx="1180749" cy="33555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/>
          <p:nvPr>
            <p:ph type="title"/>
          </p:nvPr>
        </p:nvSpPr>
        <p:spPr>
          <a:xfrm>
            <a:off x="343675" y="2907450"/>
            <a:ext cx="3016200" cy="819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Proxima Nova"/>
              <a:buNone/>
              <a:defRPr sz="26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51170" y="2571750"/>
            <a:ext cx="3016200" cy="335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Proxima Nova"/>
              <a:buNone/>
              <a:defRPr sz="1300">
                <a:solidFill>
                  <a:schemeClr val="lt1"/>
                </a:solidFill>
              </a:defRPr>
            </a:lvl1pPr>
            <a:lvl2pPr lvl="1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7" name="Google Shape;17;p2"/>
          <p:cNvCxnSpPr/>
          <p:nvPr/>
        </p:nvCxnSpPr>
        <p:spPr>
          <a:xfrm>
            <a:off x="443130" y="4044275"/>
            <a:ext cx="89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" name="Google Shape;18;p2"/>
          <p:cNvSpPr txBox="1"/>
          <p:nvPr>
            <p:ph idx="2" type="subTitle"/>
          </p:nvPr>
        </p:nvSpPr>
        <p:spPr>
          <a:xfrm>
            <a:off x="366160" y="4153150"/>
            <a:ext cx="3016200" cy="335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Proxima Nova"/>
              <a:buNone/>
              <a:defRPr b="1" sz="1300">
                <a:solidFill>
                  <a:schemeClr val="accent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1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9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8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6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itle Slide-Var 1">
  <p:cSld name="24_Title Slide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 b="0" l="367" r="367" t="0"/>
          <a:stretch/>
        </p:blipFill>
        <p:spPr>
          <a:xfrm>
            <a:off x="0" y="-38100"/>
            <a:ext cx="9144005" cy="518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675" y="419000"/>
            <a:ext cx="1180749" cy="33555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343675" y="2907450"/>
            <a:ext cx="3016200" cy="819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Proxima Nova"/>
              <a:buNone/>
              <a:defRPr sz="26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subTitle"/>
          </p:nvPr>
        </p:nvSpPr>
        <p:spPr>
          <a:xfrm>
            <a:off x="351170" y="2571750"/>
            <a:ext cx="3016200" cy="335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Proxima Nova"/>
              <a:buNone/>
              <a:defRPr sz="1300">
                <a:solidFill>
                  <a:schemeClr val="lt1"/>
                </a:solidFill>
              </a:defRPr>
            </a:lvl1pPr>
            <a:lvl2pPr lvl="1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" name="Google Shape;24;p3"/>
          <p:cNvCxnSpPr/>
          <p:nvPr/>
        </p:nvCxnSpPr>
        <p:spPr>
          <a:xfrm>
            <a:off x="443130" y="4044275"/>
            <a:ext cx="89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" name="Google Shape;25;p3"/>
          <p:cNvSpPr txBox="1"/>
          <p:nvPr>
            <p:ph idx="2" type="subTitle"/>
          </p:nvPr>
        </p:nvSpPr>
        <p:spPr>
          <a:xfrm>
            <a:off x="366160" y="4153150"/>
            <a:ext cx="3016200" cy="335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Proxima Nova"/>
              <a:buNone/>
              <a:defRPr b="1" sz="1300">
                <a:solidFill>
                  <a:schemeClr val="accent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1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9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8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6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40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Template">
  <p:cSld name="Approach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1200150" y="1103700"/>
            <a:ext cx="56493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>
            <p:ph idx="2" type="pic"/>
          </p:nvPr>
        </p:nvSpPr>
        <p:spPr>
          <a:xfrm>
            <a:off x="284356" y="0"/>
            <a:ext cx="8859600" cy="5143500"/>
          </a:xfrm>
          <a:prstGeom prst="rect">
            <a:avLst/>
          </a:prstGeom>
          <a:solidFill>
            <a:srgbClr val="CFD9F7"/>
          </a:solidFill>
          <a:ln>
            <a:noFill/>
          </a:ln>
        </p:spPr>
      </p:sp>
      <p:sp>
        <p:nvSpPr>
          <p:cNvPr id="30" name="Google Shape;30;p5"/>
          <p:cNvSpPr txBox="1"/>
          <p:nvPr>
            <p:ph type="ctrTitle"/>
          </p:nvPr>
        </p:nvSpPr>
        <p:spPr>
          <a:xfrm>
            <a:off x="1200150" y="2023849"/>
            <a:ext cx="46818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Montserrat"/>
              <a:buNone/>
              <a:defRPr b="1" sz="33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1_Title Slide">
  <p:cSld name="111_Title Slide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oogle Shape;32;p6"/>
          <p:cNvGrpSpPr/>
          <p:nvPr/>
        </p:nvGrpSpPr>
        <p:grpSpPr>
          <a:xfrm>
            <a:off x="3190559" y="0"/>
            <a:ext cx="5953432" cy="5143500"/>
            <a:chOff x="4254079" y="0"/>
            <a:chExt cx="7937909" cy="6858000"/>
          </a:xfrm>
        </p:grpSpPr>
        <p:sp>
          <p:nvSpPr>
            <p:cNvPr id="33" name="Google Shape;33;p6"/>
            <p:cNvSpPr/>
            <p:nvPr/>
          </p:nvSpPr>
          <p:spPr>
            <a:xfrm>
              <a:off x="4590288" y="0"/>
              <a:ext cx="7601700" cy="685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4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" name="Google Shape;34;p6"/>
            <p:cNvSpPr/>
            <p:nvPr/>
          </p:nvSpPr>
          <p:spPr>
            <a:xfrm>
              <a:off x="4254079" y="2574262"/>
              <a:ext cx="672300" cy="67230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75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0_Title Slide 1">
  <p:cSld name="111_Title Slide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7"/>
          <p:cNvGrpSpPr/>
          <p:nvPr/>
        </p:nvGrpSpPr>
        <p:grpSpPr>
          <a:xfrm>
            <a:off x="4977122" y="0"/>
            <a:ext cx="4166950" cy="5143500"/>
            <a:chOff x="6636162" y="0"/>
            <a:chExt cx="5555934" cy="6858000"/>
          </a:xfrm>
        </p:grpSpPr>
        <p:sp>
          <p:nvSpPr>
            <p:cNvPr id="37" name="Google Shape;37;p7"/>
            <p:cNvSpPr/>
            <p:nvPr/>
          </p:nvSpPr>
          <p:spPr>
            <a:xfrm>
              <a:off x="6972396" y="0"/>
              <a:ext cx="5219700" cy="685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4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" name="Google Shape;38;p7"/>
            <p:cNvSpPr/>
            <p:nvPr/>
          </p:nvSpPr>
          <p:spPr>
            <a:xfrm>
              <a:off x="6636162" y="2574262"/>
              <a:ext cx="672300" cy="67230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75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3_Title Slide">
  <p:cSld name="133_Title Slid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/>
          <p:nvPr/>
        </p:nvSpPr>
        <p:spPr>
          <a:xfrm>
            <a:off x="3442716" y="0"/>
            <a:ext cx="5701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2">
  <p:cSld name="29_Title Slide_1_3_1_1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Google Shape;43;p9"/>
          <p:cNvSpPr/>
          <p:nvPr>
            <p:ph idx="2" type="pic"/>
          </p:nvPr>
        </p:nvSpPr>
        <p:spPr>
          <a:xfrm>
            <a:off x="4461374" y="1200150"/>
            <a:ext cx="1816500" cy="18165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9"/>
          <p:cNvSpPr/>
          <p:nvPr>
            <p:ph idx="3" type="pic"/>
          </p:nvPr>
        </p:nvSpPr>
        <p:spPr>
          <a:xfrm>
            <a:off x="6503606" y="1200150"/>
            <a:ext cx="1816500" cy="1816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3">
  <p:cSld name="29_Title Slide_1_3_1_2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10"/>
          <p:cNvSpPr/>
          <p:nvPr>
            <p:ph idx="2" type="pic"/>
          </p:nvPr>
        </p:nvSpPr>
        <p:spPr>
          <a:xfrm>
            <a:off x="4009850" y="1200150"/>
            <a:ext cx="1418100" cy="1418100"/>
          </a:xfrm>
          <a:prstGeom prst="rect">
            <a:avLst/>
          </a:prstGeom>
          <a:noFill/>
          <a:ln>
            <a:noFill/>
          </a:ln>
        </p:spPr>
      </p:sp>
      <p:sp>
        <p:nvSpPr>
          <p:cNvPr id="48" name="Google Shape;48;p10"/>
          <p:cNvSpPr/>
          <p:nvPr>
            <p:ph idx="3" type="pic"/>
          </p:nvPr>
        </p:nvSpPr>
        <p:spPr>
          <a:xfrm>
            <a:off x="5604202" y="1200150"/>
            <a:ext cx="1418100" cy="14181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/>
          <p:nvPr>
            <p:ph idx="4" type="pic"/>
          </p:nvPr>
        </p:nvSpPr>
        <p:spPr>
          <a:xfrm>
            <a:off x="7198553" y="1200150"/>
            <a:ext cx="1418100" cy="141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4">
  <p:cSld name="29_Title Slide_1_4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11"/>
          <p:cNvSpPr/>
          <p:nvPr>
            <p:ph idx="2" type="pic"/>
          </p:nvPr>
        </p:nvSpPr>
        <p:spPr>
          <a:xfrm>
            <a:off x="4857225" y="698300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11"/>
          <p:cNvSpPr/>
          <p:nvPr>
            <p:ph idx="3" type="pic"/>
          </p:nvPr>
        </p:nvSpPr>
        <p:spPr>
          <a:xfrm>
            <a:off x="6571189" y="698300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54" name="Google Shape;54;p11"/>
          <p:cNvSpPr/>
          <p:nvPr>
            <p:ph idx="4" type="pic"/>
          </p:nvPr>
        </p:nvSpPr>
        <p:spPr>
          <a:xfrm>
            <a:off x="4857225" y="2819943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11"/>
          <p:cNvSpPr/>
          <p:nvPr>
            <p:ph idx="5" type="pic"/>
          </p:nvPr>
        </p:nvSpPr>
        <p:spPr>
          <a:xfrm>
            <a:off x="6571189" y="2819943"/>
            <a:ext cx="1377000" cy="1377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5">
  <p:cSld name="29_Title Slide_1_3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2"/>
          <p:cNvSpPr/>
          <p:nvPr>
            <p:ph idx="2" type="pic"/>
          </p:nvPr>
        </p:nvSpPr>
        <p:spPr>
          <a:xfrm>
            <a:off x="4213225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2"/>
          <p:cNvSpPr/>
          <p:nvPr>
            <p:ph idx="3" type="pic"/>
          </p:nvPr>
        </p:nvSpPr>
        <p:spPr>
          <a:xfrm>
            <a:off x="5637150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2"/>
          <p:cNvSpPr/>
          <p:nvPr>
            <p:ph idx="4" type="pic"/>
          </p:nvPr>
        </p:nvSpPr>
        <p:spPr>
          <a:xfrm>
            <a:off x="7061075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2"/>
          <p:cNvSpPr/>
          <p:nvPr>
            <p:ph idx="5" type="pic"/>
          </p:nvPr>
        </p:nvSpPr>
        <p:spPr>
          <a:xfrm>
            <a:off x="4925188" y="2649725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/>
          <p:nvPr>
            <p:ph idx="6" type="pic"/>
          </p:nvPr>
        </p:nvSpPr>
        <p:spPr>
          <a:xfrm>
            <a:off x="6349113" y="2649725"/>
            <a:ext cx="1266600" cy="1266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6 ">
  <p:cSld name="29_Title Slide_1_5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3"/>
          <p:cNvSpPr/>
          <p:nvPr>
            <p:ph idx="2" type="pic"/>
          </p:nvPr>
        </p:nvSpPr>
        <p:spPr>
          <a:xfrm>
            <a:off x="4213225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3"/>
          <p:cNvSpPr/>
          <p:nvPr>
            <p:ph idx="3" type="pic"/>
          </p:nvPr>
        </p:nvSpPr>
        <p:spPr>
          <a:xfrm>
            <a:off x="5637150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3"/>
          <p:cNvSpPr/>
          <p:nvPr>
            <p:ph idx="4" type="pic"/>
          </p:nvPr>
        </p:nvSpPr>
        <p:spPr>
          <a:xfrm>
            <a:off x="7061075" y="698300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/>
          <p:nvPr>
            <p:ph idx="5" type="pic"/>
          </p:nvPr>
        </p:nvSpPr>
        <p:spPr>
          <a:xfrm>
            <a:off x="4213225" y="2649725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3"/>
          <p:cNvSpPr/>
          <p:nvPr>
            <p:ph idx="6" type="pic"/>
          </p:nvPr>
        </p:nvSpPr>
        <p:spPr>
          <a:xfrm>
            <a:off x="5637150" y="2649725"/>
            <a:ext cx="1266600" cy="1266600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3"/>
          <p:cNvSpPr/>
          <p:nvPr>
            <p:ph idx="7" type="pic"/>
          </p:nvPr>
        </p:nvSpPr>
        <p:spPr>
          <a:xfrm>
            <a:off x="7061075" y="2649725"/>
            <a:ext cx="1266600" cy="1266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Template 1">
  <p:cSld name="148_Title Slid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ctrTitle"/>
          </p:nvPr>
        </p:nvSpPr>
        <p:spPr>
          <a:xfrm>
            <a:off x="1200150" y="1116824"/>
            <a:ext cx="71613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roxima Nova"/>
              <a:buNone/>
              <a:defRPr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-Team-4 1">
  <p:cSld name="29_Title Slide_1_4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ctrTitle"/>
          </p:nvPr>
        </p:nvSpPr>
        <p:spPr>
          <a:xfrm>
            <a:off x="1200150" y="1200149"/>
            <a:ext cx="2424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5"/>
          <p:cNvSpPr/>
          <p:nvPr>
            <p:ph idx="2" type="pic"/>
          </p:nvPr>
        </p:nvSpPr>
        <p:spPr>
          <a:xfrm>
            <a:off x="4857225" y="698300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5"/>
          <p:cNvSpPr/>
          <p:nvPr>
            <p:ph idx="3" type="pic"/>
          </p:nvPr>
        </p:nvSpPr>
        <p:spPr>
          <a:xfrm>
            <a:off x="6571189" y="698300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15"/>
          <p:cNvSpPr/>
          <p:nvPr>
            <p:ph idx="4" type="pic"/>
          </p:nvPr>
        </p:nvSpPr>
        <p:spPr>
          <a:xfrm>
            <a:off x="4857225" y="2819943"/>
            <a:ext cx="1377000" cy="1377000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15"/>
          <p:cNvSpPr/>
          <p:nvPr>
            <p:ph idx="5" type="pic"/>
          </p:nvPr>
        </p:nvSpPr>
        <p:spPr>
          <a:xfrm>
            <a:off x="6571189" y="2819943"/>
            <a:ext cx="1377000" cy="1377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3_Title Slide 1">
  <p:cSld name="133_Title Slide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/>
          <p:nvPr/>
        </p:nvSpPr>
        <p:spPr>
          <a:xfrm>
            <a:off x="6167767" y="0"/>
            <a:ext cx="2976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 – End Slide – Blue">
  <p:cSld name="CUSTOM_1_2_1_2">
    <p:bg>
      <p:bgPr>
        <a:solidFill>
          <a:srgbClr val="183A9E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4E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27875" y="2200201"/>
            <a:ext cx="2688249" cy="74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 – End Slide – Dark Blue">
  <p:cSld name="CUSTOM_1_2_1_3">
    <p:bg>
      <p:bgPr>
        <a:solidFill>
          <a:srgbClr val="183A9E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5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7" name="Google Shape;8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27875" y="2200201"/>
            <a:ext cx="2688249" cy="74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slideLayout" Target="../slideLayouts/slideLayout18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0"/>
            <a:ext cx="217200" cy="5143500"/>
          </a:xfrm>
          <a:prstGeom prst="rect">
            <a:avLst/>
          </a:prstGeom>
          <a:solidFill>
            <a:srgbClr val="204EC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1200149" y="273844"/>
            <a:ext cx="731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None/>
              <a:defRPr b="1" i="0" sz="21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1200150" y="1369219"/>
            <a:ext cx="7315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857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794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667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Arial"/>
              <a:buChar char="•"/>
              <a:defRPr b="0" i="0" sz="600" u="none" cap="none" strike="noStrike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78175" y="4767750"/>
            <a:ext cx="13677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r>
              <a:rPr lang="en" sz="6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Confidential </a:t>
            </a:r>
            <a:r>
              <a:rPr lang="en" sz="8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 | </a:t>
            </a:r>
            <a:fld id="{00000000-1234-1234-1234-123412341234}" type="slidenum">
              <a:rPr lang="en" sz="8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 sz="8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54287" y="69900"/>
            <a:ext cx="108625" cy="15397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756">
          <p15:clr>
            <a:srgbClr val="F26B43"/>
          </p15:clr>
        </p15:guide>
        <p15:guide id="2" pos="329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2.png"/><Relationship Id="rId5" Type="http://schemas.openxmlformats.org/officeDocument/2006/relationships/image" Target="../media/image17.png"/><Relationship Id="rId6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gif"/><Relationship Id="rId4" Type="http://schemas.openxmlformats.org/officeDocument/2006/relationships/image" Target="../media/image25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Relationship Id="rId5" Type="http://schemas.openxmlformats.org/officeDocument/2006/relationships/image" Target="../media/image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2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343675" y="2712227"/>
            <a:ext cx="3016200" cy="819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04ECF"/>
                </a:solidFill>
              </a:rPr>
              <a:t>[Client Name]</a:t>
            </a:r>
            <a:br>
              <a:rPr lang="en"/>
            </a:br>
            <a:r>
              <a:rPr lang="en"/>
              <a:t>[Project Name] </a:t>
            </a:r>
            <a:r>
              <a:rPr lang="en"/>
              <a:t>Kickoff </a:t>
            </a:r>
            <a:endParaRPr/>
          </a:p>
        </p:txBody>
      </p:sp>
      <p:sp>
        <p:nvSpPr>
          <p:cNvPr id="93" name="Google Shape;93;p20"/>
          <p:cNvSpPr txBox="1"/>
          <p:nvPr>
            <p:ph idx="2" type="subTitle"/>
          </p:nvPr>
        </p:nvSpPr>
        <p:spPr>
          <a:xfrm>
            <a:off x="366142" y="4153150"/>
            <a:ext cx="5339400" cy="335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Aligning on outcomes, team, and how we’ll deliver.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>
            <p:ph type="ctrTitle"/>
          </p:nvPr>
        </p:nvSpPr>
        <p:spPr>
          <a:xfrm>
            <a:off x="633776" y="8804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/>
              <a:t>What we’ll accomplish together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9" name="Google Shape;99;p21"/>
          <p:cNvSpPr txBox="1"/>
          <p:nvPr/>
        </p:nvSpPr>
        <p:spPr>
          <a:xfrm>
            <a:off x="1544275" y="2293022"/>
            <a:ext cx="71463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Align on success</a:t>
            </a:r>
            <a:b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Confirm why we’re doing this project and what a successful outcome looks like in your words</a:t>
            </a: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. </a:t>
            </a:r>
            <a:endParaRPr b="1" sz="13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00" name="Google Shape;100;p21"/>
          <p:cNvCxnSpPr/>
          <p:nvPr/>
        </p:nvCxnSpPr>
        <p:spPr>
          <a:xfrm>
            <a:off x="1544270" y="2092122"/>
            <a:ext cx="7028100" cy="0"/>
          </a:xfrm>
          <a:prstGeom prst="straightConnector1">
            <a:avLst/>
          </a:prstGeom>
          <a:noFill/>
          <a:ln cap="flat" cmpd="sng" w="12700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21"/>
          <p:cNvSpPr txBox="1"/>
          <p:nvPr/>
        </p:nvSpPr>
        <p:spPr>
          <a:xfrm>
            <a:off x="1544275" y="1484846"/>
            <a:ext cx="71463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Meet your team</a:t>
            </a:r>
            <a:b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The people delivering your project, their roles, and your single point of contact</a:t>
            </a: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. </a:t>
            </a:r>
            <a:endParaRPr b="1" sz="13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02" name="Google Shape;102;p21"/>
          <p:cNvCxnSpPr/>
          <p:nvPr/>
        </p:nvCxnSpPr>
        <p:spPr>
          <a:xfrm>
            <a:off x="1544270" y="2875385"/>
            <a:ext cx="7028100" cy="0"/>
          </a:xfrm>
          <a:prstGeom prst="straightConnector1">
            <a:avLst/>
          </a:prstGeom>
          <a:noFill/>
          <a:ln cap="flat" cmpd="sng" w="12700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" name="Google Shape;103;p21"/>
          <p:cNvSpPr txBox="1"/>
          <p:nvPr/>
        </p:nvSpPr>
        <p:spPr>
          <a:xfrm>
            <a:off x="1544275" y="3101199"/>
            <a:ext cx="71463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Agree how we’ll work</a:t>
            </a:r>
            <a:b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Cadence, communication, transparency, and how we handle change and escalation</a:t>
            </a: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. </a:t>
            </a:r>
            <a:endParaRPr b="1" sz="13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04" name="Google Shape;104;p21"/>
          <p:cNvCxnSpPr/>
          <p:nvPr/>
        </p:nvCxnSpPr>
        <p:spPr>
          <a:xfrm>
            <a:off x="1544270" y="3695997"/>
            <a:ext cx="7028100" cy="0"/>
          </a:xfrm>
          <a:prstGeom prst="straightConnector1">
            <a:avLst/>
          </a:prstGeom>
          <a:noFill/>
          <a:ln cap="flat" cmpd="sng" w="12700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21"/>
          <p:cNvSpPr txBox="1"/>
          <p:nvPr/>
        </p:nvSpPr>
        <p:spPr>
          <a:xfrm>
            <a:off x="1544275" y="3909375"/>
            <a:ext cx="71463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Confirm next steps</a:t>
            </a:r>
            <a:b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What happens in the next week, and what we’ll each own.</a:t>
            </a:r>
            <a:r>
              <a:rPr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endParaRPr b="1" sz="13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06" name="Google Shape;106;p21"/>
          <p:cNvCxnSpPr/>
          <p:nvPr/>
        </p:nvCxnSpPr>
        <p:spPr>
          <a:xfrm>
            <a:off x="1544270" y="4516647"/>
            <a:ext cx="7028100" cy="0"/>
          </a:xfrm>
          <a:prstGeom prst="straightConnector1">
            <a:avLst/>
          </a:prstGeom>
          <a:noFill/>
          <a:ln cap="flat" cmpd="sng" w="12700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048" y="2307857"/>
            <a:ext cx="317978" cy="317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9563" y="1484848"/>
            <a:ext cx="322946" cy="322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941615" y="3125898"/>
            <a:ext cx="318844" cy="31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42048" y="3944804"/>
            <a:ext cx="317978" cy="31797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/>
          <p:nvPr/>
        </p:nvSpPr>
        <p:spPr>
          <a:xfrm>
            <a:off x="633776" y="356650"/>
            <a:ext cx="80238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1200"/>
              <a:buFont typeface="Calibri"/>
              <a:buNone/>
            </a:pPr>
            <a:r>
              <a:rPr b="1" i="0" lang="en" sz="900" u="none" cap="none" strike="noStrike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WHY WE'RE HERE TODAY</a:t>
            </a:r>
            <a:endParaRPr i="0" sz="9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>
            <p:ph type="ctrTitle"/>
          </p:nvPr>
        </p:nvSpPr>
        <p:spPr>
          <a:xfrm>
            <a:off x="633776" y="8804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/>
              <a:t>The people delivering your project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17" name="Google Shape;117;p22"/>
          <p:cNvSpPr/>
          <p:nvPr/>
        </p:nvSpPr>
        <p:spPr>
          <a:xfrm>
            <a:off x="633776" y="356650"/>
            <a:ext cx="80238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12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YOUR TEAM</a:t>
            </a:r>
            <a:endParaRPr i="0" sz="9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descr="a blue circle with a blue circle in the middle (Provided by Tenor)" id="118" name="Google Shape;118;p2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91050" y="158415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circle with a blue circle in the middle (Provided by Tenor)" id="119" name="Google Shape;119;p22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300" y="158415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2476" y="228382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2"/>
          <p:cNvSpPr txBox="1"/>
          <p:nvPr/>
        </p:nvSpPr>
        <p:spPr>
          <a:xfrm>
            <a:off x="4737224" y="1741125"/>
            <a:ext cx="1335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22" name="Google Shape;12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37220" y="198860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2"/>
          <p:cNvSpPr txBox="1"/>
          <p:nvPr/>
        </p:nvSpPr>
        <p:spPr>
          <a:xfrm>
            <a:off x="4856748" y="1980775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24" name="Google Shape;124;p22"/>
          <p:cNvSpPr txBox="1"/>
          <p:nvPr/>
        </p:nvSpPr>
        <p:spPr>
          <a:xfrm>
            <a:off x="4856750" y="2141400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37220" y="2153550"/>
            <a:ext cx="91214" cy="912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6726" y="228382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1871473" y="1741125"/>
            <a:ext cx="1203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71470" y="198860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2"/>
          <p:cNvSpPr txBox="1"/>
          <p:nvPr/>
        </p:nvSpPr>
        <p:spPr>
          <a:xfrm>
            <a:off x="1991000" y="1980775"/>
            <a:ext cx="1339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1990997" y="2141400"/>
            <a:ext cx="1038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31" name="Google Shape;131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71470" y="2153550"/>
            <a:ext cx="91214" cy="912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circle with a blue circle in the middle (Provided by Tenor)" id="132" name="Google Shape;132;p22"/>
          <p:cNvPicPr preferRelativeResize="0"/>
          <p:nvPr>
            <p:ph idx="4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12825" y="159960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94251" y="229927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/>
        </p:nvSpPr>
        <p:spPr>
          <a:xfrm>
            <a:off x="7558999" y="1756575"/>
            <a:ext cx="1335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8995" y="200405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2"/>
          <p:cNvSpPr txBox="1"/>
          <p:nvPr/>
        </p:nvSpPr>
        <p:spPr>
          <a:xfrm>
            <a:off x="7678523" y="1996225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7678525" y="2156850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38" name="Google Shape;138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558995" y="2169000"/>
            <a:ext cx="91214" cy="912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circle with a blue circle in the middle (Provided by Tenor)" id="139" name="Google Shape;139;p22"/>
          <p:cNvPicPr preferRelativeResize="0"/>
          <p:nvPr>
            <p:ph idx="5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325" y="283485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51" y="353452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1831499" y="2991825"/>
            <a:ext cx="1335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42" name="Google Shape;14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31495" y="323930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/>
          <p:nvPr/>
        </p:nvSpPr>
        <p:spPr>
          <a:xfrm>
            <a:off x="1951023" y="3231475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4" name="Google Shape;144;p22"/>
          <p:cNvSpPr txBox="1"/>
          <p:nvPr/>
        </p:nvSpPr>
        <p:spPr>
          <a:xfrm>
            <a:off x="1951025" y="3392100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45" name="Google Shape;14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1495" y="3404250"/>
            <a:ext cx="91214" cy="912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circle with a blue circle in the middle (Provided by Tenor)" id="146" name="Google Shape;146;p22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9625" y="283485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91051" y="353452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/>
          <p:cNvSpPr txBox="1"/>
          <p:nvPr/>
        </p:nvSpPr>
        <p:spPr>
          <a:xfrm>
            <a:off x="4755799" y="2991825"/>
            <a:ext cx="1335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49" name="Google Shape;149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55795" y="323930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2"/>
          <p:cNvSpPr txBox="1"/>
          <p:nvPr/>
        </p:nvSpPr>
        <p:spPr>
          <a:xfrm>
            <a:off x="4875323" y="3231475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51" name="Google Shape;151;p22"/>
          <p:cNvSpPr txBox="1"/>
          <p:nvPr/>
        </p:nvSpPr>
        <p:spPr>
          <a:xfrm>
            <a:off x="4875325" y="3392100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52" name="Google Shape;152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55795" y="3404250"/>
            <a:ext cx="91214" cy="912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circle with a blue circle in the middle (Provided by Tenor)" id="153" name="Google Shape;153;p22"/>
          <p:cNvPicPr preferRelativeResize="0"/>
          <p:nvPr>
            <p:ph idx="7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12825" y="2834850"/>
            <a:ext cx="885601" cy="88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94251" y="3534523"/>
            <a:ext cx="192346" cy="19234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2"/>
          <p:cNvSpPr txBox="1"/>
          <p:nvPr/>
        </p:nvSpPr>
        <p:spPr>
          <a:xfrm>
            <a:off x="7558999" y="2991825"/>
            <a:ext cx="1335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Name</a:t>
            </a:r>
            <a:endParaRPr b="1" sz="12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8995" y="3239303"/>
            <a:ext cx="91214" cy="1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2"/>
          <p:cNvSpPr txBox="1"/>
          <p:nvPr/>
        </p:nvSpPr>
        <p:spPr>
          <a:xfrm>
            <a:off x="7678523" y="3231475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7947C"/>
                </a:solidFill>
                <a:latin typeface="Proxima Nova"/>
                <a:ea typeface="Proxima Nova"/>
                <a:cs typeface="Proxima Nova"/>
                <a:sym typeface="Proxima Nova"/>
              </a:rPr>
              <a:t>Role</a:t>
            </a:r>
            <a:endParaRPr sz="800">
              <a:solidFill>
                <a:srgbClr val="07947C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7678525" y="3392100"/>
            <a:ext cx="1157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55065"/>
                </a:solidFill>
                <a:latin typeface="Proxima Nova"/>
                <a:ea typeface="Proxima Nova"/>
                <a:cs typeface="Proxima Nova"/>
                <a:sym typeface="Proxima Nova"/>
              </a:rPr>
              <a:t>Location</a:t>
            </a:r>
            <a:endParaRPr sz="800">
              <a:solidFill>
                <a:srgbClr val="4550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558995" y="3404250"/>
            <a:ext cx="91214" cy="91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/>
          <p:nvPr/>
        </p:nvSpPr>
        <p:spPr>
          <a:xfrm>
            <a:off x="214100" y="0"/>
            <a:ext cx="89298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23"/>
          <p:cNvSpPr txBox="1"/>
          <p:nvPr>
            <p:ph type="ctrTitle"/>
          </p:nvPr>
        </p:nvSpPr>
        <p:spPr>
          <a:xfrm>
            <a:off x="666750" y="1001575"/>
            <a:ext cx="5575500" cy="11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Proxima Nova"/>
                <a:ea typeface="Proxima Nova"/>
                <a:cs typeface="Proxima Nova"/>
                <a:sym typeface="Proxima Nova"/>
              </a:rPr>
              <a:t>Alignment</a:t>
            </a:r>
            <a:endParaRPr sz="1800">
              <a:solidFill>
                <a:schemeClr val="accent4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PROJECT SUCCESS AGREEMENT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4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Our draft understanding — please confirm, correct, or add.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3" name="Google Shape;173;p24"/>
          <p:cNvSpPr/>
          <p:nvPr/>
        </p:nvSpPr>
        <p:spPr>
          <a:xfrm>
            <a:off x="480073" y="1645920"/>
            <a:ext cx="8184000" cy="8778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4"/>
          <p:cNvSpPr/>
          <p:nvPr/>
        </p:nvSpPr>
        <p:spPr>
          <a:xfrm>
            <a:off x="699535" y="1844802"/>
            <a:ext cx="480300" cy="480300"/>
          </a:xfrm>
          <a:prstGeom prst="ellipse">
            <a:avLst/>
          </a:prstGeom>
          <a:solidFill>
            <a:srgbClr val="E6EB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4"/>
          <p:cNvSpPr/>
          <p:nvPr/>
        </p:nvSpPr>
        <p:spPr>
          <a:xfrm>
            <a:off x="1371637" y="1783080"/>
            <a:ext cx="7086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200"/>
              <a:buFont typeface="Calibri"/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Why are we doing this?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4"/>
          <p:cNvSpPr/>
          <p:nvPr/>
        </p:nvSpPr>
        <p:spPr>
          <a:xfrm>
            <a:off x="1371637" y="2098548"/>
            <a:ext cx="7086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6BC"/>
              </a:buClr>
              <a:buSzPts val="1000"/>
              <a:buFont typeface="Calibri"/>
              <a:buNone/>
            </a:pPr>
            <a:r>
              <a:rPr i="1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[Pre-filled: the business </a:t>
            </a:r>
            <a:r>
              <a:rPr i="1"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initiative</a:t>
            </a:r>
            <a:r>
              <a:rPr i="1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or opportunity driving this engagement.]</a:t>
            </a:r>
            <a:endParaRPr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480073" y="2633472"/>
            <a:ext cx="8184000" cy="8778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99535" y="2832354"/>
            <a:ext cx="480300" cy="480300"/>
          </a:xfrm>
          <a:prstGeom prst="ellipse">
            <a:avLst/>
          </a:prstGeom>
          <a:solidFill>
            <a:srgbClr val="E6EB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4"/>
          <p:cNvSpPr/>
          <p:nvPr/>
        </p:nvSpPr>
        <p:spPr>
          <a:xfrm>
            <a:off x="1371637" y="2770632"/>
            <a:ext cx="7086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200"/>
              <a:buFont typeface="Calibri"/>
              <a:buNone/>
            </a:pP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What problem are we solving?</a:t>
            </a:r>
            <a:endParaRPr b="1"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1371637" y="3086100"/>
            <a:ext cx="7086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6BC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[Pre-filled: the </a:t>
            </a:r>
            <a:r>
              <a:rPr i="1"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current</a:t>
            </a:r>
            <a:r>
              <a:rPr b="0" i="1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pain point, risk, or opportunity being addressed.]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480075" y="3621025"/>
            <a:ext cx="8184000" cy="113370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4"/>
          <p:cNvSpPr/>
          <p:nvPr/>
        </p:nvSpPr>
        <p:spPr>
          <a:xfrm>
            <a:off x="699535" y="3819906"/>
            <a:ext cx="480300" cy="480300"/>
          </a:xfrm>
          <a:prstGeom prst="ellipse">
            <a:avLst/>
          </a:prstGeom>
          <a:solidFill>
            <a:srgbClr val="E6EB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4"/>
          <p:cNvSpPr/>
          <p:nvPr/>
        </p:nvSpPr>
        <p:spPr>
          <a:xfrm>
            <a:off x="1371637" y="3758184"/>
            <a:ext cx="7086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What does </a:t>
            </a:r>
            <a:r>
              <a:rPr b="1" lang="en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success</a:t>
            </a:r>
            <a:r>
              <a:rPr b="1" i="0" lang="en" sz="12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 look like?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1371637" y="4073652"/>
            <a:ext cx="7086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A6BC"/>
              </a:buClr>
              <a:buSzPts val="1000"/>
              <a:buFont typeface="Calibri"/>
              <a:buNone/>
            </a:pPr>
            <a:r>
              <a:rPr i="1" lang="en" sz="10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[Pre-filled: the desired business outcomes</a:t>
            </a:r>
            <a:r>
              <a:rPr i="1"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, </a:t>
            </a:r>
            <a:r>
              <a:rPr i="1" lang="en" sz="10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measurable indicators of success, and</a:t>
            </a:r>
            <a:r>
              <a:rPr i="1" lang="en"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/or acceptance criteria</a:t>
            </a:r>
            <a:r>
              <a:rPr i="1" lang="en" sz="10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.]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85" name="Google Shape;18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488" y="3895859"/>
            <a:ext cx="328394" cy="328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2922" y="1916887"/>
            <a:ext cx="333525" cy="336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237" y="291705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4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Why we’re here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5"/>
          <p:cNvSpPr txBox="1"/>
          <p:nvPr>
            <p:ph idx="4294967295" type="ctrTitle"/>
          </p:nvPr>
        </p:nvSpPr>
        <p:spPr>
          <a:xfrm>
            <a:off x="6484400" y="638300"/>
            <a:ext cx="2417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000">
                <a:solidFill>
                  <a:schemeClr val="lt1"/>
                </a:solidFill>
              </a:rPr>
              <a:t>Solution Overview</a:t>
            </a:r>
            <a:endParaRPr b="1" sz="20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6484400" y="1004329"/>
            <a:ext cx="24174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[high level summary of the work to be accomplished in business terms]</a:t>
            </a:r>
            <a:endParaRPr sz="11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95" name="Google Shape;195;p25"/>
          <p:cNvCxnSpPr/>
          <p:nvPr/>
        </p:nvCxnSpPr>
        <p:spPr>
          <a:xfrm>
            <a:off x="503325" y="2382639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6" name="Google Shape;196;p25"/>
          <p:cNvCxnSpPr/>
          <p:nvPr/>
        </p:nvCxnSpPr>
        <p:spPr>
          <a:xfrm>
            <a:off x="503325" y="1534864"/>
            <a:ext cx="52185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7" name="Google Shape;197;p25"/>
          <p:cNvCxnSpPr/>
          <p:nvPr/>
        </p:nvCxnSpPr>
        <p:spPr>
          <a:xfrm>
            <a:off x="503325" y="3230414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5"/>
          <p:cNvCxnSpPr/>
          <p:nvPr/>
        </p:nvCxnSpPr>
        <p:spPr>
          <a:xfrm>
            <a:off x="503325" y="4078189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9" name="Google Shape;199;p25"/>
          <p:cNvCxnSpPr/>
          <p:nvPr/>
        </p:nvCxnSpPr>
        <p:spPr>
          <a:xfrm>
            <a:off x="503325" y="4873114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0" name="Google Shape;200;p25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PROJECT SUCCESS AGREEMENT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5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What we will deliver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6347125" y="3896250"/>
            <a:ext cx="2683500" cy="8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Out of Scope:</a:t>
            </a:r>
            <a:endParaRPr b="1" sz="11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184150" lvl="0" marL="2286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[Item]</a:t>
            </a:r>
            <a:endParaRPr sz="11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1841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[Item]</a:t>
            </a:r>
            <a:endParaRPr sz="11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1841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[Item]</a:t>
            </a:r>
            <a:endParaRPr sz="11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502750" y="1263148"/>
            <a:ext cx="2073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Workstream / Feature Set</a:t>
            </a:r>
            <a:endParaRPr b="1" sz="11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4" name="Google Shape;204;p25"/>
          <p:cNvSpPr txBox="1"/>
          <p:nvPr/>
        </p:nvSpPr>
        <p:spPr>
          <a:xfrm>
            <a:off x="2726700" y="1263148"/>
            <a:ext cx="2017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204ECF"/>
                </a:solidFill>
                <a:latin typeface="Proxima Nova"/>
                <a:ea typeface="Proxima Nova"/>
                <a:cs typeface="Proxima Nova"/>
                <a:sym typeface="Proxima Nova"/>
              </a:rPr>
              <a:t>Outcomes / Deliverables</a:t>
            </a:r>
            <a:endParaRPr b="1" sz="1100">
              <a:solidFill>
                <a:srgbClr val="204EC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5" name="Google Shape;205;p25"/>
          <p:cNvSpPr txBox="1"/>
          <p:nvPr/>
        </p:nvSpPr>
        <p:spPr>
          <a:xfrm>
            <a:off x="2726725" y="1692064"/>
            <a:ext cx="28683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50" lvl="0" marL="314325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1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2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3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6" name="Google Shape;206;p25"/>
          <p:cNvSpPr txBox="1"/>
          <p:nvPr/>
        </p:nvSpPr>
        <p:spPr>
          <a:xfrm>
            <a:off x="2726700" y="2539838"/>
            <a:ext cx="24174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50" lvl="0" marL="314325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1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2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3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7" name="Google Shape;207;p25"/>
          <p:cNvSpPr txBox="1"/>
          <p:nvPr/>
        </p:nvSpPr>
        <p:spPr>
          <a:xfrm>
            <a:off x="502750" y="2624589"/>
            <a:ext cx="12825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41133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[Workstream or Feature Set 2]</a:t>
            </a:r>
            <a:endParaRPr sz="1050">
              <a:solidFill>
                <a:srgbClr val="041133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08" name="Google Shape;208;p25"/>
          <p:cNvSpPr txBox="1"/>
          <p:nvPr/>
        </p:nvSpPr>
        <p:spPr>
          <a:xfrm>
            <a:off x="2726700" y="3387601"/>
            <a:ext cx="27564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50" lvl="0" marL="314325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1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2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3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9" name="Google Shape;209;p25"/>
          <p:cNvSpPr txBox="1"/>
          <p:nvPr/>
        </p:nvSpPr>
        <p:spPr>
          <a:xfrm>
            <a:off x="502750" y="3472339"/>
            <a:ext cx="15129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41133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[Workstream or Feature Set 3]</a:t>
            </a:r>
            <a:endParaRPr sz="1050">
              <a:solidFill>
                <a:srgbClr val="041133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10" name="Google Shape;210;p25"/>
          <p:cNvSpPr txBox="1"/>
          <p:nvPr/>
        </p:nvSpPr>
        <p:spPr>
          <a:xfrm>
            <a:off x="2726700" y="4235376"/>
            <a:ext cx="2571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50" lvl="0" marL="314325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1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2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209550" lvl="0" marL="31432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746"/>
              </a:buClr>
              <a:buSzPts val="1050"/>
              <a:buFont typeface="Proxima Nova"/>
              <a:buChar char="●"/>
            </a:pPr>
            <a:r>
              <a:rPr lang="en" sz="1050">
                <a:solidFill>
                  <a:srgbClr val="444746"/>
                </a:solidFill>
                <a:latin typeface="Proxima Nova"/>
                <a:ea typeface="Proxima Nova"/>
                <a:cs typeface="Proxima Nova"/>
                <a:sym typeface="Proxima Nova"/>
              </a:rPr>
              <a:t>Deliverable 3</a:t>
            </a:r>
            <a:endParaRPr sz="1050">
              <a:solidFill>
                <a:srgbClr val="444746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1" name="Google Shape;211;p25"/>
          <p:cNvSpPr txBox="1"/>
          <p:nvPr/>
        </p:nvSpPr>
        <p:spPr>
          <a:xfrm>
            <a:off x="502750" y="4320136"/>
            <a:ext cx="14454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41133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[Workstream or Feature Set 4]</a:t>
            </a:r>
            <a:endParaRPr sz="1050">
              <a:solidFill>
                <a:srgbClr val="041133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cxnSp>
        <p:nvCxnSpPr>
          <p:cNvPr id="212" name="Google Shape;212;p25"/>
          <p:cNvCxnSpPr/>
          <p:nvPr/>
        </p:nvCxnSpPr>
        <p:spPr>
          <a:xfrm>
            <a:off x="503325" y="2382639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3" name="Google Shape;213;p25"/>
          <p:cNvCxnSpPr/>
          <p:nvPr/>
        </p:nvCxnSpPr>
        <p:spPr>
          <a:xfrm>
            <a:off x="503325" y="1534864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204EC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4" name="Google Shape;214;p25"/>
          <p:cNvCxnSpPr/>
          <p:nvPr/>
        </p:nvCxnSpPr>
        <p:spPr>
          <a:xfrm>
            <a:off x="503325" y="3230414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5" name="Google Shape;215;p25"/>
          <p:cNvCxnSpPr/>
          <p:nvPr/>
        </p:nvCxnSpPr>
        <p:spPr>
          <a:xfrm>
            <a:off x="503325" y="4078189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6" name="Google Shape;216;p25"/>
          <p:cNvCxnSpPr/>
          <p:nvPr/>
        </p:nvCxnSpPr>
        <p:spPr>
          <a:xfrm>
            <a:off x="503325" y="4873114"/>
            <a:ext cx="5218500" cy="0"/>
          </a:xfrm>
          <a:prstGeom prst="straightConnector1">
            <a:avLst/>
          </a:prstGeom>
          <a:noFill/>
          <a:ln cap="flat" cmpd="sng" w="9525">
            <a:solidFill>
              <a:srgbClr val="E0E0E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7" name="Google Shape;217;p25"/>
          <p:cNvSpPr txBox="1"/>
          <p:nvPr/>
        </p:nvSpPr>
        <p:spPr>
          <a:xfrm>
            <a:off x="502750" y="1776796"/>
            <a:ext cx="14454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41133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[Workstream or Feature Set 1]</a:t>
            </a:r>
            <a:endParaRPr sz="1050">
              <a:solidFill>
                <a:srgbClr val="041133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6"/>
          <p:cNvSpPr/>
          <p:nvPr/>
        </p:nvSpPr>
        <p:spPr>
          <a:xfrm>
            <a:off x="214100" y="0"/>
            <a:ext cx="89298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3" name="Google Shape;223;p26"/>
          <p:cNvSpPr txBox="1"/>
          <p:nvPr>
            <p:ph type="ctrTitle"/>
          </p:nvPr>
        </p:nvSpPr>
        <p:spPr>
          <a:xfrm>
            <a:off x="666750" y="1001575"/>
            <a:ext cx="5575500" cy="11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sz="1800">
              <a:solidFill>
                <a:schemeClr val="accent4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27"/>
          <p:cNvGrpSpPr/>
          <p:nvPr/>
        </p:nvGrpSpPr>
        <p:grpSpPr>
          <a:xfrm>
            <a:off x="259050" y="2130197"/>
            <a:ext cx="8839200" cy="2506726"/>
            <a:chOff x="259050" y="2130197"/>
            <a:chExt cx="8839200" cy="2506726"/>
          </a:xfrm>
        </p:grpSpPr>
        <p:pic>
          <p:nvPicPr>
            <p:cNvPr id="229" name="Google Shape;229;p27"/>
            <p:cNvPicPr preferRelativeResize="0"/>
            <p:nvPr/>
          </p:nvPicPr>
          <p:blipFill rotWithShape="1">
            <a:blip r:embed="rId3">
              <a:alphaModFix/>
            </a:blip>
            <a:srcRect b="0" l="0" r="0" t="45940"/>
            <a:stretch/>
          </p:blipFill>
          <p:spPr>
            <a:xfrm>
              <a:off x="259050" y="2130197"/>
              <a:ext cx="8839200" cy="25067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0" name="Google Shape;230;p27"/>
            <p:cNvSpPr/>
            <p:nvPr/>
          </p:nvSpPr>
          <p:spPr>
            <a:xfrm>
              <a:off x="3778525" y="2342675"/>
              <a:ext cx="1234200" cy="182700"/>
            </a:xfrm>
            <a:prstGeom prst="rect">
              <a:avLst/>
            </a:prstGeom>
            <a:solidFill>
              <a:srgbClr val="F9F7F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sp>
        <p:nvSpPr>
          <p:cNvPr id="231" name="Google Shape;231;p27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Our </a:t>
            </a: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approach</a:t>
            </a: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 meets you where you are and ensures we’re aligned at every step of the process.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33" name="Google Shape;233;p27"/>
          <p:cNvSpPr txBox="1"/>
          <p:nvPr>
            <p:ph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/>
              <a:t>Our strategic approach that adapts to how you work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8"/>
          <p:cNvSpPr/>
          <p:nvPr/>
        </p:nvSpPr>
        <p:spPr>
          <a:xfrm>
            <a:off x="2595171" y="1773750"/>
            <a:ext cx="2026800" cy="2470200"/>
          </a:xfrm>
          <a:prstGeom prst="roundRect">
            <a:avLst>
              <a:gd fmla="val 2510" name="adj"/>
            </a:avLst>
          </a:prstGeom>
          <a:solidFill>
            <a:schemeClr val="lt1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1">
              <a:solidFill>
                <a:srgbClr val="62667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9" name="Google Shape;239;p28"/>
          <p:cNvSpPr/>
          <p:nvPr/>
        </p:nvSpPr>
        <p:spPr>
          <a:xfrm>
            <a:off x="6812079" y="1773750"/>
            <a:ext cx="2026800" cy="2470200"/>
          </a:xfrm>
          <a:prstGeom prst="roundRect">
            <a:avLst>
              <a:gd fmla="val 2510" name="adj"/>
            </a:avLst>
          </a:prstGeom>
          <a:solidFill>
            <a:schemeClr val="lt1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1">
              <a:solidFill>
                <a:srgbClr val="62667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0" name="Google Shape;240;p28"/>
          <p:cNvSpPr/>
          <p:nvPr/>
        </p:nvSpPr>
        <p:spPr>
          <a:xfrm>
            <a:off x="4703625" y="1773750"/>
            <a:ext cx="2026800" cy="2470200"/>
          </a:xfrm>
          <a:prstGeom prst="roundRect">
            <a:avLst>
              <a:gd fmla="val 2510" name="adj"/>
            </a:avLst>
          </a:prstGeom>
          <a:solidFill>
            <a:schemeClr val="lt1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1">
              <a:solidFill>
                <a:srgbClr val="62667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1" name="Google Shape;241;p28"/>
          <p:cNvSpPr/>
          <p:nvPr/>
        </p:nvSpPr>
        <p:spPr>
          <a:xfrm>
            <a:off x="486696" y="1773675"/>
            <a:ext cx="2026800" cy="2470200"/>
          </a:xfrm>
          <a:prstGeom prst="roundRect">
            <a:avLst>
              <a:gd fmla="val 2510" name="adj"/>
            </a:avLst>
          </a:prstGeom>
          <a:solidFill>
            <a:schemeClr val="lt1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1">
              <a:solidFill>
                <a:srgbClr val="62667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2" name="Google Shape;242;p28"/>
          <p:cNvSpPr/>
          <p:nvPr/>
        </p:nvSpPr>
        <p:spPr>
          <a:xfrm>
            <a:off x="2603243" y="1773761"/>
            <a:ext cx="2026800" cy="700200"/>
          </a:xfrm>
          <a:prstGeom prst="roundRect">
            <a:avLst>
              <a:gd fmla="val 2510" name="adj"/>
            </a:avLst>
          </a:prstGeom>
          <a:solidFill>
            <a:srgbClr val="183A9E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WEEKLY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3" name="Google Shape;243;p28"/>
          <p:cNvSpPr/>
          <p:nvPr/>
        </p:nvSpPr>
        <p:spPr>
          <a:xfrm>
            <a:off x="6820147" y="1773761"/>
            <a:ext cx="2026800" cy="700200"/>
          </a:xfrm>
          <a:prstGeom prst="roundRect">
            <a:avLst>
              <a:gd fmla="val 2510" name="adj"/>
            </a:avLst>
          </a:prstGeom>
          <a:solidFill>
            <a:srgbClr val="25A9EE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AD-HOC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4" name="Google Shape;244;p28"/>
          <p:cNvSpPr/>
          <p:nvPr/>
        </p:nvSpPr>
        <p:spPr>
          <a:xfrm>
            <a:off x="4711695" y="1773761"/>
            <a:ext cx="2026800" cy="700200"/>
          </a:xfrm>
          <a:prstGeom prst="roundRect">
            <a:avLst>
              <a:gd fmla="val 2510" name="adj"/>
            </a:avLst>
          </a:prstGeom>
          <a:solidFill>
            <a:srgbClr val="204ECF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MONTHLY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5" name="Google Shape;245;p28"/>
          <p:cNvSpPr/>
          <p:nvPr/>
        </p:nvSpPr>
        <p:spPr>
          <a:xfrm>
            <a:off x="494771" y="1773761"/>
            <a:ext cx="2026800" cy="700200"/>
          </a:xfrm>
          <a:prstGeom prst="roundRect">
            <a:avLst>
              <a:gd fmla="val 2510" name="adj"/>
            </a:avLst>
          </a:prstGeom>
          <a:solidFill>
            <a:srgbClr val="C5D1F7"/>
          </a:solidFill>
          <a:ln>
            <a:noFill/>
          </a:ln>
          <a:effectLst>
            <a:outerShdw blurRad="206779" rotWithShape="0" algn="t" dir="5400000" dist="103390">
              <a:srgbClr val="041133">
                <a:alpha val="10000"/>
              </a:srgbClr>
            </a:outerShdw>
          </a:effectLst>
        </p:spPr>
        <p:txBody>
          <a:bodyPr anchorCtr="0" anchor="ctr" bIns="27875" lIns="334975" spcFirstLastPara="1" rIns="279175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DAILY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7006146" y="2619125"/>
            <a:ext cx="16500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Working Sessions / Demos</a:t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Proxima Nova"/>
                <a:ea typeface="Proxima Nova"/>
                <a:cs typeface="Proxima Nova"/>
                <a:sym typeface="Proxima Nova"/>
              </a:rPr>
              <a:t>Detailed requirements gathering, technical solution design / reviews, process mapping, and targeted feedback.</a:t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7" name="Google Shape;247;p28"/>
          <p:cNvSpPr txBox="1"/>
          <p:nvPr/>
        </p:nvSpPr>
        <p:spPr>
          <a:xfrm>
            <a:off x="4887945" y="2622150"/>
            <a:ext cx="16500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Steering Committee </a:t>
            </a:r>
            <a:endParaRPr b="1"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(60 mins)</a:t>
            </a:r>
            <a:endParaRPr b="1"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Proxima Nova"/>
                <a:ea typeface="Proxima Nova"/>
                <a:cs typeface="Proxima Nova"/>
                <a:sym typeface="Proxima Nova"/>
              </a:rPr>
              <a:t>Review overall project health, approve major scope / budget changes, resolve escalated risks, and ensure continued strategic alignment.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2777896" y="2619150"/>
            <a:ext cx="16500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Status Report &amp; Meeting (30-45 mins)</a:t>
            </a:r>
            <a:endParaRPr b="1"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Proxima Nova"/>
                <a:ea typeface="Proxima Nova"/>
                <a:cs typeface="Proxima Nova"/>
                <a:sym typeface="Proxima Nova"/>
              </a:rPr>
              <a:t>Review progress against milestones, review the RAID log, and align on cross-functional dependencies.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9" name="Google Shape;249;p28"/>
          <p:cNvSpPr txBox="1"/>
          <p:nvPr/>
        </p:nvSpPr>
        <p:spPr>
          <a:xfrm>
            <a:off x="671020" y="2619125"/>
            <a:ext cx="16500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Project team stand-ups </a:t>
            </a:r>
            <a:endParaRPr b="1"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latin typeface="Proxima Nova"/>
                <a:ea typeface="Proxima Nova"/>
                <a:cs typeface="Proxima Nova"/>
                <a:sym typeface="Proxima Nova"/>
              </a:rPr>
              <a:t>(15 mins)</a:t>
            </a:r>
            <a:endParaRPr b="1"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Proxima Nova"/>
                <a:ea typeface="Proxima Nova"/>
                <a:cs typeface="Proxima Nova"/>
                <a:sym typeface="Proxima Nova"/>
              </a:rPr>
              <a:t>Immediate tactical alignment, sharing of daily goals, and rapid unblocking of technical hurdles.</a:t>
            </a:r>
            <a:endParaRPr sz="11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0" name="Google Shape;250;p28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Our philosophy is no surprises by design.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2" name="Google Shape;252;p28"/>
          <p:cNvSpPr txBox="1"/>
          <p:nvPr>
            <p:ph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Our operating </a:t>
            </a:r>
            <a:r>
              <a:rPr lang="en"/>
              <a:t>rhythm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9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9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Standardizing our digital workspace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0" name="Google Shape;260;p29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Collaboration toolstack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80075" y="2057400"/>
            <a:ext cx="2544900" cy="2344500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9"/>
          <p:cNvSpPr/>
          <p:nvPr/>
        </p:nvSpPr>
        <p:spPr>
          <a:xfrm>
            <a:off x="754400" y="2781017"/>
            <a:ext cx="1996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400"/>
              <a:buFont typeface="Calibri"/>
              <a:buNone/>
            </a:pPr>
            <a:r>
              <a:rPr b="1" lang="en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Real-Time Comms</a:t>
            </a:r>
            <a:endParaRPr i="0" sz="14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3" name="Google Shape;263;p29"/>
          <p:cNvSpPr/>
          <p:nvPr/>
        </p:nvSpPr>
        <p:spPr>
          <a:xfrm>
            <a:off x="754400" y="3394710"/>
            <a:ext cx="1996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Dedicated, shared collaboration channels for the joint core team for day-to-day 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project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 execution.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3299474" y="2057400"/>
            <a:ext cx="2544900" cy="2344500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9"/>
          <p:cNvSpPr/>
          <p:nvPr/>
        </p:nvSpPr>
        <p:spPr>
          <a:xfrm>
            <a:off x="3573799" y="2781017"/>
            <a:ext cx="1996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400"/>
              <a:buFont typeface="Calibri"/>
              <a:buNone/>
            </a:pPr>
            <a:r>
              <a:rPr b="1" lang="en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Work Management</a:t>
            </a:r>
            <a:endParaRPr i="0" sz="14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6" name="Google Shape;266;p29"/>
          <p:cNvSpPr/>
          <p:nvPr/>
        </p:nvSpPr>
        <p:spPr>
          <a:xfrm>
            <a:off x="3573799" y="3394710"/>
            <a:ext cx="1996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Single source of truth for execution (user stories, epics, tasks, bug tracking will be logged here).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6118874" y="2057400"/>
            <a:ext cx="2544900" cy="2344500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9"/>
          <p:cNvSpPr/>
          <p:nvPr/>
        </p:nvSpPr>
        <p:spPr>
          <a:xfrm>
            <a:off x="6393198" y="2781017"/>
            <a:ext cx="1996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400"/>
              <a:buFont typeface="Calibri"/>
              <a:buNone/>
            </a:pPr>
            <a:r>
              <a:rPr b="1" lang="en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Documentation Hub</a:t>
            </a:r>
            <a:endParaRPr i="0" sz="14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9" name="Google Shape;269;p29"/>
          <p:cNvSpPr/>
          <p:nvPr/>
        </p:nvSpPr>
        <p:spPr>
          <a:xfrm>
            <a:off x="6393198" y="3394710"/>
            <a:ext cx="1996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Central repository for all project artifacts including signed-off deliverables, status reports, etc.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270" name="Google Shape;27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4388" y="2290011"/>
            <a:ext cx="323350" cy="32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3808" y="2288354"/>
            <a:ext cx="326648" cy="326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93207" y="2283607"/>
            <a:ext cx="333525" cy="336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0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Our core best practice is proactive risk mitigation rather than reactive problem-solving. Most issues resolve at the working level. When one doesn’t, we have a clear escalation path. 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80" name="Google Shape;280;p30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Governance and escalation path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81" name="Google Shape;281;p30"/>
          <p:cNvSpPr/>
          <p:nvPr/>
        </p:nvSpPr>
        <p:spPr>
          <a:xfrm>
            <a:off x="480073" y="2125980"/>
            <a:ext cx="1814400" cy="1851900"/>
          </a:xfrm>
          <a:prstGeom prst="roundRect">
            <a:avLst>
              <a:gd fmla="val 3024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0"/>
          <p:cNvSpPr/>
          <p:nvPr/>
        </p:nvSpPr>
        <p:spPr>
          <a:xfrm>
            <a:off x="1130143" y="2366010"/>
            <a:ext cx="514500" cy="514500"/>
          </a:xfrm>
          <a:prstGeom prst="ellipse">
            <a:avLst/>
          </a:prstGeom>
          <a:solidFill>
            <a:srgbClr val="14264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30"/>
          <p:cNvSpPr/>
          <p:nvPr/>
        </p:nvSpPr>
        <p:spPr>
          <a:xfrm>
            <a:off x="1130143" y="2366010"/>
            <a:ext cx="5145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30"/>
          <p:cNvSpPr/>
          <p:nvPr/>
        </p:nvSpPr>
        <p:spPr>
          <a:xfrm>
            <a:off x="617236" y="2983230"/>
            <a:ext cx="154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Working team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0"/>
          <p:cNvSpPr/>
          <p:nvPr/>
        </p:nvSpPr>
        <p:spPr>
          <a:xfrm>
            <a:off x="630953" y="3374136"/>
            <a:ext cx="1512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Day-to-day questions and blockers, resolved in the flow of work.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6" name="Google Shape;286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2346018" y="2503170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0"/>
          <p:cNvSpPr/>
          <p:nvPr/>
        </p:nvSpPr>
        <p:spPr>
          <a:xfrm>
            <a:off x="2603195" y="2125980"/>
            <a:ext cx="1814400" cy="1851900"/>
          </a:xfrm>
          <a:prstGeom prst="roundRect">
            <a:avLst>
              <a:gd fmla="val 3024" name="adj"/>
            </a:avLst>
          </a:prstGeom>
          <a:solidFill>
            <a:srgbClr val="EEF2F9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30"/>
          <p:cNvSpPr/>
          <p:nvPr/>
        </p:nvSpPr>
        <p:spPr>
          <a:xfrm>
            <a:off x="3253265" y="2366010"/>
            <a:ext cx="514500" cy="514500"/>
          </a:xfrm>
          <a:prstGeom prst="ellipse">
            <a:avLst/>
          </a:prstGeom>
          <a:solidFill>
            <a:srgbClr val="2E5AA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30"/>
          <p:cNvSpPr/>
          <p:nvPr/>
        </p:nvSpPr>
        <p:spPr>
          <a:xfrm>
            <a:off x="3253265" y="2366010"/>
            <a:ext cx="5145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0"/>
          <p:cNvSpPr/>
          <p:nvPr/>
        </p:nvSpPr>
        <p:spPr>
          <a:xfrm>
            <a:off x="2740359" y="2983230"/>
            <a:ext cx="154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Delivery Manager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0"/>
          <p:cNvSpPr/>
          <p:nvPr/>
        </p:nvSpPr>
        <p:spPr>
          <a:xfrm>
            <a:off x="2754075" y="3374136"/>
            <a:ext cx="1512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Your single point of contact steps in when a blocker persists [24–48h].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4469140" y="2503170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0"/>
          <p:cNvSpPr/>
          <p:nvPr/>
        </p:nvSpPr>
        <p:spPr>
          <a:xfrm>
            <a:off x="4726317" y="2125980"/>
            <a:ext cx="1814400" cy="1851900"/>
          </a:xfrm>
          <a:prstGeom prst="roundRect">
            <a:avLst>
              <a:gd fmla="val 3024" name="adj"/>
            </a:avLst>
          </a:prstGeom>
          <a:solidFill>
            <a:srgbClr val="EEF2F9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30"/>
          <p:cNvSpPr/>
          <p:nvPr/>
        </p:nvSpPr>
        <p:spPr>
          <a:xfrm>
            <a:off x="5376387" y="2366010"/>
            <a:ext cx="514500" cy="514500"/>
          </a:xfrm>
          <a:prstGeom prst="ellipse">
            <a:avLst/>
          </a:prstGeom>
          <a:solidFill>
            <a:srgbClr val="14264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"/>
          <p:cNvSpPr/>
          <p:nvPr/>
        </p:nvSpPr>
        <p:spPr>
          <a:xfrm>
            <a:off x="5376387" y="2366010"/>
            <a:ext cx="5145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/>
          <p:nvPr/>
        </p:nvSpPr>
        <p:spPr>
          <a:xfrm>
            <a:off x="4863481" y="2983230"/>
            <a:ext cx="154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Delivery </a:t>
            </a:r>
            <a:r>
              <a:rPr b="1" lang="en" sz="1100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Director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0"/>
          <p:cNvSpPr/>
          <p:nvPr/>
        </p:nvSpPr>
        <p:spPr>
          <a:xfrm>
            <a:off x="4877197" y="3374136"/>
            <a:ext cx="1512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Engages if delivery, quality, or commitments are at signi</a:t>
            </a:r>
            <a:r>
              <a:rPr lang="en" sz="900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ficant</a:t>
            </a:r>
            <a:r>
              <a:rPr b="0" i="0" lang="en" sz="900" u="none" cap="none" strike="noStrike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 risk.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8" name="Google Shape;2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592262" y="2503170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0"/>
          <p:cNvSpPr/>
          <p:nvPr/>
        </p:nvSpPr>
        <p:spPr>
          <a:xfrm>
            <a:off x="6849438" y="2125980"/>
            <a:ext cx="1814400" cy="1851900"/>
          </a:xfrm>
          <a:prstGeom prst="roundRect">
            <a:avLst>
              <a:gd fmla="val 3024" name="adj"/>
            </a:avLst>
          </a:prstGeom>
          <a:solidFill>
            <a:srgbClr val="EEF2F9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30"/>
          <p:cNvSpPr/>
          <p:nvPr/>
        </p:nvSpPr>
        <p:spPr>
          <a:xfrm>
            <a:off x="7499508" y="2366010"/>
            <a:ext cx="514500" cy="514500"/>
          </a:xfrm>
          <a:prstGeom prst="ellipse">
            <a:avLst/>
          </a:prstGeom>
          <a:solidFill>
            <a:srgbClr val="2E5AA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30"/>
          <p:cNvSpPr/>
          <p:nvPr/>
        </p:nvSpPr>
        <p:spPr>
          <a:xfrm>
            <a:off x="7499508" y="2366010"/>
            <a:ext cx="5145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0"/>
          <p:cNvSpPr/>
          <p:nvPr/>
        </p:nvSpPr>
        <p:spPr>
          <a:xfrm>
            <a:off x="6986602" y="2983230"/>
            <a:ext cx="154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4264D"/>
                </a:solidFill>
                <a:latin typeface="Calibri"/>
                <a:ea typeface="Calibri"/>
                <a:cs typeface="Calibri"/>
                <a:sym typeface="Calibri"/>
              </a:rPr>
              <a:t>Executive sponsors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/>
          <p:nvPr/>
        </p:nvSpPr>
        <p:spPr>
          <a:xfrm>
            <a:off x="7000318" y="3374136"/>
            <a:ext cx="1512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F4C63"/>
                </a:solidFill>
                <a:latin typeface="Calibri"/>
                <a:ea typeface="Calibri"/>
                <a:cs typeface="Calibri"/>
                <a:sym typeface="Calibri"/>
              </a:rPr>
              <a:t>Both sponsors align on material scope, risk, or relationship matters.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1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31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Addressing the “elephants in the room” proactively to ensure effective kickoff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11" name="Google Shape;311;p31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Initial risk register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aphicFrame>
        <p:nvGraphicFramePr>
          <p:cNvPr id="312" name="Google Shape;312;p31"/>
          <p:cNvGraphicFramePr/>
          <p:nvPr/>
        </p:nvGraphicFramePr>
        <p:xfrm>
          <a:off x="480073" y="17613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{E948CED7-A0B8-4A06-85AC-5F1379CAB3A5}</a:tableStyleId>
              </a:tblPr>
              <a:tblGrid>
                <a:gridCol w="2755100"/>
                <a:gridCol w="1031575"/>
                <a:gridCol w="3137675"/>
                <a:gridCol w="1305250"/>
              </a:tblGrid>
              <a:tr h="44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Risk Description</a:t>
                      </a:r>
                      <a:endParaRPr sz="11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Prob/Impact</a:t>
                      </a:r>
                      <a:endParaRPr sz="11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Proposed Mitigation Strategy</a:t>
                      </a:r>
                      <a:endParaRPr b="1" sz="110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Target Resolution Date</a:t>
                      </a:r>
                      <a:endParaRPr b="1" sz="110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64D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</a:t>
                      </a:r>
                      <a:r>
                        <a:rPr b="1"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Title</a:t>
                      </a:r>
                      <a:r>
                        <a:rPr b="1"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]</a:t>
                      </a:r>
                      <a:br>
                        <a:rPr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</a:br>
                      <a:r>
                        <a:rPr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[Brief Descri</a:t>
                      </a:r>
                      <a:r>
                        <a:rPr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ption]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[High/High]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[Description]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solidFill>
                          <a:srgbClr val="3F4C63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[Title]</a:t>
                      </a:r>
                      <a:br>
                        <a:rPr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</a:br>
                      <a:r>
                        <a:rPr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[Brief Description]</a:t>
                      </a:r>
                      <a:endParaRPr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[Med/Med]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[Description]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solidFill>
                          <a:srgbClr val="3F4C63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[Title]</a:t>
                      </a:r>
                      <a:br>
                        <a:rPr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</a:br>
                      <a:r>
                        <a:rPr lang="en" sz="1000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[Brief Description]</a:t>
                      </a:r>
                      <a:endParaRPr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[Low/Low]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[Description]</a:t>
                      </a:r>
                      <a:endParaRPr sz="100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solidFill>
                          <a:srgbClr val="3F4C63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2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WAYS OF WORKING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2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How we handle new ideas without blowing up the budget and/or timeline.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0" name="Google Shape;320;p32"/>
          <p:cNvSpPr txBox="1"/>
          <p:nvPr>
            <p:ph idx="4294967295" type="ctrTitle"/>
          </p:nvPr>
        </p:nvSpPr>
        <p:spPr>
          <a:xfrm>
            <a:off x="480076" y="734900"/>
            <a:ext cx="8023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 sz="2400"/>
              <a:t>Managing Change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1" name="Google Shape;321;p32"/>
          <p:cNvSpPr/>
          <p:nvPr/>
        </p:nvSpPr>
        <p:spPr>
          <a:xfrm>
            <a:off x="480110" y="1862795"/>
            <a:ext cx="3920400" cy="2674500"/>
          </a:xfrm>
          <a:prstGeom prst="roundRect">
            <a:avLst>
              <a:gd fmla="val 2051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2"/>
          <p:cNvSpPr/>
          <p:nvPr/>
        </p:nvSpPr>
        <p:spPr>
          <a:xfrm>
            <a:off x="754438" y="2137115"/>
            <a:ext cx="548700" cy="548400"/>
          </a:xfrm>
          <a:prstGeom prst="ellipse">
            <a:avLst/>
          </a:prstGeom>
          <a:solidFill>
            <a:srgbClr val="E1E9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32"/>
          <p:cNvSpPr/>
          <p:nvPr/>
        </p:nvSpPr>
        <p:spPr>
          <a:xfrm>
            <a:off x="1405965" y="2205695"/>
            <a:ext cx="2891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How we keep you informed</a:t>
            </a:r>
            <a:endParaRPr i="0" sz="13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4" name="Google Shape;324;p32"/>
          <p:cNvSpPr/>
          <p:nvPr/>
        </p:nvSpPr>
        <p:spPr>
          <a:xfrm>
            <a:off x="788729" y="2891495"/>
            <a:ext cx="33033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397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Proxima Nova"/>
              <a:buChar char="•"/>
            </a:pPr>
            <a:r>
              <a:rPr i="0" lang="en" sz="1000" u="none" cap="none" strike="noStrike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A weekly status report with a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n honest health rating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139700" lvl="0" marL="139700" marR="0" rtl="0" algn="l">
              <a:spcBef>
                <a:spcPts val="80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Proxima Nova"/>
              <a:buChar char="•"/>
            </a:pP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Surface risks early and the risk and issues log is always 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accessible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139700" lvl="0" marL="139700" marR="0" rtl="0" algn="l">
              <a:spcBef>
                <a:spcPts val="80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Proxima Nova"/>
              <a:buChar char="•"/>
            </a:pP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New requirements are identified early, assessed for impact, then reviewed with stakeholders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5" name="Google Shape;325;p32"/>
          <p:cNvSpPr/>
          <p:nvPr/>
        </p:nvSpPr>
        <p:spPr>
          <a:xfrm>
            <a:off x="4743500" y="1862795"/>
            <a:ext cx="3920400" cy="2674500"/>
          </a:xfrm>
          <a:prstGeom prst="roundRect">
            <a:avLst>
              <a:gd fmla="val 2051" name="adj"/>
            </a:avLst>
          </a:prstGeom>
          <a:solidFill>
            <a:srgbClr val="FFFFFF"/>
          </a:solidFill>
          <a:ln cap="flat" cmpd="sng" w="9525">
            <a:solidFill>
              <a:srgbClr val="D3DCEC"/>
            </a:solidFill>
            <a:prstDash val="solid"/>
            <a:round/>
            <a:headEnd len="sm" w="sm" type="none"/>
            <a:tailEnd len="sm" w="sm" type="none"/>
          </a:ln>
          <a:effectLst>
            <a:outerShdw blurRad="85727" rotWithShape="0" algn="bl" dir="5400000" dist="28576">
              <a:srgbClr val="0B1836">
                <a:alpha val="1608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2"/>
          <p:cNvSpPr/>
          <p:nvPr/>
        </p:nvSpPr>
        <p:spPr>
          <a:xfrm>
            <a:off x="5017827" y="2137115"/>
            <a:ext cx="548700" cy="548400"/>
          </a:xfrm>
          <a:prstGeom prst="ellipse">
            <a:avLst/>
          </a:prstGeom>
          <a:solidFill>
            <a:srgbClr val="E1E9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32"/>
          <p:cNvSpPr/>
          <p:nvPr/>
        </p:nvSpPr>
        <p:spPr>
          <a:xfrm>
            <a:off x="5669355" y="2205695"/>
            <a:ext cx="2891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How we handle change</a:t>
            </a:r>
            <a:endParaRPr i="0" sz="13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8" name="Google Shape;328;p32"/>
          <p:cNvSpPr/>
          <p:nvPr/>
        </p:nvSpPr>
        <p:spPr>
          <a:xfrm>
            <a:off x="5052118" y="2891495"/>
            <a:ext cx="33033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4264D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Refinements within scope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We document and proceed — no friction, no delay.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14264D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4264D"/>
                </a:solidFill>
                <a:latin typeface="Proxima Nova"/>
                <a:ea typeface="Proxima Nova"/>
                <a:cs typeface="Proxima Nova"/>
                <a:sym typeface="Proxima Nova"/>
              </a:rPr>
              <a:t>Changes to scope, timeline, or budget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4C63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We pause, documen</a:t>
            </a:r>
            <a:r>
              <a:rPr lang="en" sz="1000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t the change and impact, then </a:t>
            </a:r>
            <a:r>
              <a:rPr i="0" lang="en" sz="1000" u="none" cap="none" strike="noStrike">
                <a:solidFill>
                  <a:srgbClr val="3F4C63"/>
                </a:solidFill>
                <a:latin typeface="Proxima Nova"/>
                <a:ea typeface="Proxima Nova"/>
                <a:cs typeface="Proxima Nova"/>
                <a:sym typeface="Proxima Nova"/>
              </a:rPr>
              <a:t>bring it to you — agreed together before any work begins.</a:t>
            </a:r>
            <a:endParaRPr i="0" sz="1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29" name="Google Shape;32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7577" y="2249247"/>
            <a:ext cx="329200" cy="324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5476" y="2247992"/>
            <a:ext cx="326648" cy="326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3"/>
          <p:cNvSpPr/>
          <p:nvPr/>
        </p:nvSpPr>
        <p:spPr>
          <a:xfrm>
            <a:off x="214100" y="0"/>
            <a:ext cx="89298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6" name="Google Shape;336;p33"/>
          <p:cNvSpPr txBox="1"/>
          <p:nvPr>
            <p:ph type="ctrTitle"/>
          </p:nvPr>
        </p:nvSpPr>
        <p:spPr>
          <a:xfrm>
            <a:off x="666750" y="1001575"/>
            <a:ext cx="5575500" cy="11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Proxima Nova"/>
                <a:ea typeface="Proxima Nova"/>
                <a:cs typeface="Proxima Nova"/>
                <a:sym typeface="Proxima Nova"/>
              </a:rPr>
              <a:t>Housekeeping</a:t>
            </a:r>
            <a:endParaRPr sz="1800">
              <a:solidFill>
                <a:schemeClr val="accent4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"/>
          <p:cNvSpPr/>
          <p:nvPr/>
        </p:nvSpPr>
        <p:spPr>
          <a:xfrm>
            <a:off x="480073" y="425196"/>
            <a:ext cx="6858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AAC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2E5AAC"/>
                </a:solidFill>
                <a:latin typeface="Proxima Nova"/>
                <a:ea typeface="Proxima Nova"/>
                <a:cs typeface="Proxima Nova"/>
                <a:sym typeface="Proxima Nova"/>
              </a:rPr>
              <a:t>PATH FORWARD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480073" y="1234440"/>
            <a:ext cx="6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89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041133"/>
                </a:solidFill>
                <a:latin typeface="Proxima Nova"/>
                <a:ea typeface="Proxima Nova"/>
                <a:cs typeface="Proxima Nova"/>
                <a:sym typeface="Proxima Nova"/>
              </a:rPr>
              <a:t>What needs to happen in the next few days.</a:t>
            </a:r>
            <a:endParaRPr sz="1100">
              <a:solidFill>
                <a:srgbClr val="04113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4" name="Google Shape;344;p34"/>
          <p:cNvSpPr txBox="1"/>
          <p:nvPr>
            <p:ph idx="4294967295" type="ctrTitle"/>
          </p:nvPr>
        </p:nvSpPr>
        <p:spPr>
          <a:xfrm>
            <a:off x="480076" y="734900"/>
            <a:ext cx="8023800" cy="2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</a:pPr>
            <a:r>
              <a:rPr lang="en"/>
              <a:t>Next Steps</a:t>
            </a:r>
            <a:endParaRPr sz="24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aphicFrame>
        <p:nvGraphicFramePr>
          <p:cNvPr id="345" name="Google Shape;345;p34"/>
          <p:cNvGraphicFramePr/>
          <p:nvPr/>
        </p:nvGraphicFramePr>
        <p:xfrm>
          <a:off x="657773" y="17487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{E948CED7-A0B8-4A06-85AC-5F1379CAB3A5}</a:tableStyleId>
              </a:tblPr>
              <a:tblGrid>
                <a:gridCol w="1580325"/>
                <a:gridCol w="4914975"/>
                <a:gridCol w="1508800"/>
              </a:tblGrid>
              <a:tr h="44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Owner</a:t>
                      </a:r>
                      <a:endParaRPr sz="11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Action</a:t>
                      </a:r>
                      <a:endParaRPr sz="11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Due</a:t>
                      </a:r>
                      <a:endParaRPr sz="11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64D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[Client]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Provide access to [system / data / environment]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64D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[Toptal]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Finalize the Project Success Agreement with the sponsor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9"/>
                    </a:solidFill>
                  </a:tcPr>
                </a:tc>
              </a:tr>
              <a:tr h="477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64D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4264D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[Client]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Confirm named reviewer(s) for approvals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4C63"/>
                        </a:buClr>
                        <a:buSzPts val="125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3F4C63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[Date]</a:t>
                      </a:r>
                      <a:endParaRPr sz="1000" u="none" cap="none" strike="noStrike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3DC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Toptal">
      <a:dk1>
        <a:srgbClr val="041133"/>
      </a:dk1>
      <a:lt1>
        <a:srgbClr val="FFFFFF"/>
      </a:lt1>
      <a:dk2>
        <a:srgbClr val="626679"/>
      </a:dk2>
      <a:lt2>
        <a:srgbClr val="F4F6FB"/>
      </a:lt2>
      <a:accent1>
        <a:srgbClr val="204ECF"/>
      </a:accent1>
      <a:accent2>
        <a:srgbClr val="183A9E"/>
      </a:accent2>
      <a:accent3>
        <a:srgbClr val="0E246E"/>
      </a:accent3>
      <a:accent4>
        <a:srgbClr val="25A9EE"/>
      </a:accent4>
      <a:accent5>
        <a:srgbClr val="1F4ECE"/>
      </a:accent5>
      <a:accent6>
        <a:srgbClr val="0E246E"/>
      </a:accent6>
      <a:hlink>
        <a:srgbClr val="1F4ECE"/>
      </a:hlink>
      <a:folHlink>
        <a:srgbClr val="18399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