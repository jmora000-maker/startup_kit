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Montserrat" panose="020B0604020202020204" charset="0"/>
      <p:bold r:id="rId19"/>
      <p:boldItalic r:id="rId20"/>
    </p:embeddedFont>
    <p:embeddedFont>
      <p:font typeface="Open Sans" panose="020B0604020202020204" charset="0"/>
      <p:regular r:id="rId21"/>
      <p:bold r:id="rId22"/>
      <p:italic r:id="rId23"/>
      <p:boldItalic r:id="rId24"/>
    </p:embeddedFont>
    <p:embeddedFont>
      <p:font typeface="Proxima Nova" panose="020B0604020202020204" charset="0"/>
      <p:regular r:id="rId25"/>
      <p:bold r:id="rId26"/>
      <p:italic r:id="rId27"/>
      <p:boldItalic r:id="rId28"/>
    </p:embeddedFont>
    <p:embeddedFont>
      <p:font typeface="Proxima Nova Semibold" panose="020B0604020202020204" charset="0"/>
      <p:regular r:id="rId29"/>
      <p:bold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55">
          <p15:clr>
            <a:srgbClr val="747775"/>
          </p15:clr>
        </p15:guide>
        <p15:guide id="2" orient="horz" pos="864">
          <p15:clr>
            <a:srgbClr val="747775"/>
          </p15:clr>
        </p15:guide>
        <p15:guide id="3" orient="horz" pos="998">
          <p15:clr>
            <a:srgbClr val="747775"/>
          </p15:clr>
        </p15:guide>
        <p15:guide id="4" pos="420">
          <p15:clr>
            <a:srgbClr val="747775"/>
          </p15:clr>
        </p15:guide>
        <p15:guide id="5" orient="horz" pos="764">
          <p15:clr>
            <a:srgbClr val="747775"/>
          </p15:clr>
        </p15:guide>
        <p15:guide id="6" orient="horz" pos="117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948CED7-A0B8-4A06-85AC-5F1379CAB3A5}">
  <a:tblStyle styleId="{E948CED7-A0B8-4A06-85AC-5F1379CAB3A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280" y="60"/>
      </p:cViewPr>
      <p:guideLst>
        <p:guide orient="horz" pos="555"/>
        <p:guide orient="horz" pos="864"/>
        <p:guide orient="horz" pos="998"/>
        <p:guide pos="420"/>
        <p:guide orient="horz" pos="764"/>
        <p:guide orient="horz" pos="117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f2dc226b82_0_46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f2dc226b82_0_46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03aceb6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03aceb6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Table Slides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Severity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03aceb631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03aceb631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Table Slides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Severity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011b280258_0_2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011b280258_0_2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4bdcfafbd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727" y="857273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f4bdcfafbd_0_271:notes"/>
          <p:cNvSpPr txBox="1">
            <a:spLocks noGrp="1"/>
          </p:cNvSpPr>
          <p:nvPr>
            <p:ph type="body" idx="1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 each answer aloud and ask the client to confirm or correct. Capture changes live. This is where alignment actually happens — do not rush it. Anything that shifts scope, timeline, or the exclusions gets logged; the PM codifies the final wording with the sponsor after kickoff and secures approval before Discovery.</a:t>
            </a:r>
            <a:endParaRPr/>
          </a:p>
        </p:txBody>
      </p:sp>
      <p:sp>
        <p:nvSpPr>
          <p:cNvPr id="169" name="Google Shape;169;g3f4bdcfafbd_0_271:notes"/>
          <p:cNvSpPr txBox="1">
            <a:spLocks noGrp="1"/>
          </p:cNvSpPr>
          <p:nvPr>
            <p:ph type="sldNum" idx="12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4bdcfafbd_0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f4bdcfafbd_0_3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4bdcfafbd_0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f4bdcfafbd_0_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03aceb631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f03aceb631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Table Slides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Severity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4bdcfafbd_0_11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3f4bdcfafbd_0_1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4bdcfafbd_0_1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727" y="857273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g3f4bdcfafbd_0_1185:notes"/>
          <p:cNvSpPr txBox="1">
            <a:spLocks noGrp="1"/>
          </p:cNvSpPr>
          <p:nvPr>
            <p:ph type="body" idx="1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 each answer aloud and ask the client to confirm or correct. Capture changes live. This is where alignment actually happens — do not rush it. Anything that shifts scope, timeline, or the exclusions gets logged; the PM codifies the final wording with the sponsor after kickoff and secures approval before Discovery.</a:t>
            </a:r>
            <a:endParaRPr/>
          </a:p>
        </p:txBody>
      </p:sp>
      <p:sp>
        <p:nvSpPr>
          <p:cNvPr id="256" name="Google Shape;256;g3f4bdcfafbd_0_1185:notes"/>
          <p:cNvSpPr txBox="1">
            <a:spLocks noGrp="1"/>
          </p:cNvSpPr>
          <p:nvPr>
            <p:ph type="sldNum" idx="12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4bdcfafbd_0_6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727" y="857273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g3f4bdcfafbd_0_604:notes"/>
          <p:cNvSpPr txBox="1">
            <a:spLocks noGrp="1"/>
          </p:cNvSpPr>
          <p:nvPr>
            <p:ph type="body" idx="1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 each answer aloud and ask the client to confirm or correct. Capture changes live. This is where alignment actually happens — do not rush it. Anything that shifts scope, timeline, or the exclusions gets logged; the PM codifies the final wording with the sponsor after kickoff and secures approval before Discovery.</a:t>
            </a:r>
            <a:endParaRPr/>
          </a:p>
        </p:txBody>
      </p:sp>
      <p:sp>
        <p:nvSpPr>
          <p:cNvPr id="276" name="Google Shape;276;g3f4bdcfafbd_0_604:notes"/>
          <p:cNvSpPr txBox="1">
            <a:spLocks noGrp="1"/>
          </p:cNvSpPr>
          <p:nvPr>
            <p:ph type="sldNum" idx="12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4bdcfafbd_0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727" y="857273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g3f4bdcfafbd_0_689:notes"/>
          <p:cNvSpPr txBox="1">
            <a:spLocks noGrp="1"/>
          </p:cNvSpPr>
          <p:nvPr>
            <p:ph type="body" idx="1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 each answer aloud and ask the client to confirm or correct. Capture changes live. This is where alignment actually happens — do not rush it. Anything that shifts scope, timeline, or the exclusions gets logged; the PM codifies the final wording with the sponsor after kickoff and secures approval before Discovery.</a:t>
            </a:r>
            <a:endParaRPr/>
          </a:p>
        </p:txBody>
      </p:sp>
      <p:sp>
        <p:nvSpPr>
          <p:cNvPr id="307" name="Google Shape;307;g3f4bdcfafbd_0_689:notes"/>
          <p:cNvSpPr txBox="1">
            <a:spLocks noGrp="1"/>
          </p:cNvSpPr>
          <p:nvPr>
            <p:ph type="sldNum" idx="12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4bdcfafbd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727" y="857273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g3f4bdcfafbd_0_723:notes"/>
          <p:cNvSpPr txBox="1">
            <a:spLocks noGrp="1"/>
          </p:cNvSpPr>
          <p:nvPr>
            <p:ph type="body" idx="1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 each answer aloud and ask the client to confirm or correct. Capture changes live. This is where alignment actually happens — do not rush it. Anything that shifts scope, timeline, or the exclusions gets logged; the PM codifies the final wording with the sponsor after kickoff and secures approval before Discovery.</a:t>
            </a:r>
            <a:endParaRPr/>
          </a:p>
        </p:txBody>
      </p:sp>
      <p:sp>
        <p:nvSpPr>
          <p:cNvPr id="316" name="Google Shape;316;g3f4bdcfafbd_0_723:notes"/>
          <p:cNvSpPr txBox="1">
            <a:spLocks noGrp="1"/>
          </p:cNvSpPr>
          <p:nvPr>
            <p:ph type="sldNum" idx="12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f4bdcfafbd_0_6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f4bdcfafbd_0_6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4bdcfafbd_0_6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727" y="857273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f4bdcfafbd_0_615:notes"/>
          <p:cNvSpPr txBox="1">
            <a:spLocks noGrp="1"/>
          </p:cNvSpPr>
          <p:nvPr>
            <p:ph type="body" idx="1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 each answer aloud and ask the client to confirm or correct. Capture changes live. This is where alignment actually happens — do not rush it. Anything that shifts scope, timeline, or the exclusions gets logged; the PM codifies the final wording with the sponsor after kickoff and secures approval before Discovery.</a:t>
            </a:r>
            <a:endParaRPr/>
          </a:p>
        </p:txBody>
      </p:sp>
      <p:sp>
        <p:nvSpPr>
          <p:cNvPr id="340" name="Google Shape;340;g3f4bdcfafbd_0_615:notes"/>
          <p:cNvSpPr txBox="1">
            <a:spLocks noGrp="1"/>
          </p:cNvSpPr>
          <p:nvPr>
            <p:ph type="sldNum" idx="12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4bdcfafbd_0_9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f4bdcfafbd_0_9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-Title Slide ">
  <p:cSld name="24_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09835" y="4754928"/>
            <a:ext cx="285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 rtl="0">
              <a:spcBef>
                <a:spcPts val="0"/>
              </a:spcBef>
              <a:buNone/>
              <a:defRPr sz="11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lvl="1" indent="0" algn="ctr" rtl="0">
              <a:spcBef>
                <a:spcPts val="0"/>
              </a:spcBef>
              <a:buNone/>
              <a:defRPr sz="11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lvl="2" indent="0" algn="ctr" rtl="0">
              <a:spcBef>
                <a:spcPts val="0"/>
              </a:spcBef>
              <a:buNone/>
              <a:defRPr sz="11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lvl="3" indent="0" algn="ctr" rtl="0">
              <a:spcBef>
                <a:spcPts val="0"/>
              </a:spcBef>
              <a:buNone/>
              <a:defRPr sz="11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lvl="4" indent="0" algn="ctr" rtl="0">
              <a:spcBef>
                <a:spcPts val="0"/>
              </a:spcBef>
              <a:buNone/>
              <a:defRPr sz="11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lvl="5" indent="0" algn="ctr" rtl="0">
              <a:spcBef>
                <a:spcPts val="0"/>
              </a:spcBef>
              <a:buNone/>
              <a:defRPr sz="11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lvl="6" indent="0" algn="ctr" rtl="0">
              <a:spcBef>
                <a:spcPts val="0"/>
              </a:spcBef>
              <a:buNone/>
              <a:defRPr sz="11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lvl="7" indent="0" algn="ctr" rtl="0">
              <a:spcBef>
                <a:spcPts val="0"/>
              </a:spcBef>
              <a:buNone/>
              <a:defRPr sz="11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lvl="8" indent="0" algn="ctr" rtl="0">
              <a:spcBef>
                <a:spcPts val="0"/>
              </a:spcBef>
              <a:buNone/>
              <a:defRPr sz="11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55"/>
            <a:ext cx="9144001" cy="5140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675" y="419000"/>
            <a:ext cx="1180749" cy="33555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343675" y="2907450"/>
            <a:ext cx="3016200" cy="8193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Proxima Nova"/>
              <a:buNone/>
              <a:defRPr sz="26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351170" y="2571750"/>
            <a:ext cx="3016200" cy="335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roxima Nova"/>
              <a:buNone/>
              <a:defRPr sz="1300">
                <a:solidFill>
                  <a:schemeClr val="lt1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7" name="Google Shape;17;p2"/>
          <p:cNvCxnSpPr/>
          <p:nvPr/>
        </p:nvCxnSpPr>
        <p:spPr>
          <a:xfrm>
            <a:off x="443130" y="4044275"/>
            <a:ext cx="891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Google Shape;18;p2"/>
          <p:cNvSpPr txBox="1">
            <a:spLocks noGrp="1"/>
          </p:cNvSpPr>
          <p:nvPr>
            <p:ph type="subTitle" idx="2"/>
          </p:nvPr>
        </p:nvSpPr>
        <p:spPr>
          <a:xfrm>
            <a:off x="366160" y="4153150"/>
            <a:ext cx="3016200" cy="335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Proxima Nova"/>
              <a:buNone/>
              <a:defRPr sz="1300" b="1">
                <a:solidFill>
                  <a:schemeClr val="accent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1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9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6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-Title Slide-Var 1">
  <p:cSld name="24_Title Slide_1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l="367" r="367"/>
          <a:stretch/>
        </p:blipFill>
        <p:spPr>
          <a:xfrm>
            <a:off x="0" y="-38100"/>
            <a:ext cx="9144005" cy="518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675" y="419000"/>
            <a:ext cx="1180749" cy="33555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343675" y="2907450"/>
            <a:ext cx="3016200" cy="8193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Proxima Nova"/>
              <a:buNone/>
              <a:defRPr sz="26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351170" y="2571750"/>
            <a:ext cx="3016200" cy="335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roxima Nova"/>
              <a:buNone/>
              <a:defRPr sz="1300">
                <a:solidFill>
                  <a:schemeClr val="lt1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24" name="Google Shape;24;p3"/>
          <p:cNvCxnSpPr/>
          <p:nvPr/>
        </p:nvCxnSpPr>
        <p:spPr>
          <a:xfrm>
            <a:off x="443130" y="4044275"/>
            <a:ext cx="891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Google Shape;25;p3"/>
          <p:cNvSpPr txBox="1">
            <a:spLocks noGrp="1"/>
          </p:cNvSpPr>
          <p:nvPr>
            <p:ph type="subTitle" idx="2"/>
          </p:nvPr>
        </p:nvSpPr>
        <p:spPr>
          <a:xfrm>
            <a:off x="366160" y="4153150"/>
            <a:ext cx="3016200" cy="335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Proxima Nova"/>
              <a:buNone/>
              <a:defRPr sz="1300" b="1">
                <a:solidFill>
                  <a:schemeClr val="accent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1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9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6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Template">
  <p:cSld name="Approach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ctrTitle"/>
          </p:nvPr>
        </p:nvSpPr>
        <p:spPr>
          <a:xfrm>
            <a:off x="1200150" y="1103700"/>
            <a:ext cx="56493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Slide">
  <p:cSld name="10_Title Slid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>
            <a:spLocks noGrp="1"/>
          </p:cNvSpPr>
          <p:nvPr>
            <p:ph type="pic" idx="2"/>
          </p:nvPr>
        </p:nvSpPr>
        <p:spPr>
          <a:xfrm>
            <a:off x="284356" y="0"/>
            <a:ext cx="8859600" cy="5143500"/>
          </a:xfrm>
          <a:prstGeom prst="rect">
            <a:avLst/>
          </a:prstGeom>
          <a:solidFill>
            <a:srgbClr val="CFD9F7"/>
          </a:solidFill>
          <a:ln>
            <a:noFill/>
          </a:ln>
        </p:spPr>
      </p:sp>
      <p:sp>
        <p:nvSpPr>
          <p:cNvPr id="30" name="Google Shape;30;p5"/>
          <p:cNvSpPr txBox="1">
            <a:spLocks noGrp="1"/>
          </p:cNvSpPr>
          <p:nvPr>
            <p:ph type="ctrTitle"/>
          </p:nvPr>
        </p:nvSpPr>
        <p:spPr>
          <a:xfrm>
            <a:off x="1200150" y="2023849"/>
            <a:ext cx="46818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Montserrat"/>
              <a:buNone/>
              <a:defRPr sz="3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1_Title Slide">
  <p:cSld name="111_Title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6"/>
          <p:cNvGrpSpPr/>
          <p:nvPr/>
        </p:nvGrpSpPr>
        <p:grpSpPr>
          <a:xfrm>
            <a:off x="3190559" y="0"/>
            <a:ext cx="5953432" cy="5143500"/>
            <a:chOff x="4254079" y="0"/>
            <a:chExt cx="7937909" cy="6858000"/>
          </a:xfrm>
        </p:grpSpPr>
        <p:sp>
          <p:nvSpPr>
            <p:cNvPr id="33" name="Google Shape;33;p6"/>
            <p:cNvSpPr/>
            <p:nvPr/>
          </p:nvSpPr>
          <p:spPr>
            <a:xfrm>
              <a:off x="4590288" y="0"/>
              <a:ext cx="76017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4" name="Google Shape;34;p6"/>
            <p:cNvSpPr/>
            <p:nvPr/>
          </p:nvSpPr>
          <p:spPr>
            <a:xfrm>
              <a:off x="4254079" y="2574262"/>
              <a:ext cx="672300" cy="67230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0_Title Slide 1">
  <p:cSld name="111_Title Slide_1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oogle Shape;36;p7"/>
          <p:cNvGrpSpPr/>
          <p:nvPr/>
        </p:nvGrpSpPr>
        <p:grpSpPr>
          <a:xfrm>
            <a:off x="4977122" y="0"/>
            <a:ext cx="4166950" cy="5143500"/>
            <a:chOff x="6636162" y="0"/>
            <a:chExt cx="5555934" cy="6858000"/>
          </a:xfrm>
        </p:grpSpPr>
        <p:sp>
          <p:nvSpPr>
            <p:cNvPr id="37" name="Google Shape;37;p7"/>
            <p:cNvSpPr/>
            <p:nvPr/>
          </p:nvSpPr>
          <p:spPr>
            <a:xfrm>
              <a:off x="6972396" y="0"/>
              <a:ext cx="52197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8" name="Google Shape;38;p7"/>
            <p:cNvSpPr/>
            <p:nvPr/>
          </p:nvSpPr>
          <p:spPr>
            <a:xfrm>
              <a:off x="6636162" y="2574262"/>
              <a:ext cx="672300" cy="67230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3_Title Slide">
  <p:cSld name="133_Title Slide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/>
          <p:nvPr/>
        </p:nvSpPr>
        <p:spPr>
          <a:xfrm>
            <a:off x="3442716" y="0"/>
            <a:ext cx="57012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-Team-2">
  <p:cSld name="29_Title Slide_1_3_1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ctrTitle"/>
          </p:nvPr>
        </p:nvSpPr>
        <p:spPr>
          <a:xfrm>
            <a:off x="1200150" y="1200149"/>
            <a:ext cx="24249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>
            <a:spLocks noGrp="1"/>
          </p:cNvSpPr>
          <p:nvPr>
            <p:ph type="pic" idx="2"/>
          </p:nvPr>
        </p:nvSpPr>
        <p:spPr>
          <a:xfrm>
            <a:off x="4461374" y="1200150"/>
            <a:ext cx="1816500" cy="18165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9"/>
          <p:cNvSpPr>
            <a:spLocks noGrp="1"/>
          </p:cNvSpPr>
          <p:nvPr>
            <p:ph type="pic" idx="3"/>
          </p:nvPr>
        </p:nvSpPr>
        <p:spPr>
          <a:xfrm>
            <a:off x="6503606" y="1200150"/>
            <a:ext cx="1816500" cy="1816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-Team-3">
  <p:cSld name="29_Title Slide_1_3_1_2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ctrTitle"/>
          </p:nvPr>
        </p:nvSpPr>
        <p:spPr>
          <a:xfrm>
            <a:off x="1200150" y="1200149"/>
            <a:ext cx="24249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>
            <a:spLocks noGrp="1"/>
          </p:cNvSpPr>
          <p:nvPr>
            <p:ph type="pic" idx="2"/>
          </p:nvPr>
        </p:nvSpPr>
        <p:spPr>
          <a:xfrm>
            <a:off x="4009850" y="1200150"/>
            <a:ext cx="1418100" cy="14181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10"/>
          <p:cNvSpPr>
            <a:spLocks noGrp="1"/>
          </p:cNvSpPr>
          <p:nvPr>
            <p:ph type="pic" idx="3"/>
          </p:nvPr>
        </p:nvSpPr>
        <p:spPr>
          <a:xfrm>
            <a:off x="5604202" y="1200150"/>
            <a:ext cx="1418100" cy="14181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10"/>
          <p:cNvSpPr>
            <a:spLocks noGrp="1"/>
          </p:cNvSpPr>
          <p:nvPr>
            <p:ph type="pic" idx="4"/>
          </p:nvPr>
        </p:nvSpPr>
        <p:spPr>
          <a:xfrm>
            <a:off x="7198553" y="1200150"/>
            <a:ext cx="1418100" cy="1418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-Team-4">
  <p:cSld name="29_Title Slide_1_4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ctrTitle"/>
          </p:nvPr>
        </p:nvSpPr>
        <p:spPr>
          <a:xfrm>
            <a:off x="1200150" y="1200149"/>
            <a:ext cx="24249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>
            <a:spLocks noGrp="1"/>
          </p:cNvSpPr>
          <p:nvPr>
            <p:ph type="pic" idx="2"/>
          </p:nvPr>
        </p:nvSpPr>
        <p:spPr>
          <a:xfrm>
            <a:off x="4857225" y="698300"/>
            <a:ext cx="1377000" cy="13770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1"/>
          <p:cNvSpPr>
            <a:spLocks noGrp="1"/>
          </p:cNvSpPr>
          <p:nvPr>
            <p:ph type="pic" idx="3"/>
          </p:nvPr>
        </p:nvSpPr>
        <p:spPr>
          <a:xfrm>
            <a:off x="6571189" y="698300"/>
            <a:ext cx="1377000" cy="13770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11"/>
          <p:cNvSpPr>
            <a:spLocks noGrp="1"/>
          </p:cNvSpPr>
          <p:nvPr>
            <p:ph type="pic" idx="4"/>
          </p:nvPr>
        </p:nvSpPr>
        <p:spPr>
          <a:xfrm>
            <a:off x="4857225" y="2819943"/>
            <a:ext cx="1377000" cy="13770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1"/>
          <p:cNvSpPr>
            <a:spLocks noGrp="1"/>
          </p:cNvSpPr>
          <p:nvPr>
            <p:ph type="pic" idx="5"/>
          </p:nvPr>
        </p:nvSpPr>
        <p:spPr>
          <a:xfrm>
            <a:off x="6571189" y="2819943"/>
            <a:ext cx="1377000" cy="1377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-Team-5">
  <p:cSld name="29_Title Slide_1_3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ctrTitle"/>
          </p:nvPr>
        </p:nvSpPr>
        <p:spPr>
          <a:xfrm>
            <a:off x="1200150" y="1200149"/>
            <a:ext cx="24249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2"/>
          <p:cNvSpPr>
            <a:spLocks noGrp="1"/>
          </p:cNvSpPr>
          <p:nvPr>
            <p:ph type="pic" idx="2"/>
          </p:nvPr>
        </p:nvSpPr>
        <p:spPr>
          <a:xfrm>
            <a:off x="4213225" y="698300"/>
            <a:ext cx="1266600" cy="12666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2"/>
          <p:cNvSpPr>
            <a:spLocks noGrp="1"/>
          </p:cNvSpPr>
          <p:nvPr>
            <p:ph type="pic" idx="3"/>
          </p:nvPr>
        </p:nvSpPr>
        <p:spPr>
          <a:xfrm>
            <a:off x="5637150" y="698300"/>
            <a:ext cx="1266600" cy="12666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2"/>
          <p:cNvSpPr>
            <a:spLocks noGrp="1"/>
          </p:cNvSpPr>
          <p:nvPr>
            <p:ph type="pic" idx="4"/>
          </p:nvPr>
        </p:nvSpPr>
        <p:spPr>
          <a:xfrm>
            <a:off x="7061075" y="698300"/>
            <a:ext cx="1266600" cy="12666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2"/>
          <p:cNvSpPr>
            <a:spLocks noGrp="1"/>
          </p:cNvSpPr>
          <p:nvPr>
            <p:ph type="pic" idx="5"/>
          </p:nvPr>
        </p:nvSpPr>
        <p:spPr>
          <a:xfrm>
            <a:off x="4925188" y="2649725"/>
            <a:ext cx="1266600" cy="12666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2"/>
          <p:cNvSpPr>
            <a:spLocks noGrp="1"/>
          </p:cNvSpPr>
          <p:nvPr>
            <p:ph type="pic" idx="6"/>
          </p:nvPr>
        </p:nvSpPr>
        <p:spPr>
          <a:xfrm>
            <a:off x="6349113" y="2649725"/>
            <a:ext cx="1266600" cy="1266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-Team-6 ">
  <p:cSld name="29_Title Slide_1_5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ctrTitle"/>
          </p:nvPr>
        </p:nvSpPr>
        <p:spPr>
          <a:xfrm>
            <a:off x="1200150" y="1200149"/>
            <a:ext cx="24249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>
            <a:spLocks noGrp="1"/>
          </p:cNvSpPr>
          <p:nvPr>
            <p:ph type="pic" idx="2"/>
          </p:nvPr>
        </p:nvSpPr>
        <p:spPr>
          <a:xfrm>
            <a:off x="4213225" y="698300"/>
            <a:ext cx="1266600" cy="12666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3"/>
          <p:cNvSpPr>
            <a:spLocks noGrp="1"/>
          </p:cNvSpPr>
          <p:nvPr>
            <p:ph type="pic" idx="3"/>
          </p:nvPr>
        </p:nvSpPr>
        <p:spPr>
          <a:xfrm>
            <a:off x="5637150" y="698300"/>
            <a:ext cx="1266600" cy="12666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3"/>
          <p:cNvSpPr>
            <a:spLocks noGrp="1"/>
          </p:cNvSpPr>
          <p:nvPr>
            <p:ph type="pic" idx="4"/>
          </p:nvPr>
        </p:nvSpPr>
        <p:spPr>
          <a:xfrm>
            <a:off x="7061075" y="698300"/>
            <a:ext cx="1266600" cy="12666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>
            <a:spLocks noGrp="1"/>
          </p:cNvSpPr>
          <p:nvPr>
            <p:ph type="pic" idx="5"/>
          </p:nvPr>
        </p:nvSpPr>
        <p:spPr>
          <a:xfrm>
            <a:off x="4213225" y="2649725"/>
            <a:ext cx="1266600" cy="12666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3"/>
          <p:cNvSpPr>
            <a:spLocks noGrp="1"/>
          </p:cNvSpPr>
          <p:nvPr>
            <p:ph type="pic" idx="6"/>
          </p:nvPr>
        </p:nvSpPr>
        <p:spPr>
          <a:xfrm>
            <a:off x="5637150" y="2649725"/>
            <a:ext cx="1266600" cy="12666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3"/>
          <p:cNvSpPr>
            <a:spLocks noGrp="1"/>
          </p:cNvSpPr>
          <p:nvPr>
            <p:ph type="pic" idx="7"/>
          </p:nvPr>
        </p:nvSpPr>
        <p:spPr>
          <a:xfrm>
            <a:off x="7061075" y="2649725"/>
            <a:ext cx="1266600" cy="1266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Template 1">
  <p:cSld name="148_Title Slide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ctrTitle"/>
          </p:nvPr>
        </p:nvSpPr>
        <p:spPr>
          <a:xfrm>
            <a:off x="1200150" y="1116824"/>
            <a:ext cx="71613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-Team-4 1">
  <p:cSld name="29_Title Slide_1_4_1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ctrTitle"/>
          </p:nvPr>
        </p:nvSpPr>
        <p:spPr>
          <a:xfrm>
            <a:off x="1200150" y="1200149"/>
            <a:ext cx="24249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4857225" y="698300"/>
            <a:ext cx="1377000" cy="13770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>
            <a:spLocks noGrp="1"/>
          </p:cNvSpPr>
          <p:nvPr>
            <p:ph type="pic" idx="3"/>
          </p:nvPr>
        </p:nvSpPr>
        <p:spPr>
          <a:xfrm>
            <a:off x="6571189" y="698300"/>
            <a:ext cx="1377000" cy="13770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5"/>
          <p:cNvSpPr>
            <a:spLocks noGrp="1"/>
          </p:cNvSpPr>
          <p:nvPr>
            <p:ph type="pic" idx="4"/>
          </p:nvPr>
        </p:nvSpPr>
        <p:spPr>
          <a:xfrm>
            <a:off x="4857225" y="2819943"/>
            <a:ext cx="1377000" cy="13770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5"/>
          <p:cNvSpPr>
            <a:spLocks noGrp="1"/>
          </p:cNvSpPr>
          <p:nvPr>
            <p:ph type="pic" idx="5"/>
          </p:nvPr>
        </p:nvSpPr>
        <p:spPr>
          <a:xfrm>
            <a:off x="6571189" y="2819943"/>
            <a:ext cx="1377000" cy="1377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3_Title Slide 1">
  <p:cSld name="133_Title Slide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/>
          <p:nvPr/>
        </p:nvSpPr>
        <p:spPr>
          <a:xfrm>
            <a:off x="6167767" y="0"/>
            <a:ext cx="2976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 – End Slide – Blue">
  <p:cSld name="CUSTOM_1_2_1_2">
    <p:bg>
      <p:bgPr>
        <a:solidFill>
          <a:srgbClr val="183A9E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4E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4" name="Google Shape;8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27875" y="2200201"/>
            <a:ext cx="2688249" cy="7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 – End Slide – Dark Blue">
  <p:cSld name="CUSTOM_1_2_1_3">
    <p:bg>
      <p:bgPr>
        <a:solidFill>
          <a:srgbClr val="183A9E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5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Google Shape;8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27875" y="2200201"/>
            <a:ext cx="2688249" cy="7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217200" cy="5143500"/>
          </a:xfrm>
          <a:prstGeom prst="rect">
            <a:avLst/>
          </a:prstGeom>
          <a:solidFill>
            <a:srgbClr val="204EC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1200149" y="273844"/>
            <a:ext cx="73152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roxima Nova"/>
              <a:buNone/>
              <a:defRPr sz="21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1200150" y="1369219"/>
            <a:ext cx="7315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2667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Arial"/>
              <a:buChar char="•"/>
              <a:defRPr sz="6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7578175" y="4767750"/>
            <a:ext cx="1367700" cy="1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04ECF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600">
                <a:solidFill>
                  <a:srgbClr val="204ECF"/>
                </a:solidFill>
                <a:latin typeface="Proxima Nova"/>
                <a:ea typeface="Proxima Nova"/>
                <a:cs typeface="Proxima Nova"/>
                <a:sym typeface="Proxima Nova"/>
              </a:rPr>
              <a:t>Confidential </a:t>
            </a:r>
            <a:r>
              <a:rPr lang="en" sz="800">
                <a:solidFill>
                  <a:srgbClr val="204ECF"/>
                </a:solidFill>
                <a:latin typeface="Proxima Nova"/>
                <a:ea typeface="Proxima Nova"/>
                <a:cs typeface="Proxima Nova"/>
                <a:sym typeface="Proxima Nova"/>
              </a:rPr>
              <a:t> | </a:t>
            </a:r>
            <a:fld id="{00000000-1234-1234-1234-123412341234}" type="slidenum">
              <a:rPr lang="en" sz="800">
                <a:solidFill>
                  <a:srgbClr val="204ECF"/>
                </a:solidFill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800">
              <a:solidFill>
                <a:srgbClr val="204EC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54287" y="69900"/>
            <a:ext cx="108625" cy="15397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756">
          <p15:clr>
            <a:srgbClr val="F26B43"/>
          </p15:clr>
        </p15:guide>
        <p15:guide id="2" pos="329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>
            <a:spLocks noGrp="1"/>
          </p:cNvSpPr>
          <p:nvPr>
            <p:ph type="title"/>
          </p:nvPr>
        </p:nvSpPr>
        <p:spPr>
          <a:xfrm>
            <a:off x="343674" y="2712227"/>
            <a:ext cx="4865253" cy="1342664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[Client Name]</a:t>
            </a:r>
            <a:br>
              <a:rPr lang="en" dirty="0">
                <a:solidFill>
                  <a:schemeClr val="bg1"/>
                </a:solidFill>
              </a:rPr>
            </a:br>
            <a:r>
              <a:rPr lang="en" dirty="0">
                <a:solidFill>
                  <a:schemeClr val="bg1"/>
                </a:solidFill>
              </a:rPr>
              <a:t>[Project Name]</a:t>
            </a:r>
            <a:br>
              <a:rPr lang="en" dirty="0">
                <a:solidFill>
                  <a:schemeClr val="bg1"/>
                </a:solidFill>
              </a:rPr>
            </a:br>
            <a:r>
              <a:rPr lang="en" dirty="0">
                <a:solidFill>
                  <a:schemeClr val="bg1"/>
                </a:solidFill>
              </a:rPr>
              <a:t>Kickoff 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3" name="Google Shape;93;p20"/>
          <p:cNvSpPr txBox="1">
            <a:spLocks noGrp="1"/>
          </p:cNvSpPr>
          <p:nvPr>
            <p:ph type="subTitle" idx="2"/>
          </p:nvPr>
        </p:nvSpPr>
        <p:spPr>
          <a:xfrm>
            <a:off x="366142" y="4153150"/>
            <a:ext cx="5339400" cy="335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Aligning on outcomes, team, and how we’ll deliver.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>
            <a:spLocks noGrp="1"/>
          </p:cNvSpPr>
          <p:nvPr>
            <p:ph type="ctrTitle"/>
          </p:nvPr>
        </p:nvSpPr>
        <p:spPr>
          <a:xfrm>
            <a:off x="633776" y="880400"/>
            <a:ext cx="80238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</a:pPr>
            <a:r>
              <a:rPr lang="en"/>
              <a:t>What we’ll accomplish together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9" name="Google Shape;99;p21"/>
          <p:cNvSpPr txBox="1"/>
          <p:nvPr/>
        </p:nvSpPr>
        <p:spPr>
          <a:xfrm>
            <a:off x="1544275" y="2293022"/>
            <a:ext cx="71463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Align on success</a:t>
            </a:r>
            <a:br>
              <a:rPr lang="en" sz="12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Confirm why we’re doing this project and what a successful outcome looks like in your words. </a:t>
            </a:r>
            <a:endParaRPr sz="13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00" name="Google Shape;100;p21"/>
          <p:cNvCxnSpPr/>
          <p:nvPr/>
        </p:nvCxnSpPr>
        <p:spPr>
          <a:xfrm>
            <a:off x="1544270" y="2092122"/>
            <a:ext cx="7028100" cy="0"/>
          </a:xfrm>
          <a:prstGeom prst="straightConnector1">
            <a:avLst/>
          </a:prstGeom>
          <a:noFill/>
          <a:ln w="12700" cap="flat" cmpd="sng">
            <a:solidFill>
              <a:srgbClr val="D3DC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" name="Google Shape;101;p21"/>
          <p:cNvSpPr txBox="1"/>
          <p:nvPr/>
        </p:nvSpPr>
        <p:spPr>
          <a:xfrm>
            <a:off x="1544275" y="1484846"/>
            <a:ext cx="71463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Meet your team</a:t>
            </a:r>
            <a:br>
              <a:rPr lang="en" sz="12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The people delivering your project, their roles, and your single point of contact. </a:t>
            </a:r>
            <a:endParaRPr sz="13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02" name="Google Shape;102;p21"/>
          <p:cNvCxnSpPr/>
          <p:nvPr/>
        </p:nvCxnSpPr>
        <p:spPr>
          <a:xfrm>
            <a:off x="1544270" y="2875385"/>
            <a:ext cx="7028100" cy="0"/>
          </a:xfrm>
          <a:prstGeom prst="straightConnector1">
            <a:avLst/>
          </a:prstGeom>
          <a:noFill/>
          <a:ln w="12700" cap="flat" cmpd="sng">
            <a:solidFill>
              <a:srgbClr val="D3DC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3" name="Google Shape;103;p21"/>
          <p:cNvSpPr txBox="1"/>
          <p:nvPr/>
        </p:nvSpPr>
        <p:spPr>
          <a:xfrm>
            <a:off x="1544275" y="3101199"/>
            <a:ext cx="71463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Agree how we’ll work</a:t>
            </a:r>
            <a:br>
              <a:rPr lang="en" sz="12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Cadence, communication, transparency, and how we handle change and escalation. </a:t>
            </a:r>
            <a:endParaRPr sz="13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04" name="Google Shape;104;p21"/>
          <p:cNvCxnSpPr/>
          <p:nvPr/>
        </p:nvCxnSpPr>
        <p:spPr>
          <a:xfrm>
            <a:off x="1544270" y="3695997"/>
            <a:ext cx="7028100" cy="0"/>
          </a:xfrm>
          <a:prstGeom prst="straightConnector1">
            <a:avLst/>
          </a:prstGeom>
          <a:noFill/>
          <a:ln w="12700" cap="flat" cmpd="sng">
            <a:solidFill>
              <a:srgbClr val="D3DC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5" name="Google Shape;105;p21"/>
          <p:cNvSpPr txBox="1"/>
          <p:nvPr/>
        </p:nvSpPr>
        <p:spPr>
          <a:xfrm>
            <a:off x="1544275" y="3909375"/>
            <a:ext cx="71463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Confirm next steps</a:t>
            </a:r>
            <a:br>
              <a:rPr lang="en" sz="12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What happens in the next week, and what we’ll each own. </a:t>
            </a:r>
            <a:endParaRPr sz="13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06" name="Google Shape;106;p21"/>
          <p:cNvCxnSpPr/>
          <p:nvPr/>
        </p:nvCxnSpPr>
        <p:spPr>
          <a:xfrm>
            <a:off x="1544270" y="4516647"/>
            <a:ext cx="7028100" cy="0"/>
          </a:xfrm>
          <a:prstGeom prst="straightConnector1">
            <a:avLst/>
          </a:prstGeom>
          <a:noFill/>
          <a:ln w="12700" cap="flat" cmpd="sng">
            <a:solidFill>
              <a:srgbClr val="D3DCE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048" y="2307857"/>
            <a:ext cx="317978" cy="31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9563" y="1484848"/>
            <a:ext cx="322946" cy="322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941615" y="3125898"/>
            <a:ext cx="318844" cy="318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42048" y="3944804"/>
            <a:ext cx="317978" cy="31797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/>
          <p:nvPr/>
        </p:nvSpPr>
        <p:spPr>
          <a:xfrm>
            <a:off x="633776" y="356650"/>
            <a:ext cx="80238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5AAC"/>
              </a:buClr>
              <a:buSzPts val="1200"/>
              <a:buFont typeface="Calibri"/>
              <a:buNone/>
            </a:pPr>
            <a:r>
              <a:rPr lang="en" sz="900" b="1" i="0" u="none" strike="noStrike" cap="none">
                <a:solidFill>
                  <a:srgbClr val="2E5AAC"/>
                </a:solidFill>
                <a:latin typeface="Proxima Nova"/>
                <a:ea typeface="Proxima Nova"/>
                <a:cs typeface="Proxima Nova"/>
                <a:sym typeface="Proxima Nova"/>
              </a:rPr>
              <a:t>WHY WE'RE HERE TODAY</a:t>
            </a:r>
            <a:endParaRPr sz="90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>
            <a:spLocks noGrp="1"/>
          </p:cNvSpPr>
          <p:nvPr>
            <p:ph type="ctrTitle"/>
          </p:nvPr>
        </p:nvSpPr>
        <p:spPr>
          <a:xfrm>
            <a:off x="633776" y="880400"/>
            <a:ext cx="80238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</a:pPr>
            <a:r>
              <a:rPr lang="en"/>
              <a:t>The people delivering your project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7" name="Google Shape;117;p22"/>
          <p:cNvSpPr/>
          <p:nvPr/>
        </p:nvSpPr>
        <p:spPr>
          <a:xfrm>
            <a:off x="633776" y="356650"/>
            <a:ext cx="80238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5AAC"/>
              </a:buClr>
              <a:buSzPts val="1200"/>
              <a:buFont typeface="Calibri"/>
              <a:buNone/>
            </a:pPr>
            <a:r>
              <a:rPr lang="en" sz="900" b="1">
                <a:solidFill>
                  <a:srgbClr val="2E5AAC"/>
                </a:solidFill>
                <a:latin typeface="Proxima Nova"/>
                <a:ea typeface="Proxima Nova"/>
                <a:cs typeface="Proxima Nova"/>
                <a:sym typeface="Proxima Nova"/>
              </a:rPr>
              <a:t>YOUR TEAM</a:t>
            </a:r>
            <a:endParaRPr sz="90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8" name="Google Shape;118;p22" descr="a blue circle with a blue circle in the middle (Provided by Tenor)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591050" y="1584150"/>
            <a:ext cx="885601" cy="88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2" descr="a blue circle with a blue circle in the middle (Provided by Tenor)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25300" y="1584150"/>
            <a:ext cx="885601" cy="88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2476" y="2283823"/>
            <a:ext cx="192346" cy="19234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 txBox="1"/>
          <p:nvPr/>
        </p:nvSpPr>
        <p:spPr>
          <a:xfrm>
            <a:off x="4737224" y="1741125"/>
            <a:ext cx="1335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04ECF"/>
                </a:solidFill>
                <a:latin typeface="Proxima Nova"/>
                <a:ea typeface="Proxima Nova"/>
                <a:cs typeface="Proxima Nova"/>
                <a:sym typeface="Proxima Nova"/>
              </a:rPr>
              <a:t>Name</a:t>
            </a:r>
            <a:endParaRPr sz="1200" b="1">
              <a:solidFill>
                <a:srgbClr val="204EC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7220" y="1988603"/>
            <a:ext cx="91214" cy="114017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2"/>
          <p:cNvSpPr txBox="1"/>
          <p:nvPr/>
        </p:nvSpPr>
        <p:spPr>
          <a:xfrm>
            <a:off x="4856748" y="1980775"/>
            <a:ext cx="11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07947C"/>
                </a:solidFill>
                <a:latin typeface="Proxima Nova"/>
                <a:ea typeface="Proxima Nova"/>
                <a:cs typeface="Proxima Nova"/>
                <a:sym typeface="Proxima Nova"/>
              </a:rPr>
              <a:t>Role</a:t>
            </a:r>
            <a:endParaRPr sz="800">
              <a:solidFill>
                <a:srgbClr val="07947C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4856750" y="2141400"/>
            <a:ext cx="11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455065"/>
                </a:solidFill>
                <a:latin typeface="Proxima Nova"/>
                <a:ea typeface="Proxima Nova"/>
                <a:cs typeface="Proxima Nova"/>
                <a:sym typeface="Proxima Nova"/>
              </a:rPr>
              <a:t>Location</a:t>
            </a:r>
            <a:endParaRPr sz="800">
              <a:solidFill>
                <a:srgbClr val="45506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37220" y="2153550"/>
            <a:ext cx="91214" cy="91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726" y="2283823"/>
            <a:ext cx="192346" cy="19234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2"/>
          <p:cNvSpPr txBox="1"/>
          <p:nvPr/>
        </p:nvSpPr>
        <p:spPr>
          <a:xfrm>
            <a:off x="1871473" y="1741125"/>
            <a:ext cx="1203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04ECF"/>
                </a:solidFill>
                <a:latin typeface="Proxima Nova"/>
                <a:ea typeface="Proxima Nova"/>
                <a:cs typeface="Proxima Nova"/>
                <a:sym typeface="Proxima Nova"/>
              </a:rPr>
              <a:t>Name</a:t>
            </a:r>
            <a:endParaRPr sz="1200" b="1">
              <a:solidFill>
                <a:srgbClr val="204EC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71470" y="1988603"/>
            <a:ext cx="91214" cy="11401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1991000" y="1980775"/>
            <a:ext cx="1339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07947C"/>
                </a:solidFill>
                <a:latin typeface="Proxima Nova"/>
                <a:ea typeface="Proxima Nova"/>
                <a:cs typeface="Proxima Nova"/>
                <a:sym typeface="Proxima Nova"/>
              </a:rPr>
              <a:t>Role</a:t>
            </a:r>
            <a:endParaRPr sz="800">
              <a:solidFill>
                <a:srgbClr val="07947C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1990997" y="2141400"/>
            <a:ext cx="1038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455065"/>
                </a:solidFill>
                <a:latin typeface="Proxima Nova"/>
                <a:ea typeface="Proxima Nova"/>
                <a:cs typeface="Proxima Nova"/>
                <a:sym typeface="Proxima Nova"/>
              </a:rPr>
              <a:t>Location</a:t>
            </a:r>
            <a:endParaRPr sz="800">
              <a:solidFill>
                <a:srgbClr val="45506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31" name="Google Shape;131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71470" y="2153550"/>
            <a:ext cx="91214" cy="91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2" descr="a blue circle with a blue circle in the middle (Provided by Tenor)"/>
          <p:cNvPicPr preferRelativeResize="0">
            <a:picLocks noGrp="1"/>
          </p:cNvPicPr>
          <p:nvPr>
            <p:ph type="pic" idx="4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412825" y="1599600"/>
            <a:ext cx="885601" cy="88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4251" y="2299273"/>
            <a:ext cx="192346" cy="19234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 txBox="1"/>
          <p:nvPr/>
        </p:nvSpPr>
        <p:spPr>
          <a:xfrm>
            <a:off x="7558999" y="1756575"/>
            <a:ext cx="1335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04ECF"/>
                </a:solidFill>
                <a:latin typeface="Proxima Nova"/>
                <a:ea typeface="Proxima Nova"/>
                <a:cs typeface="Proxima Nova"/>
                <a:sym typeface="Proxima Nova"/>
              </a:rPr>
              <a:t>Name</a:t>
            </a:r>
            <a:endParaRPr sz="1200" b="1">
              <a:solidFill>
                <a:srgbClr val="204EC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35" name="Google Shape;13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58995" y="2004053"/>
            <a:ext cx="91214" cy="114017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2"/>
          <p:cNvSpPr txBox="1"/>
          <p:nvPr/>
        </p:nvSpPr>
        <p:spPr>
          <a:xfrm>
            <a:off x="7678523" y="1996225"/>
            <a:ext cx="11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07947C"/>
                </a:solidFill>
                <a:latin typeface="Proxima Nova"/>
                <a:ea typeface="Proxima Nova"/>
                <a:cs typeface="Proxima Nova"/>
                <a:sym typeface="Proxima Nova"/>
              </a:rPr>
              <a:t>Role</a:t>
            </a:r>
            <a:endParaRPr sz="800">
              <a:solidFill>
                <a:srgbClr val="07947C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7678525" y="2156850"/>
            <a:ext cx="11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455065"/>
                </a:solidFill>
                <a:latin typeface="Proxima Nova"/>
                <a:ea typeface="Proxima Nova"/>
                <a:cs typeface="Proxima Nova"/>
                <a:sym typeface="Proxima Nova"/>
              </a:rPr>
              <a:t>Location</a:t>
            </a:r>
            <a:endParaRPr sz="800">
              <a:solidFill>
                <a:srgbClr val="45506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38" name="Google Shape;138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58995" y="2169000"/>
            <a:ext cx="91214" cy="91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2" descr="a blue circle with a blue circle in the middle (Provided by Tenor)"/>
          <p:cNvPicPr preferRelativeResize="0">
            <a:picLocks noGrp="1"/>
          </p:cNvPicPr>
          <p:nvPr>
            <p:ph type="pic" idx="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85325" y="2834850"/>
            <a:ext cx="885601" cy="88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751" y="3534523"/>
            <a:ext cx="192346" cy="19234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/>
        </p:nvSpPr>
        <p:spPr>
          <a:xfrm>
            <a:off x="1831499" y="2991825"/>
            <a:ext cx="1335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04ECF"/>
                </a:solidFill>
                <a:latin typeface="Proxima Nova"/>
                <a:ea typeface="Proxima Nova"/>
                <a:cs typeface="Proxima Nova"/>
                <a:sym typeface="Proxima Nova"/>
              </a:rPr>
              <a:t>Name</a:t>
            </a:r>
            <a:endParaRPr sz="1200" b="1">
              <a:solidFill>
                <a:srgbClr val="204EC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42" name="Google Shape;14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31495" y="3239303"/>
            <a:ext cx="91214" cy="114017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2"/>
          <p:cNvSpPr txBox="1"/>
          <p:nvPr/>
        </p:nvSpPr>
        <p:spPr>
          <a:xfrm>
            <a:off x="1951023" y="3231475"/>
            <a:ext cx="11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07947C"/>
                </a:solidFill>
                <a:latin typeface="Proxima Nova"/>
                <a:ea typeface="Proxima Nova"/>
                <a:cs typeface="Proxima Nova"/>
                <a:sym typeface="Proxima Nova"/>
              </a:rPr>
              <a:t>Role</a:t>
            </a:r>
            <a:endParaRPr sz="800">
              <a:solidFill>
                <a:srgbClr val="07947C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1951025" y="3392100"/>
            <a:ext cx="11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455065"/>
                </a:solidFill>
                <a:latin typeface="Proxima Nova"/>
                <a:ea typeface="Proxima Nova"/>
                <a:cs typeface="Proxima Nova"/>
                <a:sym typeface="Proxima Nova"/>
              </a:rPr>
              <a:t>Location</a:t>
            </a:r>
            <a:endParaRPr sz="800">
              <a:solidFill>
                <a:srgbClr val="45506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45" name="Google Shape;145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31495" y="3404250"/>
            <a:ext cx="91214" cy="91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2" descr="a blue circle with a blue circle in the middle (Provided by Tenor)"/>
          <p:cNvPicPr preferRelativeResize="0">
            <a:picLocks noGrp="1"/>
          </p:cNvPicPr>
          <p:nvPr>
            <p:ph type="pic" idx="6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609625" y="2834850"/>
            <a:ext cx="885601" cy="88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1051" y="3534523"/>
            <a:ext cx="192346" cy="19234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2"/>
          <p:cNvSpPr txBox="1"/>
          <p:nvPr/>
        </p:nvSpPr>
        <p:spPr>
          <a:xfrm>
            <a:off x="4755799" y="2991825"/>
            <a:ext cx="1335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04ECF"/>
                </a:solidFill>
                <a:latin typeface="Proxima Nova"/>
                <a:ea typeface="Proxima Nova"/>
                <a:cs typeface="Proxima Nova"/>
                <a:sym typeface="Proxima Nova"/>
              </a:rPr>
              <a:t>Name</a:t>
            </a:r>
            <a:endParaRPr sz="1200" b="1">
              <a:solidFill>
                <a:srgbClr val="204EC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49" name="Google Shape;14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5795" y="3239303"/>
            <a:ext cx="91214" cy="114017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2"/>
          <p:cNvSpPr txBox="1"/>
          <p:nvPr/>
        </p:nvSpPr>
        <p:spPr>
          <a:xfrm>
            <a:off x="4875323" y="3231475"/>
            <a:ext cx="11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07947C"/>
                </a:solidFill>
                <a:latin typeface="Proxima Nova"/>
                <a:ea typeface="Proxima Nova"/>
                <a:cs typeface="Proxima Nova"/>
                <a:sym typeface="Proxima Nova"/>
              </a:rPr>
              <a:t>Role</a:t>
            </a:r>
            <a:endParaRPr sz="800">
              <a:solidFill>
                <a:srgbClr val="07947C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4875325" y="3392100"/>
            <a:ext cx="11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455065"/>
                </a:solidFill>
                <a:latin typeface="Proxima Nova"/>
                <a:ea typeface="Proxima Nova"/>
                <a:cs typeface="Proxima Nova"/>
                <a:sym typeface="Proxima Nova"/>
              </a:rPr>
              <a:t>Location</a:t>
            </a:r>
            <a:endParaRPr sz="800">
              <a:solidFill>
                <a:srgbClr val="45506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52" name="Google Shape;15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55795" y="3404250"/>
            <a:ext cx="91214" cy="91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2" descr="a blue circle with a blue circle in the middle (Provided by Tenor)"/>
          <p:cNvPicPr preferRelativeResize="0">
            <a:picLocks noGrp="1"/>
          </p:cNvPicPr>
          <p:nvPr>
            <p:ph type="pic" idx="7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412825" y="2834850"/>
            <a:ext cx="885601" cy="88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4251" y="3534523"/>
            <a:ext cx="192346" cy="19234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2"/>
          <p:cNvSpPr txBox="1"/>
          <p:nvPr/>
        </p:nvSpPr>
        <p:spPr>
          <a:xfrm>
            <a:off x="7558999" y="2991825"/>
            <a:ext cx="1335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04ECF"/>
                </a:solidFill>
                <a:latin typeface="Proxima Nova"/>
                <a:ea typeface="Proxima Nova"/>
                <a:cs typeface="Proxima Nova"/>
                <a:sym typeface="Proxima Nova"/>
              </a:rPr>
              <a:t>Name</a:t>
            </a:r>
            <a:endParaRPr sz="1200" b="1">
              <a:solidFill>
                <a:srgbClr val="204EC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56" name="Google Shape;15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58995" y="3239303"/>
            <a:ext cx="91214" cy="114017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2"/>
          <p:cNvSpPr txBox="1"/>
          <p:nvPr/>
        </p:nvSpPr>
        <p:spPr>
          <a:xfrm>
            <a:off x="7678523" y="3231475"/>
            <a:ext cx="11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07947C"/>
                </a:solidFill>
                <a:latin typeface="Proxima Nova"/>
                <a:ea typeface="Proxima Nova"/>
                <a:cs typeface="Proxima Nova"/>
                <a:sym typeface="Proxima Nova"/>
              </a:rPr>
              <a:t>Role</a:t>
            </a:r>
            <a:endParaRPr sz="800">
              <a:solidFill>
                <a:srgbClr val="07947C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7678525" y="3392100"/>
            <a:ext cx="11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455065"/>
                </a:solidFill>
                <a:latin typeface="Proxima Nova"/>
                <a:ea typeface="Proxima Nova"/>
                <a:cs typeface="Proxima Nova"/>
                <a:sym typeface="Proxima Nova"/>
              </a:rPr>
              <a:t>Location</a:t>
            </a:r>
            <a:endParaRPr sz="800">
              <a:solidFill>
                <a:srgbClr val="45506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59" name="Google Shape;15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58995" y="3404250"/>
            <a:ext cx="91214" cy="91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/>
          <p:nvPr/>
        </p:nvSpPr>
        <p:spPr>
          <a:xfrm>
            <a:off x="214100" y="0"/>
            <a:ext cx="89298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5" name="Google Shape;165;p23"/>
          <p:cNvSpPr txBox="1">
            <a:spLocks noGrp="1"/>
          </p:cNvSpPr>
          <p:nvPr>
            <p:ph type="ctrTitle"/>
          </p:nvPr>
        </p:nvSpPr>
        <p:spPr>
          <a:xfrm>
            <a:off x="666750" y="1001575"/>
            <a:ext cx="5575500" cy="116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Alignment</a:t>
            </a:r>
            <a:endParaRPr sz="1800">
              <a:solidFill>
                <a:schemeClr val="accent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/>
          <p:nvPr/>
        </p:nvSpPr>
        <p:spPr>
          <a:xfrm>
            <a:off x="480073" y="425196"/>
            <a:ext cx="68583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5AAC"/>
              </a:buClr>
              <a:buSzPts val="900"/>
              <a:buFont typeface="Calibri"/>
              <a:buNone/>
            </a:pPr>
            <a:r>
              <a:rPr lang="en" sz="900" b="1">
                <a:solidFill>
                  <a:srgbClr val="2E5AAC"/>
                </a:solidFill>
                <a:latin typeface="Proxima Nova"/>
                <a:ea typeface="Proxima Nova"/>
                <a:cs typeface="Proxima Nova"/>
                <a:sym typeface="Proxima Nova"/>
              </a:rPr>
              <a:t>PROJECT SUCCESS AGREEMENT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480073" y="1234440"/>
            <a:ext cx="6858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890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041133"/>
                </a:solidFill>
                <a:latin typeface="Proxima Nova"/>
                <a:ea typeface="Proxima Nova"/>
                <a:cs typeface="Proxima Nova"/>
                <a:sym typeface="Proxima Nova"/>
              </a:rPr>
              <a:t>Our draft understanding — please confirm, correct, or add.</a:t>
            </a:r>
            <a:endParaRPr sz="1100">
              <a:solidFill>
                <a:srgbClr val="04113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480073" y="1645920"/>
            <a:ext cx="8184000" cy="8778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 cap="flat" cmpd="sng">
            <a:solidFill>
              <a:srgbClr val="D3DCEC"/>
            </a:solidFill>
            <a:prstDash val="solid"/>
            <a:round/>
            <a:headEnd type="none" w="sm" len="sm"/>
            <a:tailEnd type="none" w="sm" len="sm"/>
          </a:ln>
          <a:effectLst>
            <a:outerShdw blurRad="85727" dist="28576" dir="5400000" algn="bl" rotWithShape="0">
              <a:srgbClr val="0B1836">
                <a:alpha val="1608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4"/>
          <p:cNvSpPr/>
          <p:nvPr/>
        </p:nvSpPr>
        <p:spPr>
          <a:xfrm>
            <a:off x="699535" y="1844802"/>
            <a:ext cx="480300" cy="480300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4"/>
          <p:cNvSpPr/>
          <p:nvPr/>
        </p:nvSpPr>
        <p:spPr>
          <a:xfrm>
            <a:off x="1371637" y="1783080"/>
            <a:ext cx="7086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4D"/>
              </a:buClr>
              <a:buSzPts val="1200"/>
              <a:buFont typeface="Calibri"/>
              <a:buNone/>
            </a:pPr>
            <a:r>
              <a:rPr lang="en" sz="12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Why are we doing this?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4"/>
          <p:cNvSpPr/>
          <p:nvPr/>
        </p:nvSpPr>
        <p:spPr>
          <a:xfrm>
            <a:off x="1371637" y="2098548"/>
            <a:ext cx="7086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000"/>
              <a:buFont typeface="Calibri"/>
              <a:buNone/>
            </a:pPr>
            <a:r>
              <a:rPr lang="en" sz="100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[Pre-filled: the business </a:t>
            </a:r>
            <a:r>
              <a:rPr lang="en" sz="1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initiative</a:t>
            </a:r>
            <a:r>
              <a:rPr lang="en" sz="100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opportunity driving this engagement.]</a:t>
            </a:r>
            <a:endParaRPr sz="10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4"/>
          <p:cNvSpPr/>
          <p:nvPr/>
        </p:nvSpPr>
        <p:spPr>
          <a:xfrm>
            <a:off x="480073" y="2633472"/>
            <a:ext cx="8184000" cy="8778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 cap="flat" cmpd="sng">
            <a:solidFill>
              <a:srgbClr val="D3DCEC"/>
            </a:solidFill>
            <a:prstDash val="solid"/>
            <a:round/>
            <a:headEnd type="none" w="sm" len="sm"/>
            <a:tailEnd type="none" w="sm" len="sm"/>
          </a:ln>
          <a:effectLst>
            <a:outerShdw blurRad="85727" dist="28576" dir="5400000" algn="bl" rotWithShape="0">
              <a:srgbClr val="0B1836">
                <a:alpha val="1608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8" name="Google Shape;178;p24"/>
          <p:cNvSpPr/>
          <p:nvPr/>
        </p:nvSpPr>
        <p:spPr>
          <a:xfrm>
            <a:off x="699535" y="2832354"/>
            <a:ext cx="480300" cy="480300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4"/>
          <p:cNvSpPr/>
          <p:nvPr/>
        </p:nvSpPr>
        <p:spPr>
          <a:xfrm>
            <a:off x="1371637" y="2770632"/>
            <a:ext cx="7086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4D"/>
              </a:buClr>
              <a:buSzPts val="1200"/>
              <a:buFont typeface="Calibri"/>
              <a:buNone/>
            </a:pPr>
            <a:r>
              <a:rPr lang="en" sz="12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What problem are we solving?</a:t>
            </a:r>
            <a:endParaRPr sz="12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0" name="Google Shape;180;p24"/>
          <p:cNvSpPr/>
          <p:nvPr/>
        </p:nvSpPr>
        <p:spPr>
          <a:xfrm>
            <a:off x="1371637" y="3086100"/>
            <a:ext cx="7086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[Pre-filled: the </a:t>
            </a:r>
            <a:r>
              <a:rPr lang="en" sz="1000" i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current</a:t>
            </a:r>
            <a:r>
              <a:rPr lang="en" sz="1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pain point, risk, or opportunity being addressed.]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480075" y="3621025"/>
            <a:ext cx="8184000" cy="11337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 cap="flat" cmpd="sng">
            <a:solidFill>
              <a:srgbClr val="D3DCEC"/>
            </a:solidFill>
            <a:prstDash val="solid"/>
            <a:round/>
            <a:headEnd type="none" w="sm" len="sm"/>
            <a:tailEnd type="none" w="sm" len="sm"/>
          </a:ln>
          <a:effectLst>
            <a:outerShdw blurRad="85727" dist="28576" dir="5400000" algn="bl" rotWithShape="0">
              <a:srgbClr val="0B1836">
                <a:alpha val="1608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4"/>
          <p:cNvSpPr/>
          <p:nvPr/>
        </p:nvSpPr>
        <p:spPr>
          <a:xfrm>
            <a:off x="699535" y="3819906"/>
            <a:ext cx="480300" cy="480300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4"/>
          <p:cNvSpPr/>
          <p:nvPr/>
        </p:nvSpPr>
        <p:spPr>
          <a:xfrm>
            <a:off x="1371637" y="3758184"/>
            <a:ext cx="7086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64D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14264D"/>
                </a:solidFill>
                <a:latin typeface="Calibri"/>
                <a:ea typeface="Calibri"/>
                <a:cs typeface="Calibri"/>
                <a:sym typeface="Calibri"/>
              </a:rPr>
              <a:t>What does </a:t>
            </a:r>
            <a:r>
              <a:rPr lang="en" sz="12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success</a:t>
            </a:r>
            <a:r>
              <a:rPr lang="en" sz="1200" b="1" i="0" u="none" strike="noStrike" cap="none">
                <a:solidFill>
                  <a:srgbClr val="14264D"/>
                </a:solidFill>
                <a:latin typeface="Calibri"/>
                <a:ea typeface="Calibri"/>
                <a:cs typeface="Calibri"/>
                <a:sym typeface="Calibri"/>
              </a:rPr>
              <a:t> look like?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4"/>
          <p:cNvSpPr/>
          <p:nvPr/>
        </p:nvSpPr>
        <p:spPr>
          <a:xfrm>
            <a:off x="1371637" y="4073652"/>
            <a:ext cx="7086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000"/>
              <a:buFont typeface="Calibri"/>
              <a:buNone/>
            </a:pPr>
            <a:r>
              <a:rPr lang="en" sz="1000" i="1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[Pre-filled: the desired business outcomes</a:t>
            </a:r>
            <a:r>
              <a:rPr lang="en" sz="1000" i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</a:t>
            </a:r>
            <a:r>
              <a:rPr lang="en" sz="1000" i="1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measurable indicators of success, and</a:t>
            </a:r>
            <a:r>
              <a:rPr lang="en" sz="1000" i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/or acceptance criteria</a:t>
            </a:r>
            <a:r>
              <a:rPr lang="en" sz="1000" i="1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.]</a:t>
            </a:r>
            <a:endParaRPr sz="100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85" name="Google Shape;18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488" y="3895859"/>
            <a:ext cx="328394" cy="328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2922" y="1916887"/>
            <a:ext cx="333525" cy="336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4237" y="291705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4"/>
          <p:cNvSpPr txBox="1">
            <a:spLocks noGrp="1"/>
          </p:cNvSpPr>
          <p:nvPr>
            <p:ph type="ctrTitle" idx="4294967295"/>
          </p:nvPr>
        </p:nvSpPr>
        <p:spPr>
          <a:xfrm>
            <a:off x="480076" y="734900"/>
            <a:ext cx="80238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</a:pPr>
            <a:r>
              <a:rPr lang="en" sz="2400"/>
              <a:t>Why we’re here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 txBox="1">
            <a:spLocks noGrp="1"/>
          </p:cNvSpPr>
          <p:nvPr>
            <p:ph type="ctrTitle" idx="4294967295"/>
          </p:nvPr>
        </p:nvSpPr>
        <p:spPr>
          <a:xfrm>
            <a:off x="6484400" y="638300"/>
            <a:ext cx="24174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</a:pPr>
            <a:r>
              <a:rPr lang="en" sz="2000">
                <a:solidFill>
                  <a:schemeClr val="lt1"/>
                </a:solidFill>
              </a:rPr>
              <a:t>Solution Overview</a:t>
            </a:r>
            <a:endParaRPr sz="2000"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4" name="Google Shape;194;p25"/>
          <p:cNvSpPr txBox="1"/>
          <p:nvPr/>
        </p:nvSpPr>
        <p:spPr>
          <a:xfrm>
            <a:off x="6484400" y="1004329"/>
            <a:ext cx="2417400" cy="3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[high level summary of the work to be accomplished in business terms]</a:t>
            </a:r>
            <a:endParaRPr sz="11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95" name="Google Shape;195;p25"/>
          <p:cNvCxnSpPr/>
          <p:nvPr/>
        </p:nvCxnSpPr>
        <p:spPr>
          <a:xfrm>
            <a:off x="503325" y="2382639"/>
            <a:ext cx="5218500" cy="0"/>
          </a:xfrm>
          <a:prstGeom prst="straightConnector1">
            <a:avLst/>
          </a:prstGeom>
          <a:noFill/>
          <a:ln w="9525" cap="flat" cmpd="sng">
            <a:solidFill>
              <a:srgbClr val="E0E0E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25"/>
          <p:cNvCxnSpPr/>
          <p:nvPr/>
        </p:nvCxnSpPr>
        <p:spPr>
          <a:xfrm>
            <a:off x="503325" y="1534864"/>
            <a:ext cx="52185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25"/>
          <p:cNvCxnSpPr/>
          <p:nvPr/>
        </p:nvCxnSpPr>
        <p:spPr>
          <a:xfrm>
            <a:off x="503325" y="3230414"/>
            <a:ext cx="5218500" cy="0"/>
          </a:xfrm>
          <a:prstGeom prst="straightConnector1">
            <a:avLst/>
          </a:prstGeom>
          <a:noFill/>
          <a:ln w="9525" cap="flat" cmpd="sng">
            <a:solidFill>
              <a:srgbClr val="E0E0E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" name="Google Shape;198;p25"/>
          <p:cNvCxnSpPr/>
          <p:nvPr/>
        </p:nvCxnSpPr>
        <p:spPr>
          <a:xfrm>
            <a:off x="503325" y="4078189"/>
            <a:ext cx="5218500" cy="0"/>
          </a:xfrm>
          <a:prstGeom prst="straightConnector1">
            <a:avLst/>
          </a:prstGeom>
          <a:noFill/>
          <a:ln w="9525" cap="flat" cmpd="sng">
            <a:solidFill>
              <a:srgbClr val="E0E0E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9" name="Google Shape;199;p25"/>
          <p:cNvCxnSpPr/>
          <p:nvPr/>
        </p:nvCxnSpPr>
        <p:spPr>
          <a:xfrm>
            <a:off x="503325" y="4873114"/>
            <a:ext cx="5218500" cy="0"/>
          </a:xfrm>
          <a:prstGeom prst="straightConnector1">
            <a:avLst/>
          </a:prstGeom>
          <a:noFill/>
          <a:ln w="9525" cap="flat" cmpd="sng">
            <a:solidFill>
              <a:srgbClr val="E0E0E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0" name="Google Shape;200;p25"/>
          <p:cNvSpPr/>
          <p:nvPr/>
        </p:nvSpPr>
        <p:spPr>
          <a:xfrm>
            <a:off x="480073" y="425196"/>
            <a:ext cx="68583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5AAC"/>
              </a:buClr>
              <a:buSzPts val="900"/>
              <a:buFont typeface="Calibri"/>
              <a:buNone/>
            </a:pPr>
            <a:r>
              <a:rPr lang="en" sz="900" b="1">
                <a:solidFill>
                  <a:srgbClr val="2E5AAC"/>
                </a:solidFill>
                <a:latin typeface="Proxima Nova"/>
                <a:ea typeface="Proxima Nova"/>
                <a:cs typeface="Proxima Nova"/>
                <a:sym typeface="Proxima Nova"/>
              </a:rPr>
              <a:t>PROJECT SUCCESS AGREEMENT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5"/>
          <p:cNvSpPr txBox="1">
            <a:spLocks noGrp="1"/>
          </p:cNvSpPr>
          <p:nvPr>
            <p:ph type="ctrTitle" idx="4294967295"/>
          </p:nvPr>
        </p:nvSpPr>
        <p:spPr>
          <a:xfrm>
            <a:off x="480076" y="734900"/>
            <a:ext cx="80238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</a:pPr>
            <a:r>
              <a:rPr lang="en" sz="2400"/>
              <a:t>What we will deliver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2" name="Google Shape;202;p25"/>
          <p:cNvSpPr txBox="1"/>
          <p:nvPr/>
        </p:nvSpPr>
        <p:spPr>
          <a:xfrm>
            <a:off x="6347125" y="3896250"/>
            <a:ext cx="2683500" cy="8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Out of Scope:</a:t>
            </a:r>
            <a:endParaRPr sz="1100"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228600" lvl="0" indent="-1841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[Item]</a:t>
            </a:r>
            <a:endParaRPr sz="11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228600" lvl="0" indent="-184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[Item]</a:t>
            </a:r>
            <a:endParaRPr sz="11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228600" lvl="0" indent="-184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[Item]</a:t>
            </a:r>
            <a:endParaRPr sz="11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3" name="Google Shape;203;p25"/>
          <p:cNvSpPr txBox="1"/>
          <p:nvPr/>
        </p:nvSpPr>
        <p:spPr>
          <a:xfrm>
            <a:off x="502750" y="1263148"/>
            <a:ext cx="2073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204ECF"/>
                </a:solidFill>
                <a:latin typeface="Proxima Nova"/>
                <a:ea typeface="Proxima Nova"/>
                <a:cs typeface="Proxima Nova"/>
                <a:sym typeface="Proxima Nova"/>
              </a:rPr>
              <a:t>Workstream / Feature Set</a:t>
            </a:r>
            <a:endParaRPr sz="1100" b="1">
              <a:solidFill>
                <a:srgbClr val="204EC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4" name="Google Shape;204;p25"/>
          <p:cNvSpPr txBox="1"/>
          <p:nvPr/>
        </p:nvSpPr>
        <p:spPr>
          <a:xfrm>
            <a:off x="2726700" y="1263148"/>
            <a:ext cx="20178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204ECF"/>
                </a:solidFill>
                <a:latin typeface="Proxima Nova"/>
                <a:ea typeface="Proxima Nova"/>
                <a:cs typeface="Proxima Nova"/>
                <a:sym typeface="Proxima Nova"/>
              </a:rPr>
              <a:t>Outcomes / Deliverables</a:t>
            </a:r>
            <a:endParaRPr sz="1100" b="1">
              <a:solidFill>
                <a:srgbClr val="204EC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5" name="Google Shape;205;p25"/>
          <p:cNvSpPr txBox="1"/>
          <p:nvPr/>
        </p:nvSpPr>
        <p:spPr>
          <a:xfrm>
            <a:off x="2726725" y="1692064"/>
            <a:ext cx="2868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14325" lvl="0" indent="-2095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444746"/>
              </a:buClr>
              <a:buSzPts val="1050"/>
              <a:buFont typeface="Proxima Nova"/>
              <a:buChar char="●"/>
            </a:pPr>
            <a:r>
              <a:rPr lang="en" sz="1050">
                <a:solidFill>
                  <a:srgbClr val="444746"/>
                </a:solidFill>
                <a:latin typeface="Proxima Nova"/>
                <a:ea typeface="Proxima Nova"/>
                <a:cs typeface="Proxima Nova"/>
                <a:sym typeface="Proxima Nova"/>
              </a:rPr>
              <a:t>Deliverable 1</a:t>
            </a:r>
            <a:endParaRPr sz="1050">
              <a:solidFill>
                <a:srgbClr val="44474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314325" lvl="0" indent="-209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50"/>
              <a:buFont typeface="Proxima Nova"/>
              <a:buChar char="●"/>
            </a:pPr>
            <a:r>
              <a:rPr lang="en" sz="1050">
                <a:solidFill>
                  <a:srgbClr val="444746"/>
                </a:solidFill>
                <a:latin typeface="Proxima Nova"/>
                <a:ea typeface="Proxima Nova"/>
                <a:cs typeface="Proxima Nova"/>
                <a:sym typeface="Proxima Nova"/>
              </a:rPr>
              <a:t>Deliverable 2</a:t>
            </a:r>
            <a:endParaRPr sz="1050">
              <a:solidFill>
                <a:srgbClr val="44474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314325" lvl="0" indent="-209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50"/>
              <a:buFont typeface="Proxima Nova"/>
              <a:buChar char="●"/>
            </a:pPr>
            <a:r>
              <a:rPr lang="en" sz="1050">
                <a:solidFill>
                  <a:srgbClr val="444746"/>
                </a:solidFill>
                <a:latin typeface="Proxima Nova"/>
                <a:ea typeface="Proxima Nova"/>
                <a:cs typeface="Proxima Nova"/>
                <a:sym typeface="Proxima Nova"/>
              </a:rPr>
              <a:t>Deliverable 3</a:t>
            </a:r>
            <a:endParaRPr sz="1050">
              <a:solidFill>
                <a:srgbClr val="44474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6" name="Google Shape;206;p25"/>
          <p:cNvSpPr txBox="1"/>
          <p:nvPr/>
        </p:nvSpPr>
        <p:spPr>
          <a:xfrm>
            <a:off x="2726700" y="2539838"/>
            <a:ext cx="2417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14325" lvl="0" indent="-2095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444746"/>
              </a:buClr>
              <a:buSzPts val="1050"/>
              <a:buFont typeface="Proxima Nova"/>
              <a:buChar char="●"/>
            </a:pPr>
            <a:r>
              <a:rPr lang="en" sz="1050">
                <a:solidFill>
                  <a:srgbClr val="444746"/>
                </a:solidFill>
                <a:latin typeface="Proxima Nova"/>
                <a:ea typeface="Proxima Nova"/>
                <a:cs typeface="Proxima Nova"/>
                <a:sym typeface="Proxima Nova"/>
              </a:rPr>
              <a:t>Deliverable 1</a:t>
            </a:r>
            <a:endParaRPr sz="1050">
              <a:solidFill>
                <a:srgbClr val="44474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314325" lvl="0" indent="-209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50"/>
              <a:buFont typeface="Proxima Nova"/>
              <a:buChar char="●"/>
            </a:pPr>
            <a:r>
              <a:rPr lang="en" sz="1050">
                <a:solidFill>
                  <a:srgbClr val="444746"/>
                </a:solidFill>
                <a:latin typeface="Proxima Nova"/>
                <a:ea typeface="Proxima Nova"/>
                <a:cs typeface="Proxima Nova"/>
                <a:sym typeface="Proxima Nova"/>
              </a:rPr>
              <a:t>Deliverable 2</a:t>
            </a:r>
            <a:endParaRPr sz="1050">
              <a:solidFill>
                <a:srgbClr val="44474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314325" lvl="0" indent="-209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50"/>
              <a:buFont typeface="Proxima Nova"/>
              <a:buChar char="●"/>
            </a:pPr>
            <a:r>
              <a:rPr lang="en" sz="1050">
                <a:solidFill>
                  <a:srgbClr val="444746"/>
                </a:solidFill>
                <a:latin typeface="Proxima Nova"/>
                <a:ea typeface="Proxima Nova"/>
                <a:cs typeface="Proxima Nova"/>
                <a:sym typeface="Proxima Nova"/>
              </a:rPr>
              <a:t>Deliverable 3</a:t>
            </a:r>
            <a:endParaRPr sz="1050">
              <a:solidFill>
                <a:srgbClr val="44474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7" name="Google Shape;207;p25"/>
          <p:cNvSpPr txBox="1"/>
          <p:nvPr/>
        </p:nvSpPr>
        <p:spPr>
          <a:xfrm>
            <a:off x="502750" y="2624589"/>
            <a:ext cx="1282500" cy="3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41133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[Workstream or Feature Set 2]</a:t>
            </a:r>
            <a:endParaRPr sz="1050">
              <a:solidFill>
                <a:srgbClr val="041133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208" name="Google Shape;208;p25"/>
          <p:cNvSpPr txBox="1"/>
          <p:nvPr/>
        </p:nvSpPr>
        <p:spPr>
          <a:xfrm>
            <a:off x="2726700" y="3387601"/>
            <a:ext cx="275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14325" lvl="0" indent="-2095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444746"/>
              </a:buClr>
              <a:buSzPts val="1050"/>
              <a:buFont typeface="Proxima Nova"/>
              <a:buChar char="●"/>
            </a:pPr>
            <a:r>
              <a:rPr lang="en" sz="1050">
                <a:solidFill>
                  <a:srgbClr val="444746"/>
                </a:solidFill>
                <a:latin typeface="Proxima Nova"/>
                <a:ea typeface="Proxima Nova"/>
                <a:cs typeface="Proxima Nova"/>
                <a:sym typeface="Proxima Nova"/>
              </a:rPr>
              <a:t>Deliverable 1</a:t>
            </a:r>
            <a:endParaRPr sz="1050">
              <a:solidFill>
                <a:srgbClr val="44474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314325" lvl="0" indent="-209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50"/>
              <a:buFont typeface="Proxima Nova"/>
              <a:buChar char="●"/>
            </a:pPr>
            <a:r>
              <a:rPr lang="en" sz="1050">
                <a:solidFill>
                  <a:srgbClr val="444746"/>
                </a:solidFill>
                <a:latin typeface="Proxima Nova"/>
                <a:ea typeface="Proxima Nova"/>
                <a:cs typeface="Proxima Nova"/>
                <a:sym typeface="Proxima Nova"/>
              </a:rPr>
              <a:t>Deliverable 2</a:t>
            </a:r>
            <a:endParaRPr sz="1050">
              <a:solidFill>
                <a:srgbClr val="44474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314325" lvl="0" indent="-209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50"/>
              <a:buFont typeface="Proxima Nova"/>
              <a:buChar char="●"/>
            </a:pPr>
            <a:r>
              <a:rPr lang="en" sz="1050">
                <a:solidFill>
                  <a:srgbClr val="444746"/>
                </a:solidFill>
                <a:latin typeface="Proxima Nova"/>
                <a:ea typeface="Proxima Nova"/>
                <a:cs typeface="Proxima Nova"/>
                <a:sym typeface="Proxima Nova"/>
              </a:rPr>
              <a:t>Deliverable 3</a:t>
            </a:r>
            <a:endParaRPr sz="1050">
              <a:solidFill>
                <a:srgbClr val="44474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9" name="Google Shape;209;p25"/>
          <p:cNvSpPr txBox="1"/>
          <p:nvPr/>
        </p:nvSpPr>
        <p:spPr>
          <a:xfrm>
            <a:off x="502750" y="3472339"/>
            <a:ext cx="1512900" cy="3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41133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[Workstream or Feature Set 3]</a:t>
            </a:r>
            <a:endParaRPr sz="1050">
              <a:solidFill>
                <a:srgbClr val="041133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210" name="Google Shape;210;p25"/>
          <p:cNvSpPr txBox="1"/>
          <p:nvPr/>
        </p:nvSpPr>
        <p:spPr>
          <a:xfrm>
            <a:off x="2726700" y="4235376"/>
            <a:ext cx="2571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14325" lvl="0" indent="-2095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444746"/>
              </a:buClr>
              <a:buSzPts val="1050"/>
              <a:buFont typeface="Proxima Nova"/>
              <a:buChar char="●"/>
            </a:pPr>
            <a:r>
              <a:rPr lang="en" sz="1050">
                <a:solidFill>
                  <a:srgbClr val="444746"/>
                </a:solidFill>
                <a:latin typeface="Proxima Nova"/>
                <a:ea typeface="Proxima Nova"/>
                <a:cs typeface="Proxima Nova"/>
                <a:sym typeface="Proxima Nova"/>
              </a:rPr>
              <a:t>Deliverable 1</a:t>
            </a:r>
            <a:endParaRPr sz="1050">
              <a:solidFill>
                <a:srgbClr val="44474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314325" lvl="0" indent="-209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50"/>
              <a:buFont typeface="Proxima Nova"/>
              <a:buChar char="●"/>
            </a:pPr>
            <a:r>
              <a:rPr lang="en" sz="1050">
                <a:solidFill>
                  <a:srgbClr val="444746"/>
                </a:solidFill>
                <a:latin typeface="Proxima Nova"/>
                <a:ea typeface="Proxima Nova"/>
                <a:cs typeface="Proxima Nova"/>
                <a:sym typeface="Proxima Nova"/>
              </a:rPr>
              <a:t>Deliverable 2</a:t>
            </a:r>
            <a:endParaRPr sz="1050">
              <a:solidFill>
                <a:srgbClr val="44474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314325" lvl="0" indent="-209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50"/>
              <a:buFont typeface="Proxima Nova"/>
              <a:buChar char="●"/>
            </a:pPr>
            <a:r>
              <a:rPr lang="en" sz="1050">
                <a:solidFill>
                  <a:srgbClr val="444746"/>
                </a:solidFill>
                <a:latin typeface="Proxima Nova"/>
                <a:ea typeface="Proxima Nova"/>
                <a:cs typeface="Proxima Nova"/>
                <a:sym typeface="Proxima Nova"/>
              </a:rPr>
              <a:t>Deliverable 3</a:t>
            </a:r>
            <a:endParaRPr sz="1050">
              <a:solidFill>
                <a:srgbClr val="44474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1" name="Google Shape;211;p25"/>
          <p:cNvSpPr txBox="1"/>
          <p:nvPr/>
        </p:nvSpPr>
        <p:spPr>
          <a:xfrm>
            <a:off x="502750" y="4320136"/>
            <a:ext cx="1445400" cy="3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41133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[Workstream or Feature Set 4]</a:t>
            </a:r>
            <a:endParaRPr sz="1050">
              <a:solidFill>
                <a:srgbClr val="041133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cxnSp>
        <p:nvCxnSpPr>
          <p:cNvPr id="212" name="Google Shape;212;p25"/>
          <p:cNvCxnSpPr/>
          <p:nvPr/>
        </p:nvCxnSpPr>
        <p:spPr>
          <a:xfrm>
            <a:off x="503325" y="2382639"/>
            <a:ext cx="5218500" cy="0"/>
          </a:xfrm>
          <a:prstGeom prst="straightConnector1">
            <a:avLst/>
          </a:prstGeom>
          <a:noFill/>
          <a:ln w="9525" cap="flat" cmpd="sng">
            <a:solidFill>
              <a:srgbClr val="E0E0E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" name="Google Shape;213;p25"/>
          <p:cNvCxnSpPr/>
          <p:nvPr/>
        </p:nvCxnSpPr>
        <p:spPr>
          <a:xfrm>
            <a:off x="503325" y="1534864"/>
            <a:ext cx="5218500" cy="0"/>
          </a:xfrm>
          <a:prstGeom prst="straightConnector1">
            <a:avLst/>
          </a:prstGeom>
          <a:noFill/>
          <a:ln w="9525" cap="flat" cmpd="sng">
            <a:solidFill>
              <a:srgbClr val="204EC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" name="Google Shape;214;p25"/>
          <p:cNvCxnSpPr/>
          <p:nvPr/>
        </p:nvCxnSpPr>
        <p:spPr>
          <a:xfrm>
            <a:off x="503325" y="3230414"/>
            <a:ext cx="5218500" cy="0"/>
          </a:xfrm>
          <a:prstGeom prst="straightConnector1">
            <a:avLst/>
          </a:prstGeom>
          <a:noFill/>
          <a:ln w="9525" cap="flat" cmpd="sng">
            <a:solidFill>
              <a:srgbClr val="E0E0E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5" name="Google Shape;215;p25"/>
          <p:cNvCxnSpPr/>
          <p:nvPr/>
        </p:nvCxnSpPr>
        <p:spPr>
          <a:xfrm>
            <a:off x="503325" y="4078189"/>
            <a:ext cx="5218500" cy="0"/>
          </a:xfrm>
          <a:prstGeom prst="straightConnector1">
            <a:avLst/>
          </a:prstGeom>
          <a:noFill/>
          <a:ln w="9525" cap="flat" cmpd="sng">
            <a:solidFill>
              <a:srgbClr val="E0E0E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6" name="Google Shape;216;p25"/>
          <p:cNvCxnSpPr/>
          <p:nvPr/>
        </p:nvCxnSpPr>
        <p:spPr>
          <a:xfrm>
            <a:off x="503325" y="4873114"/>
            <a:ext cx="5218500" cy="0"/>
          </a:xfrm>
          <a:prstGeom prst="straightConnector1">
            <a:avLst/>
          </a:prstGeom>
          <a:noFill/>
          <a:ln w="9525" cap="flat" cmpd="sng">
            <a:solidFill>
              <a:srgbClr val="E0E0E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7" name="Google Shape;217;p25"/>
          <p:cNvSpPr txBox="1"/>
          <p:nvPr/>
        </p:nvSpPr>
        <p:spPr>
          <a:xfrm>
            <a:off x="502750" y="1776796"/>
            <a:ext cx="1445400" cy="3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41133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[Workstream or Feature Set 1]</a:t>
            </a:r>
            <a:endParaRPr sz="1050">
              <a:solidFill>
                <a:srgbClr val="041133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"/>
          <p:cNvSpPr/>
          <p:nvPr/>
        </p:nvSpPr>
        <p:spPr>
          <a:xfrm>
            <a:off x="214100" y="0"/>
            <a:ext cx="89298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3" name="Google Shape;223;p26"/>
          <p:cNvSpPr txBox="1">
            <a:spLocks noGrp="1"/>
          </p:cNvSpPr>
          <p:nvPr>
            <p:ph type="ctrTitle"/>
          </p:nvPr>
        </p:nvSpPr>
        <p:spPr>
          <a:xfrm>
            <a:off x="666750" y="1001575"/>
            <a:ext cx="5575500" cy="116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Ways of Working</a:t>
            </a:r>
            <a:endParaRPr sz="1800">
              <a:solidFill>
                <a:schemeClr val="accent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27"/>
          <p:cNvGrpSpPr/>
          <p:nvPr/>
        </p:nvGrpSpPr>
        <p:grpSpPr>
          <a:xfrm>
            <a:off x="259050" y="2130197"/>
            <a:ext cx="8839200" cy="2506726"/>
            <a:chOff x="259050" y="2130197"/>
            <a:chExt cx="8839200" cy="2506726"/>
          </a:xfrm>
        </p:grpSpPr>
        <p:pic>
          <p:nvPicPr>
            <p:cNvPr id="229" name="Google Shape;229;p27"/>
            <p:cNvPicPr preferRelativeResize="0"/>
            <p:nvPr/>
          </p:nvPicPr>
          <p:blipFill rotWithShape="1">
            <a:blip r:embed="rId3">
              <a:alphaModFix/>
            </a:blip>
            <a:srcRect t="45940"/>
            <a:stretch/>
          </p:blipFill>
          <p:spPr>
            <a:xfrm>
              <a:off x="259050" y="2130197"/>
              <a:ext cx="8839200" cy="25067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" name="Google Shape;230;p27"/>
            <p:cNvSpPr/>
            <p:nvPr/>
          </p:nvSpPr>
          <p:spPr>
            <a:xfrm>
              <a:off x="3778525" y="2342675"/>
              <a:ext cx="1234200" cy="182700"/>
            </a:xfrm>
            <a:prstGeom prst="rect">
              <a:avLst/>
            </a:prstGeom>
            <a:solidFill>
              <a:srgbClr val="F9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231" name="Google Shape;231;p27"/>
          <p:cNvSpPr/>
          <p:nvPr/>
        </p:nvSpPr>
        <p:spPr>
          <a:xfrm>
            <a:off x="480073" y="425196"/>
            <a:ext cx="68583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5AAC"/>
              </a:buClr>
              <a:buSzPts val="900"/>
              <a:buFont typeface="Calibri"/>
              <a:buNone/>
            </a:pPr>
            <a:r>
              <a:rPr lang="en" sz="900" b="1">
                <a:solidFill>
                  <a:srgbClr val="2E5AAC"/>
                </a:solidFill>
                <a:latin typeface="Proxima Nova"/>
                <a:ea typeface="Proxima Nova"/>
                <a:cs typeface="Proxima Nova"/>
                <a:sym typeface="Proxima Nova"/>
              </a:rPr>
              <a:t>WAYS OF WORKING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7"/>
          <p:cNvSpPr/>
          <p:nvPr/>
        </p:nvSpPr>
        <p:spPr>
          <a:xfrm>
            <a:off x="480073" y="1234440"/>
            <a:ext cx="6858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890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041133"/>
                </a:solidFill>
                <a:latin typeface="Proxima Nova"/>
                <a:ea typeface="Proxima Nova"/>
                <a:cs typeface="Proxima Nova"/>
                <a:sym typeface="Proxima Nova"/>
              </a:rPr>
              <a:t>Our approach meets you where you are and ensures we’re aligned at every step of the process.</a:t>
            </a:r>
            <a:endParaRPr sz="1100">
              <a:solidFill>
                <a:srgbClr val="04113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33" name="Google Shape;233;p27"/>
          <p:cNvSpPr txBox="1">
            <a:spLocks noGrp="1"/>
          </p:cNvSpPr>
          <p:nvPr>
            <p:ph type="ctrTitle"/>
          </p:nvPr>
        </p:nvSpPr>
        <p:spPr>
          <a:xfrm>
            <a:off x="480076" y="734900"/>
            <a:ext cx="80238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</a:pPr>
            <a:r>
              <a:rPr lang="en"/>
              <a:t>Our strategic approach that adapts to how you work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8"/>
          <p:cNvSpPr/>
          <p:nvPr/>
        </p:nvSpPr>
        <p:spPr>
          <a:xfrm>
            <a:off x="2595171" y="1773750"/>
            <a:ext cx="2026800" cy="2470200"/>
          </a:xfrm>
          <a:prstGeom prst="roundRect">
            <a:avLst>
              <a:gd name="adj" fmla="val 2510"/>
            </a:avLst>
          </a:prstGeom>
          <a:solidFill>
            <a:schemeClr val="lt1"/>
          </a:solidFill>
          <a:ln>
            <a:noFill/>
          </a:ln>
          <a:effectLst>
            <a:outerShdw blurRad="206779" dist="103390" dir="5400000" algn="t" rotWithShape="0">
              <a:srgbClr val="041133">
                <a:alpha val="10000"/>
              </a:srgbClr>
            </a:outerShdw>
          </a:effectLst>
        </p:spPr>
        <p:txBody>
          <a:bodyPr spcFirstLastPara="1" wrap="square" lIns="334975" tIns="0" rIns="279175" bIns="27875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51">
              <a:solidFill>
                <a:srgbClr val="62667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" name="Google Shape;239;p28"/>
          <p:cNvSpPr/>
          <p:nvPr/>
        </p:nvSpPr>
        <p:spPr>
          <a:xfrm>
            <a:off x="6812079" y="1773750"/>
            <a:ext cx="2026800" cy="2470200"/>
          </a:xfrm>
          <a:prstGeom prst="roundRect">
            <a:avLst>
              <a:gd name="adj" fmla="val 2510"/>
            </a:avLst>
          </a:prstGeom>
          <a:solidFill>
            <a:schemeClr val="lt1"/>
          </a:solidFill>
          <a:ln>
            <a:noFill/>
          </a:ln>
          <a:effectLst>
            <a:outerShdw blurRad="206779" dist="103390" dir="5400000" algn="t" rotWithShape="0">
              <a:srgbClr val="041133">
                <a:alpha val="10000"/>
              </a:srgbClr>
            </a:outerShdw>
          </a:effectLst>
        </p:spPr>
        <p:txBody>
          <a:bodyPr spcFirstLastPara="1" wrap="square" lIns="334975" tIns="0" rIns="279175" bIns="27875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51">
              <a:solidFill>
                <a:srgbClr val="62667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0" name="Google Shape;240;p28"/>
          <p:cNvSpPr/>
          <p:nvPr/>
        </p:nvSpPr>
        <p:spPr>
          <a:xfrm>
            <a:off x="4703625" y="1773750"/>
            <a:ext cx="2026800" cy="2470200"/>
          </a:xfrm>
          <a:prstGeom prst="roundRect">
            <a:avLst>
              <a:gd name="adj" fmla="val 2510"/>
            </a:avLst>
          </a:prstGeom>
          <a:solidFill>
            <a:schemeClr val="lt1"/>
          </a:solidFill>
          <a:ln>
            <a:noFill/>
          </a:ln>
          <a:effectLst>
            <a:outerShdw blurRad="206779" dist="103390" dir="5400000" algn="t" rotWithShape="0">
              <a:srgbClr val="041133">
                <a:alpha val="10000"/>
              </a:srgbClr>
            </a:outerShdw>
          </a:effectLst>
        </p:spPr>
        <p:txBody>
          <a:bodyPr spcFirstLastPara="1" wrap="square" lIns="334975" tIns="0" rIns="279175" bIns="27875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51">
              <a:solidFill>
                <a:srgbClr val="62667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1" name="Google Shape;241;p28"/>
          <p:cNvSpPr/>
          <p:nvPr/>
        </p:nvSpPr>
        <p:spPr>
          <a:xfrm>
            <a:off x="486696" y="1773675"/>
            <a:ext cx="2026800" cy="2470200"/>
          </a:xfrm>
          <a:prstGeom prst="roundRect">
            <a:avLst>
              <a:gd name="adj" fmla="val 2510"/>
            </a:avLst>
          </a:prstGeom>
          <a:solidFill>
            <a:schemeClr val="lt1"/>
          </a:solidFill>
          <a:ln>
            <a:noFill/>
          </a:ln>
          <a:effectLst>
            <a:outerShdw blurRad="206779" dist="103390" dir="5400000" algn="t" rotWithShape="0">
              <a:srgbClr val="041133">
                <a:alpha val="10000"/>
              </a:srgbClr>
            </a:outerShdw>
          </a:effectLst>
        </p:spPr>
        <p:txBody>
          <a:bodyPr spcFirstLastPara="1" wrap="square" lIns="334975" tIns="0" rIns="279175" bIns="27875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51">
              <a:solidFill>
                <a:srgbClr val="62667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2" name="Google Shape;242;p28"/>
          <p:cNvSpPr/>
          <p:nvPr/>
        </p:nvSpPr>
        <p:spPr>
          <a:xfrm>
            <a:off x="2603243" y="1773761"/>
            <a:ext cx="2026800" cy="700200"/>
          </a:xfrm>
          <a:prstGeom prst="roundRect">
            <a:avLst>
              <a:gd name="adj" fmla="val 2510"/>
            </a:avLst>
          </a:prstGeom>
          <a:solidFill>
            <a:srgbClr val="183A9E"/>
          </a:solidFill>
          <a:ln>
            <a:noFill/>
          </a:ln>
          <a:effectLst>
            <a:outerShdw blurRad="206779" dist="103390" dir="5400000" algn="t" rotWithShape="0">
              <a:srgbClr val="041133">
                <a:alpha val="10000"/>
              </a:srgbClr>
            </a:outerShdw>
          </a:effectLst>
        </p:spPr>
        <p:txBody>
          <a:bodyPr spcFirstLastPara="1" wrap="square" lIns="334975" tIns="0" rIns="279175" bIns="27875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WEEKLY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3" name="Google Shape;243;p28"/>
          <p:cNvSpPr/>
          <p:nvPr/>
        </p:nvSpPr>
        <p:spPr>
          <a:xfrm>
            <a:off x="6820147" y="1773761"/>
            <a:ext cx="2026800" cy="700200"/>
          </a:xfrm>
          <a:prstGeom prst="roundRect">
            <a:avLst>
              <a:gd name="adj" fmla="val 2510"/>
            </a:avLst>
          </a:prstGeom>
          <a:solidFill>
            <a:srgbClr val="25A9EE"/>
          </a:solidFill>
          <a:ln>
            <a:noFill/>
          </a:ln>
          <a:effectLst>
            <a:outerShdw blurRad="206779" dist="103390" dir="5400000" algn="t" rotWithShape="0">
              <a:srgbClr val="041133">
                <a:alpha val="10000"/>
              </a:srgbClr>
            </a:outerShdw>
          </a:effectLst>
        </p:spPr>
        <p:txBody>
          <a:bodyPr spcFirstLastPara="1" wrap="square" lIns="334975" tIns="0" rIns="279175" bIns="27875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AD-HOC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4" name="Google Shape;244;p28"/>
          <p:cNvSpPr/>
          <p:nvPr/>
        </p:nvSpPr>
        <p:spPr>
          <a:xfrm>
            <a:off x="4711695" y="1773761"/>
            <a:ext cx="2026800" cy="700200"/>
          </a:xfrm>
          <a:prstGeom prst="roundRect">
            <a:avLst>
              <a:gd name="adj" fmla="val 2510"/>
            </a:avLst>
          </a:prstGeom>
          <a:solidFill>
            <a:srgbClr val="204ECF"/>
          </a:solidFill>
          <a:ln>
            <a:noFill/>
          </a:ln>
          <a:effectLst>
            <a:outerShdw blurRad="206779" dist="103390" dir="5400000" algn="t" rotWithShape="0">
              <a:srgbClr val="041133">
                <a:alpha val="10000"/>
              </a:srgbClr>
            </a:outerShdw>
          </a:effectLst>
        </p:spPr>
        <p:txBody>
          <a:bodyPr spcFirstLastPara="1" wrap="square" lIns="334975" tIns="0" rIns="279175" bIns="27875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MONTHLY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5" name="Google Shape;245;p28"/>
          <p:cNvSpPr/>
          <p:nvPr/>
        </p:nvSpPr>
        <p:spPr>
          <a:xfrm>
            <a:off x="494771" y="1773761"/>
            <a:ext cx="2026800" cy="700200"/>
          </a:xfrm>
          <a:prstGeom prst="roundRect">
            <a:avLst>
              <a:gd name="adj" fmla="val 2510"/>
            </a:avLst>
          </a:prstGeom>
          <a:solidFill>
            <a:srgbClr val="C5D1F7"/>
          </a:solidFill>
          <a:ln>
            <a:noFill/>
          </a:ln>
          <a:effectLst>
            <a:outerShdw blurRad="206779" dist="103390" dir="5400000" algn="t" rotWithShape="0">
              <a:srgbClr val="041133">
                <a:alpha val="10000"/>
              </a:srgbClr>
            </a:outerShdw>
          </a:effectLst>
        </p:spPr>
        <p:txBody>
          <a:bodyPr spcFirstLastPara="1" wrap="square" lIns="334975" tIns="0" rIns="279175" bIns="27875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DAILY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6" name="Google Shape;246;p28"/>
          <p:cNvSpPr txBox="1"/>
          <p:nvPr/>
        </p:nvSpPr>
        <p:spPr>
          <a:xfrm>
            <a:off x="7006146" y="2619125"/>
            <a:ext cx="1650000" cy="15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Proxima Nova"/>
                <a:ea typeface="Proxima Nova"/>
                <a:cs typeface="Proxima Nova"/>
                <a:sym typeface="Proxima Nova"/>
              </a:rPr>
              <a:t>Working Sessions / Demos</a:t>
            </a:r>
            <a:endParaRPr sz="1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Proxima Nova"/>
                <a:ea typeface="Proxima Nova"/>
                <a:cs typeface="Proxima Nova"/>
                <a:sym typeface="Proxima Nova"/>
              </a:rPr>
              <a:t>Detailed requirements gathering, technical solution design / reviews, process mapping, and targeted feedback.</a:t>
            </a:r>
            <a:endParaRPr sz="1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7" name="Google Shape;247;p28"/>
          <p:cNvSpPr txBox="1"/>
          <p:nvPr/>
        </p:nvSpPr>
        <p:spPr>
          <a:xfrm>
            <a:off x="4887945" y="2622150"/>
            <a:ext cx="16500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Proxima Nova"/>
                <a:ea typeface="Proxima Nova"/>
                <a:cs typeface="Proxima Nova"/>
                <a:sym typeface="Proxima Nova"/>
              </a:rPr>
              <a:t>Steering Committee </a:t>
            </a:r>
            <a:endParaRPr sz="11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Proxima Nova"/>
                <a:ea typeface="Proxima Nova"/>
                <a:cs typeface="Proxima Nova"/>
                <a:sym typeface="Proxima Nova"/>
              </a:rPr>
              <a:t>(60 mins)</a:t>
            </a:r>
            <a:endParaRPr sz="11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Proxima Nova"/>
                <a:ea typeface="Proxima Nova"/>
                <a:cs typeface="Proxima Nova"/>
                <a:sym typeface="Proxima Nova"/>
              </a:rPr>
              <a:t>Review overall project health, approve major scope / budget changes, resolve escalated risks, and ensure continued strategic alignment.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8" name="Google Shape;248;p28"/>
          <p:cNvSpPr txBox="1"/>
          <p:nvPr/>
        </p:nvSpPr>
        <p:spPr>
          <a:xfrm>
            <a:off x="2777896" y="2619150"/>
            <a:ext cx="1650000" cy="15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Proxima Nova"/>
                <a:ea typeface="Proxima Nova"/>
                <a:cs typeface="Proxima Nova"/>
                <a:sym typeface="Proxima Nova"/>
              </a:rPr>
              <a:t>Status Report &amp; Meeting (30-45 mins)</a:t>
            </a:r>
            <a:endParaRPr sz="11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Proxima Nova"/>
                <a:ea typeface="Proxima Nova"/>
                <a:cs typeface="Proxima Nova"/>
                <a:sym typeface="Proxima Nova"/>
              </a:rPr>
              <a:t>Review progress against milestones, review the RAID log, and align on cross-functional dependencies.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9" name="Google Shape;249;p28"/>
          <p:cNvSpPr txBox="1"/>
          <p:nvPr/>
        </p:nvSpPr>
        <p:spPr>
          <a:xfrm>
            <a:off x="671020" y="2619125"/>
            <a:ext cx="1650000" cy="15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 b="1">
                <a:latin typeface="Proxima Nova"/>
                <a:ea typeface="Proxima Nova"/>
                <a:cs typeface="Proxima Nova"/>
                <a:sym typeface="Proxima Nova"/>
              </a:rPr>
              <a:t>Project team stand-ups </a:t>
            </a:r>
            <a:endParaRPr sz="11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Proxima Nova"/>
                <a:ea typeface="Proxima Nova"/>
                <a:cs typeface="Proxima Nova"/>
                <a:sym typeface="Proxima Nova"/>
              </a:rPr>
              <a:t>(15 mins)</a:t>
            </a:r>
            <a:endParaRPr sz="11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Proxima Nova"/>
                <a:ea typeface="Proxima Nova"/>
                <a:cs typeface="Proxima Nova"/>
                <a:sym typeface="Proxima Nova"/>
              </a:rPr>
              <a:t>Immediate tactical alignment, sharing of daily goals, and rapid unblocking of technical hurdles.</a:t>
            </a:r>
            <a:endParaRPr sz="1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0" name="Google Shape;250;p28"/>
          <p:cNvSpPr/>
          <p:nvPr/>
        </p:nvSpPr>
        <p:spPr>
          <a:xfrm>
            <a:off x="480073" y="425196"/>
            <a:ext cx="68583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5AAC"/>
              </a:buClr>
              <a:buSzPts val="900"/>
              <a:buFont typeface="Calibri"/>
              <a:buNone/>
            </a:pPr>
            <a:r>
              <a:rPr lang="en" sz="900" b="1">
                <a:solidFill>
                  <a:srgbClr val="2E5AAC"/>
                </a:solidFill>
                <a:latin typeface="Proxima Nova"/>
                <a:ea typeface="Proxima Nova"/>
                <a:cs typeface="Proxima Nova"/>
                <a:sym typeface="Proxima Nova"/>
              </a:rPr>
              <a:t>WAYS OF WORKING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8"/>
          <p:cNvSpPr/>
          <p:nvPr/>
        </p:nvSpPr>
        <p:spPr>
          <a:xfrm>
            <a:off x="480073" y="1234440"/>
            <a:ext cx="6858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890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041133"/>
                </a:solidFill>
                <a:latin typeface="Proxima Nova"/>
                <a:ea typeface="Proxima Nova"/>
                <a:cs typeface="Proxima Nova"/>
                <a:sym typeface="Proxima Nova"/>
              </a:rPr>
              <a:t>Our philosophy is no surprises by design.</a:t>
            </a:r>
            <a:endParaRPr sz="1100">
              <a:solidFill>
                <a:srgbClr val="04113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2" name="Google Shape;252;p28"/>
          <p:cNvSpPr txBox="1">
            <a:spLocks noGrp="1"/>
          </p:cNvSpPr>
          <p:nvPr>
            <p:ph type="ctrTitle"/>
          </p:nvPr>
        </p:nvSpPr>
        <p:spPr>
          <a:xfrm>
            <a:off x="480076" y="734900"/>
            <a:ext cx="80238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</a:pPr>
            <a:r>
              <a:rPr lang="en" sz="2400"/>
              <a:t>Our operating </a:t>
            </a:r>
            <a:r>
              <a:rPr lang="en"/>
              <a:t>rhythm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9"/>
          <p:cNvSpPr/>
          <p:nvPr/>
        </p:nvSpPr>
        <p:spPr>
          <a:xfrm>
            <a:off x="480073" y="425196"/>
            <a:ext cx="68583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5AAC"/>
              </a:buClr>
              <a:buSzPts val="900"/>
              <a:buFont typeface="Calibri"/>
              <a:buNone/>
            </a:pPr>
            <a:r>
              <a:rPr lang="en" sz="900" b="1">
                <a:solidFill>
                  <a:srgbClr val="2E5AAC"/>
                </a:solidFill>
                <a:latin typeface="Proxima Nova"/>
                <a:ea typeface="Proxima Nova"/>
                <a:cs typeface="Proxima Nova"/>
                <a:sym typeface="Proxima Nova"/>
              </a:rPr>
              <a:t>WAYS OF WORKING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9"/>
          <p:cNvSpPr/>
          <p:nvPr/>
        </p:nvSpPr>
        <p:spPr>
          <a:xfrm>
            <a:off x="480073" y="1234440"/>
            <a:ext cx="6858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890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041133"/>
                </a:solidFill>
                <a:latin typeface="Proxima Nova"/>
                <a:ea typeface="Proxima Nova"/>
                <a:cs typeface="Proxima Nova"/>
                <a:sym typeface="Proxima Nova"/>
              </a:rPr>
              <a:t>Standardizing our digital workspace</a:t>
            </a:r>
            <a:endParaRPr sz="1100">
              <a:solidFill>
                <a:srgbClr val="04113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0" name="Google Shape;260;p29"/>
          <p:cNvSpPr txBox="1">
            <a:spLocks noGrp="1"/>
          </p:cNvSpPr>
          <p:nvPr>
            <p:ph type="ctrTitle" idx="4294967295"/>
          </p:nvPr>
        </p:nvSpPr>
        <p:spPr>
          <a:xfrm>
            <a:off x="480076" y="734900"/>
            <a:ext cx="80238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</a:pPr>
            <a:r>
              <a:rPr lang="en" sz="2400"/>
              <a:t>Collaboration toolstack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1" name="Google Shape;261;p29"/>
          <p:cNvSpPr/>
          <p:nvPr/>
        </p:nvSpPr>
        <p:spPr>
          <a:xfrm>
            <a:off x="480075" y="2057400"/>
            <a:ext cx="2544900" cy="2344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 cap="flat" cmpd="sng">
            <a:solidFill>
              <a:srgbClr val="D3DCEC"/>
            </a:solidFill>
            <a:prstDash val="solid"/>
            <a:round/>
            <a:headEnd type="none" w="sm" len="sm"/>
            <a:tailEnd type="none" w="sm" len="sm"/>
          </a:ln>
          <a:effectLst>
            <a:outerShdw blurRad="85727" dist="28576" dir="5400000" algn="bl" rotWithShape="0">
              <a:srgbClr val="0B1836">
                <a:alpha val="1608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9"/>
          <p:cNvSpPr/>
          <p:nvPr/>
        </p:nvSpPr>
        <p:spPr>
          <a:xfrm>
            <a:off x="754400" y="2781017"/>
            <a:ext cx="1996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4D"/>
              </a:buClr>
              <a:buSzPts val="1400"/>
              <a:buFont typeface="Calibri"/>
              <a:buNone/>
            </a:pPr>
            <a:r>
              <a:rPr lang="en" b="1">
                <a:solidFill>
                  <a:srgbClr val="14264D"/>
                </a:solidFill>
                <a:latin typeface="Proxima Nova"/>
                <a:ea typeface="Proxima Nova"/>
                <a:cs typeface="Proxima Nova"/>
                <a:sym typeface="Proxima Nova"/>
              </a:rPr>
              <a:t>Real-Time Comms</a:t>
            </a:r>
            <a:endParaRPr sz="140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3" name="Google Shape;263;p29"/>
          <p:cNvSpPr/>
          <p:nvPr/>
        </p:nvSpPr>
        <p:spPr>
          <a:xfrm>
            <a:off x="754400" y="3394710"/>
            <a:ext cx="1996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4C63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3F4C63"/>
                </a:solidFill>
                <a:latin typeface="Proxima Nova"/>
                <a:ea typeface="Proxima Nova"/>
                <a:cs typeface="Proxima Nova"/>
                <a:sym typeface="Proxima Nova"/>
              </a:rPr>
              <a:t>Dedicated, shared collaboration channels for the joint core team for day-to-day project execution.</a:t>
            </a:r>
            <a:endParaRPr sz="100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4" name="Google Shape;264;p29"/>
          <p:cNvSpPr/>
          <p:nvPr/>
        </p:nvSpPr>
        <p:spPr>
          <a:xfrm>
            <a:off x="3299474" y="2057400"/>
            <a:ext cx="2544900" cy="2344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 cap="flat" cmpd="sng">
            <a:solidFill>
              <a:srgbClr val="D3DCEC"/>
            </a:solidFill>
            <a:prstDash val="solid"/>
            <a:round/>
            <a:headEnd type="none" w="sm" len="sm"/>
            <a:tailEnd type="none" w="sm" len="sm"/>
          </a:ln>
          <a:effectLst>
            <a:outerShdw blurRad="85727" dist="28576" dir="5400000" algn="bl" rotWithShape="0">
              <a:srgbClr val="0B1836">
                <a:alpha val="1608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9"/>
          <p:cNvSpPr/>
          <p:nvPr/>
        </p:nvSpPr>
        <p:spPr>
          <a:xfrm>
            <a:off x="3573799" y="2781017"/>
            <a:ext cx="1996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4D"/>
              </a:buClr>
              <a:buSzPts val="1400"/>
              <a:buFont typeface="Calibri"/>
              <a:buNone/>
            </a:pPr>
            <a:r>
              <a:rPr lang="en" b="1">
                <a:solidFill>
                  <a:srgbClr val="14264D"/>
                </a:solidFill>
                <a:latin typeface="Proxima Nova"/>
                <a:ea typeface="Proxima Nova"/>
                <a:cs typeface="Proxima Nova"/>
                <a:sym typeface="Proxima Nova"/>
              </a:rPr>
              <a:t>Work Management</a:t>
            </a:r>
            <a:endParaRPr sz="140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6" name="Google Shape;266;p29"/>
          <p:cNvSpPr/>
          <p:nvPr/>
        </p:nvSpPr>
        <p:spPr>
          <a:xfrm>
            <a:off x="3573799" y="3394710"/>
            <a:ext cx="1996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4C63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3F4C63"/>
                </a:solidFill>
                <a:latin typeface="Proxima Nova"/>
                <a:ea typeface="Proxima Nova"/>
                <a:cs typeface="Proxima Nova"/>
                <a:sym typeface="Proxima Nova"/>
              </a:rPr>
              <a:t>Single source of truth for execution (user stories, epics, tasks, bug tracking will be logged here).</a:t>
            </a:r>
            <a:endParaRPr sz="100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7" name="Google Shape;267;p29"/>
          <p:cNvSpPr/>
          <p:nvPr/>
        </p:nvSpPr>
        <p:spPr>
          <a:xfrm>
            <a:off x="6118874" y="2057400"/>
            <a:ext cx="2544900" cy="2344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 cap="flat" cmpd="sng">
            <a:solidFill>
              <a:srgbClr val="D3DCEC"/>
            </a:solidFill>
            <a:prstDash val="solid"/>
            <a:round/>
            <a:headEnd type="none" w="sm" len="sm"/>
            <a:tailEnd type="none" w="sm" len="sm"/>
          </a:ln>
          <a:effectLst>
            <a:outerShdw blurRad="85727" dist="28576" dir="5400000" algn="bl" rotWithShape="0">
              <a:srgbClr val="0B1836">
                <a:alpha val="1608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9"/>
          <p:cNvSpPr/>
          <p:nvPr/>
        </p:nvSpPr>
        <p:spPr>
          <a:xfrm>
            <a:off x="6393198" y="2781017"/>
            <a:ext cx="1996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4D"/>
              </a:buClr>
              <a:buSzPts val="1400"/>
              <a:buFont typeface="Calibri"/>
              <a:buNone/>
            </a:pPr>
            <a:r>
              <a:rPr lang="en" b="1">
                <a:solidFill>
                  <a:srgbClr val="14264D"/>
                </a:solidFill>
                <a:latin typeface="Proxima Nova"/>
                <a:ea typeface="Proxima Nova"/>
                <a:cs typeface="Proxima Nova"/>
                <a:sym typeface="Proxima Nova"/>
              </a:rPr>
              <a:t>Documentation Hub</a:t>
            </a:r>
            <a:endParaRPr sz="140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9" name="Google Shape;269;p29"/>
          <p:cNvSpPr/>
          <p:nvPr/>
        </p:nvSpPr>
        <p:spPr>
          <a:xfrm>
            <a:off x="6393198" y="3394710"/>
            <a:ext cx="1996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4C63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3F4C63"/>
                </a:solidFill>
                <a:latin typeface="Proxima Nova"/>
                <a:ea typeface="Proxima Nova"/>
                <a:cs typeface="Proxima Nova"/>
                <a:sym typeface="Proxima Nova"/>
              </a:rPr>
              <a:t>Central repository for all project artifacts including signed-off deliverables, status reports, etc.</a:t>
            </a:r>
            <a:endParaRPr sz="100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70" name="Google Shape;27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388" y="2290011"/>
            <a:ext cx="323350" cy="32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3808" y="2288354"/>
            <a:ext cx="326648" cy="326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93207" y="2283607"/>
            <a:ext cx="333525" cy="336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0"/>
          <p:cNvSpPr/>
          <p:nvPr/>
        </p:nvSpPr>
        <p:spPr>
          <a:xfrm>
            <a:off x="480073" y="425196"/>
            <a:ext cx="68583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5AAC"/>
              </a:buClr>
              <a:buSzPts val="900"/>
              <a:buFont typeface="Calibri"/>
              <a:buNone/>
            </a:pPr>
            <a:r>
              <a:rPr lang="en" sz="900" b="1">
                <a:solidFill>
                  <a:srgbClr val="2E5AAC"/>
                </a:solidFill>
                <a:latin typeface="Proxima Nova"/>
                <a:ea typeface="Proxima Nova"/>
                <a:cs typeface="Proxima Nova"/>
                <a:sym typeface="Proxima Nova"/>
              </a:rPr>
              <a:t>WAYS OF WORKING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0"/>
          <p:cNvSpPr/>
          <p:nvPr/>
        </p:nvSpPr>
        <p:spPr>
          <a:xfrm>
            <a:off x="480073" y="1234440"/>
            <a:ext cx="6858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890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041133"/>
                </a:solidFill>
                <a:latin typeface="Proxima Nova"/>
                <a:ea typeface="Proxima Nova"/>
                <a:cs typeface="Proxima Nova"/>
                <a:sym typeface="Proxima Nova"/>
              </a:rPr>
              <a:t>Our core best practice is proactive risk mitigation rather than reactive problem-solving. Most issues resolve at the working level. When one doesn’t, we have a clear escalation path. </a:t>
            </a:r>
            <a:endParaRPr sz="1100">
              <a:solidFill>
                <a:srgbClr val="04113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80" name="Google Shape;280;p30"/>
          <p:cNvSpPr txBox="1">
            <a:spLocks noGrp="1"/>
          </p:cNvSpPr>
          <p:nvPr>
            <p:ph type="ctrTitle" idx="4294967295"/>
          </p:nvPr>
        </p:nvSpPr>
        <p:spPr>
          <a:xfrm>
            <a:off x="480076" y="734900"/>
            <a:ext cx="80238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</a:pPr>
            <a:r>
              <a:rPr lang="en" sz="2400"/>
              <a:t>Governance and escalation path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81" name="Google Shape;281;p30"/>
          <p:cNvSpPr/>
          <p:nvPr/>
        </p:nvSpPr>
        <p:spPr>
          <a:xfrm>
            <a:off x="480073" y="2125980"/>
            <a:ext cx="1814400" cy="185190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9525" cap="flat" cmpd="sng">
            <a:solidFill>
              <a:srgbClr val="D3DCEC"/>
            </a:solidFill>
            <a:prstDash val="solid"/>
            <a:round/>
            <a:headEnd type="none" w="sm" len="sm"/>
            <a:tailEnd type="none" w="sm" len="sm"/>
          </a:ln>
          <a:effectLst>
            <a:outerShdw blurRad="85727" dist="28576" dir="5400000" algn="bl" rotWithShape="0">
              <a:srgbClr val="0B1836">
                <a:alpha val="1608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30"/>
          <p:cNvSpPr/>
          <p:nvPr/>
        </p:nvSpPr>
        <p:spPr>
          <a:xfrm>
            <a:off x="1130143" y="2366010"/>
            <a:ext cx="514500" cy="514500"/>
          </a:xfrm>
          <a:prstGeom prst="ellipse">
            <a:avLst/>
          </a:prstGeom>
          <a:solidFill>
            <a:srgbClr val="14264D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30"/>
          <p:cNvSpPr/>
          <p:nvPr/>
        </p:nvSpPr>
        <p:spPr>
          <a:xfrm>
            <a:off x="1130143" y="2366010"/>
            <a:ext cx="5145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0"/>
          <p:cNvSpPr/>
          <p:nvPr/>
        </p:nvSpPr>
        <p:spPr>
          <a:xfrm>
            <a:off x="617236" y="2983230"/>
            <a:ext cx="15402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64D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14264D"/>
                </a:solidFill>
                <a:latin typeface="Calibri"/>
                <a:ea typeface="Calibri"/>
                <a:cs typeface="Calibri"/>
                <a:sym typeface="Calibri"/>
              </a:rPr>
              <a:t>Working team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0"/>
          <p:cNvSpPr/>
          <p:nvPr/>
        </p:nvSpPr>
        <p:spPr>
          <a:xfrm>
            <a:off x="630953" y="3374136"/>
            <a:ext cx="15126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4C63"/>
              </a:buClr>
              <a:buSzPts val="900"/>
              <a:buFont typeface="Calibri"/>
              <a:buNone/>
            </a:pPr>
            <a:r>
              <a:rPr lang="en" sz="900" b="0" i="0" u="none" strike="noStrike" cap="none">
                <a:solidFill>
                  <a:srgbClr val="3F4C63"/>
                </a:solidFill>
                <a:latin typeface="Calibri"/>
                <a:ea typeface="Calibri"/>
                <a:cs typeface="Calibri"/>
                <a:sym typeface="Calibri"/>
              </a:rPr>
              <a:t>Day-to-day questions and blockers, resolved in the flow of work.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3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2346018" y="2503170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0"/>
          <p:cNvSpPr/>
          <p:nvPr/>
        </p:nvSpPr>
        <p:spPr>
          <a:xfrm>
            <a:off x="2603195" y="2125980"/>
            <a:ext cx="1814400" cy="1851900"/>
          </a:xfrm>
          <a:prstGeom prst="roundRect">
            <a:avLst>
              <a:gd name="adj" fmla="val 3024"/>
            </a:avLst>
          </a:prstGeom>
          <a:solidFill>
            <a:srgbClr val="EEF2F9"/>
          </a:solidFill>
          <a:ln w="9525" cap="flat" cmpd="sng">
            <a:solidFill>
              <a:srgbClr val="D3DCEC"/>
            </a:solidFill>
            <a:prstDash val="solid"/>
            <a:round/>
            <a:headEnd type="none" w="sm" len="sm"/>
            <a:tailEnd type="none" w="sm" len="sm"/>
          </a:ln>
          <a:effectLst>
            <a:outerShdw blurRad="85727" dist="28576" dir="5400000" algn="bl" rotWithShape="0">
              <a:srgbClr val="0B1836">
                <a:alpha val="1608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30"/>
          <p:cNvSpPr/>
          <p:nvPr/>
        </p:nvSpPr>
        <p:spPr>
          <a:xfrm>
            <a:off x="3253265" y="2366010"/>
            <a:ext cx="514500" cy="514500"/>
          </a:xfrm>
          <a:prstGeom prst="ellipse">
            <a:avLst/>
          </a:prstGeom>
          <a:solidFill>
            <a:srgbClr val="2E5AA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30"/>
          <p:cNvSpPr/>
          <p:nvPr/>
        </p:nvSpPr>
        <p:spPr>
          <a:xfrm>
            <a:off x="3253265" y="2366010"/>
            <a:ext cx="5145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0"/>
          <p:cNvSpPr/>
          <p:nvPr/>
        </p:nvSpPr>
        <p:spPr>
          <a:xfrm>
            <a:off x="2740359" y="2983230"/>
            <a:ext cx="15402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64D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14264D"/>
                </a:solidFill>
                <a:latin typeface="Calibri"/>
                <a:ea typeface="Calibri"/>
                <a:cs typeface="Calibri"/>
                <a:sym typeface="Calibri"/>
              </a:rPr>
              <a:t>Delivery Manager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0"/>
          <p:cNvSpPr/>
          <p:nvPr/>
        </p:nvSpPr>
        <p:spPr>
          <a:xfrm>
            <a:off x="2754075" y="3374136"/>
            <a:ext cx="15126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4C63"/>
              </a:buClr>
              <a:buSzPts val="900"/>
              <a:buFont typeface="Calibri"/>
              <a:buNone/>
            </a:pPr>
            <a:r>
              <a:rPr lang="en" sz="900" b="0" i="0" u="none" strike="noStrike" cap="none">
                <a:solidFill>
                  <a:srgbClr val="3F4C63"/>
                </a:solidFill>
                <a:latin typeface="Calibri"/>
                <a:ea typeface="Calibri"/>
                <a:cs typeface="Calibri"/>
                <a:sym typeface="Calibri"/>
              </a:rPr>
              <a:t>Your single point of contact steps in when a blocker persists [24–48h].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Google Shape;292;p3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4469140" y="2503170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0"/>
          <p:cNvSpPr/>
          <p:nvPr/>
        </p:nvSpPr>
        <p:spPr>
          <a:xfrm>
            <a:off x="4726317" y="2125980"/>
            <a:ext cx="1814400" cy="1851900"/>
          </a:xfrm>
          <a:prstGeom prst="roundRect">
            <a:avLst>
              <a:gd name="adj" fmla="val 3024"/>
            </a:avLst>
          </a:prstGeom>
          <a:solidFill>
            <a:srgbClr val="EEF2F9"/>
          </a:solidFill>
          <a:ln w="9525" cap="flat" cmpd="sng">
            <a:solidFill>
              <a:srgbClr val="D3DCEC"/>
            </a:solidFill>
            <a:prstDash val="solid"/>
            <a:round/>
            <a:headEnd type="none" w="sm" len="sm"/>
            <a:tailEnd type="none" w="sm" len="sm"/>
          </a:ln>
          <a:effectLst>
            <a:outerShdw blurRad="85727" dist="28576" dir="5400000" algn="bl" rotWithShape="0">
              <a:srgbClr val="0B1836">
                <a:alpha val="1608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30"/>
          <p:cNvSpPr/>
          <p:nvPr/>
        </p:nvSpPr>
        <p:spPr>
          <a:xfrm>
            <a:off x="5376387" y="2366010"/>
            <a:ext cx="514500" cy="514500"/>
          </a:xfrm>
          <a:prstGeom prst="ellipse">
            <a:avLst/>
          </a:prstGeom>
          <a:solidFill>
            <a:srgbClr val="14264D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30"/>
          <p:cNvSpPr/>
          <p:nvPr/>
        </p:nvSpPr>
        <p:spPr>
          <a:xfrm>
            <a:off x="5376387" y="2366010"/>
            <a:ext cx="5145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0"/>
          <p:cNvSpPr/>
          <p:nvPr/>
        </p:nvSpPr>
        <p:spPr>
          <a:xfrm>
            <a:off x="4863481" y="2983230"/>
            <a:ext cx="15402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64D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14264D"/>
                </a:solidFill>
                <a:latin typeface="Calibri"/>
                <a:ea typeface="Calibri"/>
                <a:cs typeface="Calibri"/>
                <a:sym typeface="Calibri"/>
              </a:rPr>
              <a:t>Delivery </a:t>
            </a:r>
            <a:r>
              <a:rPr lang="en" sz="1100" b="1">
                <a:solidFill>
                  <a:srgbClr val="14264D"/>
                </a:solidFill>
                <a:latin typeface="Calibri"/>
                <a:ea typeface="Calibri"/>
                <a:cs typeface="Calibri"/>
                <a:sym typeface="Calibri"/>
              </a:rPr>
              <a:t>Director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0"/>
          <p:cNvSpPr/>
          <p:nvPr/>
        </p:nvSpPr>
        <p:spPr>
          <a:xfrm>
            <a:off x="4877197" y="3374136"/>
            <a:ext cx="15126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4C63"/>
              </a:buClr>
              <a:buSzPts val="900"/>
              <a:buFont typeface="Calibri"/>
              <a:buNone/>
            </a:pPr>
            <a:r>
              <a:rPr lang="en" sz="900" b="0" i="0" u="none" strike="noStrike" cap="none">
                <a:solidFill>
                  <a:srgbClr val="3F4C63"/>
                </a:solidFill>
                <a:latin typeface="Calibri"/>
                <a:ea typeface="Calibri"/>
                <a:cs typeface="Calibri"/>
                <a:sym typeface="Calibri"/>
              </a:rPr>
              <a:t>Engages if delivery, quality, or commitments are at signi</a:t>
            </a:r>
            <a:r>
              <a:rPr lang="en" sz="900">
                <a:solidFill>
                  <a:srgbClr val="3F4C63"/>
                </a:solidFill>
                <a:latin typeface="Calibri"/>
                <a:ea typeface="Calibri"/>
                <a:cs typeface="Calibri"/>
                <a:sym typeface="Calibri"/>
              </a:rPr>
              <a:t>ficant</a:t>
            </a:r>
            <a:r>
              <a:rPr lang="en" sz="900" b="0" i="0" u="none" strike="noStrike" cap="none">
                <a:solidFill>
                  <a:srgbClr val="3F4C63"/>
                </a:solidFill>
                <a:latin typeface="Calibri"/>
                <a:ea typeface="Calibri"/>
                <a:cs typeface="Calibri"/>
                <a:sym typeface="Calibri"/>
              </a:rPr>
              <a:t> risk.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" name="Google Shape;298;p3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6592262" y="2503170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0"/>
          <p:cNvSpPr/>
          <p:nvPr/>
        </p:nvSpPr>
        <p:spPr>
          <a:xfrm>
            <a:off x="6849438" y="2125980"/>
            <a:ext cx="1814400" cy="1851900"/>
          </a:xfrm>
          <a:prstGeom prst="roundRect">
            <a:avLst>
              <a:gd name="adj" fmla="val 3024"/>
            </a:avLst>
          </a:prstGeom>
          <a:solidFill>
            <a:srgbClr val="EEF2F9"/>
          </a:solidFill>
          <a:ln w="9525" cap="flat" cmpd="sng">
            <a:solidFill>
              <a:srgbClr val="D3DCEC"/>
            </a:solidFill>
            <a:prstDash val="solid"/>
            <a:round/>
            <a:headEnd type="none" w="sm" len="sm"/>
            <a:tailEnd type="none" w="sm" len="sm"/>
          </a:ln>
          <a:effectLst>
            <a:outerShdw blurRad="85727" dist="28576" dir="5400000" algn="bl" rotWithShape="0">
              <a:srgbClr val="0B1836">
                <a:alpha val="1608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30"/>
          <p:cNvSpPr/>
          <p:nvPr/>
        </p:nvSpPr>
        <p:spPr>
          <a:xfrm>
            <a:off x="7499508" y="2366010"/>
            <a:ext cx="514500" cy="514500"/>
          </a:xfrm>
          <a:prstGeom prst="ellipse">
            <a:avLst/>
          </a:prstGeom>
          <a:solidFill>
            <a:srgbClr val="2E5AA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30"/>
          <p:cNvSpPr/>
          <p:nvPr/>
        </p:nvSpPr>
        <p:spPr>
          <a:xfrm>
            <a:off x="7499508" y="2366010"/>
            <a:ext cx="5145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0"/>
          <p:cNvSpPr/>
          <p:nvPr/>
        </p:nvSpPr>
        <p:spPr>
          <a:xfrm>
            <a:off x="6986602" y="2983230"/>
            <a:ext cx="15402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64D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14264D"/>
                </a:solidFill>
                <a:latin typeface="Calibri"/>
                <a:ea typeface="Calibri"/>
                <a:cs typeface="Calibri"/>
                <a:sym typeface="Calibri"/>
              </a:rPr>
              <a:t>Executive sponsors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0"/>
          <p:cNvSpPr/>
          <p:nvPr/>
        </p:nvSpPr>
        <p:spPr>
          <a:xfrm>
            <a:off x="7000318" y="3374136"/>
            <a:ext cx="15126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4C63"/>
              </a:buClr>
              <a:buSzPts val="900"/>
              <a:buFont typeface="Calibri"/>
              <a:buNone/>
            </a:pPr>
            <a:r>
              <a:rPr lang="en" sz="900" b="0" i="0" u="none" strike="noStrike" cap="none">
                <a:solidFill>
                  <a:srgbClr val="3F4C63"/>
                </a:solidFill>
                <a:latin typeface="Calibri"/>
                <a:ea typeface="Calibri"/>
                <a:cs typeface="Calibri"/>
                <a:sym typeface="Calibri"/>
              </a:rPr>
              <a:t>Both sponsors align on material scope, risk, or relationship matters.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1"/>
          <p:cNvSpPr/>
          <p:nvPr/>
        </p:nvSpPr>
        <p:spPr>
          <a:xfrm>
            <a:off x="480073" y="425196"/>
            <a:ext cx="68583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5AAC"/>
              </a:buClr>
              <a:buSzPts val="900"/>
              <a:buFont typeface="Calibri"/>
              <a:buNone/>
            </a:pPr>
            <a:r>
              <a:rPr lang="en" sz="900" b="1">
                <a:solidFill>
                  <a:srgbClr val="2E5AAC"/>
                </a:solidFill>
                <a:latin typeface="Proxima Nova"/>
                <a:ea typeface="Proxima Nova"/>
                <a:cs typeface="Proxima Nova"/>
                <a:sym typeface="Proxima Nova"/>
              </a:rPr>
              <a:t>WAYS OF WORKING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1"/>
          <p:cNvSpPr/>
          <p:nvPr/>
        </p:nvSpPr>
        <p:spPr>
          <a:xfrm>
            <a:off x="480073" y="1234440"/>
            <a:ext cx="6858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890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041133"/>
                </a:solidFill>
                <a:latin typeface="Proxima Nova"/>
                <a:ea typeface="Proxima Nova"/>
                <a:cs typeface="Proxima Nova"/>
                <a:sym typeface="Proxima Nova"/>
              </a:rPr>
              <a:t>Addressing the “elephants in the room” proactively to ensure effective kickoff</a:t>
            </a:r>
            <a:endParaRPr sz="1100">
              <a:solidFill>
                <a:srgbClr val="04113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11" name="Google Shape;311;p31"/>
          <p:cNvSpPr txBox="1">
            <a:spLocks noGrp="1"/>
          </p:cNvSpPr>
          <p:nvPr>
            <p:ph type="ctrTitle" idx="4294967295"/>
          </p:nvPr>
        </p:nvSpPr>
        <p:spPr>
          <a:xfrm>
            <a:off x="480076" y="734900"/>
            <a:ext cx="80238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</a:pPr>
            <a:r>
              <a:rPr lang="en" sz="2400"/>
              <a:t>Initial risk register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312" name="Google Shape;312;p31"/>
          <p:cNvGraphicFramePr/>
          <p:nvPr/>
        </p:nvGraphicFramePr>
        <p:xfrm>
          <a:off x="480073" y="17613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{E948CED7-A0B8-4A06-85AC-5F1379CAB3A5}</a:tableStyleId>
              </a:tblPr>
              <a:tblGrid>
                <a:gridCol w="275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1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5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100" b="1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Risk Description</a:t>
                      </a:r>
                      <a:endParaRPr sz="1100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100" b="1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Prob/Impact</a:t>
                      </a:r>
                      <a:endParaRPr sz="1100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100" b="1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Proposed Mitigation Strategy</a:t>
                      </a:r>
                      <a:endParaRPr sz="1100" b="1">
                        <a:solidFill>
                          <a:srgbClr val="FFFFFF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Target Resolution Date</a:t>
                      </a:r>
                      <a:endParaRPr sz="1100" b="1">
                        <a:solidFill>
                          <a:srgbClr val="FFFFFF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64D"/>
                        </a:buClr>
                        <a:buSzPts val="125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14264D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[</a:t>
                      </a:r>
                      <a:r>
                        <a:rPr lang="en" sz="1000" b="1">
                          <a:solidFill>
                            <a:srgbClr val="14264D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Title</a:t>
                      </a:r>
                      <a:r>
                        <a:rPr lang="en" sz="1000" b="1" u="none" strike="noStrike" cap="none">
                          <a:solidFill>
                            <a:srgbClr val="14264D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]</a:t>
                      </a:r>
                      <a:br>
                        <a:rPr lang="en" sz="1000" u="none" strike="noStrike" cap="none">
                          <a:solidFill>
                            <a:srgbClr val="14264D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</a:br>
                      <a:r>
                        <a:rPr lang="en" sz="1000" u="none" strike="noStrike" cap="none">
                          <a:solidFill>
                            <a:srgbClr val="14264D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[Brief Descri</a:t>
                      </a:r>
                      <a:r>
                        <a:rPr lang="en" sz="1000">
                          <a:solidFill>
                            <a:srgbClr val="14264D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ption]</a:t>
                      </a:r>
                      <a:endParaRPr sz="1000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[High/High]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[Description]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C63"/>
                        </a:buClr>
                        <a:buSzPts val="125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3F4C6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[Date]</a:t>
                      </a:r>
                      <a:endParaRPr sz="1000" u="none" strike="noStrike" cap="none">
                        <a:solidFill>
                          <a:srgbClr val="3F4C63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14264D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[Title]</a:t>
                      </a:r>
                      <a:br>
                        <a:rPr lang="en" sz="1000">
                          <a:solidFill>
                            <a:srgbClr val="14264D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</a:br>
                      <a:r>
                        <a:rPr lang="en" sz="1000">
                          <a:solidFill>
                            <a:srgbClr val="14264D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[Brief Description]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[Med/Med]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[Description]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C63"/>
                        </a:buClr>
                        <a:buSzPts val="125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3F4C6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[Date]</a:t>
                      </a:r>
                      <a:endParaRPr sz="1000" u="none" strike="noStrike" cap="none">
                        <a:solidFill>
                          <a:srgbClr val="3F4C63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14264D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[Title]</a:t>
                      </a:r>
                      <a:br>
                        <a:rPr lang="en" sz="1000">
                          <a:solidFill>
                            <a:srgbClr val="14264D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</a:br>
                      <a:r>
                        <a:rPr lang="en" sz="1000">
                          <a:solidFill>
                            <a:srgbClr val="14264D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[Brief Description]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[Low/Low]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[Description]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C63"/>
                        </a:buClr>
                        <a:buSzPts val="125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3F4C6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[Date]</a:t>
                      </a:r>
                      <a:endParaRPr sz="1000" u="none" strike="noStrike" cap="none">
                        <a:solidFill>
                          <a:srgbClr val="3F4C63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2"/>
          <p:cNvSpPr/>
          <p:nvPr/>
        </p:nvSpPr>
        <p:spPr>
          <a:xfrm>
            <a:off x="480073" y="425196"/>
            <a:ext cx="68583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5AAC"/>
              </a:buClr>
              <a:buSzPts val="900"/>
              <a:buFont typeface="Calibri"/>
              <a:buNone/>
            </a:pPr>
            <a:r>
              <a:rPr lang="en" sz="900" b="1">
                <a:solidFill>
                  <a:srgbClr val="2E5AAC"/>
                </a:solidFill>
                <a:latin typeface="Proxima Nova"/>
                <a:ea typeface="Proxima Nova"/>
                <a:cs typeface="Proxima Nova"/>
                <a:sym typeface="Proxima Nova"/>
              </a:rPr>
              <a:t>WAYS OF WORKING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2"/>
          <p:cNvSpPr/>
          <p:nvPr/>
        </p:nvSpPr>
        <p:spPr>
          <a:xfrm>
            <a:off x="480073" y="1234440"/>
            <a:ext cx="6858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890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041133"/>
                </a:solidFill>
                <a:latin typeface="Proxima Nova"/>
                <a:ea typeface="Proxima Nova"/>
                <a:cs typeface="Proxima Nova"/>
                <a:sym typeface="Proxima Nova"/>
              </a:rPr>
              <a:t>How we handle new ideas without blowing up the budget and/or timeline.</a:t>
            </a:r>
            <a:endParaRPr sz="1100">
              <a:solidFill>
                <a:srgbClr val="04113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20" name="Google Shape;320;p32"/>
          <p:cNvSpPr txBox="1">
            <a:spLocks noGrp="1"/>
          </p:cNvSpPr>
          <p:nvPr>
            <p:ph type="ctrTitle" idx="4294967295"/>
          </p:nvPr>
        </p:nvSpPr>
        <p:spPr>
          <a:xfrm>
            <a:off x="480076" y="734900"/>
            <a:ext cx="80238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</a:pPr>
            <a:r>
              <a:rPr lang="en" sz="2400"/>
              <a:t>Managing Change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21" name="Google Shape;321;p32"/>
          <p:cNvSpPr/>
          <p:nvPr/>
        </p:nvSpPr>
        <p:spPr>
          <a:xfrm>
            <a:off x="480110" y="1862795"/>
            <a:ext cx="3920400" cy="26745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 cap="flat" cmpd="sng">
            <a:solidFill>
              <a:srgbClr val="D3DCEC"/>
            </a:solidFill>
            <a:prstDash val="solid"/>
            <a:round/>
            <a:headEnd type="none" w="sm" len="sm"/>
            <a:tailEnd type="none" w="sm" len="sm"/>
          </a:ln>
          <a:effectLst>
            <a:outerShdw blurRad="85727" dist="28576" dir="5400000" algn="bl" rotWithShape="0">
              <a:srgbClr val="0B1836">
                <a:alpha val="1608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32"/>
          <p:cNvSpPr/>
          <p:nvPr/>
        </p:nvSpPr>
        <p:spPr>
          <a:xfrm>
            <a:off x="754438" y="2137115"/>
            <a:ext cx="548700" cy="548400"/>
          </a:xfrm>
          <a:prstGeom prst="ellipse">
            <a:avLst/>
          </a:prstGeom>
          <a:solidFill>
            <a:srgbClr val="E1E9F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32"/>
          <p:cNvSpPr/>
          <p:nvPr/>
        </p:nvSpPr>
        <p:spPr>
          <a:xfrm>
            <a:off x="1405965" y="2205695"/>
            <a:ext cx="28917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4D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14264D"/>
                </a:solidFill>
                <a:latin typeface="Proxima Nova"/>
                <a:ea typeface="Proxima Nova"/>
                <a:cs typeface="Proxima Nova"/>
                <a:sym typeface="Proxima Nova"/>
              </a:rPr>
              <a:t>How we keep you informed</a:t>
            </a:r>
            <a:endParaRPr sz="130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24" name="Google Shape;324;p32"/>
          <p:cNvSpPr/>
          <p:nvPr/>
        </p:nvSpPr>
        <p:spPr>
          <a:xfrm>
            <a:off x="788729" y="2891495"/>
            <a:ext cx="3303300" cy="15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39700" marR="0" lvl="0" indent="-139700" algn="l" rtl="0">
              <a:spcBef>
                <a:spcPts val="0"/>
              </a:spcBef>
              <a:spcAft>
                <a:spcPts val="0"/>
              </a:spcAft>
              <a:buClr>
                <a:srgbClr val="3F4C63"/>
              </a:buClr>
              <a:buSzPts val="1000"/>
              <a:buFont typeface="Proxima Nova"/>
              <a:buChar char="•"/>
            </a:pPr>
            <a:r>
              <a:rPr lang="en" sz="1000" i="0" u="none" strike="noStrike" cap="none">
                <a:solidFill>
                  <a:srgbClr val="3F4C63"/>
                </a:solidFill>
                <a:latin typeface="Proxima Nova"/>
                <a:ea typeface="Proxima Nova"/>
                <a:cs typeface="Proxima Nova"/>
                <a:sym typeface="Proxima Nova"/>
              </a:rPr>
              <a:t>A weekly status report with a</a:t>
            </a:r>
            <a:r>
              <a:rPr lang="en" sz="1000">
                <a:solidFill>
                  <a:srgbClr val="3F4C63"/>
                </a:solidFill>
                <a:latin typeface="Proxima Nova"/>
                <a:ea typeface="Proxima Nova"/>
                <a:cs typeface="Proxima Nova"/>
                <a:sym typeface="Proxima Nova"/>
              </a:rPr>
              <a:t>n honest health rating</a:t>
            </a:r>
            <a:endParaRPr sz="100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39700" marR="0" lvl="0" indent="-139700" algn="l" rtl="0">
              <a:spcBef>
                <a:spcPts val="800"/>
              </a:spcBef>
              <a:spcAft>
                <a:spcPts val="0"/>
              </a:spcAft>
              <a:buClr>
                <a:srgbClr val="3F4C63"/>
              </a:buClr>
              <a:buSzPts val="1000"/>
              <a:buFont typeface="Proxima Nova"/>
              <a:buChar char="•"/>
            </a:pPr>
            <a:r>
              <a:rPr lang="en" sz="1000">
                <a:solidFill>
                  <a:srgbClr val="3F4C63"/>
                </a:solidFill>
                <a:latin typeface="Proxima Nova"/>
                <a:ea typeface="Proxima Nova"/>
                <a:cs typeface="Proxima Nova"/>
                <a:sym typeface="Proxima Nova"/>
              </a:rPr>
              <a:t>Surface risks early and the risk and issues log is always accessible </a:t>
            </a:r>
            <a:endParaRPr sz="100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39700" marR="0" lvl="0" indent="-139700" algn="l" rtl="0">
              <a:spcBef>
                <a:spcPts val="800"/>
              </a:spcBef>
              <a:spcAft>
                <a:spcPts val="0"/>
              </a:spcAft>
              <a:buClr>
                <a:srgbClr val="3F4C63"/>
              </a:buClr>
              <a:buSzPts val="1000"/>
              <a:buFont typeface="Proxima Nova"/>
              <a:buChar char="•"/>
            </a:pPr>
            <a:r>
              <a:rPr lang="en" sz="1000">
                <a:solidFill>
                  <a:srgbClr val="3F4C63"/>
                </a:solidFill>
                <a:latin typeface="Proxima Nova"/>
                <a:ea typeface="Proxima Nova"/>
                <a:cs typeface="Proxima Nova"/>
                <a:sym typeface="Proxima Nova"/>
              </a:rPr>
              <a:t>New requirements are identified early, assessed for impact, then reviewed with stakeholders</a:t>
            </a:r>
            <a:endParaRPr sz="100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25" name="Google Shape;325;p32"/>
          <p:cNvSpPr/>
          <p:nvPr/>
        </p:nvSpPr>
        <p:spPr>
          <a:xfrm>
            <a:off x="4743500" y="1862795"/>
            <a:ext cx="3920400" cy="26745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 cap="flat" cmpd="sng">
            <a:solidFill>
              <a:srgbClr val="D3DCEC"/>
            </a:solidFill>
            <a:prstDash val="solid"/>
            <a:round/>
            <a:headEnd type="none" w="sm" len="sm"/>
            <a:tailEnd type="none" w="sm" len="sm"/>
          </a:ln>
          <a:effectLst>
            <a:outerShdw blurRad="85727" dist="28576" dir="5400000" algn="bl" rotWithShape="0">
              <a:srgbClr val="0B1836">
                <a:alpha val="1608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32"/>
          <p:cNvSpPr/>
          <p:nvPr/>
        </p:nvSpPr>
        <p:spPr>
          <a:xfrm>
            <a:off x="5017827" y="2137115"/>
            <a:ext cx="548700" cy="548400"/>
          </a:xfrm>
          <a:prstGeom prst="ellipse">
            <a:avLst/>
          </a:prstGeom>
          <a:solidFill>
            <a:srgbClr val="E1E9F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32"/>
          <p:cNvSpPr/>
          <p:nvPr/>
        </p:nvSpPr>
        <p:spPr>
          <a:xfrm>
            <a:off x="5669355" y="2205695"/>
            <a:ext cx="28917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4D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14264D"/>
                </a:solidFill>
                <a:latin typeface="Proxima Nova"/>
                <a:ea typeface="Proxima Nova"/>
                <a:cs typeface="Proxima Nova"/>
                <a:sym typeface="Proxima Nova"/>
              </a:rPr>
              <a:t>How we handle change</a:t>
            </a:r>
            <a:endParaRPr sz="130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28" name="Google Shape;328;p32"/>
          <p:cNvSpPr/>
          <p:nvPr/>
        </p:nvSpPr>
        <p:spPr>
          <a:xfrm>
            <a:off x="5052118" y="2891495"/>
            <a:ext cx="3303300" cy="15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264D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14264D"/>
                </a:solidFill>
                <a:latin typeface="Proxima Nova"/>
                <a:ea typeface="Proxima Nova"/>
                <a:cs typeface="Proxima Nova"/>
                <a:sym typeface="Proxima Nova"/>
              </a:rPr>
              <a:t>Refinements within scope</a:t>
            </a:r>
            <a:endParaRPr sz="100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4C63"/>
              </a:buClr>
              <a:buSzPts val="1000"/>
              <a:buFont typeface="Calibri"/>
              <a:buNone/>
            </a:pPr>
            <a:r>
              <a:rPr lang="en" sz="1000" i="0" u="none" strike="noStrike" cap="none">
                <a:solidFill>
                  <a:srgbClr val="3F4C63"/>
                </a:solidFill>
                <a:latin typeface="Proxima Nova"/>
                <a:ea typeface="Proxima Nova"/>
                <a:cs typeface="Proxima Nova"/>
                <a:sym typeface="Proxima Nova"/>
              </a:rPr>
              <a:t>We document and proceed — no friction, no delay.</a:t>
            </a:r>
            <a:endParaRPr sz="100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14264D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14264D"/>
                </a:solidFill>
                <a:latin typeface="Proxima Nova"/>
                <a:ea typeface="Proxima Nova"/>
                <a:cs typeface="Proxima Nova"/>
                <a:sym typeface="Proxima Nova"/>
              </a:rPr>
              <a:t>Changes to scope, timeline, or budget</a:t>
            </a:r>
            <a:endParaRPr sz="100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4C63"/>
              </a:buClr>
              <a:buSzPts val="1000"/>
              <a:buFont typeface="Calibri"/>
              <a:buNone/>
            </a:pPr>
            <a:r>
              <a:rPr lang="en" sz="1000" i="0" u="none" strike="noStrike" cap="none">
                <a:solidFill>
                  <a:srgbClr val="3F4C63"/>
                </a:solidFill>
                <a:latin typeface="Proxima Nova"/>
                <a:ea typeface="Proxima Nova"/>
                <a:cs typeface="Proxima Nova"/>
                <a:sym typeface="Proxima Nova"/>
              </a:rPr>
              <a:t>We pause, documen</a:t>
            </a:r>
            <a:r>
              <a:rPr lang="en" sz="1000">
                <a:solidFill>
                  <a:srgbClr val="3F4C63"/>
                </a:solidFill>
                <a:latin typeface="Proxima Nova"/>
                <a:ea typeface="Proxima Nova"/>
                <a:cs typeface="Proxima Nova"/>
                <a:sym typeface="Proxima Nova"/>
              </a:rPr>
              <a:t>t the change and impact, then </a:t>
            </a:r>
            <a:r>
              <a:rPr lang="en" sz="1000" i="0" u="none" strike="noStrike" cap="none">
                <a:solidFill>
                  <a:srgbClr val="3F4C63"/>
                </a:solidFill>
                <a:latin typeface="Proxima Nova"/>
                <a:ea typeface="Proxima Nova"/>
                <a:cs typeface="Proxima Nova"/>
                <a:sym typeface="Proxima Nova"/>
              </a:rPr>
              <a:t>bring it to you — agreed together before any work begins.</a:t>
            </a:r>
            <a:endParaRPr sz="100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29" name="Google Shape;32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7577" y="2249247"/>
            <a:ext cx="329200" cy="324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5476" y="2247992"/>
            <a:ext cx="326648" cy="326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3"/>
          <p:cNvSpPr/>
          <p:nvPr/>
        </p:nvSpPr>
        <p:spPr>
          <a:xfrm>
            <a:off x="214100" y="0"/>
            <a:ext cx="89298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6" name="Google Shape;336;p33"/>
          <p:cNvSpPr txBox="1">
            <a:spLocks noGrp="1"/>
          </p:cNvSpPr>
          <p:nvPr>
            <p:ph type="ctrTitle"/>
          </p:nvPr>
        </p:nvSpPr>
        <p:spPr>
          <a:xfrm>
            <a:off x="666750" y="1001575"/>
            <a:ext cx="5575500" cy="116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Housekeeping</a:t>
            </a:r>
            <a:endParaRPr sz="1800">
              <a:solidFill>
                <a:schemeClr val="accent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4"/>
          <p:cNvSpPr/>
          <p:nvPr/>
        </p:nvSpPr>
        <p:spPr>
          <a:xfrm>
            <a:off x="480073" y="425196"/>
            <a:ext cx="68583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5AAC"/>
              </a:buClr>
              <a:buSzPts val="900"/>
              <a:buFont typeface="Calibri"/>
              <a:buNone/>
            </a:pPr>
            <a:r>
              <a:rPr lang="en" sz="900" b="1">
                <a:solidFill>
                  <a:srgbClr val="2E5AAC"/>
                </a:solidFill>
                <a:latin typeface="Proxima Nova"/>
                <a:ea typeface="Proxima Nova"/>
                <a:cs typeface="Proxima Nova"/>
                <a:sym typeface="Proxima Nova"/>
              </a:rPr>
              <a:t>PATH FORWARD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4"/>
          <p:cNvSpPr/>
          <p:nvPr/>
        </p:nvSpPr>
        <p:spPr>
          <a:xfrm>
            <a:off x="480073" y="1234440"/>
            <a:ext cx="6858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890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041133"/>
                </a:solidFill>
                <a:latin typeface="Proxima Nova"/>
                <a:ea typeface="Proxima Nova"/>
                <a:cs typeface="Proxima Nova"/>
                <a:sym typeface="Proxima Nova"/>
              </a:rPr>
              <a:t>What needs to happen in the next few days.</a:t>
            </a:r>
            <a:endParaRPr sz="1100">
              <a:solidFill>
                <a:srgbClr val="04113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4" name="Google Shape;344;p34"/>
          <p:cNvSpPr txBox="1">
            <a:spLocks noGrp="1"/>
          </p:cNvSpPr>
          <p:nvPr>
            <p:ph type="ctrTitle" idx="4294967295"/>
          </p:nvPr>
        </p:nvSpPr>
        <p:spPr>
          <a:xfrm>
            <a:off x="480076" y="734900"/>
            <a:ext cx="8023800" cy="2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</a:pPr>
            <a:r>
              <a:rPr lang="en"/>
              <a:t>Next Steps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345" name="Google Shape;345;p34"/>
          <p:cNvGraphicFramePr/>
          <p:nvPr/>
        </p:nvGraphicFramePr>
        <p:xfrm>
          <a:off x="657773" y="17487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{E948CED7-A0B8-4A06-85AC-5F1379CAB3A5}</a:tableStyleId>
              </a:tblPr>
              <a:tblGrid>
                <a:gridCol w="158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100" b="1" u="none" strike="noStrike" cap="none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Owner</a:t>
                      </a:r>
                      <a:endParaRPr sz="1100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100" b="1" u="none" strike="noStrike" cap="none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Action</a:t>
                      </a:r>
                      <a:endParaRPr sz="1100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100" b="1" u="none" strike="noStrike" cap="none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Due</a:t>
                      </a:r>
                      <a:endParaRPr sz="1100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64D"/>
                        </a:buClr>
                        <a:buSzPts val="125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14264D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[Client]</a:t>
                      </a:r>
                      <a:endParaRPr sz="1000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C63"/>
                        </a:buClr>
                        <a:buSzPts val="125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3F4C6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Provide access to [system / data / environment]</a:t>
                      </a:r>
                      <a:endParaRPr sz="1000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C63"/>
                        </a:buClr>
                        <a:buSzPts val="125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3F4C6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[Date]</a:t>
                      </a:r>
                      <a:endParaRPr sz="1000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64D"/>
                        </a:buClr>
                        <a:buSzPts val="125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14264D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[Toptal]</a:t>
                      </a:r>
                      <a:endParaRPr sz="1000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C63"/>
                        </a:buClr>
                        <a:buSzPts val="125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3F4C6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Finalize the Project Success Agreement with the sponsor</a:t>
                      </a:r>
                      <a:endParaRPr sz="1000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C63"/>
                        </a:buClr>
                        <a:buSzPts val="125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3F4C6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[Date]</a:t>
                      </a:r>
                      <a:endParaRPr sz="1000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64D"/>
                        </a:buClr>
                        <a:buSzPts val="125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14264D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[Client]</a:t>
                      </a:r>
                      <a:endParaRPr sz="1000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C63"/>
                        </a:buClr>
                        <a:buSzPts val="125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3F4C6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Confirm named reviewer(s) for approvals</a:t>
                      </a:r>
                      <a:endParaRPr sz="1000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C63"/>
                        </a:buClr>
                        <a:buSzPts val="125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3F4C6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[Date]</a:t>
                      </a:r>
                      <a:endParaRPr sz="1000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C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optal">
      <a:dk1>
        <a:srgbClr val="041133"/>
      </a:dk1>
      <a:lt1>
        <a:srgbClr val="FFFFFF"/>
      </a:lt1>
      <a:dk2>
        <a:srgbClr val="626679"/>
      </a:dk2>
      <a:lt2>
        <a:srgbClr val="F4F6FB"/>
      </a:lt2>
      <a:accent1>
        <a:srgbClr val="204ECF"/>
      </a:accent1>
      <a:accent2>
        <a:srgbClr val="183A9E"/>
      </a:accent2>
      <a:accent3>
        <a:srgbClr val="0E246E"/>
      </a:accent3>
      <a:accent4>
        <a:srgbClr val="25A9EE"/>
      </a:accent4>
      <a:accent5>
        <a:srgbClr val="1F4ECE"/>
      </a:accent5>
      <a:accent6>
        <a:srgbClr val="0E246E"/>
      </a:accent6>
      <a:hlink>
        <a:srgbClr val="1F4ECE"/>
      </a:hlink>
      <a:folHlink>
        <a:srgbClr val="18399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1255</Words>
  <Application>Microsoft Office PowerPoint</Application>
  <PresentationFormat>On-screen Show (16:9)</PresentationFormat>
  <Paragraphs>181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Calibri</vt:lpstr>
      <vt:lpstr>Proxima Nova Semibold</vt:lpstr>
      <vt:lpstr>Open Sans</vt:lpstr>
      <vt:lpstr>Proxima Nova</vt:lpstr>
      <vt:lpstr>Montserrat</vt:lpstr>
      <vt:lpstr>Arial</vt:lpstr>
      <vt:lpstr>Office Theme</vt:lpstr>
      <vt:lpstr>[Client Name] [Project Name] Kickoff </vt:lpstr>
      <vt:lpstr>What we’ll accomplish together</vt:lpstr>
      <vt:lpstr>The people delivering your project</vt:lpstr>
      <vt:lpstr>Alignment</vt:lpstr>
      <vt:lpstr>Why we’re here</vt:lpstr>
      <vt:lpstr>Solution Overview</vt:lpstr>
      <vt:lpstr>Ways of Working</vt:lpstr>
      <vt:lpstr>Our strategic approach that adapts to how you work</vt:lpstr>
      <vt:lpstr>Our operating rhythm</vt:lpstr>
      <vt:lpstr>Collaboration toolstack</vt:lpstr>
      <vt:lpstr>Governance and escalation path</vt:lpstr>
      <vt:lpstr>Initial risk register</vt:lpstr>
      <vt:lpstr>Managing Change</vt:lpstr>
      <vt:lpstr>Housekeeping</vt:lpstr>
      <vt:lpstr>Next Steps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James Mora</cp:lastModifiedBy>
  <cp:revision>1</cp:revision>
  <dcterms:modified xsi:type="dcterms:W3CDTF">2026-10-31T01:32:57Z</dcterms:modified>
</cp:coreProperties>
</file>